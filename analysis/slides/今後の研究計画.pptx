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notesMasterIdLst>
    <p:notesMasterId r:id="rId9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129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21295C"/>
          </a:solidFill>
          <a:ln/>
        </p:spPr>
      </p:sp>
      <p:sp>
        <p:nvSpPr>
          <p:cNvPr id="3" name="Shape 1"/>
          <p:cNvSpPr/>
          <p:nvPr/>
        </p:nvSpPr>
        <p:spPr>
          <a:xfrm>
            <a:off x="9692640" y="-1463040"/>
            <a:ext cx="5029200" cy="5029200"/>
          </a:xfrm>
          <a:prstGeom prst="oval">
            <a:avLst/>
          </a:prstGeom>
          <a:solidFill>
            <a:srgbClr val="065A82">
              <a:alpha val="45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-1828800" y="4206240"/>
            <a:ext cx="4206240" cy="4206240"/>
          </a:xfrm>
          <a:prstGeom prst="oval">
            <a:avLst/>
          </a:prstGeom>
          <a:solidFill>
            <a:srgbClr val="1C7293">
              <a:alpha val="40000"/>
            </a:srgbClr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548640" y="182880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spc="100" kern="0" dirty="0">
                <a:solidFill>
                  <a:srgbClr val="8FB7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パイロット結果を踏まえた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2240280"/>
            <a:ext cx="10515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今後の研究計画</a:t>
            </a:r>
            <a:endParaRPr lang="en-US" sz="40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3154680"/>
            <a:ext cx="10058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新たな課題の整理と、練習量を揃えた再検証プラン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548640" y="4169664"/>
            <a:ext cx="91440" cy="91440"/>
          </a:xfrm>
          <a:prstGeom prst="oval">
            <a:avLst/>
          </a:prstGeom>
          <a:solidFill>
            <a:srgbClr val="1C7293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822960" y="411480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E8ED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新たな課題（6項目）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548640" y="4672584"/>
            <a:ext cx="91440" cy="91440"/>
          </a:xfrm>
          <a:prstGeom prst="oval">
            <a:avLst/>
          </a:prstGeom>
          <a:solidFill>
            <a:srgbClr val="1C7293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822960" y="461772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E8ED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再検証プラン A〜D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548640" y="5175504"/>
            <a:ext cx="91440" cy="91440"/>
          </a:xfrm>
          <a:prstGeom prst="oval">
            <a:avLst/>
          </a:prstGeom>
          <a:solidFill>
            <a:srgbClr val="1C7293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822960" y="512064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E8ED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生理指標の測定方法（血圧 vs 心拍数）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548640" y="5678424"/>
            <a:ext cx="91440" cy="91440"/>
          </a:xfrm>
          <a:prstGeom prst="oval">
            <a:avLst/>
          </a:prstGeom>
          <a:solidFill>
            <a:srgbClr val="1C7293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822960" y="562356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E8ED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優先順位のまとめ</a:t>
            </a:r>
            <a:endParaRPr lang="en-US" sz="1400" dirty="0"/>
          </a:p>
        </p:txBody>
      </p:sp>
      <p:sp>
        <p:nvSpPr>
          <p:cNvPr id="16" name="Text 14"/>
          <p:cNvSpPr txBox="1"/>
          <p:nvPr/>
        </p:nvSpPr>
        <p:spPr>
          <a:xfrm>
            <a:off x="548640" y="6263640"/>
            <a:ext cx="9601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9AA6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対象：高位脊髄損傷（SCI）車いす陸上選手 1名を対象としたパイロット研究の結果から</a:t>
            </a:r>
            <a:endParaRPr lang="en-US" sz="10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11091672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spc="1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 QUESTIONS</a:t>
            </a:r>
            <a:endParaRPr lang="en-US" sz="125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76656"/>
            <a:ext cx="1109167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新たな課題①（Q1・Q2から）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48640" y="1737360"/>
            <a:ext cx="384048" cy="384048"/>
          </a:xfrm>
          <a:prstGeom prst="oval">
            <a:avLst/>
          </a:prstGeom>
          <a:solidFill>
            <a:srgbClr val="2A78D6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548640" y="173736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300" dirty="0"/>
          </a:p>
        </p:txBody>
      </p:sp>
      <p:sp>
        <p:nvSpPr>
          <p:cNvPr id="6" name="Text 4"/>
          <p:cNvSpPr txBox="1"/>
          <p:nvPr/>
        </p:nvSpPr>
        <p:spPr>
          <a:xfrm>
            <a:off x="1097280" y="1719072"/>
            <a:ext cx="10332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摂取直前（8:00）血糖値のばらつき</a:t>
            </a:r>
            <a:endParaRPr lang="en-US" sz="1350" dirty="0"/>
          </a:p>
        </p:txBody>
      </p:sp>
      <p:sp>
        <p:nvSpPr>
          <p:cNvPr id="7" name="Text 5"/>
          <p:cNvSpPr txBox="1"/>
          <p:nvPr/>
        </p:nvSpPr>
        <p:spPr>
          <a:xfrm>
            <a:off x="1097280" y="2002536"/>
            <a:ext cx="10332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C6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条件間で60〜70 mg/dL異なる原因が未解明。前日の運動量・睡眠・センサー校正等の切り分けが必要。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548640" y="2788920"/>
            <a:ext cx="384048" cy="384048"/>
          </a:xfrm>
          <a:prstGeom prst="oval">
            <a:avLst/>
          </a:prstGeom>
          <a:solidFill>
            <a:srgbClr val="EB6834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548640" y="278892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300" dirty="0"/>
          </a:p>
        </p:txBody>
      </p:sp>
      <p:sp>
        <p:nvSpPr>
          <p:cNvPr id="10" name="Text 8"/>
          <p:cNvSpPr txBox="1"/>
          <p:nvPr/>
        </p:nvSpPr>
        <p:spPr>
          <a:xfrm>
            <a:off x="1097280" y="2770632"/>
            <a:ext cx="10332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血圧を一度も直接測定していない</a:t>
            </a:r>
            <a:endParaRPr lang="en-US" sz="1350" dirty="0"/>
          </a:p>
        </p:txBody>
      </p:sp>
      <p:sp>
        <p:nvSpPr>
          <p:cNvPr id="11" name="Text 9"/>
          <p:cNvSpPr txBox="1"/>
          <p:nvPr/>
        </p:nvSpPr>
        <p:spPr>
          <a:xfrm>
            <a:off x="1097280" y="3054096"/>
            <a:ext cx="10332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C6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「食後低血圧」という核心仮説を、頭痛の有無という間接指標だけで判断してきた。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548640" y="3840480"/>
            <a:ext cx="384048" cy="384048"/>
          </a:xfrm>
          <a:prstGeom prst="oval">
            <a:avLst/>
          </a:prstGeom>
          <a:solidFill>
            <a:srgbClr val="EB6834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548640" y="384048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300" dirty="0"/>
          </a:p>
        </p:txBody>
      </p:sp>
      <p:sp>
        <p:nvSpPr>
          <p:cNvPr id="14" name="Text 12"/>
          <p:cNvSpPr txBox="1"/>
          <p:nvPr/>
        </p:nvSpPr>
        <p:spPr>
          <a:xfrm>
            <a:off x="1097280" y="3822192"/>
            <a:ext cx="10332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スムージーの一過性スパイクの意味</a:t>
            </a:r>
            <a:endParaRPr lang="en-US" sz="1350" dirty="0"/>
          </a:p>
        </p:txBody>
      </p:sp>
      <p:sp>
        <p:nvSpPr>
          <p:cNvPr id="15" name="Text 13"/>
          <p:cNvSpPr txBox="1"/>
          <p:nvPr/>
        </p:nvSpPr>
        <p:spPr>
          <a:xfrm>
            <a:off x="1097280" y="4105656"/>
            <a:ext cx="10332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C6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45分でピーク→90分でベースライン付近に戻る挙動が、より短いリードタイムでの摂取でも同じ影響を持つかは未検証。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548640" y="4892040"/>
            <a:ext cx="384048" cy="384048"/>
          </a:xfrm>
          <a:prstGeom prst="oval">
            <a:avLst/>
          </a:prstGeom>
          <a:solidFill>
            <a:srgbClr val="1BAF7A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548640" y="489204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300" dirty="0"/>
          </a:p>
        </p:txBody>
      </p:sp>
      <p:sp>
        <p:nvSpPr>
          <p:cNvPr id="18" name="Text 16"/>
          <p:cNvSpPr txBox="1"/>
          <p:nvPr/>
        </p:nvSpPr>
        <p:spPr>
          <a:xfrm>
            <a:off x="1097280" y="4873752"/>
            <a:ext cx="10332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タイミングの中間点・他レシピでの再現性</a:t>
            </a:r>
            <a:endParaRPr lang="en-US" sz="1350" dirty="0"/>
          </a:p>
        </p:txBody>
      </p:sp>
      <p:sp>
        <p:nvSpPr>
          <p:cNvPr id="19" name="Text 17"/>
          <p:cNvSpPr txBox="1"/>
          <p:nvPr/>
        </p:nvSpPr>
        <p:spPr>
          <a:xfrm>
            <a:off x="1097280" y="5157216"/>
            <a:ext cx="10332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C6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「同時」と「2.5〜3時間ずらし」の2点しか比較しておらず、間の用量反応関係や別の食材構成での再現性が未確認。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11091672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spc="1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 QUESTIONS</a:t>
            </a:r>
            <a:endParaRPr lang="en-US" sz="125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76656"/>
            <a:ext cx="1109167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新たな課題②（Q3・横断的な課題）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48640" y="1828800"/>
            <a:ext cx="384048" cy="384048"/>
          </a:xfrm>
          <a:prstGeom prst="oval">
            <a:avLst/>
          </a:prstGeom>
          <a:solidFill>
            <a:srgbClr val="EDA100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548640" y="182880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300" dirty="0"/>
          </a:p>
        </p:txBody>
      </p:sp>
      <p:sp>
        <p:nvSpPr>
          <p:cNvPr id="6" name="Text 4"/>
          <p:cNvSpPr txBox="1"/>
          <p:nvPr/>
        </p:nvSpPr>
        <p:spPr>
          <a:xfrm>
            <a:off x="1097280" y="1810512"/>
            <a:ext cx="10332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血糖は良好なのに持久力の体感は最低という矛盾（最重要）</a:t>
            </a:r>
            <a:endParaRPr lang="en-US" sz="1350" dirty="0"/>
          </a:p>
        </p:txBody>
      </p:sp>
      <p:sp>
        <p:nvSpPr>
          <p:cNvPr id="7" name="Text 5"/>
          <p:cNvSpPr txBox="1"/>
          <p:nvPr/>
        </p:nvSpPr>
        <p:spPr>
          <a:xfrm>
            <a:off x="1097280" y="2093976"/>
            <a:ext cx="10332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C6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糖質減条件で血糖・燃料供給・睡眠は良好だが、持久力・爆発力の自己評価が4条件中最低。未解決の中心課題。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548640" y="3017520"/>
            <a:ext cx="384048" cy="384048"/>
          </a:xfrm>
          <a:prstGeom prst="oval">
            <a:avLst/>
          </a:prstGeom>
          <a:solidFill>
            <a:srgbClr val="EDA100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548640" y="301752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300" dirty="0"/>
          </a:p>
        </p:txBody>
      </p:sp>
      <p:sp>
        <p:nvSpPr>
          <p:cNvPr id="10" name="Text 8"/>
          <p:cNvSpPr txBox="1"/>
          <p:nvPr/>
        </p:nvSpPr>
        <p:spPr>
          <a:xfrm>
            <a:off x="1097280" y="2999232"/>
            <a:ext cx="10332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「糖質減」の正確なレシピ量が未記録</a:t>
            </a:r>
            <a:endParaRPr lang="en-US" sz="1350" dirty="0"/>
          </a:p>
        </p:txBody>
      </p:sp>
      <p:sp>
        <p:nvSpPr>
          <p:cNvPr id="11" name="Text 9"/>
          <p:cNvSpPr txBox="1"/>
          <p:nvPr/>
        </p:nvSpPr>
        <p:spPr>
          <a:xfrm>
            <a:off x="1097280" y="3282696"/>
            <a:ext cx="10332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C6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何gの糖質をカットしたかが記録に残っておらず、再現性がない。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548640" y="4206240"/>
            <a:ext cx="384048" cy="384048"/>
          </a:xfrm>
          <a:prstGeom prst="oval">
            <a:avLst/>
          </a:prstGeom>
          <a:solidFill>
            <a:srgbClr val="5C6570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548640" y="420624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300" dirty="0"/>
          </a:p>
        </p:txBody>
      </p:sp>
      <p:sp>
        <p:nvSpPr>
          <p:cNvPr id="14" name="Text 12"/>
          <p:cNvSpPr txBox="1"/>
          <p:nvPr/>
        </p:nvSpPr>
        <p:spPr>
          <a:xfrm>
            <a:off x="1097280" y="4187952"/>
            <a:ext cx="10332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単一選手・低n・順序固定・対照群なし</a:t>
            </a:r>
            <a:endParaRPr lang="en-US" sz="1350" dirty="0"/>
          </a:p>
        </p:txBody>
      </p:sp>
      <p:sp>
        <p:nvSpPr>
          <p:cNvPr id="15" name="Text 13"/>
          <p:cNvSpPr txBox="1"/>
          <p:nvPr/>
        </p:nvSpPr>
        <p:spPr>
          <a:xfrm>
            <a:off x="1097280" y="4471416"/>
            <a:ext cx="10332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C6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各条件n=3日で統計的検定ができず、条件順序も固定（ランダム化なし）。健常選手の対照群もなく、SCI特有の反応か一般的な反応かを区別できない。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548640" y="6492240"/>
            <a:ext cx="1109167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5C6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これらの課題に対応する具体策を次ページ以降にまとめる。</a:t>
            </a:r>
            <a:endParaRPr lang="en-US" sz="9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11091672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spc="1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RE-VERIFICATION PLAN</a:t>
            </a:r>
            <a:endParaRPr lang="en-US" sz="125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76656"/>
            <a:ext cx="1109167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再検証プラン A・B</a:t>
            </a:r>
            <a:endParaRPr lang="en-US" sz="26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417320"/>
            <a:ext cx="1109167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C6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最優先：練習量の交絡を取り除く2つの一手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48640" y="1828800"/>
            <a:ext cx="5362956" cy="4206240"/>
          </a:xfrm>
          <a:prstGeom prst="roundRect">
            <a:avLst>
              <a:gd name="adj" fmla="val 2174"/>
            </a:avLst>
          </a:prstGeom>
          <a:solidFill>
            <a:srgbClr val="F4F7F9"/>
          </a:solidFill>
          <a:ln/>
        </p:spPr>
      </p:sp>
      <p:sp>
        <p:nvSpPr>
          <p:cNvPr id="6" name="Shape 4"/>
          <p:cNvSpPr/>
          <p:nvPr/>
        </p:nvSpPr>
        <p:spPr>
          <a:xfrm>
            <a:off x="777240" y="2011680"/>
            <a:ext cx="502920" cy="274320"/>
          </a:xfrm>
          <a:prstGeom prst="roundRect">
            <a:avLst>
              <a:gd name="adj" fmla="val 20000"/>
            </a:avLst>
          </a:prstGeom>
          <a:solidFill>
            <a:srgbClr val="065A82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777240" y="2011680"/>
            <a:ext cx="502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</a:t>
            </a:r>
            <a:endParaRPr lang="en-US" sz="1200" dirty="0"/>
          </a:p>
        </p:txBody>
      </p:sp>
      <p:sp>
        <p:nvSpPr>
          <p:cNvPr id="8" name="Text 6"/>
          <p:cNvSpPr txBox="1"/>
          <p:nvPr/>
        </p:nvSpPr>
        <p:spPr>
          <a:xfrm>
            <a:off x="1371600" y="1984248"/>
            <a:ext cx="431139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固定トレーニングメニュー法</a:t>
            </a:r>
            <a:endParaRPr lang="en-US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777240" y="2423160"/>
            <a:ext cx="914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目的</a:t>
            </a:r>
            <a:endParaRPr lang="en-US" sz="1000" dirty="0"/>
          </a:p>
        </p:txBody>
      </p:sp>
      <p:sp>
        <p:nvSpPr>
          <p:cNvPr id="10" name="Text 8"/>
          <p:cNvSpPr txBox="1"/>
          <p:nvPr/>
        </p:nvSpPr>
        <p:spPr>
          <a:xfrm>
            <a:off x="777240" y="2624328"/>
            <a:ext cx="490575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これまで最大の交絡だった「60〜180分のばらつき」を排除する。</a:t>
            </a:r>
            <a:endParaRPr lang="en-US" sz="1000" dirty="0"/>
          </a:p>
        </p:txBody>
      </p:sp>
      <p:sp>
        <p:nvSpPr>
          <p:cNvPr id="11" name="Text 9"/>
          <p:cNvSpPr txBox="1"/>
          <p:nvPr/>
        </p:nvSpPr>
        <p:spPr>
          <a:xfrm>
            <a:off x="777240" y="3209544"/>
            <a:ext cx="914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デザイン</a:t>
            </a:r>
            <a:endParaRPr lang="en-US" sz="1000" dirty="0"/>
          </a:p>
        </p:txBody>
      </p:sp>
      <p:sp>
        <p:nvSpPr>
          <p:cNvPr id="12" name="Text 10"/>
          <p:cNvSpPr txBox="1"/>
          <p:nvPr/>
        </p:nvSpPr>
        <p:spPr>
          <a:xfrm>
            <a:off x="777240" y="3410712"/>
            <a:ext cx="490575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全条件・全日で同一メニュー（例：ウォームアップ15分＋メインセット60分＋クールダウン15分）を実施。</a:t>
            </a:r>
            <a:endParaRPr lang="en-US" sz="1000" dirty="0"/>
          </a:p>
        </p:txBody>
      </p:sp>
      <p:sp>
        <p:nvSpPr>
          <p:cNvPr id="13" name="Text 11"/>
          <p:cNvSpPr txBox="1"/>
          <p:nvPr/>
        </p:nvSpPr>
        <p:spPr>
          <a:xfrm>
            <a:off x="777240" y="3995928"/>
            <a:ext cx="914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効果</a:t>
            </a:r>
            <a:endParaRPr lang="en-US" sz="1000" dirty="0"/>
          </a:p>
        </p:txBody>
      </p:sp>
      <p:sp>
        <p:nvSpPr>
          <p:cNvPr id="14" name="Text 12"/>
          <p:cNvSpPr txBox="1"/>
          <p:nvPr/>
        </p:nvSpPr>
        <p:spPr>
          <a:xfrm>
            <a:off x="777240" y="4197096"/>
            <a:ext cx="490575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RPE・持久力・爆発力・運動後疲労を、練習量の影響を受けずに食事の効果として評価できる。最も費用対効果が高い一手。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6277356" y="1828800"/>
            <a:ext cx="5362956" cy="4206240"/>
          </a:xfrm>
          <a:prstGeom prst="roundRect">
            <a:avLst>
              <a:gd name="adj" fmla="val 2174"/>
            </a:avLst>
          </a:prstGeom>
          <a:solidFill>
            <a:srgbClr val="F4F7F9"/>
          </a:solidFill>
          <a:ln/>
        </p:spPr>
      </p:sp>
      <p:sp>
        <p:nvSpPr>
          <p:cNvPr id="16" name="Shape 14"/>
          <p:cNvSpPr/>
          <p:nvPr/>
        </p:nvSpPr>
        <p:spPr>
          <a:xfrm>
            <a:off x="6505956" y="2011680"/>
            <a:ext cx="502920" cy="274320"/>
          </a:xfrm>
          <a:prstGeom prst="roundRect">
            <a:avLst>
              <a:gd name="adj" fmla="val 20000"/>
            </a:avLst>
          </a:prstGeom>
          <a:solidFill>
            <a:srgbClr val="1C7293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6505956" y="2011680"/>
            <a:ext cx="502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</a:t>
            </a:r>
            <a:endParaRPr lang="en-US" sz="1200" dirty="0"/>
          </a:p>
        </p:txBody>
      </p:sp>
      <p:sp>
        <p:nvSpPr>
          <p:cNvPr id="18" name="Text 16"/>
          <p:cNvSpPr txBox="1"/>
          <p:nvPr/>
        </p:nvSpPr>
        <p:spPr>
          <a:xfrm>
            <a:off x="7100316" y="1984248"/>
            <a:ext cx="431139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客観的パフォーマンステストの追加</a:t>
            </a:r>
            <a:endParaRPr lang="en-US" sz="1400" dirty="0"/>
          </a:p>
        </p:txBody>
      </p:sp>
      <p:sp>
        <p:nvSpPr>
          <p:cNvPr id="19" name="Text 17"/>
          <p:cNvSpPr txBox="1"/>
          <p:nvPr/>
        </p:nvSpPr>
        <p:spPr>
          <a:xfrm>
            <a:off x="6505956" y="2423160"/>
            <a:ext cx="914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目的</a:t>
            </a:r>
            <a:endParaRPr lang="en-US" sz="1000" dirty="0"/>
          </a:p>
        </p:txBody>
      </p:sp>
      <p:sp>
        <p:nvSpPr>
          <p:cNvPr id="20" name="Text 18"/>
          <p:cNvSpPr txBox="1"/>
          <p:nvPr/>
        </p:nvSpPr>
        <p:spPr>
          <a:xfrm>
            <a:off x="6505956" y="2624328"/>
            <a:ext cx="490575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自己評価だけに頼らず、Q3で見つかった「血糖は良いのに体感は悪い」矛盾の真偽を客観データで確認する。</a:t>
            </a:r>
            <a:endParaRPr lang="en-US" sz="1000" dirty="0"/>
          </a:p>
        </p:txBody>
      </p:sp>
      <p:sp>
        <p:nvSpPr>
          <p:cNvPr id="21" name="Text 19"/>
          <p:cNvSpPr txBox="1"/>
          <p:nvPr/>
        </p:nvSpPr>
        <p:spPr>
          <a:xfrm>
            <a:off x="6505956" y="3209544"/>
            <a:ext cx="914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デザイン</a:t>
            </a:r>
            <a:endParaRPr lang="en-US" sz="1000" dirty="0"/>
          </a:p>
        </p:txBody>
      </p:sp>
      <p:sp>
        <p:nvSpPr>
          <p:cNvPr id="22" name="Text 20"/>
          <p:cNvSpPr txBox="1"/>
          <p:nvPr/>
        </p:nvSpPr>
        <p:spPr>
          <a:xfrm>
            <a:off x="6505956" y="3410712"/>
            <a:ext cx="490575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毎回の練習内に、同一コース・同一距離のタイムトライアル（例：直線200m×3本）やパワーメーター・心拍数記録を固定タイミングで挿入。</a:t>
            </a:r>
            <a:endParaRPr lang="en-US" sz="1000" dirty="0"/>
          </a:p>
        </p:txBody>
      </p:sp>
      <p:sp>
        <p:nvSpPr>
          <p:cNvPr id="23" name="Text 21"/>
          <p:cNvSpPr txBox="1"/>
          <p:nvPr/>
        </p:nvSpPr>
        <p:spPr>
          <a:xfrm>
            <a:off x="6505956" y="3995928"/>
            <a:ext cx="914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効果</a:t>
            </a:r>
            <a:endParaRPr lang="en-US" sz="1000" dirty="0"/>
          </a:p>
        </p:txBody>
      </p:sp>
      <p:sp>
        <p:nvSpPr>
          <p:cNvPr id="24" name="Text 22"/>
          <p:cNvSpPr txBox="1"/>
          <p:nvPr/>
        </p:nvSpPr>
        <p:spPr>
          <a:xfrm>
            <a:off x="6505956" y="4197096"/>
            <a:ext cx="490575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体感の悪化が実際のパフォーマンス低下を伴うのか、主観的なズレなのかを切り分けられる。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11091672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spc="1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RE-VERIFICATION PLAN</a:t>
            </a:r>
            <a:endParaRPr lang="en-US" sz="125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76656"/>
            <a:ext cx="1109167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再検証プラン C・D</a:t>
            </a:r>
            <a:endParaRPr lang="en-US" sz="26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417320"/>
            <a:ext cx="1109167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C6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研究デザインの妥当性を高める2つの拡張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48640" y="1828800"/>
            <a:ext cx="5362956" cy="4206240"/>
          </a:xfrm>
          <a:prstGeom prst="roundRect">
            <a:avLst>
              <a:gd name="adj" fmla="val 2174"/>
            </a:avLst>
          </a:prstGeom>
          <a:solidFill>
            <a:srgbClr val="F4F7F9"/>
          </a:solidFill>
          <a:ln/>
        </p:spPr>
      </p:sp>
      <p:sp>
        <p:nvSpPr>
          <p:cNvPr id="6" name="Shape 4"/>
          <p:cNvSpPr/>
          <p:nvPr/>
        </p:nvSpPr>
        <p:spPr>
          <a:xfrm>
            <a:off x="777240" y="2011680"/>
            <a:ext cx="502920" cy="274320"/>
          </a:xfrm>
          <a:prstGeom prst="roundRect">
            <a:avLst>
              <a:gd name="adj" fmla="val 20000"/>
            </a:avLst>
          </a:prstGeom>
          <a:solidFill>
            <a:srgbClr val="1BAF7A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777240" y="2011680"/>
            <a:ext cx="502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</a:t>
            </a:r>
            <a:endParaRPr lang="en-US" sz="1200" dirty="0"/>
          </a:p>
        </p:txBody>
      </p:sp>
      <p:sp>
        <p:nvSpPr>
          <p:cNvPr id="8" name="Text 6"/>
          <p:cNvSpPr txBox="1"/>
          <p:nvPr/>
        </p:nvSpPr>
        <p:spPr>
          <a:xfrm>
            <a:off x="1371600" y="1984248"/>
            <a:ext cx="431139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ランダム化クロスオーバーデザイン</a:t>
            </a:r>
            <a:endParaRPr lang="en-US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777240" y="2423160"/>
            <a:ext cx="914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BAF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目的</a:t>
            </a:r>
            <a:endParaRPr lang="en-US" sz="1000" dirty="0"/>
          </a:p>
        </p:txBody>
      </p:sp>
      <p:sp>
        <p:nvSpPr>
          <p:cNvPr id="10" name="Text 8"/>
          <p:cNvSpPr txBox="1"/>
          <p:nvPr/>
        </p:nvSpPr>
        <p:spPr>
          <a:xfrm>
            <a:off x="777240" y="2624328"/>
            <a:ext cx="490575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条件の順序効果（トレーニング適応・季節・モチベーションの変化）を排除する。</a:t>
            </a:r>
            <a:endParaRPr lang="en-US" sz="1000" dirty="0"/>
          </a:p>
        </p:txBody>
      </p:sp>
      <p:sp>
        <p:nvSpPr>
          <p:cNvPr id="11" name="Text 9"/>
          <p:cNvSpPr txBox="1"/>
          <p:nvPr/>
        </p:nvSpPr>
        <p:spPr>
          <a:xfrm>
            <a:off x="777240" y="3209544"/>
            <a:ext cx="914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BAF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デザイン</a:t>
            </a:r>
            <a:endParaRPr lang="en-US" sz="1000" dirty="0"/>
          </a:p>
        </p:txBody>
      </p:sp>
      <p:sp>
        <p:nvSpPr>
          <p:cNvPr id="12" name="Text 10"/>
          <p:cNvSpPr txBox="1"/>
          <p:nvPr/>
        </p:nvSpPr>
        <p:spPr>
          <a:xfrm>
            <a:off x="777240" y="3410712"/>
            <a:ext cx="490575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4条件を週1回ずつ、複数週にわたりランダムな順序で実施（例：4条件×4週）。条件間に最低1日のウォッシュアウト日を設ける。</a:t>
            </a:r>
            <a:endParaRPr lang="en-US" sz="1000" dirty="0"/>
          </a:p>
        </p:txBody>
      </p:sp>
      <p:sp>
        <p:nvSpPr>
          <p:cNvPr id="13" name="Text 11"/>
          <p:cNvSpPr txBox="1"/>
          <p:nvPr/>
        </p:nvSpPr>
        <p:spPr>
          <a:xfrm>
            <a:off x="777240" y="3995928"/>
            <a:ext cx="914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BAF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効果</a:t>
            </a:r>
            <a:endParaRPr lang="en-US" sz="1000" dirty="0"/>
          </a:p>
        </p:txBody>
      </p:sp>
      <p:sp>
        <p:nvSpPr>
          <p:cNvPr id="14" name="Text 12"/>
          <p:cNvSpPr txBox="1"/>
          <p:nvPr/>
        </p:nvSpPr>
        <p:spPr>
          <a:xfrm>
            <a:off x="777240" y="4197096"/>
            <a:ext cx="490575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プランA・Bと組み合わせれば「いつ測っても同じ結果か」を検証でき、固定順序だった点への批判に答えられる。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6277356" y="1828800"/>
            <a:ext cx="5362956" cy="4206240"/>
          </a:xfrm>
          <a:prstGeom prst="roundRect">
            <a:avLst>
              <a:gd name="adj" fmla="val 2174"/>
            </a:avLst>
          </a:prstGeom>
          <a:solidFill>
            <a:srgbClr val="F4F7F9"/>
          </a:solidFill>
          <a:ln/>
        </p:spPr>
      </p:sp>
      <p:sp>
        <p:nvSpPr>
          <p:cNvPr id="16" name="Shape 14"/>
          <p:cNvSpPr/>
          <p:nvPr/>
        </p:nvSpPr>
        <p:spPr>
          <a:xfrm>
            <a:off x="6505956" y="2011680"/>
            <a:ext cx="502920" cy="274320"/>
          </a:xfrm>
          <a:prstGeom prst="roundRect">
            <a:avLst>
              <a:gd name="adj" fmla="val 20000"/>
            </a:avLst>
          </a:prstGeom>
          <a:solidFill>
            <a:srgbClr val="EDA100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6505956" y="2011680"/>
            <a:ext cx="502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</a:t>
            </a:r>
            <a:endParaRPr lang="en-US" sz="1200" dirty="0"/>
          </a:p>
        </p:txBody>
      </p:sp>
      <p:sp>
        <p:nvSpPr>
          <p:cNvPr id="18" name="Text 16"/>
          <p:cNvSpPr txBox="1"/>
          <p:nvPr/>
        </p:nvSpPr>
        <p:spPr>
          <a:xfrm>
            <a:off x="7100316" y="1984248"/>
            <a:ext cx="431139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糖質量の段階的検証（用量反応）</a:t>
            </a:r>
            <a:endParaRPr lang="en-US" sz="1400" dirty="0"/>
          </a:p>
        </p:txBody>
      </p:sp>
      <p:sp>
        <p:nvSpPr>
          <p:cNvPr id="19" name="Text 17"/>
          <p:cNvSpPr txBox="1"/>
          <p:nvPr/>
        </p:nvSpPr>
        <p:spPr>
          <a:xfrm>
            <a:off x="6505956" y="2423160"/>
            <a:ext cx="914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EDA1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目的</a:t>
            </a:r>
            <a:endParaRPr lang="en-US" sz="1000" dirty="0"/>
          </a:p>
        </p:txBody>
      </p:sp>
      <p:sp>
        <p:nvSpPr>
          <p:cNvPr id="20" name="Text 18"/>
          <p:cNvSpPr txBox="1"/>
          <p:nvPr/>
        </p:nvSpPr>
        <p:spPr>
          <a:xfrm>
            <a:off x="6505956" y="2624328"/>
            <a:ext cx="490575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Q3の矛盾を解消するため、「通常」と「今回の糖質減」の2点だけでなく間の段階も見る。</a:t>
            </a:r>
            <a:endParaRPr lang="en-US" sz="1000" dirty="0"/>
          </a:p>
        </p:txBody>
      </p:sp>
      <p:sp>
        <p:nvSpPr>
          <p:cNvPr id="21" name="Text 19"/>
          <p:cNvSpPr txBox="1"/>
          <p:nvPr/>
        </p:nvSpPr>
        <p:spPr>
          <a:xfrm>
            <a:off x="6505956" y="3209544"/>
            <a:ext cx="914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EDA1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デザイン</a:t>
            </a:r>
            <a:endParaRPr lang="en-US" sz="1000" dirty="0"/>
          </a:p>
        </p:txBody>
      </p:sp>
      <p:sp>
        <p:nvSpPr>
          <p:cNvPr id="22" name="Text 20"/>
          <p:cNvSpPr txBox="1"/>
          <p:nvPr/>
        </p:nvSpPr>
        <p:spPr>
          <a:xfrm>
            <a:off x="6505956" y="3410712"/>
            <a:ext cx="490575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通常量を基準に−10%／−20%／−30%の3段階（レシピの糖質グラム数を明記し再現性を確保）を、A・Bと同じ固定メニューで比較。</a:t>
            </a:r>
            <a:endParaRPr lang="en-US" sz="1000" dirty="0"/>
          </a:p>
        </p:txBody>
      </p:sp>
      <p:sp>
        <p:nvSpPr>
          <p:cNvPr id="23" name="Text 21"/>
          <p:cNvSpPr txBox="1"/>
          <p:nvPr/>
        </p:nvSpPr>
        <p:spPr>
          <a:xfrm>
            <a:off x="6505956" y="3995928"/>
            <a:ext cx="914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EDA1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効果</a:t>
            </a:r>
            <a:endParaRPr lang="en-US" sz="1000" dirty="0"/>
          </a:p>
        </p:txBody>
      </p:sp>
      <p:sp>
        <p:nvSpPr>
          <p:cNvPr id="24" name="Text 22"/>
          <p:cNvSpPr txBox="1"/>
          <p:nvPr/>
        </p:nvSpPr>
        <p:spPr>
          <a:xfrm>
            <a:off x="6505956" y="4197096"/>
            <a:ext cx="490575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血糖の安定性とパフォーマンスの両方が両立する「最適点」を特定できる可能性がある。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11091672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spc="1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PHYSIOLOGICAL MEASURES</a:t>
            </a:r>
            <a:endParaRPr lang="en-US" sz="125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76656"/>
            <a:ext cx="1109167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生理指標の測定方法：血圧 vs 心拍数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48640" y="1508760"/>
            <a:ext cx="11091672" cy="1417320"/>
          </a:xfrm>
          <a:prstGeom prst="roundRect">
            <a:avLst>
              <a:gd name="adj" fmla="val 7742"/>
            </a:avLst>
          </a:prstGeom>
          <a:solidFill>
            <a:srgbClr val="FDF3E2"/>
          </a:solidFill>
          <a:ln w="12700">
            <a:solidFill>
              <a:srgbClr val="EDA100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822960" y="1645920"/>
            <a:ext cx="105430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6B4B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心拍数だけでは血圧の代わりになりにくい</a:t>
            </a:r>
            <a:endParaRPr lang="en-US" sz="1300" dirty="0"/>
          </a:p>
        </p:txBody>
      </p:sp>
      <p:sp>
        <p:nvSpPr>
          <p:cNvPr id="6" name="Text 4"/>
          <p:cNvSpPr txBox="1"/>
          <p:nvPr/>
        </p:nvSpPr>
        <p:spPr>
          <a:xfrm>
            <a:off x="822960" y="1956816"/>
            <a:ext cx="1054303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4B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健常者なら血圧低下時に心拍数が代償的に上がるが、この代償反応自体が高位SCIで遮断される交感神経の機能。心拍数が上がらないのが「血圧が下がっていない」からか「代償反応が壊れて見えていないだけ」かを、心拍数だけでは区別できない。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548640" y="3154680"/>
            <a:ext cx="5362956" cy="2331720"/>
          </a:xfrm>
          <a:prstGeom prst="roundRect">
            <a:avLst>
              <a:gd name="adj" fmla="val 3922"/>
            </a:avLst>
          </a:prstGeom>
          <a:solidFill>
            <a:srgbClr val="F4F7F9"/>
          </a:solidFill>
          <a:ln/>
        </p:spPr>
      </p:sp>
      <p:sp>
        <p:nvSpPr>
          <p:cNvPr id="8" name="Shape 6"/>
          <p:cNvSpPr/>
          <p:nvPr/>
        </p:nvSpPr>
        <p:spPr>
          <a:xfrm>
            <a:off x="822960" y="3310128"/>
            <a:ext cx="146304" cy="365760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1078992" y="3273552"/>
            <a:ext cx="453999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心拍数だけでも価値はある</a:t>
            </a:r>
            <a:endParaRPr lang="en-US" sz="1400" dirty="0"/>
          </a:p>
        </p:txBody>
      </p:sp>
      <p:sp>
        <p:nvSpPr>
          <p:cNvPr id="10" name="Text 8"/>
          <p:cNvSpPr txBox="1"/>
          <p:nvPr/>
        </p:nvSpPr>
        <p:spPr>
          <a:xfrm>
            <a:off x="822960" y="3822192"/>
            <a:ext cx="481431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元の研究計画書でも「自律神経の変動・運動強度」の指標として明記</a:t>
            </a:r>
            <a:endParaRPr lang="en-US" sz="1050" dirty="0"/>
          </a:p>
        </p:txBody>
      </p:sp>
      <p:sp>
        <p:nvSpPr>
          <p:cNvPr id="11" name="Text 9"/>
          <p:cNvSpPr txBox="1"/>
          <p:nvPr/>
        </p:nvSpPr>
        <p:spPr>
          <a:xfrm>
            <a:off x="822960" y="4242816"/>
            <a:ext cx="481431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心拍変動（HRV）まで見れば交感・副交感バランスの変化を捉えられる</a:t>
            </a:r>
            <a:endParaRPr lang="en-US" sz="1050" dirty="0"/>
          </a:p>
        </p:txBody>
      </p:sp>
      <p:sp>
        <p:nvSpPr>
          <p:cNvPr id="12" name="Text 10"/>
          <p:cNvSpPr txBox="1"/>
          <p:nvPr/>
        </p:nvSpPr>
        <p:spPr>
          <a:xfrm>
            <a:off x="822960" y="4663440"/>
            <a:ext cx="481431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ウェアラブルで連続測定が容易</a:t>
            </a:r>
            <a:endParaRPr lang="en-US" sz="1050" dirty="0"/>
          </a:p>
        </p:txBody>
      </p:sp>
      <p:sp>
        <p:nvSpPr>
          <p:cNvPr id="13" name="Text 11"/>
          <p:cNvSpPr txBox="1"/>
          <p:nvPr/>
        </p:nvSpPr>
        <p:spPr>
          <a:xfrm>
            <a:off x="822960" y="5084064"/>
            <a:ext cx="481431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練習強度が揃っているかの確認（プランA・Bの補強）に直接役立つ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6277356" y="3154680"/>
            <a:ext cx="5362956" cy="2331720"/>
          </a:xfrm>
          <a:prstGeom prst="roundRect">
            <a:avLst>
              <a:gd name="adj" fmla="val 3922"/>
            </a:avLst>
          </a:prstGeom>
          <a:solidFill>
            <a:srgbClr val="F4F7F9"/>
          </a:solidFill>
          <a:ln/>
        </p:spPr>
      </p:sp>
      <p:sp>
        <p:nvSpPr>
          <p:cNvPr id="15" name="Shape 13"/>
          <p:cNvSpPr/>
          <p:nvPr/>
        </p:nvSpPr>
        <p:spPr>
          <a:xfrm>
            <a:off x="6551676" y="3310128"/>
            <a:ext cx="146304" cy="365760"/>
          </a:xfrm>
          <a:prstGeom prst="rect">
            <a:avLst/>
          </a:prstGeom>
          <a:solidFill>
            <a:srgbClr val="1BAF7A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6807708" y="3273552"/>
            <a:ext cx="453999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現実的な折衷案</a:t>
            </a:r>
            <a:endParaRPr lang="en-US" sz="1400" dirty="0"/>
          </a:p>
        </p:txBody>
      </p:sp>
      <p:sp>
        <p:nvSpPr>
          <p:cNvPr id="17" name="Text 15"/>
          <p:cNvSpPr txBox="1"/>
          <p:nvPr/>
        </p:nvSpPr>
        <p:spPr>
          <a:xfrm>
            <a:off x="6551676" y="3822192"/>
            <a:ext cx="481431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血圧は数点だけスポット測定（8:00・8:30・9:30・練習直前）</a:t>
            </a:r>
            <a:endParaRPr lang="en-US" sz="1050" dirty="0"/>
          </a:p>
        </p:txBody>
      </p:sp>
      <p:sp>
        <p:nvSpPr>
          <p:cNvPr id="18" name="Text 16"/>
          <p:cNvSpPr txBox="1"/>
          <p:nvPr/>
        </p:nvSpPr>
        <p:spPr>
          <a:xfrm>
            <a:off x="6551676" y="4242816"/>
            <a:ext cx="481431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心拍数はウェアラブルで連続測定し、間を補完</a:t>
            </a:r>
            <a:endParaRPr lang="en-US" sz="1050" dirty="0"/>
          </a:p>
        </p:txBody>
      </p:sp>
      <p:sp>
        <p:nvSpPr>
          <p:cNvPr id="19" name="Text 17"/>
          <p:cNvSpPr txBox="1"/>
          <p:nvPr/>
        </p:nvSpPr>
        <p:spPr>
          <a:xfrm>
            <a:off x="6551676" y="4663440"/>
            <a:ext cx="481431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連続血圧測定（高価・運動中は困難）を避けつつ実測値で裏付けられる</a:t>
            </a:r>
            <a:endParaRPr lang="en-US" sz="1050" dirty="0"/>
          </a:p>
        </p:txBody>
      </p:sp>
      <p:sp>
        <p:nvSpPr>
          <p:cNvPr id="20" name="Text 18"/>
          <p:cNvSpPr txBox="1"/>
          <p:nvPr/>
        </p:nvSpPr>
        <p:spPr>
          <a:xfrm>
            <a:off x="6551676" y="5084064"/>
            <a:ext cx="481431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大きな負担なく、核心仮説に直接答えられる設計になる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548640" y="6492240"/>
            <a:ext cx="1109167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5C6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心拍数は血圧の代用ではなく補完指標として位置づけ、血圧のスポット測定と組み合わせるのが現実的。</a:t>
            </a:r>
            <a:endParaRPr lang="en-US" sz="9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2129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11091672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spc="100" kern="0" dirty="0">
                <a:solidFill>
                  <a:srgbClr val="8FB7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PRIORITY</a:t>
            </a:r>
            <a:endParaRPr lang="en-US" sz="125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76656"/>
            <a:ext cx="1109167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優先順位のまとめ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384048" cy="384048"/>
          </a:xfrm>
          <a:prstGeom prst="oval">
            <a:avLst/>
          </a:prstGeom>
          <a:solidFill>
            <a:srgbClr val="065A82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548640" y="160020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1143000" y="1581912"/>
            <a:ext cx="6035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プランA：固定トレーニングメニュー法</a:t>
            </a:r>
            <a:endParaRPr lang="en-US" sz="1350" dirty="0"/>
          </a:p>
        </p:txBody>
      </p:sp>
      <p:sp>
        <p:nvSpPr>
          <p:cNvPr id="7" name="Text 5"/>
          <p:cNvSpPr txBox="1"/>
          <p:nvPr/>
        </p:nvSpPr>
        <p:spPr>
          <a:xfrm>
            <a:off x="7315200" y="1581912"/>
            <a:ext cx="4480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最優先。労力に対して得られる情報量が最大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548640" y="2221992"/>
            <a:ext cx="384048" cy="384048"/>
          </a:xfrm>
          <a:prstGeom prst="oval">
            <a:avLst/>
          </a:prstGeom>
          <a:solidFill>
            <a:srgbClr val="1C7293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548640" y="222199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400" dirty="0"/>
          </a:p>
        </p:txBody>
      </p:sp>
      <p:sp>
        <p:nvSpPr>
          <p:cNvPr id="10" name="Text 8"/>
          <p:cNvSpPr txBox="1"/>
          <p:nvPr/>
        </p:nvSpPr>
        <p:spPr>
          <a:xfrm>
            <a:off x="1143000" y="2203704"/>
            <a:ext cx="6035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プランB：客観的パフォーマンステストの追加</a:t>
            </a:r>
            <a:endParaRPr lang="en-US" sz="1350" dirty="0"/>
          </a:p>
        </p:txBody>
      </p:sp>
      <p:sp>
        <p:nvSpPr>
          <p:cNvPr id="11" name="Text 9"/>
          <p:cNvSpPr txBox="1"/>
          <p:nvPr/>
        </p:nvSpPr>
        <p:spPr>
          <a:xfrm>
            <a:off x="7315200" y="2203704"/>
            <a:ext cx="4480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Aとセットで、Q3の矛盾にかなり近づける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548640" y="2843784"/>
            <a:ext cx="384048" cy="384048"/>
          </a:xfrm>
          <a:prstGeom prst="oval">
            <a:avLst/>
          </a:prstGeom>
          <a:solidFill>
            <a:srgbClr val="1BAF7A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548640" y="284378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400" dirty="0"/>
          </a:p>
        </p:txBody>
      </p:sp>
      <p:sp>
        <p:nvSpPr>
          <p:cNvPr id="14" name="Text 12"/>
          <p:cNvSpPr txBox="1"/>
          <p:nvPr/>
        </p:nvSpPr>
        <p:spPr>
          <a:xfrm>
            <a:off x="1143000" y="2825496"/>
            <a:ext cx="6035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血圧スポット測定＋心拍数の連続測定</a:t>
            </a:r>
            <a:endParaRPr lang="en-US" sz="1350" dirty="0"/>
          </a:p>
        </p:txBody>
      </p:sp>
      <p:sp>
        <p:nvSpPr>
          <p:cNvPr id="15" name="Text 13"/>
          <p:cNvSpPr txBox="1"/>
          <p:nvPr/>
        </p:nvSpPr>
        <p:spPr>
          <a:xfrm>
            <a:off x="7315200" y="2825496"/>
            <a:ext cx="4480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核心仮説（食後低血圧）に直接答えられる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548640" y="3465576"/>
            <a:ext cx="384048" cy="384048"/>
          </a:xfrm>
          <a:prstGeom prst="oval">
            <a:avLst/>
          </a:prstGeom>
          <a:solidFill>
            <a:srgbClr val="EDA100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548640" y="346557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400" dirty="0"/>
          </a:p>
        </p:txBody>
      </p:sp>
      <p:sp>
        <p:nvSpPr>
          <p:cNvPr id="18" name="Text 16"/>
          <p:cNvSpPr txBox="1"/>
          <p:nvPr/>
        </p:nvSpPr>
        <p:spPr>
          <a:xfrm>
            <a:off x="1143000" y="3447288"/>
            <a:ext cx="6035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プランC：ランダム化クロスオーバー</a:t>
            </a:r>
            <a:endParaRPr lang="en-US" sz="1350" dirty="0"/>
          </a:p>
        </p:txBody>
      </p:sp>
      <p:sp>
        <p:nvSpPr>
          <p:cNvPr id="19" name="Text 17"/>
          <p:cNvSpPr txBox="1"/>
          <p:nvPr/>
        </p:nvSpPr>
        <p:spPr>
          <a:xfrm>
            <a:off x="7315200" y="3447288"/>
            <a:ext cx="4480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余力があれば。順序効果を排除し妥当性を高める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548640" y="4087368"/>
            <a:ext cx="384048" cy="384048"/>
          </a:xfrm>
          <a:prstGeom prst="oval">
            <a:avLst/>
          </a:prstGeom>
          <a:solidFill>
            <a:srgbClr val="8B6FB0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548640" y="408736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1400" dirty="0"/>
          </a:p>
        </p:txBody>
      </p:sp>
      <p:sp>
        <p:nvSpPr>
          <p:cNvPr id="22" name="Text 20"/>
          <p:cNvSpPr txBox="1"/>
          <p:nvPr/>
        </p:nvSpPr>
        <p:spPr>
          <a:xfrm>
            <a:off x="1143000" y="4069080"/>
            <a:ext cx="6035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プランD：糖質量の段階的検証</a:t>
            </a:r>
            <a:endParaRPr lang="en-US" sz="1350" dirty="0"/>
          </a:p>
        </p:txBody>
      </p:sp>
      <p:sp>
        <p:nvSpPr>
          <p:cNvPr id="23" name="Text 21"/>
          <p:cNvSpPr txBox="1"/>
          <p:nvPr/>
        </p:nvSpPr>
        <p:spPr>
          <a:xfrm>
            <a:off x="7315200" y="4069080"/>
            <a:ext cx="4480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血糖とパフォーマンスの最適点を探る発展形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548640" y="5074920"/>
            <a:ext cx="11091672" cy="1188720"/>
          </a:xfrm>
          <a:prstGeom prst="roundRect">
            <a:avLst>
              <a:gd name="adj" fmla="val 7692"/>
            </a:avLst>
          </a:prstGeom>
          <a:solidFill>
            <a:srgbClr val="1A2350"/>
          </a:solidFill>
          <a:ln/>
        </p:spPr>
      </p:sp>
      <p:sp>
        <p:nvSpPr>
          <p:cNvPr id="25" name="Text 23"/>
          <p:cNvSpPr txBox="1"/>
          <p:nvPr/>
        </p:nvSpPr>
        <p:spPr>
          <a:xfrm>
            <a:off x="822960" y="5212080"/>
            <a:ext cx="1054303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E8ED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まず①②（練習量・パフォーマンス測定の標準化）だけでも実施できれば、今回パイロットで残った最大の疑問「糖質減は本当に持久力を下げるのか」にかなり近づける。余力に応じて③以降を積み増す段階的なアプローチを推奨。</a:t>
            </a:r>
            <a:endParaRPr lang="en-US" sz="1250" dirty="0"/>
          </a:p>
        </p:txBody>
      </p:sp>
      <p:sp>
        <p:nvSpPr>
          <p:cNvPr id="26" name="Text 24"/>
          <p:cNvSpPr/>
          <p:nvPr/>
        </p:nvSpPr>
        <p:spPr>
          <a:xfrm>
            <a:off x="548640" y="6492240"/>
            <a:ext cx="1109167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9AA6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データ出典：これまでのパイロット分析（for_AI_.xlsx／0824スケジュール.xlsx／condition_app_2026-08-25_2026-09-07.xlsx）</a:t>
            </a:r>
            <a:endParaRPr lang="en-US" sz="9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mbri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2026-09-19T09:40:54Z</dcterms:created>
  <dcterms:modified xsi:type="dcterms:W3CDTF">2026-09-19T09:40:54Z</dcterms:modified>
</cp:coreProperties>
</file>