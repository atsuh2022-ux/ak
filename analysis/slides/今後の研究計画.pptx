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1295C"/>
          </a:solidFill>
          <a:ln/>
        </p:spPr>
      </p:sp>
      <p:sp>
        <p:nvSpPr>
          <p:cNvPr id="3" name="Shape 1"/>
          <p:cNvSpPr/>
          <p:nvPr/>
        </p:nvSpPr>
        <p:spPr>
          <a:xfrm>
            <a:off x="9692640" y="-1463040"/>
            <a:ext cx="5029200" cy="5029200"/>
          </a:xfrm>
          <a:prstGeom prst="oval">
            <a:avLst/>
          </a:prstGeom>
          <a:solidFill>
            <a:srgbClr val="065A82">
              <a:alpha val="45000"/>
            </a:srgbClr>
          </a:solidFill>
          <a:ln/>
        </p:spPr>
      </p:sp>
      <p:sp>
        <p:nvSpPr>
          <p:cNvPr id="4" name="Shape 2"/>
          <p:cNvSpPr/>
          <p:nvPr/>
        </p:nvSpPr>
        <p:spPr>
          <a:xfrm>
            <a:off x="-1828800" y="4206240"/>
            <a:ext cx="4206240" cy="4206240"/>
          </a:xfrm>
          <a:prstGeom prst="oval">
            <a:avLst/>
          </a:prstGeom>
          <a:solidFill>
            <a:srgbClr val="1C7293">
              <a:alpha val="40000"/>
            </a:srgbClr>
          </a:solidFill>
          <a:ln/>
        </p:spPr>
      </p:sp>
      <p:sp>
        <p:nvSpPr>
          <p:cNvPr id="5" name="Text 3"/>
          <p:cNvSpPr txBox="1"/>
          <p:nvPr/>
        </p:nvSpPr>
        <p:spPr>
          <a:xfrm>
            <a:off x="548640" y="1828800"/>
            <a:ext cx="10058400" cy="365760"/>
          </a:xfrm>
          <a:prstGeom prst="rect">
            <a:avLst/>
          </a:prstGeom>
          <a:noFill/>
          <a:ln/>
        </p:spPr>
        <p:txBody>
          <a:bodyPr wrap="square" rtlCol="0" anchor="ctr"/>
          <a:lstStyle/>
          <a:p>
            <a:pPr indent="0" marL="0">
              <a:buNone/>
            </a:pPr>
            <a:r>
              <a:rPr lang="en-US" sz="1500" b="1" spc="100" kern="0" dirty="0">
                <a:solidFill>
                  <a:srgbClr val="8FB7E0"/>
                </a:solidFill>
                <a:latin typeface="Calibri" pitchFamily="34" charset="0"/>
                <a:ea typeface="Calibri" pitchFamily="34" charset="-122"/>
                <a:cs typeface="Calibri" pitchFamily="34" charset="-120"/>
              </a:rPr>
              <a:t>パイロット結果を踏まえた</a:t>
            </a:r>
            <a:endParaRPr lang="en-US" sz="1500" dirty="0"/>
          </a:p>
        </p:txBody>
      </p:sp>
      <p:sp>
        <p:nvSpPr>
          <p:cNvPr id="6" name="Text 4"/>
          <p:cNvSpPr txBox="1"/>
          <p:nvPr/>
        </p:nvSpPr>
        <p:spPr>
          <a:xfrm>
            <a:off x="548640" y="2240280"/>
            <a:ext cx="105156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今後の研究計画</a:t>
            </a:r>
            <a:endParaRPr lang="en-US" sz="4000" dirty="0"/>
          </a:p>
        </p:txBody>
      </p:sp>
      <p:sp>
        <p:nvSpPr>
          <p:cNvPr id="7" name="Text 5"/>
          <p:cNvSpPr txBox="1"/>
          <p:nvPr/>
        </p:nvSpPr>
        <p:spPr>
          <a:xfrm>
            <a:off x="548640" y="3154680"/>
            <a:ext cx="10058400" cy="457200"/>
          </a:xfrm>
          <a:prstGeom prst="rect">
            <a:avLst/>
          </a:prstGeom>
          <a:noFill/>
          <a:ln/>
        </p:spPr>
        <p:txBody>
          <a:bodyPr wrap="square" rtlCol="0" anchor="ctr"/>
          <a:lstStyle/>
          <a:p>
            <a:pPr indent="0" marL="0">
              <a:buNone/>
            </a:pPr>
            <a:r>
              <a:rPr lang="en-US" sz="1600" dirty="0">
                <a:solidFill>
                  <a:srgbClr val="CADCFC"/>
                </a:solidFill>
                <a:latin typeface="Calibri" pitchFamily="34" charset="0"/>
                <a:ea typeface="Calibri" pitchFamily="34" charset="-122"/>
                <a:cs typeface="Calibri" pitchFamily="34" charset="-120"/>
              </a:rPr>
              <a:t>新たな課題の整理と、練習量を揃えた再検証プラン</a:t>
            </a:r>
            <a:endParaRPr lang="en-US" sz="1600" dirty="0"/>
          </a:p>
        </p:txBody>
      </p:sp>
      <p:sp>
        <p:nvSpPr>
          <p:cNvPr id="8" name="Shape 6"/>
          <p:cNvSpPr/>
          <p:nvPr/>
        </p:nvSpPr>
        <p:spPr>
          <a:xfrm>
            <a:off x="548640" y="4169664"/>
            <a:ext cx="91440" cy="91440"/>
          </a:xfrm>
          <a:prstGeom prst="oval">
            <a:avLst/>
          </a:prstGeom>
          <a:solidFill>
            <a:srgbClr val="1C7293"/>
          </a:solidFill>
          <a:ln/>
        </p:spPr>
      </p:sp>
      <p:sp>
        <p:nvSpPr>
          <p:cNvPr id="9" name="Text 7"/>
          <p:cNvSpPr txBox="1"/>
          <p:nvPr/>
        </p:nvSpPr>
        <p:spPr>
          <a:xfrm>
            <a:off x="822960" y="4114800"/>
            <a:ext cx="8229600" cy="36576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新たな課題（6項目）</a:t>
            </a:r>
            <a:endParaRPr lang="en-US" sz="1400" dirty="0"/>
          </a:p>
        </p:txBody>
      </p:sp>
      <p:sp>
        <p:nvSpPr>
          <p:cNvPr id="10" name="Shape 8"/>
          <p:cNvSpPr/>
          <p:nvPr/>
        </p:nvSpPr>
        <p:spPr>
          <a:xfrm>
            <a:off x="548640" y="4672584"/>
            <a:ext cx="91440" cy="91440"/>
          </a:xfrm>
          <a:prstGeom prst="oval">
            <a:avLst/>
          </a:prstGeom>
          <a:solidFill>
            <a:srgbClr val="1C7293"/>
          </a:solidFill>
          <a:ln/>
        </p:spPr>
      </p:sp>
      <p:sp>
        <p:nvSpPr>
          <p:cNvPr id="11" name="Text 9"/>
          <p:cNvSpPr txBox="1"/>
          <p:nvPr/>
        </p:nvSpPr>
        <p:spPr>
          <a:xfrm>
            <a:off x="822960" y="4617720"/>
            <a:ext cx="8229600" cy="36576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再検証プラン A〜D</a:t>
            </a:r>
            <a:endParaRPr lang="en-US" sz="1400" dirty="0"/>
          </a:p>
        </p:txBody>
      </p:sp>
      <p:sp>
        <p:nvSpPr>
          <p:cNvPr id="12" name="Shape 10"/>
          <p:cNvSpPr/>
          <p:nvPr/>
        </p:nvSpPr>
        <p:spPr>
          <a:xfrm>
            <a:off x="548640" y="5175504"/>
            <a:ext cx="91440" cy="91440"/>
          </a:xfrm>
          <a:prstGeom prst="oval">
            <a:avLst/>
          </a:prstGeom>
          <a:solidFill>
            <a:srgbClr val="1C7293"/>
          </a:solidFill>
          <a:ln/>
        </p:spPr>
      </p:sp>
      <p:sp>
        <p:nvSpPr>
          <p:cNvPr id="13" name="Text 11"/>
          <p:cNvSpPr txBox="1"/>
          <p:nvPr/>
        </p:nvSpPr>
        <p:spPr>
          <a:xfrm>
            <a:off x="822960" y="5120640"/>
            <a:ext cx="8229600" cy="36576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生理指標の測定方法（血圧 vs 心拍数）</a:t>
            </a:r>
            <a:endParaRPr lang="en-US" sz="1400" dirty="0"/>
          </a:p>
        </p:txBody>
      </p:sp>
      <p:sp>
        <p:nvSpPr>
          <p:cNvPr id="14" name="Shape 12"/>
          <p:cNvSpPr/>
          <p:nvPr/>
        </p:nvSpPr>
        <p:spPr>
          <a:xfrm>
            <a:off x="548640" y="5678424"/>
            <a:ext cx="91440" cy="91440"/>
          </a:xfrm>
          <a:prstGeom prst="oval">
            <a:avLst/>
          </a:prstGeom>
          <a:solidFill>
            <a:srgbClr val="1C7293"/>
          </a:solidFill>
          <a:ln/>
        </p:spPr>
      </p:sp>
      <p:sp>
        <p:nvSpPr>
          <p:cNvPr id="15" name="Text 13"/>
          <p:cNvSpPr txBox="1"/>
          <p:nvPr/>
        </p:nvSpPr>
        <p:spPr>
          <a:xfrm>
            <a:off x="822960" y="5623560"/>
            <a:ext cx="8229600" cy="365760"/>
          </a:xfrm>
          <a:prstGeom prst="rect">
            <a:avLst/>
          </a:prstGeom>
          <a:noFill/>
          <a:ln/>
        </p:spPr>
        <p:txBody>
          <a:bodyPr wrap="square" lIns="0" tIns="0" rIns="0" bIns="0" rtlCol="0" anchor="ctr"/>
          <a:lstStyle/>
          <a:p>
            <a:pPr indent="0" marL="0">
              <a:buNone/>
            </a:pPr>
            <a:r>
              <a:rPr lang="en-US" sz="1400" dirty="0">
                <a:solidFill>
                  <a:srgbClr val="E8EDF7"/>
                </a:solidFill>
                <a:latin typeface="Calibri" pitchFamily="34" charset="0"/>
                <a:ea typeface="Calibri" pitchFamily="34" charset="-122"/>
                <a:cs typeface="Calibri" pitchFamily="34" charset="-120"/>
              </a:rPr>
              <a:t>優先順位のまとめ</a:t>
            </a:r>
            <a:endParaRPr lang="en-US" sz="1400" dirty="0"/>
          </a:p>
        </p:txBody>
      </p:sp>
      <p:sp>
        <p:nvSpPr>
          <p:cNvPr id="16" name="Text 14"/>
          <p:cNvSpPr txBox="1"/>
          <p:nvPr/>
        </p:nvSpPr>
        <p:spPr>
          <a:xfrm>
            <a:off x="548640" y="6263640"/>
            <a:ext cx="9601200" cy="320040"/>
          </a:xfrm>
          <a:prstGeom prst="rect">
            <a:avLst/>
          </a:prstGeom>
          <a:noFill/>
          <a:ln/>
        </p:spPr>
        <p:txBody>
          <a:bodyPr wrap="square" rtlCol="0" anchor="ctr"/>
          <a:lstStyle/>
          <a:p>
            <a:pPr indent="0" marL="0">
              <a:buNone/>
            </a:pPr>
            <a:r>
              <a:rPr lang="en-US" sz="1050" i="1" dirty="0">
                <a:solidFill>
                  <a:srgbClr val="9AA6C4"/>
                </a:solidFill>
                <a:latin typeface="Calibri" pitchFamily="34" charset="0"/>
                <a:ea typeface="Calibri" pitchFamily="34" charset="-122"/>
                <a:cs typeface="Calibri" pitchFamily="34" charset="-120"/>
              </a:rPr>
              <a:t>対象：高位脊髄損傷（SCI）車いす陸上選手 1名を対象としたパイロット研究の結果から</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NEW FINDING（前進）</a:t>
            </a:r>
            <a:endParaRPr lang="en-US" sz="1250" dirty="0"/>
          </a:p>
        </p:txBody>
      </p:sp>
      <p:sp>
        <p:nvSpPr>
          <p:cNvPr id="3" name="Text 1"/>
          <p:cNvSpPr txBox="1"/>
          <p:nvPr/>
        </p:nvSpPr>
        <p:spPr>
          <a:xfrm>
            <a:off x="548640" y="676656"/>
            <a:ext cx="11091672" cy="54864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新知見：血糖ベースラインの持続的シフト</a:t>
            </a:r>
            <a:endParaRPr lang="en-US" sz="2600" dirty="0"/>
          </a:p>
        </p:txBody>
      </p:sp>
      <p:sp>
        <p:nvSpPr>
          <p:cNvPr id="4" name="Text 2"/>
          <p:cNvSpPr txBox="1"/>
          <p:nvPr/>
        </p:nvSpPr>
        <p:spPr>
          <a:xfrm>
            <a:off x="548640" y="1554480"/>
            <a:ext cx="11091672" cy="457200"/>
          </a:xfrm>
          <a:prstGeom prst="rect">
            <a:avLst/>
          </a:prstGeom>
          <a:noFill/>
          <a:ln/>
        </p:spPr>
        <p:txBody>
          <a:bodyPr wrap="square" lIns="0" tIns="0" rIns="0" bIns="0" rtlCol="0" anchor="ctr"/>
          <a:lstStyle/>
          <a:p>
            <a:pPr indent="0" marL="0">
              <a:buNone/>
            </a:pPr>
            <a:r>
              <a:rPr lang="en-US" sz="1300" dirty="0">
                <a:solidFill>
                  <a:srgbClr val="5C6570"/>
                </a:solidFill>
                <a:latin typeface="Calibri" pitchFamily="34" charset="0"/>
                <a:ea typeface="Calibri" pitchFamily="34" charset="-122"/>
                <a:cs typeface="Calibri" pitchFamily="34" charset="-120"/>
              </a:rPr>
              <a:t>その後入手した14日間の連続CGMデータにより、「摂取直前(8:00)血糖値のばらつき」の謎に大きな手がかりが得られた。</a:t>
            </a:r>
            <a:endParaRPr lang="en-US" sz="1300" dirty="0"/>
          </a:p>
        </p:txBody>
      </p:sp>
      <p:sp>
        <p:nvSpPr>
          <p:cNvPr id="5" name="Shape 3"/>
          <p:cNvSpPr/>
          <p:nvPr/>
        </p:nvSpPr>
        <p:spPr>
          <a:xfrm>
            <a:off x="548640" y="2103120"/>
            <a:ext cx="11091672" cy="1554480"/>
          </a:xfrm>
          <a:prstGeom prst="roundRect">
            <a:avLst>
              <a:gd name="adj" fmla="val 7059"/>
            </a:avLst>
          </a:prstGeom>
          <a:solidFill>
            <a:srgbClr val="FDF3E2"/>
          </a:solidFill>
          <a:ln w="12700">
            <a:solidFill>
              <a:srgbClr val="EDA100"/>
            </a:solidFill>
            <a:prstDash val="solid"/>
          </a:ln>
        </p:spPr>
      </p:sp>
      <p:sp>
        <p:nvSpPr>
          <p:cNvPr id="6" name="Text 4"/>
          <p:cNvSpPr txBox="1"/>
          <p:nvPr/>
        </p:nvSpPr>
        <p:spPr>
          <a:xfrm>
            <a:off x="822960" y="2249424"/>
            <a:ext cx="10543032" cy="292608"/>
          </a:xfrm>
          <a:prstGeom prst="rect">
            <a:avLst/>
          </a:prstGeom>
          <a:noFill/>
          <a:ln/>
        </p:spPr>
        <p:txBody>
          <a:bodyPr wrap="square" lIns="0" tIns="0" rIns="0" bIns="0" rtlCol="0" anchor="ctr"/>
          <a:lstStyle/>
          <a:p>
            <a:pPr indent="0" marL="0">
              <a:buNone/>
            </a:pPr>
            <a:r>
              <a:rPr lang="en-US" sz="1350" b="1" dirty="0">
                <a:solidFill>
                  <a:srgbClr val="6B4B00"/>
                </a:solidFill>
                <a:latin typeface="Calibri" pitchFamily="34" charset="0"/>
                <a:ea typeface="Calibri" pitchFamily="34" charset="-122"/>
                <a:cs typeface="Calibri" pitchFamily="34" charset="-120"/>
              </a:rPr>
              <a:t>⚠ DAY5(8/29)14:50頃から血糖が持続的に上昇し、以後一度も戻っていない</a:t>
            </a:r>
            <a:endParaRPr lang="en-US" sz="1350" dirty="0"/>
          </a:p>
        </p:txBody>
      </p:sp>
      <p:sp>
        <p:nvSpPr>
          <p:cNvPr id="7" name="Text 5"/>
          <p:cNvSpPr txBox="1"/>
          <p:nvPr/>
        </p:nvSpPr>
        <p:spPr>
          <a:xfrm>
            <a:off x="822960" y="2578608"/>
            <a:ext cx="10543032" cy="1005840"/>
          </a:xfrm>
          <a:prstGeom prst="rect">
            <a:avLst/>
          </a:prstGeom>
          <a:noFill/>
          <a:ln/>
        </p:spPr>
        <p:txBody>
          <a:bodyPr wrap="square" lIns="0" tIns="0" rIns="0" bIns="0" rtlCol="0" anchor="ctr"/>
          <a:lstStyle/>
          <a:p>
            <a:pPr indent="0" marL="0">
              <a:buNone/>
            </a:pPr>
            <a:r>
              <a:rPr lang="en-US" sz="1150" dirty="0">
                <a:solidFill>
                  <a:srgbClr val="6B4B00"/>
                </a:solidFill>
                <a:latin typeface="Calibri" pitchFamily="34" charset="0"/>
                <a:ea typeface="Calibri" pitchFamily="34" charset="-122"/>
                <a:cs typeface="Calibri" pitchFamily="34" charset="-120"/>
              </a:rPr>
              <a:t>夜間(0:00-6:00)平均血糖：DAY1〜4は93〜107 mg/dL→DAY6以降は130〜177 mg/dLへ持続的に上昇。原因は不明（食事ログ未記録。体調不良・ストレス・蓄積疲労等が候補）。DAY6朝のメモに「7時にドーピング検査があった」との記載あり。</a:t>
            </a:r>
            <a:endParaRPr lang="en-US" sz="1150" dirty="0"/>
          </a:p>
        </p:txBody>
      </p:sp>
      <p:sp>
        <p:nvSpPr>
          <p:cNvPr id="8" name="Shape 6"/>
          <p:cNvSpPr/>
          <p:nvPr/>
        </p:nvSpPr>
        <p:spPr>
          <a:xfrm>
            <a:off x="548640" y="3840480"/>
            <a:ext cx="11091672" cy="868680"/>
          </a:xfrm>
          <a:prstGeom prst="roundRect">
            <a:avLst>
              <a:gd name="adj" fmla="val 10526"/>
            </a:avLst>
          </a:prstGeom>
          <a:solidFill>
            <a:srgbClr val="EAF7F0"/>
          </a:solidFill>
          <a:ln/>
        </p:spPr>
      </p:sp>
      <p:sp>
        <p:nvSpPr>
          <p:cNvPr id="9" name="Text 7"/>
          <p:cNvSpPr txBox="1"/>
          <p:nvPr/>
        </p:nvSpPr>
        <p:spPr>
          <a:xfrm>
            <a:off x="822960" y="4023360"/>
            <a:ext cx="10543032" cy="502920"/>
          </a:xfrm>
          <a:prstGeom prst="rect">
            <a:avLst/>
          </a:prstGeom>
          <a:noFill/>
          <a:ln/>
        </p:spPr>
        <p:txBody>
          <a:bodyPr wrap="square" lIns="0" tIns="0" rIns="0" bIns="0" rtlCol="0" anchor="ctr"/>
          <a:lstStyle/>
          <a:p>
            <a:pPr indent="0" marL="0">
              <a:buNone/>
            </a:pPr>
            <a:r>
              <a:rPr lang="en-US" sz="1250" b="1" dirty="0">
                <a:solidFill>
                  <a:srgbClr val="0F5C3D"/>
                </a:solidFill>
                <a:latin typeface="Calibri" pitchFamily="34" charset="0"/>
                <a:ea typeface="Calibri" pitchFamily="34" charset="-122"/>
                <a:cs typeface="Calibri" pitchFamily="34" charset="-120"/>
              </a:rPr>
              <a:t>✓ 良い知らせ：14日間で低血糖（70mg/dL未満）は一度も検出されず</a:t>
            </a:r>
            <a:endParaRPr lang="en-US" sz="1250" dirty="0"/>
          </a:p>
        </p:txBody>
      </p:sp>
      <p:sp>
        <p:nvSpPr>
          <p:cNvPr id="10" name="Shape 8"/>
          <p:cNvSpPr/>
          <p:nvPr/>
        </p:nvSpPr>
        <p:spPr>
          <a:xfrm>
            <a:off x="548640" y="4892040"/>
            <a:ext cx="11091672" cy="1143000"/>
          </a:xfrm>
          <a:prstGeom prst="roundRect">
            <a:avLst>
              <a:gd name="adj" fmla="val 8000"/>
            </a:avLst>
          </a:prstGeom>
          <a:solidFill>
            <a:srgbClr val="F4F7F9"/>
          </a:solidFill>
          <a:ln/>
        </p:spPr>
      </p:sp>
      <p:sp>
        <p:nvSpPr>
          <p:cNvPr id="11" name="Text 9"/>
          <p:cNvSpPr txBox="1"/>
          <p:nvPr/>
        </p:nvSpPr>
        <p:spPr>
          <a:xfrm>
            <a:off x="822960" y="5029200"/>
            <a:ext cx="4572000" cy="274320"/>
          </a:xfrm>
          <a:prstGeom prst="rect">
            <a:avLst/>
          </a:prstGeom>
          <a:noFill/>
          <a:ln/>
        </p:spPr>
        <p:txBody>
          <a:bodyPr wrap="square" lIns="0" tIns="0" rIns="0" bIns="0" rtlCol="0" anchor="ctr"/>
          <a:lstStyle/>
          <a:p>
            <a:pPr indent="0" marL="0">
              <a:buNone/>
            </a:pPr>
            <a:r>
              <a:rPr lang="en-US" sz="1200" b="1" dirty="0">
                <a:solidFill>
                  <a:srgbClr val="21295C"/>
                </a:solidFill>
                <a:latin typeface="Calibri" pitchFamily="34" charset="0"/>
                <a:ea typeface="Calibri" pitchFamily="34" charset="-122"/>
                <a:cs typeface="Calibri" pitchFamily="34" charset="-120"/>
              </a:rPr>
              <a:t>最優先の次の一手</a:t>
            </a:r>
            <a:endParaRPr lang="en-US" sz="1200" dirty="0"/>
          </a:p>
        </p:txBody>
      </p:sp>
      <p:sp>
        <p:nvSpPr>
          <p:cNvPr id="12" name="Text 10"/>
          <p:cNvSpPr txBox="1"/>
          <p:nvPr/>
        </p:nvSpPr>
        <p:spPr>
          <a:xfrm>
            <a:off x="822960" y="5321808"/>
            <a:ext cx="10543032" cy="640080"/>
          </a:xfrm>
          <a:prstGeom prst="rect">
            <a:avLst/>
          </a:prstGeom>
          <a:noFill/>
          <a:ln/>
        </p:spPr>
        <p:txBody>
          <a:bodyPr wrap="square" lIns="0" tIns="0" rIns="0" bIns="0" rtlCol="0" anchor="ctr"/>
          <a:lstStyle/>
          <a:p>
            <a:pPr indent="0" marL="0">
              <a:buNone/>
            </a:pPr>
            <a:r>
              <a:rPr lang="en-US" sz="1150" dirty="0">
                <a:solidFill>
                  <a:srgbClr val="1A1A1A"/>
                </a:solidFill>
                <a:latin typeface="Calibri" pitchFamily="34" charset="0"/>
                <a:ea typeface="Calibri" pitchFamily="34" charset="-122"/>
                <a:cs typeface="Calibri" pitchFamily="34" charset="-120"/>
              </a:rPr>
              <a:t>選手・スタッフに8/29 14:30〜15:30頃の状況（補食・体調・ストレス）を確認する。プランA〜Eより先に実施でき、コスト0で最大の手がかりが得られる。</a:t>
            </a:r>
            <a:endParaRPr lang="en-US" sz="1150" dirty="0"/>
          </a:p>
        </p:txBody>
      </p:sp>
      <p:sp>
        <p:nvSpPr>
          <p:cNvPr id="13" name="Text 11"/>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5C6570"/>
                </a:solidFill>
                <a:latin typeface="Calibri" pitchFamily="34" charset="0"/>
                <a:ea typeface="Calibri" pitchFamily="34" charset="-122"/>
                <a:cs typeface="Calibri" pitchFamily="34" charset="-120"/>
              </a:rPr>
              <a:t>①固形vsスムージー・②タイミングの結論はこのシフトの影響を受けている可能性があり要再評価。③糖質量の比較はシフト後で条件が揃い結論を維持できる。</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NEW QUESTIONS</a:t>
            </a:r>
            <a:endParaRPr lang="en-US" sz="1250" dirty="0"/>
          </a:p>
        </p:txBody>
      </p:sp>
      <p:sp>
        <p:nvSpPr>
          <p:cNvPr id="3" name="Text 1"/>
          <p:cNvSpPr txBox="1"/>
          <p:nvPr/>
        </p:nvSpPr>
        <p:spPr>
          <a:xfrm>
            <a:off x="548640" y="676656"/>
            <a:ext cx="11091672" cy="54864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新たな課題①（Q1・Q2から）</a:t>
            </a:r>
            <a:endParaRPr lang="en-US" sz="2600" dirty="0"/>
          </a:p>
        </p:txBody>
      </p:sp>
      <p:sp>
        <p:nvSpPr>
          <p:cNvPr id="4" name="Shape 2"/>
          <p:cNvSpPr/>
          <p:nvPr/>
        </p:nvSpPr>
        <p:spPr>
          <a:xfrm>
            <a:off x="548640" y="1737360"/>
            <a:ext cx="384048" cy="384048"/>
          </a:xfrm>
          <a:prstGeom prst="oval">
            <a:avLst/>
          </a:prstGeom>
          <a:solidFill>
            <a:srgbClr val="2A78D6"/>
          </a:solidFill>
          <a:ln/>
        </p:spPr>
      </p:sp>
      <p:sp>
        <p:nvSpPr>
          <p:cNvPr id="5" name="Text 3"/>
          <p:cNvSpPr txBox="1"/>
          <p:nvPr/>
        </p:nvSpPr>
        <p:spPr>
          <a:xfrm>
            <a:off x="5486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097280" y="1719072"/>
            <a:ext cx="10332720" cy="292608"/>
          </a:xfrm>
          <a:prstGeom prst="rect">
            <a:avLst/>
          </a:prstGeom>
          <a:noFill/>
          <a:ln/>
        </p:spPr>
        <p:txBody>
          <a:bodyPr wrap="square" lIns="0" tIns="0" rIns="0" bIns="0" rtlCol="0" anchor="ctr"/>
          <a:lstStyle/>
          <a:p>
            <a:pPr indent="0" marL="0">
              <a:buNone/>
            </a:pPr>
            <a:r>
              <a:rPr lang="en-US" sz="1350" b="1" dirty="0">
                <a:solidFill>
                  <a:srgbClr val="21295C"/>
                </a:solidFill>
                <a:latin typeface="Calibri" pitchFamily="34" charset="0"/>
                <a:ea typeface="Calibri" pitchFamily="34" charset="-122"/>
                <a:cs typeface="Calibri" pitchFamily="34" charset="-120"/>
              </a:rPr>
              <a:t>摂取直前（8:00）血糖値のばらつき（新知見で前進）</a:t>
            </a:r>
            <a:endParaRPr lang="en-US" sz="1350" dirty="0"/>
          </a:p>
        </p:txBody>
      </p:sp>
      <p:sp>
        <p:nvSpPr>
          <p:cNvPr id="7" name="Text 5"/>
          <p:cNvSpPr txBox="1"/>
          <p:nvPr/>
        </p:nvSpPr>
        <p:spPr>
          <a:xfrm>
            <a:off x="1097280" y="2002536"/>
            <a:ext cx="10332720" cy="45720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条件間で60〜70 mg/dL異なる原因が未解明だったが、DAY5午後の血糖ベースラインシフトが主因の可能性が高いと判明。根本原因（体調・ストレス等）の特定はなお必要。</a:t>
            </a:r>
            <a:endParaRPr lang="en-US" sz="1100" dirty="0"/>
          </a:p>
        </p:txBody>
      </p:sp>
      <p:sp>
        <p:nvSpPr>
          <p:cNvPr id="8" name="Shape 6"/>
          <p:cNvSpPr/>
          <p:nvPr/>
        </p:nvSpPr>
        <p:spPr>
          <a:xfrm>
            <a:off x="548640" y="2788920"/>
            <a:ext cx="384048" cy="384048"/>
          </a:xfrm>
          <a:prstGeom prst="oval">
            <a:avLst/>
          </a:prstGeom>
          <a:solidFill>
            <a:srgbClr val="EB6834"/>
          </a:solidFill>
          <a:ln/>
        </p:spPr>
      </p:sp>
      <p:sp>
        <p:nvSpPr>
          <p:cNvPr id="9" name="Text 7"/>
          <p:cNvSpPr txBox="1"/>
          <p:nvPr/>
        </p:nvSpPr>
        <p:spPr>
          <a:xfrm>
            <a:off x="548640" y="27889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txBox="1"/>
          <p:nvPr/>
        </p:nvSpPr>
        <p:spPr>
          <a:xfrm>
            <a:off x="1097280" y="2770632"/>
            <a:ext cx="10332720" cy="292608"/>
          </a:xfrm>
          <a:prstGeom prst="rect">
            <a:avLst/>
          </a:prstGeom>
          <a:noFill/>
          <a:ln/>
        </p:spPr>
        <p:txBody>
          <a:bodyPr wrap="square" lIns="0" tIns="0" rIns="0" bIns="0" rtlCol="0" anchor="ctr"/>
          <a:lstStyle/>
          <a:p>
            <a:pPr indent="0" marL="0">
              <a:buNone/>
            </a:pPr>
            <a:r>
              <a:rPr lang="en-US" sz="1350" b="1" dirty="0">
                <a:solidFill>
                  <a:srgbClr val="21295C"/>
                </a:solidFill>
                <a:latin typeface="Calibri" pitchFamily="34" charset="0"/>
                <a:ea typeface="Calibri" pitchFamily="34" charset="-122"/>
                <a:cs typeface="Calibri" pitchFamily="34" charset="-120"/>
              </a:rPr>
              <a:t>血圧を一度も直接測定していない</a:t>
            </a:r>
            <a:endParaRPr lang="en-US" sz="1350" dirty="0"/>
          </a:p>
        </p:txBody>
      </p:sp>
      <p:sp>
        <p:nvSpPr>
          <p:cNvPr id="11" name="Text 9"/>
          <p:cNvSpPr txBox="1"/>
          <p:nvPr/>
        </p:nvSpPr>
        <p:spPr>
          <a:xfrm>
            <a:off x="1097280" y="3054096"/>
            <a:ext cx="10332720" cy="45720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「食後低血圧」という核心仮説を、頭痛の有無という間接指標だけで判断してきた。</a:t>
            </a:r>
            <a:endParaRPr lang="en-US" sz="1100" dirty="0"/>
          </a:p>
        </p:txBody>
      </p:sp>
      <p:sp>
        <p:nvSpPr>
          <p:cNvPr id="12" name="Shape 10"/>
          <p:cNvSpPr/>
          <p:nvPr/>
        </p:nvSpPr>
        <p:spPr>
          <a:xfrm>
            <a:off x="548640" y="3840480"/>
            <a:ext cx="384048" cy="384048"/>
          </a:xfrm>
          <a:prstGeom prst="oval">
            <a:avLst/>
          </a:prstGeom>
          <a:solidFill>
            <a:srgbClr val="EB6834"/>
          </a:solidFill>
          <a:ln/>
        </p:spPr>
      </p:sp>
      <p:sp>
        <p:nvSpPr>
          <p:cNvPr id="13" name="Text 11"/>
          <p:cNvSpPr txBox="1"/>
          <p:nvPr/>
        </p:nvSpPr>
        <p:spPr>
          <a:xfrm>
            <a:off x="548640"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txBox="1"/>
          <p:nvPr/>
        </p:nvSpPr>
        <p:spPr>
          <a:xfrm>
            <a:off x="1097280" y="3822192"/>
            <a:ext cx="10332720" cy="292608"/>
          </a:xfrm>
          <a:prstGeom prst="rect">
            <a:avLst/>
          </a:prstGeom>
          <a:noFill/>
          <a:ln/>
        </p:spPr>
        <p:txBody>
          <a:bodyPr wrap="square" lIns="0" tIns="0" rIns="0" bIns="0" rtlCol="0" anchor="ctr"/>
          <a:lstStyle/>
          <a:p>
            <a:pPr indent="0" marL="0">
              <a:buNone/>
            </a:pPr>
            <a:r>
              <a:rPr lang="en-US" sz="1350" b="1" dirty="0">
                <a:solidFill>
                  <a:srgbClr val="21295C"/>
                </a:solidFill>
                <a:latin typeface="Calibri" pitchFamily="34" charset="0"/>
                <a:ea typeface="Calibri" pitchFamily="34" charset="-122"/>
                <a:cs typeface="Calibri" pitchFamily="34" charset="-120"/>
              </a:rPr>
              <a:t>スムージーの一過性スパイクの意味</a:t>
            </a:r>
            <a:endParaRPr lang="en-US" sz="1350" dirty="0"/>
          </a:p>
        </p:txBody>
      </p:sp>
      <p:sp>
        <p:nvSpPr>
          <p:cNvPr id="15" name="Text 13"/>
          <p:cNvSpPr txBox="1"/>
          <p:nvPr/>
        </p:nvSpPr>
        <p:spPr>
          <a:xfrm>
            <a:off x="1097280" y="4105656"/>
            <a:ext cx="10332720" cy="45720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45分でピーク→90分でベースライン付近に戻る挙動が、より短いリードタイムでの摂取でも同じ影響を持つかは未検証。</a:t>
            </a:r>
            <a:endParaRPr lang="en-US" sz="1100" dirty="0"/>
          </a:p>
        </p:txBody>
      </p:sp>
      <p:sp>
        <p:nvSpPr>
          <p:cNvPr id="16" name="Shape 14"/>
          <p:cNvSpPr/>
          <p:nvPr/>
        </p:nvSpPr>
        <p:spPr>
          <a:xfrm>
            <a:off x="548640" y="4892040"/>
            <a:ext cx="384048" cy="384048"/>
          </a:xfrm>
          <a:prstGeom prst="oval">
            <a:avLst/>
          </a:prstGeom>
          <a:solidFill>
            <a:srgbClr val="1BAF7A"/>
          </a:solidFill>
          <a:ln/>
        </p:spPr>
      </p:sp>
      <p:sp>
        <p:nvSpPr>
          <p:cNvPr id="17" name="Text 15"/>
          <p:cNvSpPr txBox="1"/>
          <p:nvPr/>
        </p:nvSpPr>
        <p:spPr>
          <a:xfrm>
            <a:off x="548640" y="48920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18" name="Text 16"/>
          <p:cNvSpPr txBox="1"/>
          <p:nvPr/>
        </p:nvSpPr>
        <p:spPr>
          <a:xfrm>
            <a:off x="1097280" y="4873752"/>
            <a:ext cx="10332720" cy="292608"/>
          </a:xfrm>
          <a:prstGeom prst="rect">
            <a:avLst/>
          </a:prstGeom>
          <a:noFill/>
          <a:ln/>
        </p:spPr>
        <p:txBody>
          <a:bodyPr wrap="square" lIns="0" tIns="0" rIns="0" bIns="0" rtlCol="0" anchor="ctr"/>
          <a:lstStyle/>
          <a:p>
            <a:pPr indent="0" marL="0">
              <a:buNone/>
            </a:pPr>
            <a:r>
              <a:rPr lang="en-US" sz="1350" b="1" dirty="0">
                <a:solidFill>
                  <a:srgbClr val="21295C"/>
                </a:solidFill>
                <a:latin typeface="Calibri" pitchFamily="34" charset="0"/>
                <a:ea typeface="Calibri" pitchFamily="34" charset="-122"/>
                <a:cs typeface="Calibri" pitchFamily="34" charset="-120"/>
              </a:rPr>
              <a:t>タイミングの中間点・他レシピでの再現性</a:t>
            </a:r>
            <a:endParaRPr lang="en-US" sz="1350" dirty="0"/>
          </a:p>
        </p:txBody>
      </p:sp>
      <p:sp>
        <p:nvSpPr>
          <p:cNvPr id="19" name="Text 17"/>
          <p:cNvSpPr txBox="1"/>
          <p:nvPr/>
        </p:nvSpPr>
        <p:spPr>
          <a:xfrm>
            <a:off x="1097280" y="5157216"/>
            <a:ext cx="10332720" cy="45720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「同時」と「2.5〜3時間ずらし」の2点しか比較しておらず、間の用量反応関係や別の食材構成での再現性が未確認。</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NEW QUESTIONS</a:t>
            </a:r>
            <a:endParaRPr lang="en-US" sz="1250" dirty="0"/>
          </a:p>
        </p:txBody>
      </p:sp>
      <p:sp>
        <p:nvSpPr>
          <p:cNvPr id="3" name="Text 1"/>
          <p:cNvSpPr txBox="1"/>
          <p:nvPr/>
        </p:nvSpPr>
        <p:spPr>
          <a:xfrm>
            <a:off x="548640" y="676656"/>
            <a:ext cx="11091672" cy="54864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新たな課題②（Q3・横断的な課題）</a:t>
            </a:r>
            <a:endParaRPr lang="en-US" sz="2600" dirty="0"/>
          </a:p>
        </p:txBody>
      </p:sp>
      <p:sp>
        <p:nvSpPr>
          <p:cNvPr id="4" name="Shape 2"/>
          <p:cNvSpPr/>
          <p:nvPr/>
        </p:nvSpPr>
        <p:spPr>
          <a:xfrm>
            <a:off x="548640" y="1828800"/>
            <a:ext cx="384048" cy="384048"/>
          </a:xfrm>
          <a:prstGeom prst="oval">
            <a:avLst/>
          </a:prstGeom>
          <a:solidFill>
            <a:srgbClr val="EDA100"/>
          </a:solidFill>
          <a:ln/>
        </p:spPr>
      </p:sp>
      <p:sp>
        <p:nvSpPr>
          <p:cNvPr id="5" name="Text 3"/>
          <p:cNvSpPr txBox="1"/>
          <p:nvPr/>
        </p:nvSpPr>
        <p:spPr>
          <a:xfrm>
            <a:off x="5486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097280" y="1810512"/>
            <a:ext cx="10332720" cy="292608"/>
          </a:xfrm>
          <a:prstGeom prst="rect">
            <a:avLst/>
          </a:prstGeom>
          <a:noFill/>
          <a:ln/>
        </p:spPr>
        <p:txBody>
          <a:bodyPr wrap="square" lIns="0" tIns="0" rIns="0" bIns="0" rtlCol="0" anchor="ctr"/>
          <a:lstStyle/>
          <a:p>
            <a:pPr indent="0" marL="0">
              <a:buNone/>
            </a:pPr>
            <a:r>
              <a:rPr lang="en-US" sz="1350" b="1" dirty="0">
                <a:solidFill>
                  <a:srgbClr val="21295C"/>
                </a:solidFill>
                <a:latin typeface="Calibri" pitchFamily="34" charset="0"/>
                <a:ea typeface="Calibri" pitchFamily="34" charset="-122"/>
                <a:cs typeface="Calibri" pitchFamily="34" charset="-120"/>
              </a:rPr>
              <a:t>血糖は良好なのに持久力の体感は最低という矛盾（最重要）</a:t>
            </a:r>
            <a:endParaRPr lang="en-US" sz="1350" dirty="0"/>
          </a:p>
        </p:txBody>
      </p:sp>
      <p:sp>
        <p:nvSpPr>
          <p:cNvPr id="7" name="Text 5"/>
          <p:cNvSpPr txBox="1"/>
          <p:nvPr/>
        </p:nvSpPr>
        <p:spPr>
          <a:xfrm>
            <a:off x="1097280" y="2093976"/>
            <a:ext cx="10332720" cy="45720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糖質減条件で血糖・燃料供給・睡眠は良好だが、持久力・爆発力の自己評価が4条件中最低。未解決の中心課題。</a:t>
            </a:r>
            <a:endParaRPr lang="en-US" sz="1100" dirty="0"/>
          </a:p>
        </p:txBody>
      </p:sp>
      <p:sp>
        <p:nvSpPr>
          <p:cNvPr id="8" name="Shape 6"/>
          <p:cNvSpPr/>
          <p:nvPr/>
        </p:nvSpPr>
        <p:spPr>
          <a:xfrm>
            <a:off x="548640" y="3017520"/>
            <a:ext cx="384048" cy="384048"/>
          </a:xfrm>
          <a:prstGeom prst="oval">
            <a:avLst/>
          </a:prstGeom>
          <a:solidFill>
            <a:srgbClr val="EDA100"/>
          </a:solidFill>
          <a:ln/>
        </p:spPr>
      </p:sp>
      <p:sp>
        <p:nvSpPr>
          <p:cNvPr id="9" name="Text 7"/>
          <p:cNvSpPr txBox="1"/>
          <p:nvPr/>
        </p:nvSpPr>
        <p:spPr>
          <a:xfrm>
            <a:off x="54864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txBox="1"/>
          <p:nvPr/>
        </p:nvSpPr>
        <p:spPr>
          <a:xfrm>
            <a:off x="1097280" y="2999232"/>
            <a:ext cx="10332720" cy="292608"/>
          </a:xfrm>
          <a:prstGeom prst="rect">
            <a:avLst/>
          </a:prstGeom>
          <a:noFill/>
          <a:ln/>
        </p:spPr>
        <p:txBody>
          <a:bodyPr wrap="square" lIns="0" tIns="0" rIns="0" bIns="0" rtlCol="0" anchor="ctr"/>
          <a:lstStyle/>
          <a:p>
            <a:pPr indent="0" marL="0">
              <a:buNone/>
            </a:pPr>
            <a:r>
              <a:rPr lang="en-US" sz="1350" b="1" dirty="0">
                <a:solidFill>
                  <a:srgbClr val="21295C"/>
                </a:solidFill>
                <a:latin typeface="Calibri" pitchFamily="34" charset="0"/>
                <a:ea typeface="Calibri" pitchFamily="34" charset="-122"/>
                <a:cs typeface="Calibri" pitchFamily="34" charset="-120"/>
              </a:rPr>
              <a:t>「糖質減」の正確なレシピ量が未記録</a:t>
            </a:r>
            <a:endParaRPr lang="en-US" sz="1350" dirty="0"/>
          </a:p>
        </p:txBody>
      </p:sp>
      <p:sp>
        <p:nvSpPr>
          <p:cNvPr id="11" name="Text 9"/>
          <p:cNvSpPr txBox="1"/>
          <p:nvPr/>
        </p:nvSpPr>
        <p:spPr>
          <a:xfrm>
            <a:off x="1097280" y="3282696"/>
            <a:ext cx="10332720" cy="45720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何gの糖質をカットしたかが記録に残っておらず、再現性がない。</a:t>
            </a:r>
            <a:endParaRPr lang="en-US" sz="1100" dirty="0"/>
          </a:p>
        </p:txBody>
      </p:sp>
      <p:sp>
        <p:nvSpPr>
          <p:cNvPr id="12" name="Shape 10"/>
          <p:cNvSpPr/>
          <p:nvPr/>
        </p:nvSpPr>
        <p:spPr>
          <a:xfrm>
            <a:off x="548640" y="4206240"/>
            <a:ext cx="384048" cy="384048"/>
          </a:xfrm>
          <a:prstGeom prst="oval">
            <a:avLst/>
          </a:prstGeom>
          <a:solidFill>
            <a:srgbClr val="5C6570"/>
          </a:solidFill>
          <a:ln/>
        </p:spPr>
      </p:sp>
      <p:sp>
        <p:nvSpPr>
          <p:cNvPr id="13" name="Text 11"/>
          <p:cNvSpPr txBox="1"/>
          <p:nvPr/>
        </p:nvSpPr>
        <p:spPr>
          <a:xfrm>
            <a:off x="548640" y="42062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4" name="Text 12"/>
          <p:cNvSpPr txBox="1"/>
          <p:nvPr/>
        </p:nvSpPr>
        <p:spPr>
          <a:xfrm>
            <a:off x="1097280" y="4187952"/>
            <a:ext cx="10332720" cy="292608"/>
          </a:xfrm>
          <a:prstGeom prst="rect">
            <a:avLst/>
          </a:prstGeom>
          <a:noFill/>
          <a:ln/>
        </p:spPr>
        <p:txBody>
          <a:bodyPr wrap="square" lIns="0" tIns="0" rIns="0" bIns="0" rtlCol="0" anchor="ctr"/>
          <a:lstStyle/>
          <a:p>
            <a:pPr indent="0" marL="0">
              <a:buNone/>
            </a:pPr>
            <a:r>
              <a:rPr lang="en-US" sz="1350" b="1" dirty="0">
                <a:solidFill>
                  <a:srgbClr val="21295C"/>
                </a:solidFill>
                <a:latin typeface="Calibri" pitchFamily="34" charset="0"/>
                <a:ea typeface="Calibri" pitchFamily="34" charset="-122"/>
                <a:cs typeface="Calibri" pitchFamily="34" charset="-120"/>
              </a:rPr>
              <a:t>単一選手・低n・順序固定・対照群なし</a:t>
            </a:r>
            <a:endParaRPr lang="en-US" sz="1350" dirty="0"/>
          </a:p>
        </p:txBody>
      </p:sp>
      <p:sp>
        <p:nvSpPr>
          <p:cNvPr id="15" name="Text 13"/>
          <p:cNvSpPr txBox="1"/>
          <p:nvPr/>
        </p:nvSpPr>
        <p:spPr>
          <a:xfrm>
            <a:off x="1097280" y="4471416"/>
            <a:ext cx="10332720" cy="457200"/>
          </a:xfrm>
          <a:prstGeom prst="rect">
            <a:avLst/>
          </a:prstGeom>
          <a:noFill/>
          <a:ln/>
        </p:spPr>
        <p:txBody>
          <a:bodyPr wrap="square" lIns="0" tIns="0" rIns="0" bIns="0" rtlCol="0" anchor="ctr"/>
          <a:lstStyle/>
          <a:p>
            <a:pPr indent="0" marL="0">
              <a:buNone/>
            </a:pPr>
            <a:r>
              <a:rPr lang="en-US" sz="1100" dirty="0">
                <a:solidFill>
                  <a:srgbClr val="5C6570"/>
                </a:solidFill>
                <a:latin typeface="Calibri" pitchFamily="34" charset="0"/>
                <a:ea typeface="Calibri" pitchFamily="34" charset="-122"/>
                <a:cs typeface="Calibri" pitchFamily="34" charset="-120"/>
              </a:rPr>
              <a:t>各条件n=3日で統計的検定ができず、条件順序も固定（ランダム化なし）。健常選手の対照群もなく、SCI特有の反応か一般的な反応かを区別できない。</a:t>
            </a:r>
            <a:endParaRPr lang="en-US" sz="1100" dirty="0"/>
          </a:p>
        </p:txBody>
      </p:sp>
      <p:sp>
        <p:nvSpPr>
          <p:cNvPr id="16" name="Text 14"/>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5C6570"/>
                </a:solidFill>
                <a:latin typeface="Calibri" pitchFamily="34" charset="0"/>
                <a:ea typeface="Calibri" pitchFamily="34" charset="-122"/>
                <a:cs typeface="Calibri" pitchFamily="34" charset="-120"/>
              </a:rPr>
              <a:t>これらの課題に対応する具体策を次ページ以降にまとめる。</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RE-VERIFICATION PLAN</a:t>
            </a:r>
            <a:endParaRPr lang="en-US" sz="1250" dirty="0"/>
          </a:p>
        </p:txBody>
      </p:sp>
      <p:sp>
        <p:nvSpPr>
          <p:cNvPr id="3" name="Text 1"/>
          <p:cNvSpPr txBox="1"/>
          <p:nvPr/>
        </p:nvSpPr>
        <p:spPr>
          <a:xfrm>
            <a:off x="548640" y="676656"/>
            <a:ext cx="11091672" cy="54864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再検証プラン A・B</a:t>
            </a:r>
            <a:endParaRPr lang="en-US" sz="2600" dirty="0"/>
          </a:p>
        </p:txBody>
      </p:sp>
      <p:sp>
        <p:nvSpPr>
          <p:cNvPr id="4" name="Text 2"/>
          <p:cNvSpPr txBox="1"/>
          <p:nvPr/>
        </p:nvSpPr>
        <p:spPr>
          <a:xfrm>
            <a:off x="548640" y="1417320"/>
            <a:ext cx="11091672" cy="320040"/>
          </a:xfrm>
          <a:prstGeom prst="rect">
            <a:avLst/>
          </a:prstGeom>
          <a:noFill/>
          <a:ln/>
        </p:spPr>
        <p:txBody>
          <a:bodyPr wrap="square" lIns="0" tIns="0" rIns="0" bIns="0" rtlCol="0" anchor="ctr"/>
          <a:lstStyle/>
          <a:p>
            <a:pPr indent="0" marL="0">
              <a:buNone/>
            </a:pPr>
            <a:r>
              <a:rPr lang="en-US" sz="1300" dirty="0">
                <a:solidFill>
                  <a:srgbClr val="5C6570"/>
                </a:solidFill>
                <a:latin typeface="Calibri" pitchFamily="34" charset="0"/>
                <a:ea typeface="Calibri" pitchFamily="34" charset="-122"/>
                <a:cs typeface="Calibri" pitchFamily="34" charset="-120"/>
              </a:rPr>
              <a:t>最優先：練習量の交絡を取り除く2つの一手</a:t>
            </a:r>
            <a:endParaRPr lang="en-US" sz="1300" dirty="0"/>
          </a:p>
        </p:txBody>
      </p:sp>
      <p:sp>
        <p:nvSpPr>
          <p:cNvPr id="5" name="Shape 3"/>
          <p:cNvSpPr/>
          <p:nvPr/>
        </p:nvSpPr>
        <p:spPr>
          <a:xfrm>
            <a:off x="548640" y="1828800"/>
            <a:ext cx="5362956" cy="4206240"/>
          </a:xfrm>
          <a:prstGeom prst="roundRect">
            <a:avLst>
              <a:gd name="adj" fmla="val 2174"/>
            </a:avLst>
          </a:prstGeom>
          <a:solidFill>
            <a:srgbClr val="F4F7F9"/>
          </a:solidFill>
          <a:ln/>
        </p:spPr>
      </p:sp>
      <p:sp>
        <p:nvSpPr>
          <p:cNvPr id="6" name="Shape 4"/>
          <p:cNvSpPr/>
          <p:nvPr/>
        </p:nvSpPr>
        <p:spPr>
          <a:xfrm>
            <a:off x="777240" y="2011680"/>
            <a:ext cx="502920" cy="274320"/>
          </a:xfrm>
          <a:prstGeom prst="roundRect">
            <a:avLst>
              <a:gd name="adj" fmla="val 20000"/>
            </a:avLst>
          </a:prstGeom>
          <a:solidFill>
            <a:srgbClr val="065A82"/>
          </a:solidFill>
          <a:ln/>
        </p:spPr>
      </p:sp>
      <p:sp>
        <p:nvSpPr>
          <p:cNvPr id="7" name="Text 5"/>
          <p:cNvSpPr txBox="1"/>
          <p:nvPr/>
        </p:nvSpPr>
        <p:spPr>
          <a:xfrm>
            <a:off x="777240" y="2011680"/>
            <a:ext cx="5029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A</a:t>
            </a:r>
            <a:endParaRPr lang="en-US" sz="1200" dirty="0"/>
          </a:p>
        </p:txBody>
      </p:sp>
      <p:sp>
        <p:nvSpPr>
          <p:cNvPr id="8" name="Text 6"/>
          <p:cNvSpPr txBox="1"/>
          <p:nvPr/>
        </p:nvSpPr>
        <p:spPr>
          <a:xfrm>
            <a:off x="1371600" y="1984248"/>
            <a:ext cx="4311396" cy="36576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固定トレーニングメニュー法</a:t>
            </a:r>
            <a:endParaRPr lang="en-US" sz="1400" dirty="0"/>
          </a:p>
        </p:txBody>
      </p:sp>
      <p:sp>
        <p:nvSpPr>
          <p:cNvPr id="9" name="Text 7"/>
          <p:cNvSpPr txBox="1"/>
          <p:nvPr/>
        </p:nvSpPr>
        <p:spPr>
          <a:xfrm>
            <a:off x="777240" y="2423160"/>
            <a:ext cx="914400" cy="219456"/>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目的</a:t>
            </a:r>
            <a:endParaRPr lang="en-US" sz="1000" dirty="0"/>
          </a:p>
        </p:txBody>
      </p:sp>
      <p:sp>
        <p:nvSpPr>
          <p:cNvPr id="10" name="Text 8"/>
          <p:cNvSpPr txBox="1"/>
          <p:nvPr/>
        </p:nvSpPr>
        <p:spPr>
          <a:xfrm>
            <a:off x="777240" y="2624328"/>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これまで最大の交絡だった「60〜180分のばらつき」を排除する。</a:t>
            </a:r>
            <a:endParaRPr lang="en-US" sz="1000" dirty="0"/>
          </a:p>
        </p:txBody>
      </p:sp>
      <p:sp>
        <p:nvSpPr>
          <p:cNvPr id="11" name="Text 9"/>
          <p:cNvSpPr txBox="1"/>
          <p:nvPr/>
        </p:nvSpPr>
        <p:spPr>
          <a:xfrm>
            <a:off x="777240" y="3209544"/>
            <a:ext cx="914400" cy="219456"/>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デザイン</a:t>
            </a:r>
            <a:endParaRPr lang="en-US" sz="1000" dirty="0"/>
          </a:p>
        </p:txBody>
      </p:sp>
      <p:sp>
        <p:nvSpPr>
          <p:cNvPr id="12" name="Text 10"/>
          <p:cNvSpPr txBox="1"/>
          <p:nvPr/>
        </p:nvSpPr>
        <p:spPr>
          <a:xfrm>
            <a:off x="777240" y="3410712"/>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全条件・全日で同一メニュー（例：ウォームアップ15分＋メインセット60分＋クールダウン15分）を実施。</a:t>
            </a:r>
            <a:endParaRPr lang="en-US" sz="1000" dirty="0"/>
          </a:p>
        </p:txBody>
      </p:sp>
      <p:sp>
        <p:nvSpPr>
          <p:cNvPr id="13" name="Text 11"/>
          <p:cNvSpPr txBox="1"/>
          <p:nvPr/>
        </p:nvSpPr>
        <p:spPr>
          <a:xfrm>
            <a:off x="777240" y="3995928"/>
            <a:ext cx="914400" cy="219456"/>
          </a:xfrm>
          <a:prstGeom prst="rect">
            <a:avLst/>
          </a:prstGeom>
          <a:noFill/>
          <a:ln/>
        </p:spPr>
        <p:txBody>
          <a:bodyPr wrap="square" lIns="0" tIns="0" rIns="0" bIns="0" rtlCol="0" anchor="ctr"/>
          <a:lstStyle/>
          <a:p>
            <a:pPr indent="0" marL="0">
              <a:buNone/>
            </a:pPr>
            <a:r>
              <a:rPr lang="en-US" sz="1000" b="1" dirty="0">
                <a:solidFill>
                  <a:srgbClr val="065A82"/>
                </a:solidFill>
                <a:latin typeface="Calibri" pitchFamily="34" charset="0"/>
                <a:ea typeface="Calibri" pitchFamily="34" charset="-122"/>
                <a:cs typeface="Calibri" pitchFamily="34" charset="-120"/>
              </a:rPr>
              <a:t>効果</a:t>
            </a:r>
            <a:endParaRPr lang="en-US" sz="1000" dirty="0"/>
          </a:p>
        </p:txBody>
      </p:sp>
      <p:sp>
        <p:nvSpPr>
          <p:cNvPr id="14" name="Text 12"/>
          <p:cNvSpPr txBox="1"/>
          <p:nvPr/>
        </p:nvSpPr>
        <p:spPr>
          <a:xfrm>
            <a:off x="777240" y="4197096"/>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RPE・持久力・爆発力・運動後疲労を、練習量の影響を受けずに食事の効果として評価できる。最も費用対効果が高い一手。</a:t>
            </a:r>
            <a:endParaRPr lang="en-US" sz="1000" dirty="0"/>
          </a:p>
        </p:txBody>
      </p:sp>
      <p:sp>
        <p:nvSpPr>
          <p:cNvPr id="15" name="Shape 13"/>
          <p:cNvSpPr/>
          <p:nvPr/>
        </p:nvSpPr>
        <p:spPr>
          <a:xfrm>
            <a:off x="6277356" y="1828800"/>
            <a:ext cx="5362956" cy="4206240"/>
          </a:xfrm>
          <a:prstGeom prst="roundRect">
            <a:avLst>
              <a:gd name="adj" fmla="val 2174"/>
            </a:avLst>
          </a:prstGeom>
          <a:solidFill>
            <a:srgbClr val="F4F7F9"/>
          </a:solidFill>
          <a:ln/>
        </p:spPr>
      </p:sp>
      <p:sp>
        <p:nvSpPr>
          <p:cNvPr id="16" name="Shape 14"/>
          <p:cNvSpPr/>
          <p:nvPr/>
        </p:nvSpPr>
        <p:spPr>
          <a:xfrm>
            <a:off x="6505956" y="2011680"/>
            <a:ext cx="502920" cy="274320"/>
          </a:xfrm>
          <a:prstGeom prst="roundRect">
            <a:avLst>
              <a:gd name="adj" fmla="val 20000"/>
            </a:avLst>
          </a:prstGeom>
          <a:solidFill>
            <a:srgbClr val="1C7293"/>
          </a:solidFill>
          <a:ln/>
        </p:spPr>
      </p:sp>
      <p:sp>
        <p:nvSpPr>
          <p:cNvPr id="17" name="Text 15"/>
          <p:cNvSpPr txBox="1"/>
          <p:nvPr/>
        </p:nvSpPr>
        <p:spPr>
          <a:xfrm>
            <a:off x="6505956" y="2011680"/>
            <a:ext cx="5029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B</a:t>
            </a:r>
            <a:endParaRPr lang="en-US" sz="1200" dirty="0"/>
          </a:p>
        </p:txBody>
      </p:sp>
      <p:sp>
        <p:nvSpPr>
          <p:cNvPr id="18" name="Text 16"/>
          <p:cNvSpPr txBox="1"/>
          <p:nvPr/>
        </p:nvSpPr>
        <p:spPr>
          <a:xfrm>
            <a:off x="7100316" y="1984248"/>
            <a:ext cx="4311396" cy="36576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客観的パフォーマンステストの追加</a:t>
            </a:r>
            <a:endParaRPr lang="en-US" sz="1400" dirty="0"/>
          </a:p>
        </p:txBody>
      </p:sp>
      <p:sp>
        <p:nvSpPr>
          <p:cNvPr id="19" name="Text 17"/>
          <p:cNvSpPr txBox="1"/>
          <p:nvPr/>
        </p:nvSpPr>
        <p:spPr>
          <a:xfrm>
            <a:off x="6505956" y="2423160"/>
            <a:ext cx="914400" cy="219456"/>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目的</a:t>
            </a:r>
            <a:endParaRPr lang="en-US" sz="1000" dirty="0"/>
          </a:p>
        </p:txBody>
      </p:sp>
      <p:sp>
        <p:nvSpPr>
          <p:cNvPr id="20" name="Text 18"/>
          <p:cNvSpPr txBox="1"/>
          <p:nvPr/>
        </p:nvSpPr>
        <p:spPr>
          <a:xfrm>
            <a:off x="6505956" y="2624328"/>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自己評価だけに頼らず、Q3で見つかった「血糖は良いのに体感は悪い」矛盾の真偽を客観データで確認する。</a:t>
            </a:r>
            <a:endParaRPr lang="en-US" sz="1000" dirty="0"/>
          </a:p>
        </p:txBody>
      </p:sp>
      <p:sp>
        <p:nvSpPr>
          <p:cNvPr id="21" name="Text 19"/>
          <p:cNvSpPr txBox="1"/>
          <p:nvPr/>
        </p:nvSpPr>
        <p:spPr>
          <a:xfrm>
            <a:off x="6505956" y="3209544"/>
            <a:ext cx="914400" cy="219456"/>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デザイン</a:t>
            </a:r>
            <a:endParaRPr lang="en-US" sz="1000" dirty="0"/>
          </a:p>
        </p:txBody>
      </p:sp>
      <p:sp>
        <p:nvSpPr>
          <p:cNvPr id="22" name="Text 20"/>
          <p:cNvSpPr txBox="1"/>
          <p:nvPr/>
        </p:nvSpPr>
        <p:spPr>
          <a:xfrm>
            <a:off x="6505956" y="3410712"/>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毎回の練習内に、同一コース・同一距離のタイムトライアル（例：直線200m×3本）やパワーメーター・心拍数記録を固定タイミングで挿入。</a:t>
            </a:r>
            <a:endParaRPr lang="en-US" sz="1000" dirty="0"/>
          </a:p>
        </p:txBody>
      </p:sp>
      <p:sp>
        <p:nvSpPr>
          <p:cNvPr id="23" name="Text 21"/>
          <p:cNvSpPr txBox="1"/>
          <p:nvPr/>
        </p:nvSpPr>
        <p:spPr>
          <a:xfrm>
            <a:off x="6505956" y="3995928"/>
            <a:ext cx="914400" cy="219456"/>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効果</a:t>
            </a:r>
            <a:endParaRPr lang="en-US" sz="1000" dirty="0"/>
          </a:p>
        </p:txBody>
      </p:sp>
      <p:sp>
        <p:nvSpPr>
          <p:cNvPr id="24" name="Text 22"/>
          <p:cNvSpPr txBox="1"/>
          <p:nvPr/>
        </p:nvSpPr>
        <p:spPr>
          <a:xfrm>
            <a:off x="6505956" y="4197096"/>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体感の悪化が実際のパフォーマンス低下を伴うのか、主観的なズレなのかを切り分けられる。</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RE-VERIFICATION PLAN</a:t>
            </a:r>
            <a:endParaRPr lang="en-US" sz="1250" dirty="0"/>
          </a:p>
        </p:txBody>
      </p:sp>
      <p:sp>
        <p:nvSpPr>
          <p:cNvPr id="3" name="Text 1"/>
          <p:cNvSpPr txBox="1"/>
          <p:nvPr/>
        </p:nvSpPr>
        <p:spPr>
          <a:xfrm>
            <a:off x="548640" y="676656"/>
            <a:ext cx="11091672" cy="54864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再検証プラン C・D</a:t>
            </a:r>
            <a:endParaRPr lang="en-US" sz="2600" dirty="0"/>
          </a:p>
        </p:txBody>
      </p:sp>
      <p:sp>
        <p:nvSpPr>
          <p:cNvPr id="4" name="Text 2"/>
          <p:cNvSpPr txBox="1"/>
          <p:nvPr/>
        </p:nvSpPr>
        <p:spPr>
          <a:xfrm>
            <a:off x="548640" y="1417320"/>
            <a:ext cx="11091672" cy="320040"/>
          </a:xfrm>
          <a:prstGeom prst="rect">
            <a:avLst/>
          </a:prstGeom>
          <a:noFill/>
          <a:ln/>
        </p:spPr>
        <p:txBody>
          <a:bodyPr wrap="square" lIns="0" tIns="0" rIns="0" bIns="0" rtlCol="0" anchor="ctr"/>
          <a:lstStyle/>
          <a:p>
            <a:pPr indent="0" marL="0">
              <a:buNone/>
            </a:pPr>
            <a:r>
              <a:rPr lang="en-US" sz="1300" dirty="0">
                <a:solidFill>
                  <a:srgbClr val="5C6570"/>
                </a:solidFill>
                <a:latin typeface="Calibri" pitchFamily="34" charset="0"/>
                <a:ea typeface="Calibri" pitchFamily="34" charset="-122"/>
                <a:cs typeface="Calibri" pitchFamily="34" charset="-120"/>
              </a:rPr>
              <a:t>研究デザインの妥当性を高める2つの拡張</a:t>
            </a:r>
            <a:endParaRPr lang="en-US" sz="1300" dirty="0"/>
          </a:p>
        </p:txBody>
      </p:sp>
      <p:sp>
        <p:nvSpPr>
          <p:cNvPr id="5" name="Shape 3"/>
          <p:cNvSpPr/>
          <p:nvPr/>
        </p:nvSpPr>
        <p:spPr>
          <a:xfrm>
            <a:off x="548640" y="1828800"/>
            <a:ext cx="5362956" cy="4206240"/>
          </a:xfrm>
          <a:prstGeom prst="roundRect">
            <a:avLst>
              <a:gd name="adj" fmla="val 2174"/>
            </a:avLst>
          </a:prstGeom>
          <a:solidFill>
            <a:srgbClr val="F4F7F9"/>
          </a:solidFill>
          <a:ln/>
        </p:spPr>
      </p:sp>
      <p:sp>
        <p:nvSpPr>
          <p:cNvPr id="6" name="Shape 4"/>
          <p:cNvSpPr/>
          <p:nvPr/>
        </p:nvSpPr>
        <p:spPr>
          <a:xfrm>
            <a:off x="777240" y="2011680"/>
            <a:ext cx="502920" cy="274320"/>
          </a:xfrm>
          <a:prstGeom prst="roundRect">
            <a:avLst>
              <a:gd name="adj" fmla="val 20000"/>
            </a:avLst>
          </a:prstGeom>
          <a:solidFill>
            <a:srgbClr val="1BAF7A"/>
          </a:solidFill>
          <a:ln/>
        </p:spPr>
      </p:sp>
      <p:sp>
        <p:nvSpPr>
          <p:cNvPr id="7" name="Text 5"/>
          <p:cNvSpPr txBox="1"/>
          <p:nvPr/>
        </p:nvSpPr>
        <p:spPr>
          <a:xfrm>
            <a:off x="777240" y="2011680"/>
            <a:ext cx="5029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C</a:t>
            </a:r>
            <a:endParaRPr lang="en-US" sz="1200" dirty="0"/>
          </a:p>
        </p:txBody>
      </p:sp>
      <p:sp>
        <p:nvSpPr>
          <p:cNvPr id="8" name="Text 6"/>
          <p:cNvSpPr txBox="1"/>
          <p:nvPr/>
        </p:nvSpPr>
        <p:spPr>
          <a:xfrm>
            <a:off x="1371600" y="1984248"/>
            <a:ext cx="4311396" cy="36576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ランダム化クロスオーバーデザイン</a:t>
            </a:r>
            <a:endParaRPr lang="en-US" sz="1400" dirty="0"/>
          </a:p>
        </p:txBody>
      </p:sp>
      <p:sp>
        <p:nvSpPr>
          <p:cNvPr id="9" name="Text 7"/>
          <p:cNvSpPr txBox="1"/>
          <p:nvPr/>
        </p:nvSpPr>
        <p:spPr>
          <a:xfrm>
            <a:off x="777240" y="2423160"/>
            <a:ext cx="914400" cy="219456"/>
          </a:xfrm>
          <a:prstGeom prst="rect">
            <a:avLst/>
          </a:prstGeom>
          <a:noFill/>
          <a:ln/>
        </p:spPr>
        <p:txBody>
          <a:bodyPr wrap="square" lIns="0" tIns="0" rIns="0" bIns="0" rtlCol="0" anchor="ctr"/>
          <a:lstStyle/>
          <a:p>
            <a:pPr indent="0" marL="0">
              <a:buNone/>
            </a:pPr>
            <a:r>
              <a:rPr lang="en-US" sz="1000" b="1" dirty="0">
                <a:solidFill>
                  <a:srgbClr val="1BAF7A"/>
                </a:solidFill>
                <a:latin typeface="Calibri" pitchFamily="34" charset="0"/>
                <a:ea typeface="Calibri" pitchFamily="34" charset="-122"/>
                <a:cs typeface="Calibri" pitchFamily="34" charset="-120"/>
              </a:rPr>
              <a:t>目的</a:t>
            </a:r>
            <a:endParaRPr lang="en-US" sz="1000" dirty="0"/>
          </a:p>
        </p:txBody>
      </p:sp>
      <p:sp>
        <p:nvSpPr>
          <p:cNvPr id="10" name="Text 8"/>
          <p:cNvSpPr txBox="1"/>
          <p:nvPr/>
        </p:nvSpPr>
        <p:spPr>
          <a:xfrm>
            <a:off x="777240" y="2624328"/>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条件の順序効果（トレーニング適応・季節・モチベーションの変化）を排除する。</a:t>
            </a:r>
            <a:endParaRPr lang="en-US" sz="1000" dirty="0"/>
          </a:p>
        </p:txBody>
      </p:sp>
      <p:sp>
        <p:nvSpPr>
          <p:cNvPr id="11" name="Text 9"/>
          <p:cNvSpPr txBox="1"/>
          <p:nvPr/>
        </p:nvSpPr>
        <p:spPr>
          <a:xfrm>
            <a:off x="777240" y="3209544"/>
            <a:ext cx="914400" cy="219456"/>
          </a:xfrm>
          <a:prstGeom prst="rect">
            <a:avLst/>
          </a:prstGeom>
          <a:noFill/>
          <a:ln/>
        </p:spPr>
        <p:txBody>
          <a:bodyPr wrap="square" lIns="0" tIns="0" rIns="0" bIns="0" rtlCol="0" anchor="ctr"/>
          <a:lstStyle/>
          <a:p>
            <a:pPr indent="0" marL="0">
              <a:buNone/>
            </a:pPr>
            <a:r>
              <a:rPr lang="en-US" sz="1000" b="1" dirty="0">
                <a:solidFill>
                  <a:srgbClr val="1BAF7A"/>
                </a:solidFill>
                <a:latin typeface="Calibri" pitchFamily="34" charset="0"/>
                <a:ea typeface="Calibri" pitchFamily="34" charset="-122"/>
                <a:cs typeface="Calibri" pitchFamily="34" charset="-120"/>
              </a:rPr>
              <a:t>デザイン</a:t>
            </a:r>
            <a:endParaRPr lang="en-US" sz="1000" dirty="0"/>
          </a:p>
        </p:txBody>
      </p:sp>
      <p:sp>
        <p:nvSpPr>
          <p:cNvPr id="12" name="Text 10"/>
          <p:cNvSpPr txBox="1"/>
          <p:nvPr/>
        </p:nvSpPr>
        <p:spPr>
          <a:xfrm>
            <a:off x="777240" y="3410712"/>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4条件を週1回ずつ、複数週にわたりランダムな順序で実施（例：4条件×4週）。条件間に最低1日のウォッシュアウト日を設ける。</a:t>
            </a:r>
            <a:endParaRPr lang="en-US" sz="1000" dirty="0"/>
          </a:p>
        </p:txBody>
      </p:sp>
      <p:sp>
        <p:nvSpPr>
          <p:cNvPr id="13" name="Text 11"/>
          <p:cNvSpPr txBox="1"/>
          <p:nvPr/>
        </p:nvSpPr>
        <p:spPr>
          <a:xfrm>
            <a:off x="777240" y="3995928"/>
            <a:ext cx="914400" cy="219456"/>
          </a:xfrm>
          <a:prstGeom prst="rect">
            <a:avLst/>
          </a:prstGeom>
          <a:noFill/>
          <a:ln/>
        </p:spPr>
        <p:txBody>
          <a:bodyPr wrap="square" lIns="0" tIns="0" rIns="0" bIns="0" rtlCol="0" anchor="ctr"/>
          <a:lstStyle/>
          <a:p>
            <a:pPr indent="0" marL="0">
              <a:buNone/>
            </a:pPr>
            <a:r>
              <a:rPr lang="en-US" sz="1000" b="1" dirty="0">
                <a:solidFill>
                  <a:srgbClr val="1BAF7A"/>
                </a:solidFill>
                <a:latin typeface="Calibri" pitchFamily="34" charset="0"/>
                <a:ea typeface="Calibri" pitchFamily="34" charset="-122"/>
                <a:cs typeface="Calibri" pitchFamily="34" charset="-120"/>
              </a:rPr>
              <a:t>効果</a:t>
            </a:r>
            <a:endParaRPr lang="en-US" sz="1000" dirty="0"/>
          </a:p>
        </p:txBody>
      </p:sp>
      <p:sp>
        <p:nvSpPr>
          <p:cNvPr id="14" name="Text 12"/>
          <p:cNvSpPr txBox="1"/>
          <p:nvPr/>
        </p:nvSpPr>
        <p:spPr>
          <a:xfrm>
            <a:off x="777240" y="4197096"/>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プランA・Bと組み合わせれば「いつ測っても同じ結果か」を検証でき、固定順序だった点への批判に答えられる。</a:t>
            </a:r>
            <a:endParaRPr lang="en-US" sz="1000" dirty="0"/>
          </a:p>
        </p:txBody>
      </p:sp>
      <p:sp>
        <p:nvSpPr>
          <p:cNvPr id="15" name="Shape 13"/>
          <p:cNvSpPr/>
          <p:nvPr/>
        </p:nvSpPr>
        <p:spPr>
          <a:xfrm>
            <a:off x="6277356" y="1828800"/>
            <a:ext cx="5362956" cy="4206240"/>
          </a:xfrm>
          <a:prstGeom prst="roundRect">
            <a:avLst>
              <a:gd name="adj" fmla="val 2174"/>
            </a:avLst>
          </a:prstGeom>
          <a:solidFill>
            <a:srgbClr val="F4F7F9"/>
          </a:solidFill>
          <a:ln/>
        </p:spPr>
      </p:sp>
      <p:sp>
        <p:nvSpPr>
          <p:cNvPr id="16" name="Shape 14"/>
          <p:cNvSpPr/>
          <p:nvPr/>
        </p:nvSpPr>
        <p:spPr>
          <a:xfrm>
            <a:off x="6505956" y="2011680"/>
            <a:ext cx="502920" cy="274320"/>
          </a:xfrm>
          <a:prstGeom prst="roundRect">
            <a:avLst>
              <a:gd name="adj" fmla="val 20000"/>
            </a:avLst>
          </a:prstGeom>
          <a:solidFill>
            <a:srgbClr val="EDA100"/>
          </a:solidFill>
          <a:ln/>
        </p:spPr>
      </p:sp>
      <p:sp>
        <p:nvSpPr>
          <p:cNvPr id="17" name="Text 15"/>
          <p:cNvSpPr txBox="1"/>
          <p:nvPr/>
        </p:nvSpPr>
        <p:spPr>
          <a:xfrm>
            <a:off x="6505956" y="2011680"/>
            <a:ext cx="5029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D</a:t>
            </a:r>
            <a:endParaRPr lang="en-US" sz="1200" dirty="0"/>
          </a:p>
        </p:txBody>
      </p:sp>
      <p:sp>
        <p:nvSpPr>
          <p:cNvPr id="18" name="Text 16"/>
          <p:cNvSpPr txBox="1"/>
          <p:nvPr/>
        </p:nvSpPr>
        <p:spPr>
          <a:xfrm>
            <a:off x="7100316" y="1984248"/>
            <a:ext cx="4311396" cy="36576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糖質量の段階的検証（用量反応）</a:t>
            </a:r>
            <a:endParaRPr lang="en-US" sz="1400" dirty="0"/>
          </a:p>
        </p:txBody>
      </p:sp>
      <p:sp>
        <p:nvSpPr>
          <p:cNvPr id="19" name="Text 17"/>
          <p:cNvSpPr txBox="1"/>
          <p:nvPr/>
        </p:nvSpPr>
        <p:spPr>
          <a:xfrm>
            <a:off x="6505956" y="2423160"/>
            <a:ext cx="914400" cy="219456"/>
          </a:xfrm>
          <a:prstGeom prst="rect">
            <a:avLst/>
          </a:prstGeom>
          <a:noFill/>
          <a:ln/>
        </p:spPr>
        <p:txBody>
          <a:bodyPr wrap="square" lIns="0" tIns="0" rIns="0" bIns="0" rtlCol="0" anchor="ctr"/>
          <a:lstStyle/>
          <a:p>
            <a:pPr indent="0" marL="0">
              <a:buNone/>
            </a:pPr>
            <a:r>
              <a:rPr lang="en-US" sz="1000" b="1" dirty="0">
                <a:solidFill>
                  <a:srgbClr val="EDA100"/>
                </a:solidFill>
                <a:latin typeface="Calibri" pitchFamily="34" charset="0"/>
                <a:ea typeface="Calibri" pitchFamily="34" charset="-122"/>
                <a:cs typeface="Calibri" pitchFamily="34" charset="-120"/>
              </a:rPr>
              <a:t>目的</a:t>
            </a:r>
            <a:endParaRPr lang="en-US" sz="1000" dirty="0"/>
          </a:p>
        </p:txBody>
      </p:sp>
      <p:sp>
        <p:nvSpPr>
          <p:cNvPr id="20" name="Text 18"/>
          <p:cNvSpPr txBox="1"/>
          <p:nvPr/>
        </p:nvSpPr>
        <p:spPr>
          <a:xfrm>
            <a:off x="6505956" y="2624328"/>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Q3の矛盾を解消するため、「通常」と「今回の糖質減」の2点だけでなく間の段階も見る。</a:t>
            </a:r>
            <a:endParaRPr lang="en-US" sz="1000" dirty="0"/>
          </a:p>
        </p:txBody>
      </p:sp>
      <p:sp>
        <p:nvSpPr>
          <p:cNvPr id="21" name="Text 19"/>
          <p:cNvSpPr txBox="1"/>
          <p:nvPr/>
        </p:nvSpPr>
        <p:spPr>
          <a:xfrm>
            <a:off x="6505956" y="3209544"/>
            <a:ext cx="914400" cy="219456"/>
          </a:xfrm>
          <a:prstGeom prst="rect">
            <a:avLst/>
          </a:prstGeom>
          <a:noFill/>
          <a:ln/>
        </p:spPr>
        <p:txBody>
          <a:bodyPr wrap="square" lIns="0" tIns="0" rIns="0" bIns="0" rtlCol="0" anchor="ctr"/>
          <a:lstStyle/>
          <a:p>
            <a:pPr indent="0" marL="0">
              <a:buNone/>
            </a:pPr>
            <a:r>
              <a:rPr lang="en-US" sz="1000" b="1" dirty="0">
                <a:solidFill>
                  <a:srgbClr val="EDA100"/>
                </a:solidFill>
                <a:latin typeface="Calibri" pitchFamily="34" charset="0"/>
                <a:ea typeface="Calibri" pitchFamily="34" charset="-122"/>
                <a:cs typeface="Calibri" pitchFamily="34" charset="-120"/>
              </a:rPr>
              <a:t>デザイン</a:t>
            </a:r>
            <a:endParaRPr lang="en-US" sz="1000" dirty="0"/>
          </a:p>
        </p:txBody>
      </p:sp>
      <p:sp>
        <p:nvSpPr>
          <p:cNvPr id="22" name="Text 20"/>
          <p:cNvSpPr txBox="1"/>
          <p:nvPr/>
        </p:nvSpPr>
        <p:spPr>
          <a:xfrm>
            <a:off x="6505956" y="3410712"/>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通常量を基準に−10%／−20%／−30%の3段階（レシピの糖質グラム数を明記し再現性を確保）を、A・Bと同じ固定メニューで比較。</a:t>
            </a:r>
            <a:endParaRPr lang="en-US" sz="1000" dirty="0"/>
          </a:p>
        </p:txBody>
      </p:sp>
      <p:sp>
        <p:nvSpPr>
          <p:cNvPr id="23" name="Text 21"/>
          <p:cNvSpPr txBox="1"/>
          <p:nvPr/>
        </p:nvSpPr>
        <p:spPr>
          <a:xfrm>
            <a:off x="6505956" y="3995928"/>
            <a:ext cx="914400" cy="219456"/>
          </a:xfrm>
          <a:prstGeom prst="rect">
            <a:avLst/>
          </a:prstGeom>
          <a:noFill/>
          <a:ln/>
        </p:spPr>
        <p:txBody>
          <a:bodyPr wrap="square" lIns="0" tIns="0" rIns="0" bIns="0" rtlCol="0" anchor="ctr"/>
          <a:lstStyle/>
          <a:p>
            <a:pPr indent="0" marL="0">
              <a:buNone/>
            </a:pPr>
            <a:r>
              <a:rPr lang="en-US" sz="1000" b="1" dirty="0">
                <a:solidFill>
                  <a:srgbClr val="EDA100"/>
                </a:solidFill>
                <a:latin typeface="Calibri" pitchFamily="34" charset="0"/>
                <a:ea typeface="Calibri" pitchFamily="34" charset="-122"/>
                <a:cs typeface="Calibri" pitchFamily="34" charset="-120"/>
              </a:rPr>
              <a:t>効果</a:t>
            </a:r>
            <a:endParaRPr lang="en-US" sz="1000" dirty="0"/>
          </a:p>
        </p:txBody>
      </p:sp>
      <p:sp>
        <p:nvSpPr>
          <p:cNvPr id="24" name="Text 22"/>
          <p:cNvSpPr txBox="1"/>
          <p:nvPr/>
        </p:nvSpPr>
        <p:spPr>
          <a:xfrm>
            <a:off x="6505956" y="4197096"/>
            <a:ext cx="4905756" cy="566928"/>
          </a:xfrm>
          <a:prstGeom prst="rect">
            <a:avLst/>
          </a:prstGeom>
          <a:noFill/>
          <a:ln/>
        </p:spPr>
        <p:txBody>
          <a:bodyPr wrap="square" lIns="0" tIns="0" rIns="0" bIns="0" rtlCol="0" anchor="ctr"/>
          <a:lstStyle/>
          <a:p>
            <a:pPr indent="0" marL="0">
              <a:buNone/>
            </a:pPr>
            <a:r>
              <a:rPr lang="en-US" sz="1000" dirty="0">
                <a:solidFill>
                  <a:srgbClr val="1A1A1A"/>
                </a:solidFill>
                <a:latin typeface="Calibri" pitchFamily="34" charset="0"/>
                <a:ea typeface="Calibri" pitchFamily="34" charset="-122"/>
                <a:cs typeface="Calibri" pitchFamily="34" charset="-120"/>
              </a:rPr>
              <a:t>血糖の安定性とパフォーマンスの両方が両立する「最適点」を特定できる可能性がある。</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1C7293"/>
                </a:solidFill>
                <a:latin typeface="Calibri" pitchFamily="34" charset="0"/>
                <a:ea typeface="Calibri" pitchFamily="34" charset="-122"/>
                <a:cs typeface="Calibri" pitchFamily="34" charset="-120"/>
              </a:rPr>
              <a:t>PHYSIOLOGICAL MEASURES</a:t>
            </a:r>
            <a:endParaRPr lang="en-US" sz="1250" dirty="0"/>
          </a:p>
        </p:txBody>
      </p:sp>
      <p:sp>
        <p:nvSpPr>
          <p:cNvPr id="3" name="Text 1"/>
          <p:cNvSpPr txBox="1"/>
          <p:nvPr/>
        </p:nvSpPr>
        <p:spPr>
          <a:xfrm>
            <a:off x="548640" y="676656"/>
            <a:ext cx="11091672" cy="548640"/>
          </a:xfrm>
          <a:prstGeom prst="rect">
            <a:avLst/>
          </a:prstGeom>
          <a:noFill/>
          <a:ln/>
        </p:spPr>
        <p:txBody>
          <a:bodyPr wrap="square" rtlCol="0" anchor="ctr"/>
          <a:lstStyle/>
          <a:p>
            <a:pPr indent="0" marL="0">
              <a:buNone/>
            </a:pPr>
            <a:r>
              <a:rPr lang="en-US" sz="2600" b="1" dirty="0">
                <a:solidFill>
                  <a:srgbClr val="21295C"/>
                </a:solidFill>
                <a:latin typeface="Cambria" pitchFamily="34" charset="0"/>
                <a:ea typeface="Cambria" pitchFamily="34" charset="-122"/>
                <a:cs typeface="Cambria" pitchFamily="34" charset="-120"/>
              </a:rPr>
              <a:t>生理指標の測定方法：血圧 vs 心拍数</a:t>
            </a:r>
            <a:endParaRPr lang="en-US" sz="2600" dirty="0"/>
          </a:p>
        </p:txBody>
      </p:sp>
      <p:sp>
        <p:nvSpPr>
          <p:cNvPr id="4" name="Shape 2"/>
          <p:cNvSpPr/>
          <p:nvPr/>
        </p:nvSpPr>
        <p:spPr>
          <a:xfrm>
            <a:off x="548640" y="1508760"/>
            <a:ext cx="11091672" cy="1417320"/>
          </a:xfrm>
          <a:prstGeom prst="roundRect">
            <a:avLst>
              <a:gd name="adj" fmla="val 7742"/>
            </a:avLst>
          </a:prstGeom>
          <a:solidFill>
            <a:srgbClr val="FDF3E2"/>
          </a:solidFill>
          <a:ln w="12700">
            <a:solidFill>
              <a:srgbClr val="EDA100"/>
            </a:solidFill>
            <a:prstDash val="solid"/>
          </a:ln>
        </p:spPr>
      </p:sp>
      <p:sp>
        <p:nvSpPr>
          <p:cNvPr id="5" name="Text 3"/>
          <p:cNvSpPr txBox="1"/>
          <p:nvPr/>
        </p:nvSpPr>
        <p:spPr>
          <a:xfrm>
            <a:off x="822960" y="1645920"/>
            <a:ext cx="10543032" cy="274320"/>
          </a:xfrm>
          <a:prstGeom prst="rect">
            <a:avLst/>
          </a:prstGeom>
          <a:noFill/>
          <a:ln/>
        </p:spPr>
        <p:txBody>
          <a:bodyPr wrap="square" lIns="0" tIns="0" rIns="0" bIns="0" rtlCol="0" anchor="ctr"/>
          <a:lstStyle/>
          <a:p>
            <a:pPr indent="0" marL="0">
              <a:buNone/>
            </a:pPr>
            <a:r>
              <a:rPr lang="en-US" sz="1300" b="1" dirty="0">
                <a:solidFill>
                  <a:srgbClr val="6B4B00"/>
                </a:solidFill>
                <a:latin typeface="Calibri" pitchFamily="34" charset="0"/>
                <a:ea typeface="Calibri" pitchFamily="34" charset="-122"/>
                <a:cs typeface="Calibri" pitchFamily="34" charset="-120"/>
              </a:rPr>
              <a:t>⚠ 心拍数だけでは血圧の代わりになりにくい</a:t>
            </a:r>
            <a:endParaRPr lang="en-US" sz="1300" dirty="0"/>
          </a:p>
        </p:txBody>
      </p:sp>
      <p:sp>
        <p:nvSpPr>
          <p:cNvPr id="6" name="Text 4"/>
          <p:cNvSpPr txBox="1"/>
          <p:nvPr/>
        </p:nvSpPr>
        <p:spPr>
          <a:xfrm>
            <a:off x="822960" y="1956816"/>
            <a:ext cx="10543032" cy="914400"/>
          </a:xfrm>
          <a:prstGeom prst="rect">
            <a:avLst/>
          </a:prstGeom>
          <a:noFill/>
          <a:ln/>
        </p:spPr>
        <p:txBody>
          <a:bodyPr wrap="square" lIns="0" tIns="0" rIns="0" bIns="0" rtlCol="0" anchor="ctr"/>
          <a:lstStyle/>
          <a:p>
            <a:pPr indent="0" marL="0">
              <a:buNone/>
            </a:pPr>
            <a:r>
              <a:rPr lang="en-US" sz="1200" dirty="0">
                <a:solidFill>
                  <a:srgbClr val="6B4B00"/>
                </a:solidFill>
                <a:latin typeface="Calibri" pitchFamily="34" charset="0"/>
                <a:ea typeface="Calibri" pitchFamily="34" charset="-122"/>
                <a:cs typeface="Calibri" pitchFamily="34" charset="-120"/>
              </a:rPr>
              <a:t>健常者なら血圧低下時に心拍数が代償的に上がるが、この代償反応自体が高位SCIで遮断される交感神経の機能。心拍数が上がらないのが「血圧が下がっていない」からか「代償反応が壊れて見えていないだけ」かを、心拍数だけでは区別できない。</a:t>
            </a:r>
            <a:endParaRPr lang="en-US" sz="1200" dirty="0"/>
          </a:p>
        </p:txBody>
      </p:sp>
      <p:sp>
        <p:nvSpPr>
          <p:cNvPr id="7" name="Shape 5"/>
          <p:cNvSpPr/>
          <p:nvPr/>
        </p:nvSpPr>
        <p:spPr>
          <a:xfrm>
            <a:off x="548640" y="3154680"/>
            <a:ext cx="5362956" cy="2331720"/>
          </a:xfrm>
          <a:prstGeom prst="roundRect">
            <a:avLst>
              <a:gd name="adj" fmla="val 3922"/>
            </a:avLst>
          </a:prstGeom>
          <a:solidFill>
            <a:srgbClr val="F4F7F9"/>
          </a:solidFill>
          <a:ln/>
        </p:spPr>
      </p:sp>
      <p:sp>
        <p:nvSpPr>
          <p:cNvPr id="8" name="Shape 6"/>
          <p:cNvSpPr/>
          <p:nvPr/>
        </p:nvSpPr>
        <p:spPr>
          <a:xfrm>
            <a:off x="822960" y="3310128"/>
            <a:ext cx="146304" cy="365760"/>
          </a:xfrm>
          <a:prstGeom prst="rect">
            <a:avLst/>
          </a:prstGeom>
          <a:solidFill>
            <a:srgbClr val="1C7293"/>
          </a:solidFill>
          <a:ln/>
        </p:spPr>
      </p:sp>
      <p:sp>
        <p:nvSpPr>
          <p:cNvPr id="9" name="Text 7"/>
          <p:cNvSpPr txBox="1"/>
          <p:nvPr/>
        </p:nvSpPr>
        <p:spPr>
          <a:xfrm>
            <a:off x="1078992" y="3273552"/>
            <a:ext cx="4539996" cy="45720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心拍数だけでも価値はある</a:t>
            </a:r>
            <a:endParaRPr lang="en-US" sz="1400" dirty="0"/>
          </a:p>
        </p:txBody>
      </p:sp>
      <p:sp>
        <p:nvSpPr>
          <p:cNvPr id="10" name="Text 8"/>
          <p:cNvSpPr txBox="1"/>
          <p:nvPr/>
        </p:nvSpPr>
        <p:spPr>
          <a:xfrm>
            <a:off x="822960" y="3822192"/>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元の研究計画書でも「自律神経の変動・運動強度」の指標として明記</a:t>
            </a:r>
            <a:endParaRPr lang="en-US" sz="1050" dirty="0"/>
          </a:p>
        </p:txBody>
      </p:sp>
      <p:sp>
        <p:nvSpPr>
          <p:cNvPr id="11" name="Text 9"/>
          <p:cNvSpPr txBox="1"/>
          <p:nvPr/>
        </p:nvSpPr>
        <p:spPr>
          <a:xfrm>
            <a:off x="822960" y="4242816"/>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心拍変動（HRV）まで見れば交感・副交感バランスの変化を捉えられる</a:t>
            </a:r>
            <a:endParaRPr lang="en-US" sz="1050" dirty="0"/>
          </a:p>
        </p:txBody>
      </p:sp>
      <p:sp>
        <p:nvSpPr>
          <p:cNvPr id="12" name="Text 10"/>
          <p:cNvSpPr txBox="1"/>
          <p:nvPr/>
        </p:nvSpPr>
        <p:spPr>
          <a:xfrm>
            <a:off x="822960" y="4663440"/>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ウェアラブルで連続測定が容易</a:t>
            </a:r>
            <a:endParaRPr lang="en-US" sz="1050" dirty="0"/>
          </a:p>
        </p:txBody>
      </p:sp>
      <p:sp>
        <p:nvSpPr>
          <p:cNvPr id="13" name="Text 11"/>
          <p:cNvSpPr txBox="1"/>
          <p:nvPr/>
        </p:nvSpPr>
        <p:spPr>
          <a:xfrm>
            <a:off x="822960" y="5084064"/>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練習強度が揃っているかの確認（プランA・Bの補強）に直接役立つ</a:t>
            </a:r>
            <a:endParaRPr lang="en-US" sz="1050" dirty="0"/>
          </a:p>
        </p:txBody>
      </p:sp>
      <p:sp>
        <p:nvSpPr>
          <p:cNvPr id="14" name="Shape 12"/>
          <p:cNvSpPr/>
          <p:nvPr/>
        </p:nvSpPr>
        <p:spPr>
          <a:xfrm>
            <a:off x="6277356" y="3154680"/>
            <a:ext cx="5362956" cy="2331720"/>
          </a:xfrm>
          <a:prstGeom prst="roundRect">
            <a:avLst>
              <a:gd name="adj" fmla="val 3922"/>
            </a:avLst>
          </a:prstGeom>
          <a:solidFill>
            <a:srgbClr val="F4F7F9"/>
          </a:solidFill>
          <a:ln/>
        </p:spPr>
      </p:sp>
      <p:sp>
        <p:nvSpPr>
          <p:cNvPr id="15" name="Shape 13"/>
          <p:cNvSpPr/>
          <p:nvPr/>
        </p:nvSpPr>
        <p:spPr>
          <a:xfrm>
            <a:off x="6551676" y="3310128"/>
            <a:ext cx="146304" cy="365760"/>
          </a:xfrm>
          <a:prstGeom prst="rect">
            <a:avLst/>
          </a:prstGeom>
          <a:solidFill>
            <a:srgbClr val="1BAF7A"/>
          </a:solidFill>
          <a:ln/>
        </p:spPr>
      </p:sp>
      <p:sp>
        <p:nvSpPr>
          <p:cNvPr id="16" name="Text 14"/>
          <p:cNvSpPr txBox="1"/>
          <p:nvPr/>
        </p:nvSpPr>
        <p:spPr>
          <a:xfrm>
            <a:off x="6807708" y="3273552"/>
            <a:ext cx="4539996" cy="457200"/>
          </a:xfrm>
          <a:prstGeom prst="rect">
            <a:avLst/>
          </a:prstGeom>
          <a:noFill/>
          <a:ln/>
        </p:spPr>
        <p:txBody>
          <a:bodyPr wrap="square" lIns="0" tIns="0" rIns="0" bIns="0" rtlCol="0" anchor="ctr"/>
          <a:lstStyle/>
          <a:p>
            <a:pPr indent="0" marL="0">
              <a:buNone/>
            </a:pPr>
            <a:r>
              <a:rPr lang="en-US" sz="1400" b="1" dirty="0">
                <a:solidFill>
                  <a:srgbClr val="21295C"/>
                </a:solidFill>
                <a:latin typeface="Calibri" pitchFamily="34" charset="0"/>
                <a:ea typeface="Calibri" pitchFamily="34" charset="-122"/>
                <a:cs typeface="Calibri" pitchFamily="34" charset="-120"/>
              </a:rPr>
              <a:t>現実的な折衷案</a:t>
            </a:r>
            <a:endParaRPr lang="en-US" sz="1400" dirty="0"/>
          </a:p>
        </p:txBody>
      </p:sp>
      <p:sp>
        <p:nvSpPr>
          <p:cNvPr id="17" name="Text 15"/>
          <p:cNvSpPr txBox="1"/>
          <p:nvPr/>
        </p:nvSpPr>
        <p:spPr>
          <a:xfrm>
            <a:off x="6551676" y="3822192"/>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血圧は数点だけスポット測定（8:00・8:30・9:30・練習直前）</a:t>
            </a:r>
            <a:endParaRPr lang="en-US" sz="1050" dirty="0"/>
          </a:p>
        </p:txBody>
      </p:sp>
      <p:sp>
        <p:nvSpPr>
          <p:cNvPr id="18" name="Text 16"/>
          <p:cNvSpPr txBox="1"/>
          <p:nvPr/>
        </p:nvSpPr>
        <p:spPr>
          <a:xfrm>
            <a:off x="6551676" y="4242816"/>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心拍数はウェアラブルで連続測定し、間を補完</a:t>
            </a:r>
            <a:endParaRPr lang="en-US" sz="1050" dirty="0"/>
          </a:p>
        </p:txBody>
      </p:sp>
      <p:sp>
        <p:nvSpPr>
          <p:cNvPr id="19" name="Text 17"/>
          <p:cNvSpPr txBox="1"/>
          <p:nvPr/>
        </p:nvSpPr>
        <p:spPr>
          <a:xfrm>
            <a:off x="6551676" y="4663440"/>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連続血圧測定（高価・運動中は困難）を避けつつ実測値で裏付けられる</a:t>
            </a:r>
            <a:endParaRPr lang="en-US" sz="1050" dirty="0"/>
          </a:p>
        </p:txBody>
      </p:sp>
      <p:sp>
        <p:nvSpPr>
          <p:cNvPr id="20" name="Text 18"/>
          <p:cNvSpPr txBox="1"/>
          <p:nvPr/>
        </p:nvSpPr>
        <p:spPr>
          <a:xfrm>
            <a:off x="6551676" y="5084064"/>
            <a:ext cx="4814316" cy="384048"/>
          </a:xfrm>
          <a:prstGeom prst="rect">
            <a:avLst/>
          </a:prstGeom>
          <a:noFill/>
          <a:ln/>
        </p:spPr>
        <p:txBody>
          <a:bodyPr wrap="square" lIns="0" tIns="0" rIns="0" bIns="0" rtlCol="0" anchor="ctr"/>
          <a:lstStyle/>
          <a:p>
            <a:pPr indent="0" marL="0">
              <a:buNone/>
            </a:pPr>
            <a:r>
              <a:rPr lang="en-US" sz="1050" dirty="0">
                <a:solidFill>
                  <a:srgbClr val="1A1A1A"/>
                </a:solidFill>
                <a:latin typeface="Calibri" pitchFamily="34" charset="0"/>
                <a:ea typeface="Calibri" pitchFamily="34" charset="-122"/>
                <a:cs typeface="Calibri" pitchFamily="34" charset="-120"/>
              </a:rPr>
              <a:t>•  大きな負担なく、核心仮説に直接答えられる設計になる</a:t>
            </a:r>
            <a:endParaRPr lang="en-US" sz="1050" dirty="0"/>
          </a:p>
        </p:txBody>
      </p:sp>
      <p:sp>
        <p:nvSpPr>
          <p:cNvPr id="21" name="Text 19"/>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5C6570"/>
                </a:solidFill>
                <a:latin typeface="Calibri" pitchFamily="34" charset="0"/>
                <a:ea typeface="Calibri" pitchFamily="34" charset="-122"/>
                <a:cs typeface="Calibri" pitchFamily="34" charset="-120"/>
              </a:rPr>
              <a:t>心拍数は血圧の代用ではなく補完指標として位置づけ、血圧のスポット測定と組み合わせるのが現実的。</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310896"/>
          </a:xfrm>
          <a:prstGeom prst="rect">
            <a:avLst/>
          </a:prstGeom>
          <a:noFill/>
          <a:ln/>
        </p:spPr>
        <p:txBody>
          <a:bodyPr wrap="square" rtlCol="0" anchor="ctr"/>
          <a:lstStyle/>
          <a:p>
            <a:pPr indent="0" marL="0">
              <a:buNone/>
            </a:pPr>
            <a:r>
              <a:rPr lang="en-US" sz="1250" b="1" spc="100" kern="0" dirty="0">
                <a:solidFill>
                  <a:srgbClr val="8FB7E0"/>
                </a:solidFill>
                <a:latin typeface="Calibri" pitchFamily="34" charset="0"/>
                <a:ea typeface="Calibri" pitchFamily="34" charset="-122"/>
                <a:cs typeface="Calibri" pitchFamily="34" charset="-120"/>
              </a:rPr>
              <a:t>PRIORITY</a:t>
            </a:r>
            <a:endParaRPr lang="en-US" sz="1250" dirty="0"/>
          </a:p>
        </p:txBody>
      </p:sp>
      <p:sp>
        <p:nvSpPr>
          <p:cNvPr id="3" name="Text 1"/>
          <p:cNvSpPr txBox="1"/>
          <p:nvPr/>
        </p:nvSpPr>
        <p:spPr>
          <a:xfrm>
            <a:off x="548640" y="676656"/>
            <a:ext cx="11091672" cy="54864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優先順位のまとめ</a:t>
            </a:r>
            <a:endParaRPr lang="en-US" sz="2600" dirty="0"/>
          </a:p>
        </p:txBody>
      </p:sp>
      <p:sp>
        <p:nvSpPr>
          <p:cNvPr id="4" name="Shape 2"/>
          <p:cNvSpPr/>
          <p:nvPr/>
        </p:nvSpPr>
        <p:spPr>
          <a:xfrm>
            <a:off x="548640" y="1508760"/>
            <a:ext cx="365760" cy="365760"/>
          </a:xfrm>
          <a:prstGeom prst="oval">
            <a:avLst/>
          </a:prstGeom>
          <a:solidFill>
            <a:srgbClr val="EDA100"/>
          </a:solidFill>
          <a:ln/>
        </p:spPr>
      </p:sp>
      <p:sp>
        <p:nvSpPr>
          <p:cNvPr id="5" name="Text 3"/>
          <p:cNvSpPr txBox="1"/>
          <p:nvPr/>
        </p:nvSpPr>
        <p:spPr>
          <a:xfrm>
            <a:off x="548640" y="1508760"/>
            <a:ext cx="365760" cy="365760"/>
          </a:xfrm>
          <a:prstGeom prst="rect">
            <a:avLst/>
          </a:prstGeom>
          <a:noFill/>
          <a:ln/>
        </p:spPr>
        <p:txBody>
          <a:bodyPr wrap="square" lIns="0" tIns="0" rIns="0" bIns="0" rtlCol="0" anchor="ctr"/>
          <a:lstStyle/>
          <a:p>
            <a:pPr algn="ctr" indent="0" marL="0">
              <a:buNone/>
            </a:pPr>
            <a:r>
              <a:rPr lang="en-US" sz="1350" b="1" dirty="0">
                <a:solidFill>
                  <a:srgbClr val="6B4B00"/>
                </a:solidFill>
                <a:latin typeface="Cambria" pitchFamily="34" charset="0"/>
                <a:ea typeface="Cambria" pitchFamily="34" charset="-122"/>
                <a:cs typeface="Cambria" pitchFamily="34" charset="-120"/>
              </a:rPr>
              <a:t>0</a:t>
            </a:r>
            <a:endParaRPr lang="en-US" sz="1350" dirty="0"/>
          </a:p>
        </p:txBody>
      </p:sp>
      <p:sp>
        <p:nvSpPr>
          <p:cNvPr id="6" name="Text 4"/>
          <p:cNvSpPr txBox="1"/>
          <p:nvPr/>
        </p:nvSpPr>
        <p:spPr>
          <a:xfrm>
            <a:off x="1115568" y="1490472"/>
            <a:ext cx="6080760" cy="42062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DAY5(8/29)14:30〜15:30頃の状況を選手・スタッフに確認</a:t>
            </a:r>
            <a:endParaRPr lang="en-US" sz="1300" dirty="0"/>
          </a:p>
        </p:txBody>
      </p:sp>
      <p:sp>
        <p:nvSpPr>
          <p:cNvPr id="7" name="Text 5"/>
          <p:cNvSpPr txBox="1"/>
          <p:nvPr/>
        </p:nvSpPr>
        <p:spPr>
          <a:xfrm>
            <a:off x="7269480" y="1490472"/>
            <a:ext cx="4526280"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コスト0・即実施可能。最大の手がかりが得られる</a:t>
            </a:r>
            <a:endParaRPr lang="en-US" sz="1100" dirty="0"/>
          </a:p>
        </p:txBody>
      </p:sp>
      <p:sp>
        <p:nvSpPr>
          <p:cNvPr id="8" name="Shape 6"/>
          <p:cNvSpPr/>
          <p:nvPr/>
        </p:nvSpPr>
        <p:spPr>
          <a:xfrm>
            <a:off x="548640" y="2057400"/>
            <a:ext cx="365760" cy="365760"/>
          </a:xfrm>
          <a:prstGeom prst="oval">
            <a:avLst/>
          </a:prstGeom>
          <a:solidFill>
            <a:srgbClr val="065A82"/>
          </a:solidFill>
          <a:ln/>
        </p:spPr>
      </p:sp>
      <p:sp>
        <p:nvSpPr>
          <p:cNvPr id="9" name="Text 7"/>
          <p:cNvSpPr txBox="1"/>
          <p:nvPr/>
        </p:nvSpPr>
        <p:spPr>
          <a:xfrm>
            <a:off x="548640" y="2057400"/>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1</a:t>
            </a:r>
            <a:endParaRPr lang="en-US" sz="1350" dirty="0"/>
          </a:p>
        </p:txBody>
      </p:sp>
      <p:sp>
        <p:nvSpPr>
          <p:cNvPr id="10" name="Text 8"/>
          <p:cNvSpPr txBox="1"/>
          <p:nvPr/>
        </p:nvSpPr>
        <p:spPr>
          <a:xfrm>
            <a:off x="1115568" y="2039112"/>
            <a:ext cx="6080760" cy="42062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プランA：固定トレーニングメニュー法</a:t>
            </a:r>
            <a:endParaRPr lang="en-US" sz="1300" dirty="0"/>
          </a:p>
        </p:txBody>
      </p:sp>
      <p:sp>
        <p:nvSpPr>
          <p:cNvPr id="11" name="Text 9"/>
          <p:cNvSpPr txBox="1"/>
          <p:nvPr/>
        </p:nvSpPr>
        <p:spPr>
          <a:xfrm>
            <a:off x="7269480" y="2039112"/>
            <a:ext cx="4526280"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労力に対して得られる情報量が最大</a:t>
            </a:r>
            <a:endParaRPr lang="en-US" sz="1100" dirty="0"/>
          </a:p>
        </p:txBody>
      </p:sp>
      <p:sp>
        <p:nvSpPr>
          <p:cNvPr id="12" name="Shape 10"/>
          <p:cNvSpPr/>
          <p:nvPr/>
        </p:nvSpPr>
        <p:spPr>
          <a:xfrm>
            <a:off x="548640" y="2606040"/>
            <a:ext cx="365760" cy="365760"/>
          </a:xfrm>
          <a:prstGeom prst="oval">
            <a:avLst/>
          </a:prstGeom>
          <a:solidFill>
            <a:srgbClr val="1C7293"/>
          </a:solidFill>
          <a:ln/>
        </p:spPr>
      </p:sp>
      <p:sp>
        <p:nvSpPr>
          <p:cNvPr id="13" name="Text 11"/>
          <p:cNvSpPr txBox="1"/>
          <p:nvPr/>
        </p:nvSpPr>
        <p:spPr>
          <a:xfrm>
            <a:off x="548640" y="2606040"/>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2</a:t>
            </a:r>
            <a:endParaRPr lang="en-US" sz="1350" dirty="0"/>
          </a:p>
        </p:txBody>
      </p:sp>
      <p:sp>
        <p:nvSpPr>
          <p:cNvPr id="14" name="Text 12"/>
          <p:cNvSpPr txBox="1"/>
          <p:nvPr/>
        </p:nvSpPr>
        <p:spPr>
          <a:xfrm>
            <a:off x="1115568" y="2587752"/>
            <a:ext cx="6080760" cy="42062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プランB：客観的パフォーマンステストの追加</a:t>
            </a:r>
            <a:endParaRPr lang="en-US" sz="1300" dirty="0"/>
          </a:p>
        </p:txBody>
      </p:sp>
      <p:sp>
        <p:nvSpPr>
          <p:cNvPr id="15" name="Text 13"/>
          <p:cNvSpPr txBox="1"/>
          <p:nvPr/>
        </p:nvSpPr>
        <p:spPr>
          <a:xfrm>
            <a:off x="7269480" y="2587752"/>
            <a:ext cx="4526280"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Aとセットで、Q3の矛盾にかなり近づける</a:t>
            </a:r>
            <a:endParaRPr lang="en-US" sz="1100" dirty="0"/>
          </a:p>
        </p:txBody>
      </p:sp>
      <p:sp>
        <p:nvSpPr>
          <p:cNvPr id="16" name="Shape 14"/>
          <p:cNvSpPr/>
          <p:nvPr/>
        </p:nvSpPr>
        <p:spPr>
          <a:xfrm>
            <a:off x="548640" y="3154680"/>
            <a:ext cx="365760" cy="365760"/>
          </a:xfrm>
          <a:prstGeom prst="oval">
            <a:avLst/>
          </a:prstGeom>
          <a:solidFill>
            <a:srgbClr val="1BAF7A"/>
          </a:solidFill>
          <a:ln/>
        </p:spPr>
      </p:sp>
      <p:sp>
        <p:nvSpPr>
          <p:cNvPr id="17" name="Text 15"/>
          <p:cNvSpPr txBox="1"/>
          <p:nvPr/>
        </p:nvSpPr>
        <p:spPr>
          <a:xfrm>
            <a:off x="548640" y="3154680"/>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3</a:t>
            </a:r>
            <a:endParaRPr lang="en-US" sz="1350" dirty="0"/>
          </a:p>
        </p:txBody>
      </p:sp>
      <p:sp>
        <p:nvSpPr>
          <p:cNvPr id="18" name="Text 16"/>
          <p:cNvSpPr txBox="1"/>
          <p:nvPr/>
        </p:nvSpPr>
        <p:spPr>
          <a:xfrm>
            <a:off x="1115568" y="3136392"/>
            <a:ext cx="6080760" cy="42062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血圧スポット測定＋心拍数の連続測定</a:t>
            </a:r>
            <a:endParaRPr lang="en-US" sz="1300" dirty="0"/>
          </a:p>
        </p:txBody>
      </p:sp>
      <p:sp>
        <p:nvSpPr>
          <p:cNvPr id="19" name="Text 17"/>
          <p:cNvSpPr txBox="1"/>
          <p:nvPr/>
        </p:nvSpPr>
        <p:spPr>
          <a:xfrm>
            <a:off x="7269480" y="3136392"/>
            <a:ext cx="4526280"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核心仮説（食後低血圧）に直接答えられる</a:t>
            </a:r>
            <a:endParaRPr lang="en-US" sz="1100" dirty="0"/>
          </a:p>
        </p:txBody>
      </p:sp>
      <p:sp>
        <p:nvSpPr>
          <p:cNvPr id="20" name="Shape 18"/>
          <p:cNvSpPr/>
          <p:nvPr/>
        </p:nvSpPr>
        <p:spPr>
          <a:xfrm>
            <a:off x="548640" y="3703320"/>
            <a:ext cx="365760" cy="365760"/>
          </a:xfrm>
          <a:prstGeom prst="oval">
            <a:avLst/>
          </a:prstGeom>
          <a:solidFill>
            <a:srgbClr val="EDA100"/>
          </a:solidFill>
          <a:ln/>
        </p:spPr>
      </p:sp>
      <p:sp>
        <p:nvSpPr>
          <p:cNvPr id="21" name="Text 19"/>
          <p:cNvSpPr txBox="1"/>
          <p:nvPr/>
        </p:nvSpPr>
        <p:spPr>
          <a:xfrm>
            <a:off x="548640" y="3703320"/>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4</a:t>
            </a:r>
            <a:endParaRPr lang="en-US" sz="1350" dirty="0"/>
          </a:p>
        </p:txBody>
      </p:sp>
      <p:sp>
        <p:nvSpPr>
          <p:cNvPr id="22" name="Text 20"/>
          <p:cNvSpPr txBox="1"/>
          <p:nvPr/>
        </p:nvSpPr>
        <p:spPr>
          <a:xfrm>
            <a:off x="1115568" y="3685032"/>
            <a:ext cx="6080760" cy="42062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プランC：ランダム化クロスオーバー</a:t>
            </a:r>
            <a:endParaRPr lang="en-US" sz="1300" dirty="0"/>
          </a:p>
        </p:txBody>
      </p:sp>
      <p:sp>
        <p:nvSpPr>
          <p:cNvPr id="23" name="Text 21"/>
          <p:cNvSpPr txBox="1"/>
          <p:nvPr/>
        </p:nvSpPr>
        <p:spPr>
          <a:xfrm>
            <a:off x="7269480" y="3685032"/>
            <a:ext cx="4526280"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余力があれば。順序効果を排除し妥当性を高める</a:t>
            </a:r>
            <a:endParaRPr lang="en-US" sz="1100" dirty="0"/>
          </a:p>
        </p:txBody>
      </p:sp>
      <p:sp>
        <p:nvSpPr>
          <p:cNvPr id="24" name="Shape 22"/>
          <p:cNvSpPr/>
          <p:nvPr/>
        </p:nvSpPr>
        <p:spPr>
          <a:xfrm>
            <a:off x="548640" y="4251960"/>
            <a:ext cx="365760" cy="365760"/>
          </a:xfrm>
          <a:prstGeom prst="oval">
            <a:avLst/>
          </a:prstGeom>
          <a:solidFill>
            <a:srgbClr val="8B6FB0"/>
          </a:solidFill>
          <a:ln/>
        </p:spPr>
      </p:sp>
      <p:sp>
        <p:nvSpPr>
          <p:cNvPr id="25" name="Text 23"/>
          <p:cNvSpPr txBox="1"/>
          <p:nvPr/>
        </p:nvSpPr>
        <p:spPr>
          <a:xfrm>
            <a:off x="548640" y="4251960"/>
            <a:ext cx="365760" cy="365760"/>
          </a:xfrm>
          <a:prstGeom prst="rect">
            <a:avLst/>
          </a:prstGeom>
          <a:noFill/>
          <a:ln/>
        </p:spPr>
        <p:txBody>
          <a:bodyPr wrap="square" lIns="0" tIns="0" rIns="0" bIns="0" rtlCol="0" anchor="ctr"/>
          <a:lstStyle/>
          <a:p>
            <a:pPr algn="ctr" indent="0" marL="0">
              <a:buNone/>
            </a:pPr>
            <a:r>
              <a:rPr lang="en-US" sz="1350" b="1" dirty="0">
                <a:solidFill>
                  <a:srgbClr val="FFFFFF"/>
                </a:solidFill>
                <a:latin typeface="Cambria" pitchFamily="34" charset="0"/>
                <a:ea typeface="Cambria" pitchFamily="34" charset="-122"/>
                <a:cs typeface="Cambria" pitchFamily="34" charset="-120"/>
              </a:rPr>
              <a:t>5</a:t>
            </a:r>
            <a:endParaRPr lang="en-US" sz="1350" dirty="0"/>
          </a:p>
        </p:txBody>
      </p:sp>
      <p:sp>
        <p:nvSpPr>
          <p:cNvPr id="26" name="Text 24"/>
          <p:cNvSpPr txBox="1"/>
          <p:nvPr/>
        </p:nvSpPr>
        <p:spPr>
          <a:xfrm>
            <a:off x="1115568" y="4233672"/>
            <a:ext cx="6080760" cy="42062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プランD：糖質量の段階的検証</a:t>
            </a:r>
            <a:endParaRPr lang="en-US" sz="1300" dirty="0"/>
          </a:p>
        </p:txBody>
      </p:sp>
      <p:sp>
        <p:nvSpPr>
          <p:cNvPr id="27" name="Text 25"/>
          <p:cNvSpPr txBox="1"/>
          <p:nvPr/>
        </p:nvSpPr>
        <p:spPr>
          <a:xfrm>
            <a:off x="7269480" y="4233672"/>
            <a:ext cx="4526280" cy="420624"/>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血糖とパフォーマンスの最適点を探る発展形</a:t>
            </a:r>
            <a:endParaRPr lang="en-US" sz="1100" dirty="0"/>
          </a:p>
        </p:txBody>
      </p:sp>
      <p:sp>
        <p:nvSpPr>
          <p:cNvPr id="28" name="Shape 26"/>
          <p:cNvSpPr/>
          <p:nvPr/>
        </p:nvSpPr>
        <p:spPr>
          <a:xfrm>
            <a:off x="548640" y="4800600"/>
            <a:ext cx="11091672" cy="1188720"/>
          </a:xfrm>
          <a:prstGeom prst="roundRect">
            <a:avLst>
              <a:gd name="adj" fmla="val 7692"/>
            </a:avLst>
          </a:prstGeom>
          <a:solidFill>
            <a:srgbClr val="1A2350"/>
          </a:solidFill>
          <a:ln/>
        </p:spPr>
      </p:sp>
      <p:sp>
        <p:nvSpPr>
          <p:cNvPr id="29" name="Text 27"/>
          <p:cNvSpPr txBox="1"/>
          <p:nvPr/>
        </p:nvSpPr>
        <p:spPr>
          <a:xfrm>
            <a:off x="822960" y="4937760"/>
            <a:ext cx="10543032" cy="914400"/>
          </a:xfrm>
          <a:prstGeom prst="rect">
            <a:avLst/>
          </a:prstGeom>
          <a:noFill/>
          <a:ln/>
        </p:spPr>
        <p:txBody>
          <a:bodyPr wrap="square" lIns="0" tIns="0" rIns="0" bIns="0" rtlCol="0" anchor="ctr"/>
          <a:lstStyle/>
          <a:p>
            <a:pPr indent="0" marL="0">
              <a:buNone/>
            </a:pPr>
            <a:r>
              <a:rPr lang="en-US" sz="1200" dirty="0">
                <a:solidFill>
                  <a:srgbClr val="E8EDF7"/>
                </a:solidFill>
                <a:latin typeface="Calibri" pitchFamily="34" charset="0"/>
                <a:ea typeface="Calibri" pitchFamily="34" charset="-122"/>
                <a:cs typeface="Calibri" pitchFamily="34" charset="-120"/>
              </a:rPr>
              <a:t>まず0（原因確認）を即実施し、次いで①②（練習量・パフォーマンス測定の標準化）を行えば、パイロットで残った最大の疑問「糖質減は本当に持久力を下げるのか」にかなり近づける。余力に応じて③以降を積み増す段階的なアプローチを推奨。</a:t>
            </a:r>
            <a:endParaRPr lang="en-US" sz="1200" dirty="0"/>
          </a:p>
        </p:txBody>
      </p:sp>
      <p:sp>
        <p:nvSpPr>
          <p:cNvPr id="30" name="Text 28"/>
          <p:cNvSpPr/>
          <p:nvPr/>
        </p:nvSpPr>
        <p:spPr>
          <a:xfrm>
            <a:off x="548640" y="6492240"/>
            <a:ext cx="11091672" cy="256032"/>
          </a:xfrm>
          <a:prstGeom prst="rect">
            <a:avLst/>
          </a:prstGeom>
          <a:noFill/>
          <a:ln/>
        </p:spPr>
        <p:txBody>
          <a:bodyPr wrap="square" rtlCol="0" anchor="ctr"/>
          <a:lstStyle/>
          <a:p>
            <a:pPr algn="l" indent="0" marL="0">
              <a:buNone/>
            </a:pPr>
            <a:r>
              <a:rPr lang="en-US" sz="950" dirty="0">
                <a:solidFill>
                  <a:srgbClr val="9AA6C4"/>
                </a:solidFill>
                <a:latin typeface="Calibri" pitchFamily="34" charset="0"/>
                <a:ea typeface="Calibri" pitchFamily="34" charset="-122"/>
                <a:cs typeface="Calibri" pitchFamily="34" charset="-120"/>
              </a:rPr>
              <a:t>データ出典：これまでのパイロット分析（for_AI_.xlsx／0824スケジュール.xlsx／condition_app_2026-08-25_2026-09-07.xlsx／14日間_for_AI.xlsx）</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2026-09-19T10:01:01Z</dcterms:created>
  <dcterms:modified xsi:type="dcterms:W3CDTF">2026-09-19T10:01:01Z</dcterms:modified>
</cp:coreProperties>
</file>