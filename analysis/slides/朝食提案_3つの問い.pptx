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固形摂取</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Sheet1!$B$2:$B$26</c:f>
              <c:numCache>
                <c:formatCode>General</c:formatCode>
                <c:ptCount val="25"/>
                <c:pt idx="0">
                  <c:v>99</c:v>
                </c:pt>
                <c:pt idx="1">
                  <c:v>112</c:v>
                </c:pt>
                <c:pt idx="2">
                  <c:v>133.3</c:v>
                </c:pt>
                <c:pt idx="3">
                  <c:v>129</c:v>
                </c:pt>
                <c:pt idx="4">
                  <c:v>113</c:v>
                </c:pt>
                <c:pt idx="5">
                  <c:v>105.3</c:v>
                </c:pt>
                <c:pt idx="6">
                  <c:v>108.7</c:v>
                </c:pt>
                <c:pt idx="7">
                  <c:v>108.7</c:v>
                </c:pt>
                <c:pt idx="8">
                  <c:v>106</c:v>
                </c:pt>
                <c:pt idx="9">
                  <c:v>120</c:v>
                </c:pt>
                <c:pt idx="10">
                  <c:v>130.3</c:v>
                </c:pt>
                <c:pt idx="11">
                  <c:v>125.3</c:v>
                </c:pt>
                <c:pt idx="12">
                  <c:v>120.3</c:v>
                </c:pt>
                <c:pt idx="13">
                  <c:v>135</c:v>
                </c:pt>
                <c:pt idx="14">
                  <c:v>152.7</c:v>
                </c:pt>
                <c:pt idx="15">
                  <c:v>143</c:v>
                </c:pt>
                <c:pt idx="16">
                  <c:v>139</c:v>
                </c:pt>
                <c:pt idx="17">
                  <c:v>129.7</c:v>
                </c:pt>
                <c:pt idx="18">
                  <c:v>119</c:v>
                </c:pt>
                <c:pt idx="19">
                  <c:v>131</c:v>
                </c:pt>
                <c:pt idx="20">
                  <c:v>143</c:v>
                </c:pt>
                <c:pt idx="21">
                  <c:v>136.7</c:v>
                </c:pt>
                <c:pt idx="22">
                  <c:v>138</c:v>
                </c:pt>
                <c:pt idx="23">
                  <c:v>140.3</c:v>
                </c:pt>
                <c:pt idx="24">
                  <c:v>129</c:v>
                </c:pt>
              </c:numCache>
            </c:numRef>
          </c:val>
          <c:smooth val="0"/>
        </c:ser>
        <c:ser>
          <c:idx val="1"/>
          <c:order val="1"/>
          <c:tx>
            <c:strRef>
              <c:f>Sheet1!$C$1</c:f>
              <c:strCache>
                <c:ptCount val="1"/>
                <c:pt idx="0">
                  <c:v>スムージー摂取</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Sheet1!$C$2:$C$26</c:f>
              <c:numCache>
                <c:formatCode>General</c:formatCode>
                <c:ptCount val="25"/>
                <c:pt idx="0">
                  <c:v>159.3</c:v>
                </c:pt>
                <c:pt idx="1">
                  <c:v>163</c:v>
                </c:pt>
                <c:pt idx="2">
                  <c:v>182</c:v>
                </c:pt>
                <c:pt idx="3">
                  <c:v>202.7</c:v>
                </c:pt>
                <c:pt idx="4">
                  <c:v>193.7</c:v>
                </c:pt>
                <c:pt idx="5">
                  <c:v>163.7</c:v>
                </c:pt>
                <c:pt idx="6">
                  <c:v>149</c:v>
                </c:pt>
                <c:pt idx="7">
                  <c:v>148.7</c:v>
                </c:pt>
                <c:pt idx="8">
                  <c:v>154.7</c:v>
                </c:pt>
                <c:pt idx="9">
                  <c:v>179.3</c:v>
                </c:pt>
                <c:pt idx="10">
                  <c:v>194.3</c:v>
                </c:pt>
                <c:pt idx="11">
                  <c:v>226</c:v>
                </c:pt>
                <c:pt idx="12">
                  <c:v>226.3</c:v>
                </c:pt>
                <c:pt idx="13">
                  <c:v>223</c:v>
                </c:pt>
                <c:pt idx="14">
                  <c:v>239.7</c:v>
                </c:pt>
                <c:pt idx="15">
                  <c:v>244.3</c:v>
                </c:pt>
                <c:pt idx="16">
                  <c:v>213.7</c:v>
                </c:pt>
                <c:pt idx="17">
                  <c:v>225</c:v>
                </c:pt>
                <c:pt idx="18">
                  <c:v>218.3</c:v>
                </c:pt>
                <c:pt idx="19">
                  <c:v>218.7</c:v>
                </c:pt>
                <c:pt idx="20">
                  <c:v>224.7</c:v>
                </c:pt>
                <c:pt idx="21">
                  <c:v>207</c:v>
                </c:pt>
                <c:pt idx="22">
                  <c:v>212.3</c:v>
                </c:pt>
                <c:pt idx="23">
                  <c:v>222.7</c:v>
                </c:pt>
                <c:pt idx="24">
                  <c:v>211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900" b="0" i="0" u="none" strike="noStrike">
                <a:solidFill>
                  <a:srgbClr val="5C6570"/>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3E1DB"/>
              </a:solidFill>
              <a:prstDash val="solid"/>
              <a:round/>
            </a:ln>
          </c:spPr>
        </c:majorGridlines>
        <c:title>
          <c:tx>
            <c:rich>
              <a:bodyPr/>
              <a:lstStyle/>
              <a:p>
                <a:pPr>
                  <a:defRPr sz="1000" b="0" i="0" u="none" strike="noStrike">
                    <a:solidFill>
                      <a:srgbClr val="5C6570"/>
                    </a:solidFill>
                    <a:latin typeface="Arial"/>
                  </a:defRPr>
                </a:pPr>
                <a:r>
                  <a:rPr sz="1000" b="0" i="0" u="none" strike="noStrike">
                    <a:solidFill>
                      <a:srgbClr val="5C6570"/>
                    </a:solidFill>
                    <a:latin typeface="Arial"/>
                  </a:rPr>
                  <a:t>血糖値 (mg/dL)</a:t>
                </a:r>
              </a:p>
            </c:rich>
          </c:tx>
          <c:layout/>
          <c:overlay val="0"/>
        </c:title>
        <c:numFmt formatCode="General" sourceLinked="0"/>
        <c:majorTickMark val="out"/>
        <c:minorTickMark val="none"/>
        <c:tickLblPos val="nextTo"/>
        <c:spPr>
          <a:ln w="12700" cap="flat">
            <a:solidFill>
              <a:srgbClr val="E3E1DB"/>
            </a:solidFill>
            <a:prstDash val="solid"/>
            <a:round/>
          </a:ln>
        </c:spPr>
        <c:txPr>
          <a:bodyPr/>
          <a:lstStyle/>
          <a:p>
            <a:pPr>
              <a:defRPr sz="900" b="0" i="0" u="none" strike="noStrike">
                <a:solidFill>
                  <a:srgbClr val="5C65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1295C"/>
          </a:solidFill>
          <a:ln/>
        </p:spPr>
      </p:sp>
      <p:sp>
        <p:nvSpPr>
          <p:cNvPr id="3" name="Shape 1"/>
          <p:cNvSpPr/>
          <p:nvPr/>
        </p:nvSpPr>
        <p:spPr>
          <a:xfrm>
            <a:off x="9692640" y="-1463040"/>
            <a:ext cx="5029200" cy="5029200"/>
          </a:xfrm>
          <a:prstGeom prst="oval">
            <a:avLst/>
          </a:prstGeom>
          <a:solidFill>
            <a:srgbClr val="065A82">
              <a:alpha val="45000"/>
            </a:srgbClr>
          </a:solidFill>
          <a:ln/>
        </p:spPr>
      </p:sp>
      <p:sp>
        <p:nvSpPr>
          <p:cNvPr id="4" name="Shape 2"/>
          <p:cNvSpPr/>
          <p:nvPr/>
        </p:nvSpPr>
        <p:spPr>
          <a:xfrm>
            <a:off x="-1828800" y="4206240"/>
            <a:ext cx="4206240" cy="4206240"/>
          </a:xfrm>
          <a:prstGeom prst="oval">
            <a:avLst/>
          </a:prstGeom>
          <a:solidFill>
            <a:srgbClr val="1C7293">
              <a:alpha val="40000"/>
            </a:srgbClr>
          </a:solidFill>
          <a:ln/>
        </p:spPr>
      </p:sp>
      <p:sp>
        <p:nvSpPr>
          <p:cNvPr id="5" name="Text 3"/>
          <p:cNvSpPr txBox="1"/>
          <p:nvPr/>
        </p:nvSpPr>
        <p:spPr>
          <a:xfrm>
            <a:off x="548640" y="1554480"/>
            <a:ext cx="10058400" cy="365760"/>
          </a:xfrm>
          <a:prstGeom prst="rect">
            <a:avLst/>
          </a:prstGeom>
          <a:noFill/>
          <a:ln/>
        </p:spPr>
        <p:txBody>
          <a:bodyPr wrap="square" rtlCol="0" anchor="ctr"/>
          <a:lstStyle/>
          <a:p>
            <a:pPr indent="0" marL="0">
              <a:buNone/>
            </a:pPr>
            <a:r>
              <a:rPr lang="en-US" sz="1400" b="1" spc="100" kern="0" dirty="0">
                <a:solidFill>
                  <a:srgbClr val="8FB7E0"/>
                </a:solidFill>
                <a:latin typeface="Calibri" pitchFamily="34" charset="0"/>
                <a:ea typeface="Calibri" pitchFamily="34" charset="-122"/>
                <a:cs typeface="Calibri" pitchFamily="34" charset="-120"/>
              </a:rPr>
              <a:t>血糖値・コンディションデータに基づく</a:t>
            </a:r>
            <a:endParaRPr lang="en-US" sz="1400" dirty="0"/>
          </a:p>
        </p:txBody>
      </p:sp>
      <p:sp>
        <p:nvSpPr>
          <p:cNvPr id="6" name="Text 4"/>
          <p:cNvSpPr txBox="1"/>
          <p:nvPr/>
        </p:nvSpPr>
        <p:spPr>
          <a:xfrm>
            <a:off x="548640" y="1965960"/>
            <a:ext cx="10515600" cy="91440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この選手への朝食提案</a:t>
            </a:r>
            <a:endParaRPr lang="en-US" sz="3800" dirty="0"/>
          </a:p>
        </p:txBody>
      </p:sp>
      <p:sp>
        <p:nvSpPr>
          <p:cNvPr id="7" name="Text 5"/>
          <p:cNvSpPr txBox="1"/>
          <p:nvPr/>
        </p:nvSpPr>
        <p:spPr>
          <a:xfrm>
            <a:off x="548640" y="2880360"/>
            <a:ext cx="10058400" cy="45720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3つの実践的な問いに、結果と考察で答える</a:t>
            </a:r>
            <a:endParaRPr lang="en-US" sz="1600" dirty="0"/>
          </a:p>
        </p:txBody>
      </p:sp>
      <p:sp>
        <p:nvSpPr>
          <p:cNvPr id="8" name="Shape 6"/>
          <p:cNvSpPr/>
          <p:nvPr/>
        </p:nvSpPr>
        <p:spPr>
          <a:xfrm>
            <a:off x="548640" y="3749040"/>
            <a:ext cx="502920" cy="502920"/>
          </a:xfrm>
          <a:prstGeom prst="oval">
            <a:avLst/>
          </a:prstGeom>
          <a:solidFill>
            <a:srgbClr val="1C7293"/>
          </a:solidFill>
          <a:ln/>
        </p:spPr>
      </p:sp>
      <p:sp>
        <p:nvSpPr>
          <p:cNvPr id="9" name="Text 7"/>
          <p:cNvSpPr txBox="1"/>
          <p:nvPr/>
        </p:nvSpPr>
        <p:spPr>
          <a:xfrm>
            <a:off x="548640" y="3749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Q1</a:t>
            </a:r>
            <a:endParaRPr lang="en-US" sz="1500" dirty="0"/>
          </a:p>
        </p:txBody>
      </p:sp>
      <p:sp>
        <p:nvSpPr>
          <p:cNvPr id="10" name="Text 8"/>
          <p:cNvSpPr txBox="1"/>
          <p:nvPr/>
        </p:nvSpPr>
        <p:spPr>
          <a:xfrm>
            <a:off x="1234440" y="3794760"/>
            <a:ext cx="9601200" cy="411480"/>
          </a:xfrm>
          <a:prstGeom prst="rect">
            <a:avLst/>
          </a:prstGeom>
          <a:noFill/>
          <a:ln/>
        </p:spPr>
        <p:txBody>
          <a:bodyPr wrap="square" lIns="0" tIns="0" rIns="0" bIns="0" rtlCol="0" anchor="ctr"/>
          <a:lstStyle/>
          <a:p>
            <a:pPr indent="0" marL="0">
              <a:buNone/>
            </a:pPr>
            <a:r>
              <a:rPr lang="en-US" sz="1500" dirty="0">
                <a:solidFill>
                  <a:srgbClr val="E8EDF7"/>
                </a:solidFill>
                <a:latin typeface="Calibri" pitchFamily="34" charset="0"/>
                <a:ea typeface="Calibri" pitchFamily="34" charset="-122"/>
                <a:cs typeface="Calibri" pitchFamily="34" charset="-120"/>
              </a:rPr>
              <a:t>固形が良いのか、スムージーが良いのか</a:t>
            </a:r>
            <a:endParaRPr lang="en-US" sz="1500" dirty="0"/>
          </a:p>
        </p:txBody>
      </p:sp>
      <p:sp>
        <p:nvSpPr>
          <p:cNvPr id="11" name="Shape 9"/>
          <p:cNvSpPr/>
          <p:nvPr/>
        </p:nvSpPr>
        <p:spPr>
          <a:xfrm>
            <a:off x="548640" y="4462272"/>
            <a:ext cx="502920" cy="502920"/>
          </a:xfrm>
          <a:prstGeom prst="oval">
            <a:avLst/>
          </a:prstGeom>
          <a:solidFill>
            <a:srgbClr val="1C7293"/>
          </a:solidFill>
          <a:ln/>
        </p:spPr>
      </p:sp>
      <p:sp>
        <p:nvSpPr>
          <p:cNvPr id="12" name="Text 10"/>
          <p:cNvSpPr txBox="1"/>
          <p:nvPr/>
        </p:nvSpPr>
        <p:spPr>
          <a:xfrm>
            <a:off x="548640" y="446227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Q2</a:t>
            </a:r>
            <a:endParaRPr lang="en-US" sz="1500" dirty="0"/>
          </a:p>
        </p:txBody>
      </p:sp>
      <p:sp>
        <p:nvSpPr>
          <p:cNvPr id="13" name="Text 11"/>
          <p:cNvSpPr txBox="1"/>
          <p:nvPr/>
        </p:nvSpPr>
        <p:spPr>
          <a:xfrm>
            <a:off x="1234440" y="4507992"/>
            <a:ext cx="9601200" cy="411480"/>
          </a:xfrm>
          <a:prstGeom prst="rect">
            <a:avLst/>
          </a:prstGeom>
          <a:noFill/>
          <a:ln/>
        </p:spPr>
        <p:txBody>
          <a:bodyPr wrap="square" lIns="0" tIns="0" rIns="0" bIns="0" rtlCol="0" anchor="ctr"/>
          <a:lstStyle/>
          <a:p>
            <a:pPr indent="0" marL="0">
              <a:buNone/>
            </a:pPr>
            <a:r>
              <a:rPr lang="en-US" sz="1500" dirty="0">
                <a:solidFill>
                  <a:srgbClr val="E8EDF7"/>
                </a:solidFill>
                <a:latin typeface="Calibri" pitchFamily="34" charset="0"/>
                <a:ea typeface="Calibri" pitchFamily="34" charset="-122"/>
                <a:cs typeface="Calibri" pitchFamily="34" charset="-120"/>
              </a:rPr>
              <a:t>スムージーとおにぎりを食べるタイミングはいつが良いのか</a:t>
            </a:r>
            <a:endParaRPr lang="en-US" sz="1500" dirty="0"/>
          </a:p>
        </p:txBody>
      </p:sp>
      <p:sp>
        <p:nvSpPr>
          <p:cNvPr id="14" name="Shape 12"/>
          <p:cNvSpPr/>
          <p:nvPr/>
        </p:nvSpPr>
        <p:spPr>
          <a:xfrm>
            <a:off x="548640" y="5175504"/>
            <a:ext cx="502920" cy="502920"/>
          </a:xfrm>
          <a:prstGeom prst="oval">
            <a:avLst/>
          </a:prstGeom>
          <a:solidFill>
            <a:srgbClr val="1C7293"/>
          </a:solidFill>
          <a:ln/>
        </p:spPr>
      </p:sp>
      <p:sp>
        <p:nvSpPr>
          <p:cNvPr id="15" name="Text 13"/>
          <p:cNvSpPr txBox="1"/>
          <p:nvPr/>
        </p:nvSpPr>
        <p:spPr>
          <a:xfrm>
            <a:off x="548640" y="5175504"/>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Q3</a:t>
            </a:r>
            <a:endParaRPr lang="en-US" sz="1500" dirty="0"/>
          </a:p>
        </p:txBody>
      </p:sp>
      <p:sp>
        <p:nvSpPr>
          <p:cNvPr id="16" name="Text 14"/>
          <p:cNvSpPr txBox="1"/>
          <p:nvPr/>
        </p:nvSpPr>
        <p:spPr>
          <a:xfrm>
            <a:off x="1234440" y="5221224"/>
            <a:ext cx="9601200" cy="411480"/>
          </a:xfrm>
          <a:prstGeom prst="rect">
            <a:avLst/>
          </a:prstGeom>
          <a:noFill/>
          <a:ln/>
        </p:spPr>
        <p:txBody>
          <a:bodyPr wrap="square" lIns="0" tIns="0" rIns="0" bIns="0" rtlCol="0" anchor="ctr"/>
          <a:lstStyle/>
          <a:p>
            <a:pPr indent="0" marL="0">
              <a:buNone/>
            </a:pPr>
            <a:r>
              <a:rPr lang="en-US" sz="1500" dirty="0">
                <a:solidFill>
                  <a:srgbClr val="E8EDF7"/>
                </a:solidFill>
                <a:latin typeface="Calibri" pitchFamily="34" charset="0"/>
                <a:ea typeface="Calibri" pitchFamily="34" charset="-122"/>
                <a:cs typeface="Calibri" pitchFamily="34" charset="-120"/>
              </a:rPr>
              <a:t>朝ごはんの糖質（C）は少し減らした方が良いのか</a:t>
            </a:r>
            <a:endParaRPr lang="en-US" sz="1500" dirty="0"/>
          </a:p>
        </p:txBody>
      </p:sp>
      <p:sp>
        <p:nvSpPr>
          <p:cNvPr id="17" name="Text 15"/>
          <p:cNvSpPr txBox="1"/>
          <p:nvPr/>
        </p:nvSpPr>
        <p:spPr>
          <a:xfrm>
            <a:off x="548640" y="6263640"/>
            <a:ext cx="9144000" cy="320040"/>
          </a:xfrm>
          <a:prstGeom prst="rect">
            <a:avLst/>
          </a:prstGeom>
          <a:noFill/>
          <a:ln/>
        </p:spPr>
        <p:txBody>
          <a:bodyPr wrap="square" rtlCol="0" anchor="ctr"/>
          <a:lstStyle/>
          <a:p>
            <a:pPr indent="0" marL="0">
              <a:buNone/>
            </a:pPr>
            <a:r>
              <a:rPr lang="en-US" sz="1050" i="1" dirty="0">
                <a:solidFill>
                  <a:srgbClr val="9AA6C4"/>
                </a:solidFill>
                <a:latin typeface="Calibri" pitchFamily="34" charset="0"/>
                <a:ea typeface="Calibri" pitchFamily="34" charset="-122"/>
                <a:cs typeface="Calibri" pitchFamily="34" charset="-120"/>
              </a:rPr>
              <a:t>対象：高位脊髄損傷（SCI）車いす陸上選手 1名（反復測定、各条件n=3日）</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Q1 – RESULTS</a:t>
            </a:r>
            <a:endParaRPr lang="en-US" sz="1250" dirty="0"/>
          </a:p>
        </p:txBody>
      </p:sp>
      <p:sp>
        <p:nvSpPr>
          <p:cNvPr id="3" name="Text 1"/>
          <p:cNvSpPr txBox="1"/>
          <p:nvPr/>
        </p:nvSpPr>
        <p:spPr>
          <a:xfrm>
            <a:off x="548640" y="676656"/>
            <a:ext cx="11091672" cy="59436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固形 vs スムージー：結果</a:t>
            </a:r>
            <a:endParaRPr lang="en-US" sz="2600" dirty="0"/>
          </a:p>
        </p:txBody>
      </p:sp>
      <p:sp>
        <p:nvSpPr>
          <p:cNvPr id="4" name="Shape 2"/>
          <p:cNvSpPr/>
          <p:nvPr/>
        </p:nvSpPr>
        <p:spPr>
          <a:xfrm>
            <a:off x="548640" y="1298448"/>
            <a:ext cx="11091672" cy="384048"/>
          </a:xfrm>
          <a:prstGeom prst="roundRect">
            <a:avLst>
              <a:gd name="adj" fmla="val 19048"/>
            </a:avLst>
          </a:prstGeom>
          <a:solidFill>
            <a:srgbClr val="F4F7F9"/>
          </a:solidFill>
          <a:ln/>
        </p:spPr>
      </p:sp>
      <p:sp>
        <p:nvSpPr>
          <p:cNvPr id="5" name="Text 3"/>
          <p:cNvSpPr txBox="1"/>
          <p:nvPr/>
        </p:nvSpPr>
        <p:spPr>
          <a:xfrm>
            <a:off x="685800" y="1298448"/>
            <a:ext cx="548640" cy="384048"/>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Q1</a:t>
            </a:r>
            <a:endParaRPr lang="en-US" sz="1400" dirty="0"/>
          </a:p>
        </p:txBody>
      </p:sp>
      <p:sp>
        <p:nvSpPr>
          <p:cNvPr id="6" name="Text 4"/>
          <p:cNvSpPr txBox="1"/>
          <p:nvPr/>
        </p:nvSpPr>
        <p:spPr>
          <a:xfrm>
            <a:off x="1280160" y="1298448"/>
            <a:ext cx="10177272" cy="384048"/>
          </a:xfrm>
          <a:prstGeom prst="rect">
            <a:avLst/>
          </a:prstGeom>
          <a:noFill/>
          <a:ln/>
        </p:spPr>
        <p:txBody>
          <a:bodyPr wrap="square" lIns="0" tIns="0" rIns="0" bIns="0" rtlCol="0" anchor="ctr"/>
          <a:lstStyle/>
          <a:p>
            <a:pPr indent="0" marL="0">
              <a:buNone/>
            </a:pPr>
            <a:r>
              <a:rPr lang="en-US" sz="1300" dirty="0">
                <a:solidFill>
                  <a:srgbClr val="21295C"/>
                </a:solidFill>
                <a:latin typeface="Calibri" pitchFamily="34" charset="0"/>
                <a:ea typeface="Calibri" pitchFamily="34" charset="-122"/>
                <a:cs typeface="Calibri" pitchFamily="34" charset="-120"/>
              </a:rPr>
              <a:t>固形が良いのか、スムージーが良いのか？</a:t>
            </a:r>
            <a:endParaRPr lang="en-US" sz="1300" dirty="0"/>
          </a:p>
        </p:txBody>
      </p:sp>
      <p:graphicFrame>
        <p:nvGraphicFramePr>
          <p:cNvPr id="7" name="Chart 0" descr=""/>
          <p:cNvGraphicFramePr/>
          <p:nvPr/>
        </p:nvGraphicFramePr>
        <p:xfrm>
          <a:off x="548640" y="1874520"/>
          <a:ext cx="6949440" cy="32461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818120" y="1920240"/>
            <a:ext cx="3822192" cy="219456"/>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Δピーク血糖値</a:t>
            </a:r>
            <a:endParaRPr lang="en-US" sz="1050" dirty="0"/>
          </a:p>
        </p:txBody>
      </p:sp>
      <p:sp>
        <p:nvSpPr>
          <p:cNvPr id="9" name="Text 6"/>
          <p:cNvSpPr txBox="1"/>
          <p:nvPr/>
        </p:nvSpPr>
        <p:spPr>
          <a:xfrm>
            <a:off x="7818120" y="2139696"/>
            <a:ext cx="1911096" cy="36576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85.0</a:t>
            </a:r>
            <a:endParaRPr lang="en-US" sz="1800" dirty="0"/>
          </a:p>
        </p:txBody>
      </p:sp>
      <p:sp>
        <p:nvSpPr>
          <p:cNvPr id="10" name="Text 7"/>
          <p:cNvSpPr txBox="1"/>
          <p:nvPr/>
        </p:nvSpPr>
        <p:spPr>
          <a:xfrm>
            <a:off x="9729216" y="2139696"/>
            <a:ext cx="1911096" cy="365760"/>
          </a:xfrm>
          <a:prstGeom prst="rect">
            <a:avLst/>
          </a:prstGeom>
          <a:noFill/>
          <a:ln/>
        </p:spPr>
        <p:txBody>
          <a:bodyPr wrap="square" lIns="0" tIns="0" rIns="0" bIns="0" rtlCol="0" anchor="ctr"/>
          <a:lstStyle/>
          <a:p>
            <a:pPr algn="r" indent="0" marL="0">
              <a:buNone/>
            </a:pPr>
            <a:r>
              <a:rPr lang="en-US" sz="1800" b="1" dirty="0">
                <a:solidFill>
                  <a:srgbClr val="2A78D6"/>
                </a:solidFill>
                <a:latin typeface="Cambria" pitchFamily="34" charset="0"/>
                <a:ea typeface="Cambria" pitchFamily="34" charset="-122"/>
                <a:cs typeface="Cambria" pitchFamily="34" charset="-120"/>
              </a:rPr>
              <a:t>53.7</a:t>
            </a:r>
            <a:endParaRPr lang="en-US" sz="1800" dirty="0"/>
          </a:p>
        </p:txBody>
      </p:sp>
      <p:sp>
        <p:nvSpPr>
          <p:cNvPr id="11" name="Text 8"/>
          <p:cNvSpPr txBox="1"/>
          <p:nvPr/>
        </p:nvSpPr>
        <p:spPr>
          <a:xfrm>
            <a:off x="7818120" y="2487168"/>
            <a:ext cx="3822192" cy="182880"/>
          </a:xfrm>
          <a:prstGeom prst="rect">
            <a:avLst/>
          </a:prstGeom>
          <a:noFill/>
          <a:ln/>
        </p:spPr>
        <p:txBody>
          <a:bodyPr wrap="square" lIns="0" tIns="0" rIns="0" bIns="0" rtlCol="0" anchor="ctr"/>
          <a:lstStyle/>
          <a:p>
            <a:pPr indent="0" marL="0">
              <a:buNone/>
            </a:pPr>
            <a:r>
              <a:rPr lang="en-US" sz="800" dirty="0">
                <a:solidFill>
                  <a:srgbClr val="5C6570"/>
                </a:solidFill>
                <a:latin typeface="Calibri" pitchFamily="34" charset="0"/>
                <a:ea typeface="Calibri" pitchFamily="34" charset="-122"/>
                <a:cs typeface="Calibri" pitchFamily="34" charset="-120"/>
              </a:rPr>
              <a:t>mg/dL</a:t>
            </a:r>
            <a:endParaRPr lang="en-US" sz="800" dirty="0"/>
          </a:p>
        </p:txBody>
      </p:sp>
      <p:sp>
        <p:nvSpPr>
          <p:cNvPr id="12" name="Text 9"/>
          <p:cNvSpPr txBox="1"/>
          <p:nvPr/>
        </p:nvSpPr>
        <p:spPr>
          <a:xfrm>
            <a:off x="7818120" y="2852928"/>
            <a:ext cx="3822192" cy="219456"/>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変動係数 CV</a:t>
            </a:r>
            <a:endParaRPr lang="en-US" sz="1050" dirty="0"/>
          </a:p>
        </p:txBody>
      </p:sp>
      <p:sp>
        <p:nvSpPr>
          <p:cNvPr id="13" name="Text 10"/>
          <p:cNvSpPr txBox="1"/>
          <p:nvPr/>
        </p:nvSpPr>
        <p:spPr>
          <a:xfrm>
            <a:off x="7818120" y="3072384"/>
            <a:ext cx="1911096" cy="36576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14.7%</a:t>
            </a:r>
            <a:endParaRPr lang="en-US" sz="1800" dirty="0"/>
          </a:p>
        </p:txBody>
      </p:sp>
      <p:sp>
        <p:nvSpPr>
          <p:cNvPr id="14" name="Text 11"/>
          <p:cNvSpPr txBox="1"/>
          <p:nvPr/>
        </p:nvSpPr>
        <p:spPr>
          <a:xfrm>
            <a:off x="9729216" y="3072384"/>
            <a:ext cx="1911096" cy="365760"/>
          </a:xfrm>
          <a:prstGeom prst="rect">
            <a:avLst/>
          </a:prstGeom>
          <a:noFill/>
          <a:ln/>
        </p:spPr>
        <p:txBody>
          <a:bodyPr wrap="square" lIns="0" tIns="0" rIns="0" bIns="0" rtlCol="0" anchor="ctr"/>
          <a:lstStyle/>
          <a:p>
            <a:pPr algn="r" indent="0" marL="0">
              <a:buNone/>
            </a:pPr>
            <a:r>
              <a:rPr lang="en-US" sz="1800" b="1" dirty="0">
                <a:solidFill>
                  <a:srgbClr val="2A78D6"/>
                </a:solidFill>
                <a:latin typeface="Cambria" pitchFamily="34" charset="0"/>
                <a:ea typeface="Cambria" pitchFamily="34" charset="-122"/>
                <a:cs typeface="Cambria" pitchFamily="34" charset="-120"/>
              </a:rPr>
              <a:t>11.2%</a:t>
            </a:r>
            <a:endParaRPr lang="en-US" sz="1800" dirty="0"/>
          </a:p>
        </p:txBody>
      </p:sp>
      <p:sp>
        <p:nvSpPr>
          <p:cNvPr id="15" name="Text 12"/>
          <p:cNvSpPr txBox="1"/>
          <p:nvPr/>
        </p:nvSpPr>
        <p:spPr>
          <a:xfrm>
            <a:off x="7818120" y="3785616"/>
            <a:ext cx="3822192" cy="219456"/>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練習中(11-14h)平均血糖</a:t>
            </a:r>
            <a:endParaRPr lang="en-US" sz="1050" dirty="0"/>
          </a:p>
        </p:txBody>
      </p:sp>
      <p:sp>
        <p:nvSpPr>
          <p:cNvPr id="16" name="Text 13"/>
          <p:cNvSpPr txBox="1"/>
          <p:nvPr/>
        </p:nvSpPr>
        <p:spPr>
          <a:xfrm>
            <a:off x="7818120" y="4005072"/>
            <a:ext cx="1911096" cy="36576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222.1</a:t>
            </a:r>
            <a:endParaRPr lang="en-US" sz="1800" dirty="0"/>
          </a:p>
        </p:txBody>
      </p:sp>
      <p:sp>
        <p:nvSpPr>
          <p:cNvPr id="17" name="Text 14"/>
          <p:cNvSpPr txBox="1"/>
          <p:nvPr/>
        </p:nvSpPr>
        <p:spPr>
          <a:xfrm>
            <a:off x="9729216" y="4005072"/>
            <a:ext cx="1911096" cy="365760"/>
          </a:xfrm>
          <a:prstGeom prst="rect">
            <a:avLst/>
          </a:prstGeom>
          <a:noFill/>
          <a:ln/>
        </p:spPr>
        <p:txBody>
          <a:bodyPr wrap="square" lIns="0" tIns="0" rIns="0" bIns="0" rtlCol="0" anchor="ctr"/>
          <a:lstStyle/>
          <a:p>
            <a:pPr algn="r" indent="0" marL="0">
              <a:buNone/>
            </a:pPr>
            <a:r>
              <a:rPr lang="en-US" sz="1800" b="1" dirty="0">
                <a:solidFill>
                  <a:srgbClr val="2A78D6"/>
                </a:solidFill>
                <a:latin typeface="Cambria" pitchFamily="34" charset="0"/>
                <a:ea typeface="Cambria" pitchFamily="34" charset="-122"/>
                <a:cs typeface="Cambria" pitchFamily="34" charset="-120"/>
              </a:rPr>
              <a:t>135.1</a:t>
            </a:r>
            <a:endParaRPr lang="en-US" sz="1800" dirty="0"/>
          </a:p>
        </p:txBody>
      </p:sp>
      <p:sp>
        <p:nvSpPr>
          <p:cNvPr id="18" name="Text 15"/>
          <p:cNvSpPr txBox="1"/>
          <p:nvPr/>
        </p:nvSpPr>
        <p:spPr>
          <a:xfrm>
            <a:off x="7818120" y="4352544"/>
            <a:ext cx="3822192" cy="182880"/>
          </a:xfrm>
          <a:prstGeom prst="rect">
            <a:avLst/>
          </a:prstGeom>
          <a:noFill/>
          <a:ln/>
        </p:spPr>
        <p:txBody>
          <a:bodyPr wrap="square" lIns="0" tIns="0" rIns="0" bIns="0" rtlCol="0" anchor="ctr"/>
          <a:lstStyle/>
          <a:p>
            <a:pPr indent="0" marL="0">
              <a:buNone/>
            </a:pPr>
            <a:r>
              <a:rPr lang="en-US" sz="800" dirty="0">
                <a:solidFill>
                  <a:srgbClr val="5C6570"/>
                </a:solidFill>
                <a:latin typeface="Calibri" pitchFamily="34" charset="0"/>
                <a:ea typeface="Calibri" pitchFamily="34" charset="-122"/>
                <a:cs typeface="Calibri" pitchFamily="34" charset="-120"/>
              </a:rPr>
              <a:t>mg/dL＝燃料供給</a:t>
            </a:r>
            <a:endParaRPr lang="en-US" sz="800" dirty="0"/>
          </a:p>
        </p:txBody>
      </p:sp>
      <p:sp>
        <p:nvSpPr>
          <p:cNvPr id="19" name="Text 16"/>
          <p:cNvSpPr txBox="1"/>
          <p:nvPr/>
        </p:nvSpPr>
        <p:spPr>
          <a:xfrm>
            <a:off x="7818120" y="4736592"/>
            <a:ext cx="3822192" cy="274320"/>
          </a:xfrm>
          <a:prstGeom prst="rect">
            <a:avLst/>
          </a:prstGeom>
          <a:noFill/>
          <a:ln/>
        </p:spPr>
        <p:txBody>
          <a:bodyPr wrap="square" lIns="0" tIns="0" rIns="0" bIns="0" rtlCol="0" anchor="ctr"/>
          <a:lstStyle/>
          <a:p>
            <a:pPr indent="0" marL="0">
              <a:buNone/>
            </a:pPr>
            <a:r>
              <a:rPr lang="en-US" sz="900" dirty="0">
                <a:solidFill>
                  <a:srgbClr val="5C6570"/>
                </a:solidFill>
                <a:latin typeface="Calibri" pitchFamily="34" charset="0"/>
                <a:ea typeface="Calibri" pitchFamily="34" charset="-122"/>
                <a:cs typeface="Calibri" pitchFamily="34" charset="-120"/>
              </a:rPr>
              <a:t>上＝スムージー／下＝固形</a:t>
            </a:r>
            <a:endParaRPr lang="en-US" sz="900" dirty="0"/>
          </a:p>
        </p:txBody>
      </p:sp>
      <p:sp>
        <p:nvSpPr>
          <p:cNvPr id="20" name="Shape 17"/>
          <p:cNvSpPr/>
          <p:nvPr/>
        </p:nvSpPr>
        <p:spPr>
          <a:xfrm>
            <a:off x="548640" y="5303520"/>
            <a:ext cx="11091672" cy="960120"/>
          </a:xfrm>
          <a:prstGeom prst="roundRect">
            <a:avLst>
              <a:gd name="adj" fmla="val 9524"/>
            </a:avLst>
          </a:prstGeom>
          <a:solidFill>
            <a:srgbClr val="F4F7F9"/>
          </a:solidFill>
          <a:ln/>
        </p:spPr>
      </p:sp>
      <p:sp>
        <p:nvSpPr>
          <p:cNvPr id="21" name="Text 18"/>
          <p:cNvSpPr txBox="1"/>
          <p:nvPr/>
        </p:nvSpPr>
        <p:spPr>
          <a:xfrm>
            <a:off x="777240" y="5394960"/>
            <a:ext cx="10634472" cy="77724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自覚コンディション・毎日のコンディション：頭痛・吐き気はどちらも全時点で最小値、満腹感・食欲もほぼ同水準。夜間コンディション（起床時・睡眠）にも大きな差はない（ただし練習時間がスムージー60分/日・固形140分/日と大きく異なり、RPE等は練習量の交絡を強く受ける）。</a:t>
            </a:r>
            <a:endParaRPr lang="en-US" sz="1100" dirty="0"/>
          </a:p>
        </p:txBody>
      </p:sp>
      <p:sp>
        <p:nvSpPr>
          <p:cNvPr id="22" name="Text 19"/>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5C6570"/>
                </a:solidFill>
                <a:latin typeface="Calibri" pitchFamily="34" charset="0"/>
                <a:ea typeface="Calibri" pitchFamily="34" charset="-122"/>
                <a:cs typeface="Calibri" pitchFamily="34" charset="-120"/>
              </a:rPr>
              <a:t>15分間隔・条件ごとの平均血糖値（各条件3日間平均）。</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Q1 – DISCUSSION</a:t>
            </a:r>
            <a:endParaRPr lang="en-US" sz="1250" dirty="0"/>
          </a:p>
        </p:txBody>
      </p:sp>
      <p:sp>
        <p:nvSpPr>
          <p:cNvPr id="3" name="Text 1"/>
          <p:cNvSpPr txBox="1"/>
          <p:nvPr/>
        </p:nvSpPr>
        <p:spPr>
          <a:xfrm>
            <a:off x="548640" y="676656"/>
            <a:ext cx="11091672" cy="59436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固形 vs スムージー：考察と結論</a:t>
            </a:r>
            <a:endParaRPr lang="en-US" sz="2600" dirty="0"/>
          </a:p>
        </p:txBody>
      </p:sp>
      <p:sp>
        <p:nvSpPr>
          <p:cNvPr id="4" name="Shape 2"/>
          <p:cNvSpPr/>
          <p:nvPr/>
        </p:nvSpPr>
        <p:spPr>
          <a:xfrm>
            <a:off x="548640" y="1298448"/>
            <a:ext cx="11091672" cy="384048"/>
          </a:xfrm>
          <a:prstGeom prst="roundRect">
            <a:avLst>
              <a:gd name="adj" fmla="val 19048"/>
            </a:avLst>
          </a:prstGeom>
          <a:solidFill>
            <a:srgbClr val="F4F7F9"/>
          </a:solidFill>
          <a:ln/>
        </p:spPr>
      </p:sp>
      <p:sp>
        <p:nvSpPr>
          <p:cNvPr id="5" name="Text 3"/>
          <p:cNvSpPr txBox="1"/>
          <p:nvPr/>
        </p:nvSpPr>
        <p:spPr>
          <a:xfrm>
            <a:off x="685800" y="1298448"/>
            <a:ext cx="548640" cy="384048"/>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Q1</a:t>
            </a:r>
            <a:endParaRPr lang="en-US" sz="1400" dirty="0"/>
          </a:p>
        </p:txBody>
      </p:sp>
      <p:sp>
        <p:nvSpPr>
          <p:cNvPr id="6" name="Text 4"/>
          <p:cNvSpPr txBox="1"/>
          <p:nvPr/>
        </p:nvSpPr>
        <p:spPr>
          <a:xfrm>
            <a:off x="1280160" y="1298448"/>
            <a:ext cx="10177272" cy="384048"/>
          </a:xfrm>
          <a:prstGeom prst="rect">
            <a:avLst/>
          </a:prstGeom>
          <a:noFill/>
          <a:ln/>
        </p:spPr>
        <p:txBody>
          <a:bodyPr wrap="square" lIns="0" tIns="0" rIns="0" bIns="0" rtlCol="0" anchor="ctr"/>
          <a:lstStyle/>
          <a:p>
            <a:pPr indent="0" marL="0">
              <a:buNone/>
            </a:pPr>
            <a:r>
              <a:rPr lang="en-US" sz="1300" dirty="0">
                <a:solidFill>
                  <a:srgbClr val="21295C"/>
                </a:solidFill>
                <a:latin typeface="Calibri" pitchFamily="34" charset="0"/>
                <a:ea typeface="Calibri" pitchFamily="34" charset="-122"/>
                <a:cs typeface="Calibri" pitchFamily="34" charset="-120"/>
              </a:rPr>
              <a:t>固形が良いのか、スムージーが良いのか？</a:t>
            </a:r>
            <a:endParaRPr lang="en-US" sz="1300" dirty="0"/>
          </a:p>
        </p:txBody>
      </p:sp>
      <p:sp>
        <p:nvSpPr>
          <p:cNvPr id="7" name="Shape 5"/>
          <p:cNvSpPr/>
          <p:nvPr/>
        </p:nvSpPr>
        <p:spPr>
          <a:xfrm>
            <a:off x="548640" y="1874520"/>
            <a:ext cx="11091672" cy="1051560"/>
          </a:xfrm>
          <a:prstGeom prst="roundRect">
            <a:avLst>
              <a:gd name="adj" fmla="val 10435"/>
            </a:avLst>
          </a:prstGeom>
          <a:solidFill>
            <a:srgbClr val="EAF7F0"/>
          </a:solidFill>
          <a:ln w="15875">
            <a:solidFill>
              <a:srgbClr val="EB6834"/>
            </a:solidFill>
            <a:prstDash val="solid"/>
          </a:ln>
        </p:spPr>
      </p:sp>
      <p:sp>
        <p:nvSpPr>
          <p:cNvPr id="8" name="Text 6"/>
          <p:cNvSpPr txBox="1"/>
          <p:nvPr/>
        </p:nvSpPr>
        <p:spPr>
          <a:xfrm>
            <a:off x="822960" y="1984248"/>
            <a:ext cx="18288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 答え</a:t>
            </a:r>
            <a:endParaRPr lang="en-US" sz="1200" dirty="0"/>
          </a:p>
        </p:txBody>
      </p:sp>
      <p:sp>
        <p:nvSpPr>
          <p:cNvPr id="9" name="Text 7"/>
          <p:cNvSpPr txBox="1"/>
          <p:nvPr/>
        </p:nvSpPr>
        <p:spPr>
          <a:xfrm>
            <a:off x="822960" y="2258568"/>
            <a:ext cx="10543032" cy="548640"/>
          </a:xfrm>
          <a:prstGeom prst="rect">
            <a:avLst/>
          </a:prstGeom>
          <a:noFill/>
          <a:ln/>
        </p:spPr>
        <p:txBody>
          <a:bodyPr wrap="square" lIns="0" tIns="0" rIns="0" bIns="0" rtlCol="0" anchor="ctr"/>
          <a:lstStyle/>
          <a:p>
            <a:pPr indent="0" marL="0">
              <a:buNone/>
            </a:pPr>
            <a:r>
              <a:rPr lang="en-US" sz="2000" b="1" dirty="0">
                <a:solidFill>
                  <a:srgbClr val="0F5C3D"/>
                </a:solidFill>
                <a:latin typeface="Cambria" pitchFamily="34" charset="0"/>
                <a:ea typeface="Cambria" pitchFamily="34" charset="-122"/>
                <a:cs typeface="Cambria" pitchFamily="34" charset="-120"/>
              </a:rPr>
              <a:t>スムージーの方が良い</a:t>
            </a:r>
            <a:endParaRPr lang="en-US" sz="2000" dirty="0"/>
          </a:p>
        </p:txBody>
      </p:sp>
      <p:sp>
        <p:nvSpPr>
          <p:cNvPr id="10" name="Shape 8"/>
          <p:cNvSpPr/>
          <p:nvPr/>
        </p:nvSpPr>
        <p:spPr>
          <a:xfrm>
            <a:off x="548640" y="3163824"/>
            <a:ext cx="109728" cy="109728"/>
          </a:xfrm>
          <a:prstGeom prst="oval">
            <a:avLst/>
          </a:prstGeom>
          <a:solidFill>
            <a:srgbClr val="EB6834"/>
          </a:solidFill>
          <a:ln/>
        </p:spPr>
      </p:sp>
      <p:sp>
        <p:nvSpPr>
          <p:cNvPr id="11" name="Text 9"/>
          <p:cNvSpPr txBox="1"/>
          <p:nvPr/>
        </p:nvSpPr>
        <p:spPr>
          <a:xfrm>
            <a:off x="841248" y="3108960"/>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練習中（11:00〜14:00）に使える血糖＝燃料がスムージーの方が圧倒的に多い（222 vs 135 mg/dL）</a:t>
            </a:r>
            <a:endParaRPr lang="en-US" sz="1300" dirty="0"/>
          </a:p>
        </p:txBody>
      </p:sp>
      <p:sp>
        <p:nvSpPr>
          <p:cNvPr id="12" name="Shape 10"/>
          <p:cNvSpPr/>
          <p:nvPr/>
        </p:nvSpPr>
        <p:spPr>
          <a:xfrm>
            <a:off x="548640" y="3730752"/>
            <a:ext cx="109728" cy="109728"/>
          </a:xfrm>
          <a:prstGeom prst="oval">
            <a:avLst/>
          </a:prstGeom>
          <a:solidFill>
            <a:srgbClr val="EB6834"/>
          </a:solidFill>
          <a:ln/>
        </p:spPr>
      </p:sp>
      <p:sp>
        <p:nvSpPr>
          <p:cNvPr id="13" name="Text 11"/>
          <p:cNvSpPr txBox="1"/>
          <p:nvPr/>
        </p:nvSpPr>
        <p:spPr>
          <a:xfrm>
            <a:off x="841248" y="3675888"/>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頭痛・吐き気などの不調は出ておらず、反応性低血糖（急降下）も起きていない</a:t>
            </a:r>
            <a:endParaRPr lang="en-US" sz="1300" dirty="0"/>
          </a:p>
        </p:txBody>
      </p:sp>
      <p:sp>
        <p:nvSpPr>
          <p:cNvPr id="14" name="Shape 12"/>
          <p:cNvSpPr/>
          <p:nvPr/>
        </p:nvSpPr>
        <p:spPr>
          <a:xfrm>
            <a:off x="548640" y="4297680"/>
            <a:ext cx="109728" cy="109728"/>
          </a:xfrm>
          <a:prstGeom prst="oval">
            <a:avLst/>
          </a:prstGeom>
          <a:solidFill>
            <a:srgbClr val="EB6834"/>
          </a:solidFill>
          <a:ln/>
        </p:spPr>
      </p:sp>
      <p:sp>
        <p:nvSpPr>
          <p:cNvPr id="15" name="Text 13"/>
          <p:cNvSpPr txBox="1"/>
          <p:nvPr/>
        </p:nvSpPr>
        <p:spPr>
          <a:xfrm>
            <a:off x="841248" y="4242816"/>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血糖の乱高下（CV・Δピーク）は固形の方が小さいが、実害（症状・クラッシュ）にはつながっていない</a:t>
            </a:r>
            <a:endParaRPr lang="en-US" sz="1300" dirty="0"/>
          </a:p>
        </p:txBody>
      </p:sp>
      <p:sp>
        <p:nvSpPr>
          <p:cNvPr id="16" name="Shape 14"/>
          <p:cNvSpPr/>
          <p:nvPr/>
        </p:nvSpPr>
        <p:spPr>
          <a:xfrm>
            <a:off x="548640" y="4864608"/>
            <a:ext cx="109728" cy="109728"/>
          </a:xfrm>
          <a:prstGeom prst="oval">
            <a:avLst/>
          </a:prstGeom>
          <a:solidFill>
            <a:srgbClr val="EB6834"/>
          </a:solidFill>
          <a:ln/>
        </p:spPr>
      </p:sp>
      <p:sp>
        <p:nvSpPr>
          <p:cNvPr id="17" name="Text 15"/>
          <p:cNvSpPr txBox="1"/>
          <p:nvPr/>
        </p:nvSpPr>
        <p:spPr>
          <a:xfrm>
            <a:off x="841248" y="4809744"/>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選手自身が語っていた「スムージー化で出力が上がった」という体感とも一致する</a:t>
            </a:r>
            <a:endParaRPr lang="en-US" sz="1300" dirty="0"/>
          </a:p>
        </p:txBody>
      </p:sp>
      <p:sp>
        <p:nvSpPr>
          <p:cNvPr id="18" name="Shape 16"/>
          <p:cNvSpPr/>
          <p:nvPr/>
        </p:nvSpPr>
        <p:spPr>
          <a:xfrm>
            <a:off x="548640" y="5623560"/>
            <a:ext cx="11091672" cy="868680"/>
          </a:xfrm>
          <a:prstGeom prst="roundRect">
            <a:avLst>
              <a:gd name="adj" fmla="val 10526"/>
            </a:avLst>
          </a:prstGeom>
          <a:solidFill>
            <a:srgbClr val="FDF3E2"/>
          </a:solidFill>
          <a:ln w="12700">
            <a:solidFill>
              <a:srgbClr val="EDA100"/>
            </a:solidFill>
            <a:prstDash val="solid"/>
          </a:ln>
        </p:spPr>
      </p:sp>
      <p:sp>
        <p:nvSpPr>
          <p:cNvPr id="19" name="Text 17"/>
          <p:cNvSpPr txBox="1"/>
          <p:nvPr/>
        </p:nvSpPr>
        <p:spPr>
          <a:xfrm>
            <a:off x="777240" y="5742432"/>
            <a:ext cx="10634472" cy="640080"/>
          </a:xfrm>
          <a:prstGeom prst="rect">
            <a:avLst/>
          </a:prstGeom>
          <a:noFill/>
          <a:ln/>
        </p:spPr>
        <p:txBody>
          <a:bodyPr wrap="square" lIns="0" tIns="0" rIns="0" bIns="0" rtlCol="0" anchor="ctr"/>
          <a:lstStyle/>
          <a:p>
            <a:pPr indent="0" marL="0">
              <a:buNone/>
            </a:pPr>
            <a:r>
              <a:rPr lang="en-US" sz="1250" b="1" dirty="0">
                <a:solidFill>
                  <a:srgbClr val="6B4B00"/>
                </a:solidFill>
                <a:latin typeface="Calibri" pitchFamily="34" charset="0"/>
                <a:ea typeface="Calibri" pitchFamily="34" charset="-122"/>
                <a:cs typeface="Calibri" pitchFamily="34" charset="-120"/>
              </a:rPr>
              <a:t>→ ただし最終的には「スムージー単体」よりも「おにぎりと同時に食べる」方がさらに良い結果でした（Q2で解説）。</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Q2 – RESULTS</a:t>
            </a:r>
            <a:endParaRPr lang="en-US" sz="1250" dirty="0"/>
          </a:p>
        </p:txBody>
      </p:sp>
      <p:sp>
        <p:nvSpPr>
          <p:cNvPr id="3" name="Text 1"/>
          <p:cNvSpPr txBox="1"/>
          <p:nvPr/>
        </p:nvSpPr>
        <p:spPr>
          <a:xfrm>
            <a:off x="548640" y="676656"/>
            <a:ext cx="11091672" cy="59436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食べるタイミング：結果</a:t>
            </a:r>
            <a:endParaRPr lang="en-US" sz="2600" dirty="0"/>
          </a:p>
        </p:txBody>
      </p:sp>
      <p:sp>
        <p:nvSpPr>
          <p:cNvPr id="4" name="Shape 2"/>
          <p:cNvSpPr/>
          <p:nvPr/>
        </p:nvSpPr>
        <p:spPr>
          <a:xfrm>
            <a:off x="548640" y="1298448"/>
            <a:ext cx="11091672" cy="384048"/>
          </a:xfrm>
          <a:prstGeom prst="roundRect">
            <a:avLst>
              <a:gd name="adj" fmla="val 19048"/>
            </a:avLst>
          </a:prstGeom>
          <a:solidFill>
            <a:srgbClr val="F4F7F9"/>
          </a:solidFill>
          <a:ln/>
        </p:spPr>
      </p:sp>
      <p:sp>
        <p:nvSpPr>
          <p:cNvPr id="5" name="Text 3"/>
          <p:cNvSpPr txBox="1"/>
          <p:nvPr/>
        </p:nvSpPr>
        <p:spPr>
          <a:xfrm>
            <a:off x="685800" y="1298448"/>
            <a:ext cx="548640" cy="384048"/>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Q2</a:t>
            </a:r>
            <a:endParaRPr lang="en-US" sz="1400" dirty="0"/>
          </a:p>
        </p:txBody>
      </p:sp>
      <p:sp>
        <p:nvSpPr>
          <p:cNvPr id="6" name="Text 4"/>
          <p:cNvSpPr txBox="1"/>
          <p:nvPr/>
        </p:nvSpPr>
        <p:spPr>
          <a:xfrm>
            <a:off x="1280160" y="1298448"/>
            <a:ext cx="10177272" cy="384048"/>
          </a:xfrm>
          <a:prstGeom prst="rect">
            <a:avLst/>
          </a:prstGeom>
          <a:noFill/>
          <a:ln/>
        </p:spPr>
        <p:txBody>
          <a:bodyPr wrap="square" lIns="0" tIns="0" rIns="0" bIns="0" rtlCol="0" anchor="ctr"/>
          <a:lstStyle/>
          <a:p>
            <a:pPr indent="0" marL="0">
              <a:buNone/>
            </a:pPr>
            <a:r>
              <a:rPr lang="en-US" sz="1300" dirty="0">
                <a:solidFill>
                  <a:srgbClr val="21295C"/>
                </a:solidFill>
                <a:latin typeface="Calibri" pitchFamily="34" charset="0"/>
                <a:ea typeface="Calibri" pitchFamily="34" charset="-122"/>
                <a:cs typeface="Calibri" pitchFamily="34" charset="-120"/>
              </a:rPr>
              <a:t>スムージーとおにぎりを食べるタイミングはいつが良いのか？</a:t>
            </a:r>
            <a:endParaRPr lang="en-US" sz="1300" dirty="0"/>
          </a:p>
        </p:txBody>
      </p:sp>
      <p:sp>
        <p:nvSpPr>
          <p:cNvPr id="7" name="Text 5"/>
          <p:cNvSpPr txBox="1"/>
          <p:nvPr/>
        </p:nvSpPr>
        <p:spPr>
          <a:xfrm>
            <a:off x="548640" y="1828800"/>
            <a:ext cx="11091672" cy="45720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4条件とも14:00までの総エネルギーはほぼ同じ。自由摂取が始まる12:00より前（8:00〜11:30）に絞り、「同時に食べる」か「2.5〜3時間ずらして食べる」かを比較。</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091672" cy="1828800"/>
        </p:xfrm>
        <a:graphic>
          <a:graphicData uri="http://schemas.openxmlformats.org/drawingml/2006/table">
            <a:tbl>
              <a:tblPr/>
              <a:tblGrid>
                <a:gridCol w="2103120"/>
                <a:gridCol w="2834640"/>
                <a:gridCol w="2194560"/>
                <a:gridCol w="1490472"/>
                <a:gridCol w="173736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条件</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タイミング</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平均血糖(8:00-11:30)</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CV</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Δピーク</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r>
              <a:tr h="365760">
                <a:tc>
                  <a:txBody>
                    <a:bodyPr/>
                    <a:lstStyle/>
                    <a:p>
                      <a:pPr indent="0" marL="0">
                        <a:buNone/>
                      </a:pPr>
                      <a:r>
                        <a:rPr lang="en-US" sz="1200" b="1" dirty="0">
                          <a:solidFill>
                            <a:srgbClr val="21295C"/>
                          </a:solidFill>
                          <a:latin typeface="Calibri" pitchFamily="34" charset="0"/>
                          <a:ea typeface="Calibri" pitchFamily="34" charset="-122"/>
                          <a:cs typeface="Calibri" pitchFamily="34" charset="-120"/>
                        </a:rPr>
                        <a:t>固形</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分割（おにぎりは2.5〜3h後）</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119.9</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53.7</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21295C"/>
                          </a:solidFill>
                          <a:latin typeface="Calibri" pitchFamily="34" charset="0"/>
                          <a:ea typeface="Calibri" pitchFamily="34" charset="-122"/>
                          <a:cs typeface="Calibri" pitchFamily="34" charset="-120"/>
                        </a:rPr>
                        <a:t>スムージー</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分割（おにぎりは2.5〜3h後）</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187.0</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80.3</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r h="365760">
                <a:tc>
                  <a:txBody>
                    <a:bodyPr/>
                    <a:lstStyle/>
                    <a:p>
                      <a:pPr indent="0" marL="0">
                        <a:buNone/>
                      </a:pPr>
                      <a:r>
                        <a:rPr lang="en-US" sz="1200" b="1" dirty="0">
                          <a:solidFill>
                            <a:srgbClr val="21295C"/>
                          </a:solidFill>
                          <a:latin typeface="Calibri" pitchFamily="34" charset="0"/>
                          <a:ea typeface="Calibri" pitchFamily="34" charset="-122"/>
                          <a:cs typeface="Calibri" pitchFamily="34" charset="-120"/>
                        </a:rPr>
                        <a:t>おにぎり＋スムージー</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同時（8:00に一緒に）</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199.8</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10.1%</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70.7</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21295C"/>
                          </a:solidFill>
                          <a:latin typeface="Calibri" pitchFamily="34" charset="0"/>
                          <a:ea typeface="Calibri" pitchFamily="34" charset="-122"/>
                          <a:cs typeface="Calibri" pitchFamily="34" charset="-120"/>
                        </a:rPr>
                        <a:t>おにぎり＋糖質減</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同時（8:00に一緒に）</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194.9</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52.3</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bl>
          </a:graphicData>
        </a:graphic>
      </p:graphicFrame>
      <p:sp>
        <p:nvSpPr>
          <p:cNvPr id="9" name="Shape 6"/>
          <p:cNvSpPr/>
          <p:nvPr/>
        </p:nvSpPr>
        <p:spPr>
          <a:xfrm>
            <a:off x="548640" y="4480560"/>
            <a:ext cx="11091672" cy="1783080"/>
          </a:xfrm>
          <a:prstGeom prst="roundRect">
            <a:avLst>
              <a:gd name="adj" fmla="val 5128"/>
            </a:avLst>
          </a:prstGeom>
          <a:solidFill>
            <a:srgbClr val="F4F7F9"/>
          </a:solidFill>
          <a:ln/>
        </p:spPr>
      </p:sp>
      <p:sp>
        <p:nvSpPr>
          <p:cNvPr id="10" name="Text 7"/>
          <p:cNvSpPr txBox="1"/>
          <p:nvPr/>
        </p:nvSpPr>
        <p:spPr>
          <a:xfrm>
            <a:off x="777240" y="4590288"/>
            <a:ext cx="10634472" cy="160020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同時摂取にすると、平均血糖はわずかに上がる（187→200、+13程度）ものの、Δピーク・CVはどちらも明確に小さくなる。副食とおにぎりを2.5〜3時間ずらして食べると、それぞれが独立した急峻な山を作るのに対し、同時に食べるとおにぎり（ゆっくり吸収されるデンプン）が副食の急な糖吸収を緩衝し、1つのなだらかな波にまとまると解釈できる。糖質減はこの「なだらかさ」に加えてΔピークも固形並み（52.3 vs 53.7）まで抑えられている。</a:t>
            </a:r>
            <a:endParaRPr lang="en-US" sz="1200" dirty="0"/>
          </a:p>
        </p:txBody>
      </p:sp>
      <p:sp>
        <p:nvSpPr>
          <p:cNvPr id="11" name="Text 8"/>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5C6570"/>
                </a:solidFill>
                <a:latin typeface="Calibri" pitchFamily="34" charset="0"/>
                <a:ea typeface="Calibri" pitchFamily="34" charset="-122"/>
                <a:cs typeface="Calibri" pitchFamily="34" charset="-120"/>
              </a:rPr>
              <a:t>自覚コンディション：満腹感は同時摂取の方が高いが、頭痛・吐き気には差がない。</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Q2 – DISCUSSION</a:t>
            </a:r>
            <a:endParaRPr lang="en-US" sz="1250" dirty="0"/>
          </a:p>
        </p:txBody>
      </p:sp>
      <p:sp>
        <p:nvSpPr>
          <p:cNvPr id="3" name="Text 1"/>
          <p:cNvSpPr txBox="1"/>
          <p:nvPr/>
        </p:nvSpPr>
        <p:spPr>
          <a:xfrm>
            <a:off x="548640" y="676656"/>
            <a:ext cx="11091672" cy="59436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食べるタイミング：考察と結論</a:t>
            </a:r>
            <a:endParaRPr lang="en-US" sz="2600" dirty="0"/>
          </a:p>
        </p:txBody>
      </p:sp>
      <p:sp>
        <p:nvSpPr>
          <p:cNvPr id="4" name="Shape 2"/>
          <p:cNvSpPr/>
          <p:nvPr/>
        </p:nvSpPr>
        <p:spPr>
          <a:xfrm>
            <a:off x="548640" y="1298448"/>
            <a:ext cx="11091672" cy="384048"/>
          </a:xfrm>
          <a:prstGeom prst="roundRect">
            <a:avLst>
              <a:gd name="adj" fmla="val 19048"/>
            </a:avLst>
          </a:prstGeom>
          <a:solidFill>
            <a:srgbClr val="F4F7F9"/>
          </a:solidFill>
          <a:ln/>
        </p:spPr>
      </p:sp>
      <p:sp>
        <p:nvSpPr>
          <p:cNvPr id="5" name="Text 3"/>
          <p:cNvSpPr txBox="1"/>
          <p:nvPr/>
        </p:nvSpPr>
        <p:spPr>
          <a:xfrm>
            <a:off x="685800" y="1298448"/>
            <a:ext cx="548640" cy="384048"/>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Q2</a:t>
            </a:r>
            <a:endParaRPr lang="en-US" sz="1400" dirty="0"/>
          </a:p>
        </p:txBody>
      </p:sp>
      <p:sp>
        <p:nvSpPr>
          <p:cNvPr id="6" name="Text 4"/>
          <p:cNvSpPr txBox="1"/>
          <p:nvPr/>
        </p:nvSpPr>
        <p:spPr>
          <a:xfrm>
            <a:off x="1280160" y="1298448"/>
            <a:ext cx="10177272" cy="384048"/>
          </a:xfrm>
          <a:prstGeom prst="rect">
            <a:avLst/>
          </a:prstGeom>
          <a:noFill/>
          <a:ln/>
        </p:spPr>
        <p:txBody>
          <a:bodyPr wrap="square" lIns="0" tIns="0" rIns="0" bIns="0" rtlCol="0" anchor="ctr"/>
          <a:lstStyle/>
          <a:p>
            <a:pPr indent="0" marL="0">
              <a:buNone/>
            </a:pPr>
            <a:r>
              <a:rPr lang="en-US" sz="1300" dirty="0">
                <a:solidFill>
                  <a:srgbClr val="21295C"/>
                </a:solidFill>
                <a:latin typeface="Calibri" pitchFamily="34" charset="0"/>
                <a:ea typeface="Calibri" pitchFamily="34" charset="-122"/>
                <a:cs typeface="Calibri" pitchFamily="34" charset="-120"/>
              </a:rPr>
              <a:t>スムージーとおにぎりを食べるタイミングはいつが良いのか？</a:t>
            </a:r>
            <a:endParaRPr lang="en-US" sz="1300" dirty="0"/>
          </a:p>
        </p:txBody>
      </p:sp>
      <p:sp>
        <p:nvSpPr>
          <p:cNvPr id="7" name="Shape 5"/>
          <p:cNvSpPr/>
          <p:nvPr/>
        </p:nvSpPr>
        <p:spPr>
          <a:xfrm>
            <a:off x="548640" y="1874520"/>
            <a:ext cx="11091672" cy="1051560"/>
          </a:xfrm>
          <a:prstGeom prst="roundRect">
            <a:avLst>
              <a:gd name="adj" fmla="val 10435"/>
            </a:avLst>
          </a:prstGeom>
          <a:solidFill>
            <a:srgbClr val="EAF7F0"/>
          </a:solidFill>
          <a:ln w="15875">
            <a:solidFill>
              <a:srgbClr val="1BAF7A"/>
            </a:solidFill>
            <a:prstDash val="solid"/>
          </a:ln>
        </p:spPr>
      </p:sp>
      <p:sp>
        <p:nvSpPr>
          <p:cNvPr id="8" name="Text 6"/>
          <p:cNvSpPr txBox="1"/>
          <p:nvPr/>
        </p:nvSpPr>
        <p:spPr>
          <a:xfrm>
            <a:off x="822960" y="1984248"/>
            <a:ext cx="18288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 答え</a:t>
            </a:r>
            <a:endParaRPr lang="en-US" sz="1200" dirty="0"/>
          </a:p>
        </p:txBody>
      </p:sp>
      <p:sp>
        <p:nvSpPr>
          <p:cNvPr id="9" name="Text 7"/>
          <p:cNvSpPr txBox="1"/>
          <p:nvPr/>
        </p:nvSpPr>
        <p:spPr>
          <a:xfrm>
            <a:off x="822960" y="2258568"/>
            <a:ext cx="10543032" cy="548640"/>
          </a:xfrm>
          <a:prstGeom prst="rect">
            <a:avLst/>
          </a:prstGeom>
          <a:noFill/>
          <a:ln/>
        </p:spPr>
        <p:txBody>
          <a:bodyPr wrap="square" lIns="0" tIns="0" rIns="0" bIns="0" rtlCol="0" anchor="ctr"/>
          <a:lstStyle/>
          <a:p>
            <a:pPr indent="0" marL="0">
              <a:buNone/>
            </a:pPr>
            <a:r>
              <a:rPr lang="en-US" sz="2000" b="1" dirty="0">
                <a:solidFill>
                  <a:srgbClr val="0F5C3D"/>
                </a:solidFill>
                <a:latin typeface="Cambria" pitchFamily="34" charset="0"/>
                <a:ea typeface="Cambria" pitchFamily="34" charset="-122"/>
                <a:cs typeface="Cambria" pitchFamily="34" charset="-120"/>
              </a:rPr>
              <a:t>8:00に「同時に」食べるのが良い</a:t>
            </a:r>
            <a:endParaRPr lang="en-US" sz="2000" dirty="0"/>
          </a:p>
        </p:txBody>
      </p:sp>
      <p:sp>
        <p:nvSpPr>
          <p:cNvPr id="10" name="Shape 8"/>
          <p:cNvSpPr/>
          <p:nvPr/>
        </p:nvSpPr>
        <p:spPr>
          <a:xfrm>
            <a:off x="548640" y="3163824"/>
            <a:ext cx="109728" cy="109728"/>
          </a:xfrm>
          <a:prstGeom prst="oval">
            <a:avLst/>
          </a:prstGeom>
          <a:solidFill>
            <a:srgbClr val="1BAF7A"/>
          </a:solidFill>
          <a:ln/>
        </p:spPr>
      </p:sp>
      <p:sp>
        <p:nvSpPr>
          <p:cNvPr id="11" name="Text 9"/>
          <p:cNvSpPr txBox="1"/>
          <p:nvPr/>
        </p:nvSpPr>
        <p:spPr>
          <a:xfrm>
            <a:off x="841248" y="3108960"/>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同時摂取は、練習中の燃料供給をスムージー単独と同水準（220 vs 222 mg/dL）に保ったまま、血糖の乱高下（CV・Δピーク）を明確に小さくする</a:t>
            </a:r>
            <a:endParaRPr lang="en-US" sz="1300" dirty="0"/>
          </a:p>
        </p:txBody>
      </p:sp>
      <p:sp>
        <p:nvSpPr>
          <p:cNvPr id="12" name="Shape 10"/>
          <p:cNvSpPr/>
          <p:nvPr/>
        </p:nvSpPr>
        <p:spPr>
          <a:xfrm>
            <a:off x="548640" y="3730752"/>
            <a:ext cx="109728" cy="109728"/>
          </a:xfrm>
          <a:prstGeom prst="oval">
            <a:avLst/>
          </a:prstGeom>
          <a:solidFill>
            <a:srgbClr val="1BAF7A"/>
          </a:solidFill>
          <a:ln/>
        </p:spPr>
      </p:sp>
      <p:sp>
        <p:nvSpPr>
          <p:cNvPr id="13" name="Text 11"/>
          <p:cNvSpPr txBox="1"/>
          <p:nvPr/>
        </p:nvSpPr>
        <p:spPr>
          <a:xfrm>
            <a:off x="841248" y="3675888"/>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おにぎり（ゆっくり吸収されるデンプン）が副食の急な糖吸収を緩衝し、波形がなだらかになると解釈できる</a:t>
            </a:r>
            <a:endParaRPr lang="en-US" sz="1300" dirty="0"/>
          </a:p>
        </p:txBody>
      </p:sp>
      <p:sp>
        <p:nvSpPr>
          <p:cNvPr id="14" name="Shape 12"/>
          <p:cNvSpPr/>
          <p:nvPr/>
        </p:nvSpPr>
        <p:spPr>
          <a:xfrm>
            <a:off x="548640" y="4297680"/>
            <a:ext cx="109728" cy="109728"/>
          </a:xfrm>
          <a:prstGeom prst="oval">
            <a:avLst/>
          </a:prstGeom>
          <a:solidFill>
            <a:srgbClr val="1BAF7A"/>
          </a:solidFill>
          <a:ln/>
        </p:spPr>
      </p:sp>
      <p:sp>
        <p:nvSpPr>
          <p:cNvPr id="15" name="Text 13"/>
          <p:cNvSpPr txBox="1"/>
          <p:nvPr/>
        </p:nvSpPr>
        <p:spPr>
          <a:xfrm>
            <a:off x="841248" y="4242816"/>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満腹感は上がるが、頭痛・吐き気などの消化器症状は軽微で、実害は見られない</a:t>
            </a:r>
            <a:endParaRPr lang="en-US" sz="1300" dirty="0"/>
          </a:p>
        </p:txBody>
      </p:sp>
      <p:sp>
        <p:nvSpPr>
          <p:cNvPr id="16" name="Shape 14"/>
          <p:cNvSpPr/>
          <p:nvPr/>
        </p:nvSpPr>
        <p:spPr>
          <a:xfrm>
            <a:off x="548640" y="4864608"/>
            <a:ext cx="109728" cy="109728"/>
          </a:xfrm>
          <a:prstGeom prst="oval">
            <a:avLst/>
          </a:prstGeom>
          <a:solidFill>
            <a:srgbClr val="1BAF7A"/>
          </a:solidFill>
          <a:ln/>
        </p:spPr>
      </p:sp>
      <p:sp>
        <p:nvSpPr>
          <p:cNvPr id="17" name="Text 15"/>
          <p:cNvSpPr txBox="1"/>
          <p:nvPr/>
        </p:nvSpPr>
        <p:spPr>
          <a:xfrm>
            <a:off x="841248" y="4809744"/>
            <a:ext cx="10799064" cy="4572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夜間コンディション（起床時・睡眠）もスムージー単独よりわずかに良好な傾向</a:t>
            </a:r>
            <a:endParaRPr lang="en-US" sz="1300" dirty="0"/>
          </a:p>
        </p:txBody>
      </p:sp>
      <p:sp>
        <p:nvSpPr>
          <p:cNvPr id="18" name="Shape 16"/>
          <p:cNvSpPr/>
          <p:nvPr/>
        </p:nvSpPr>
        <p:spPr>
          <a:xfrm>
            <a:off x="548640" y="5623560"/>
            <a:ext cx="11091672" cy="868680"/>
          </a:xfrm>
          <a:prstGeom prst="roundRect">
            <a:avLst>
              <a:gd name="adj" fmla="val 10526"/>
            </a:avLst>
          </a:prstGeom>
          <a:solidFill>
            <a:srgbClr val="FDF3E2"/>
          </a:solidFill>
          <a:ln w="12700">
            <a:solidFill>
              <a:srgbClr val="EDA100"/>
            </a:solidFill>
            <a:prstDash val="solid"/>
          </a:ln>
        </p:spPr>
      </p:sp>
      <p:sp>
        <p:nvSpPr>
          <p:cNvPr id="19" name="Text 17"/>
          <p:cNvSpPr txBox="1"/>
          <p:nvPr/>
        </p:nvSpPr>
        <p:spPr>
          <a:xfrm>
            <a:off x="777240" y="5742432"/>
            <a:ext cx="10634472" cy="640080"/>
          </a:xfrm>
          <a:prstGeom prst="rect">
            <a:avLst/>
          </a:prstGeom>
          <a:noFill/>
          <a:ln/>
        </p:spPr>
        <p:txBody>
          <a:bodyPr wrap="square" lIns="0" tIns="0" rIns="0" bIns="0" rtlCol="0" anchor="ctr"/>
          <a:lstStyle/>
          <a:p>
            <a:pPr indent="0" marL="0">
              <a:buNone/>
            </a:pPr>
            <a:r>
              <a:rPr lang="en-US" sz="1250" b="1" dirty="0">
                <a:solidFill>
                  <a:srgbClr val="6B4B00"/>
                </a:solidFill>
                <a:latin typeface="Calibri" pitchFamily="34" charset="0"/>
                <a:ea typeface="Calibri" pitchFamily="34" charset="-122"/>
                <a:cs typeface="Calibri" pitchFamily="34" charset="-120"/>
              </a:rPr>
              <a:t>→ 「おにぎりを崩さず、副食だけをスムージー化して同時に食べる」という部分的液状化のアイデアは、血糖の観点から明確に支持される。</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Q3 – RESULTS</a:t>
            </a:r>
            <a:endParaRPr lang="en-US" sz="1250" dirty="0"/>
          </a:p>
        </p:txBody>
      </p:sp>
      <p:sp>
        <p:nvSpPr>
          <p:cNvPr id="3" name="Text 1"/>
          <p:cNvSpPr txBox="1"/>
          <p:nvPr/>
        </p:nvSpPr>
        <p:spPr>
          <a:xfrm>
            <a:off x="548640" y="676656"/>
            <a:ext cx="11091672" cy="59436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朝ごはんの糖質量：結果</a:t>
            </a:r>
            <a:endParaRPr lang="en-US" sz="2600" dirty="0"/>
          </a:p>
        </p:txBody>
      </p:sp>
      <p:sp>
        <p:nvSpPr>
          <p:cNvPr id="4" name="Shape 2"/>
          <p:cNvSpPr/>
          <p:nvPr/>
        </p:nvSpPr>
        <p:spPr>
          <a:xfrm>
            <a:off x="548640" y="1298448"/>
            <a:ext cx="11091672" cy="384048"/>
          </a:xfrm>
          <a:prstGeom prst="roundRect">
            <a:avLst>
              <a:gd name="adj" fmla="val 19048"/>
            </a:avLst>
          </a:prstGeom>
          <a:solidFill>
            <a:srgbClr val="F4F7F9"/>
          </a:solidFill>
          <a:ln/>
        </p:spPr>
      </p:sp>
      <p:sp>
        <p:nvSpPr>
          <p:cNvPr id="5" name="Text 3"/>
          <p:cNvSpPr txBox="1"/>
          <p:nvPr/>
        </p:nvSpPr>
        <p:spPr>
          <a:xfrm>
            <a:off x="685800" y="1298448"/>
            <a:ext cx="548640" cy="384048"/>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Q3</a:t>
            </a:r>
            <a:endParaRPr lang="en-US" sz="1400" dirty="0"/>
          </a:p>
        </p:txBody>
      </p:sp>
      <p:sp>
        <p:nvSpPr>
          <p:cNvPr id="6" name="Text 4"/>
          <p:cNvSpPr txBox="1"/>
          <p:nvPr/>
        </p:nvSpPr>
        <p:spPr>
          <a:xfrm>
            <a:off x="1280160" y="1298448"/>
            <a:ext cx="10177272" cy="384048"/>
          </a:xfrm>
          <a:prstGeom prst="rect">
            <a:avLst/>
          </a:prstGeom>
          <a:noFill/>
          <a:ln/>
        </p:spPr>
        <p:txBody>
          <a:bodyPr wrap="square" lIns="0" tIns="0" rIns="0" bIns="0" rtlCol="0" anchor="ctr"/>
          <a:lstStyle/>
          <a:p>
            <a:pPr indent="0" marL="0">
              <a:buNone/>
            </a:pPr>
            <a:r>
              <a:rPr lang="en-US" sz="1300" dirty="0">
                <a:solidFill>
                  <a:srgbClr val="21295C"/>
                </a:solidFill>
                <a:latin typeface="Calibri" pitchFamily="34" charset="0"/>
                <a:ea typeface="Calibri" pitchFamily="34" charset="-122"/>
                <a:cs typeface="Calibri" pitchFamily="34" charset="-120"/>
              </a:rPr>
              <a:t>朝ごはんの糖質（C）は少し減らした方が良いのか？</a:t>
            </a:r>
            <a:endParaRPr lang="en-US" sz="1300" dirty="0"/>
          </a:p>
        </p:txBody>
      </p:sp>
      <p:sp>
        <p:nvSpPr>
          <p:cNvPr id="7" name="Text 5"/>
          <p:cNvSpPr txBox="1"/>
          <p:nvPr/>
        </p:nvSpPr>
        <p:spPr>
          <a:xfrm>
            <a:off x="548640" y="1783080"/>
            <a:ext cx="11091672" cy="36576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同時摂取プロトコルの中で、副食の糖質を通常量にした条件（おにぎり＋スムージー）と、少し減らした条件（おにぎり＋糖質減）を比較。</a:t>
            </a:r>
            <a:endParaRPr lang="en-US" sz="1200" dirty="0"/>
          </a:p>
        </p:txBody>
      </p:sp>
      <p:sp>
        <p:nvSpPr>
          <p:cNvPr id="8" name="Text 6"/>
          <p:cNvSpPr txBox="1"/>
          <p:nvPr/>
        </p:nvSpPr>
        <p:spPr>
          <a:xfrm>
            <a:off x="548640" y="2240280"/>
            <a:ext cx="2743200" cy="274320"/>
          </a:xfrm>
          <a:prstGeom prst="rect">
            <a:avLst/>
          </a:prstGeom>
          <a:noFill/>
          <a:ln/>
        </p:spPr>
        <p:txBody>
          <a:bodyPr wrap="square" lIns="0" tIns="0" rIns="0" bIns="0" rtlCol="0" anchor="ctr"/>
          <a:lstStyle/>
          <a:p>
            <a:pPr indent="0" marL="0">
              <a:buNone/>
            </a:pPr>
            <a:r>
              <a:rPr lang="en-US" sz="1300" b="1" dirty="0">
                <a:solidFill>
                  <a:srgbClr val="065A82"/>
                </a:solidFill>
                <a:latin typeface="Calibri" pitchFamily="34" charset="0"/>
                <a:ea typeface="Calibri" pitchFamily="34" charset="-122"/>
                <a:cs typeface="Calibri" pitchFamily="34" charset="-120"/>
              </a:rPr>
              <a:t>血糖値</a:t>
            </a:r>
            <a:endParaRPr lang="en-US" sz="1300" dirty="0"/>
          </a:p>
        </p:txBody>
      </p:sp>
      <p:sp>
        <p:nvSpPr>
          <p:cNvPr id="9" name="Shape 7"/>
          <p:cNvSpPr/>
          <p:nvPr/>
        </p:nvSpPr>
        <p:spPr>
          <a:xfrm>
            <a:off x="548640" y="2542032"/>
            <a:ext cx="3514344" cy="868680"/>
          </a:xfrm>
          <a:prstGeom prst="roundRect">
            <a:avLst>
              <a:gd name="adj" fmla="val 8421"/>
            </a:avLst>
          </a:prstGeom>
          <a:solidFill>
            <a:srgbClr val="F4F7F9"/>
          </a:solidFill>
          <a:ln/>
        </p:spPr>
      </p:sp>
      <p:sp>
        <p:nvSpPr>
          <p:cNvPr id="10" name="Text 8"/>
          <p:cNvSpPr txBox="1"/>
          <p:nvPr/>
        </p:nvSpPr>
        <p:spPr>
          <a:xfrm>
            <a:off x="685800" y="2596896"/>
            <a:ext cx="3240024" cy="237744"/>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iAUC 2h (mg/dL・分)</a:t>
            </a:r>
            <a:endParaRPr lang="en-US" sz="1050" dirty="0"/>
          </a:p>
        </p:txBody>
      </p:sp>
      <p:sp>
        <p:nvSpPr>
          <p:cNvPr id="11" name="Text 9"/>
          <p:cNvSpPr txBox="1"/>
          <p:nvPr/>
        </p:nvSpPr>
        <p:spPr>
          <a:xfrm>
            <a:off x="685800" y="2834640"/>
            <a:ext cx="1620012" cy="36576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5,230</a:t>
            </a:r>
            <a:endParaRPr lang="en-US" sz="1700" dirty="0"/>
          </a:p>
        </p:txBody>
      </p:sp>
      <p:sp>
        <p:nvSpPr>
          <p:cNvPr id="12" name="Text 10"/>
          <p:cNvSpPr txBox="1"/>
          <p:nvPr/>
        </p:nvSpPr>
        <p:spPr>
          <a:xfrm>
            <a:off x="2305812" y="2834640"/>
            <a:ext cx="1620012" cy="365760"/>
          </a:xfrm>
          <a:prstGeom prst="rect">
            <a:avLst/>
          </a:prstGeom>
          <a:noFill/>
          <a:ln/>
        </p:spPr>
        <p:txBody>
          <a:bodyPr wrap="square" lIns="0" tIns="0" rIns="0" bIns="0" rtlCol="0" anchor="ctr"/>
          <a:lstStyle/>
          <a:p>
            <a:pPr algn="r" indent="0" marL="0">
              <a:buNone/>
            </a:pPr>
            <a:r>
              <a:rPr lang="en-US" sz="1700" b="1" dirty="0">
                <a:solidFill>
                  <a:srgbClr val="EDA100"/>
                </a:solidFill>
                <a:latin typeface="Cambria" pitchFamily="34" charset="0"/>
                <a:ea typeface="Cambria" pitchFamily="34" charset="-122"/>
                <a:cs typeface="Cambria" pitchFamily="34" charset="-120"/>
              </a:rPr>
              <a:t>3,168</a:t>
            </a:r>
            <a:endParaRPr lang="en-US" sz="1700" dirty="0"/>
          </a:p>
        </p:txBody>
      </p:sp>
      <p:sp>
        <p:nvSpPr>
          <p:cNvPr id="13" name="Text 11"/>
          <p:cNvSpPr txBox="1"/>
          <p:nvPr/>
        </p:nvSpPr>
        <p:spPr>
          <a:xfrm>
            <a:off x="685800" y="3200400"/>
            <a:ext cx="3240024" cy="182880"/>
          </a:xfrm>
          <a:prstGeom prst="rect">
            <a:avLst/>
          </a:prstGeom>
          <a:noFill/>
          <a:ln/>
        </p:spPr>
        <p:txBody>
          <a:bodyPr wrap="square" lIns="0" tIns="0" rIns="0" bIns="0" rtlCol="0" anchor="ctr"/>
          <a:lstStyle/>
          <a:p>
            <a:pPr indent="0" marL="0">
              <a:buNone/>
            </a:pPr>
            <a:r>
              <a:rPr lang="en-US" sz="800" dirty="0">
                <a:solidFill>
                  <a:srgbClr val="5C6570"/>
                </a:solidFill>
                <a:latin typeface="Calibri" pitchFamily="34" charset="0"/>
                <a:ea typeface="Calibri" pitchFamily="34" charset="-122"/>
                <a:cs typeface="Calibri" pitchFamily="34" charset="-120"/>
              </a:rPr>
              <a:t>糖質減で約39%減</a:t>
            </a:r>
            <a:endParaRPr lang="en-US" sz="800" dirty="0"/>
          </a:p>
        </p:txBody>
      </p:sp>
      <p:sp>
        <p:nvSpPr>
          <p:cNvPr id="14" name="Shape 12"/>
          <p:cNvSpPr/>
          <p:nvPr/>
        </p:nvSpPr>
        <p:spPr>
          <a:xfrm>
            <a:off x="4337304" y="2542032"/>
            <a:ext cx="3514344" cy="868680"/>
          </a:xfrm>
          <a:prstGeom prst="roundRect">
            <a:avLst>
              <a:gd name="adj" fmla="val 8421"/>
            </a:avLst>
          </a:prstGeom>
          <a:solidFill>
            <a:srgbClr val="F4F7F9"/>
          </a:solidFill>
          <a:ln/>
        </p:spPr>
      </p:sp>
      <p:sp>
        <p:nvSpPr>
          <p:cNvPr id="15" name="Text 13"/>
          <p:cNvSpPr txBox="1"/>
          <p:nvPr/>
        </p:nvSpPr>
        <p:spPr>
          <a:xfrm>
            <a:off x="4474464" y="2596896"/>
            <a:ext cx="3240024" cy="237744"/>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CV (8:00-11:30)</a:t>
            </a:r>
            <a:endParaRPr lang="en-US" sz="1050" dirty="0"/>
          </a:p>
        </p:txBody>
      </p:sp>
      <p:sp>
        <p:nvSpPr>
          <p:cNvPr id="16" name="Text 14"/>
          <p:cNvSpPr txBox="1"/>
          <p:nvPr/>
        </p:nvSpPr>
        <p:spPr>
          <a:xfrm>
            <a:off x="4474464" y="2834640"/>
            <a:ext cx="1620012" cy="36576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10.1%</a:t>
            </a:r>
            <a:endParaRPr lang="en-US" sz="1700" dirty="0"/>
          </a:p>
        </p:txBody>
      </p:sp>
      <p:sp>
        <p:nvSpPr>
          <p:cNvPr id="17" name="Text 15"/>
          <p:cNvSpPr txBox="1"/>
          <p:nvPr/>
        </p:nvSpPr>
        <p:spPr>
          <a:xfrm>
            <a:off x="6094476" y="2834640"/>
            <a:ext cx="1620012" cy="365760"/>
          </a:xfrm>
          <a:prstGeom prst="rect">
            <a:avLst/>
          </a:prstGeom>
          <a:noFill/>
          <a:ln/>
        </p:spPr>
        <p:txBody>
          <a:bodyPr wrap="square" lIns="0" tIns="0" rIns="0" bIns="0" rtlCol="0" anchor="ctr"/>
          <a:lstStyle/>
          <a:p>
            <a:pPr algn="r" indent="0" marL="0">
              <a:buNone/>
            </a:pPr>
            <a:r>
              <a:rPr lang="en-US" sz="1700" b="1" dirty="0">
                <a:solidFill>
                  <a:srgbClr val="EDA100"/>
                </a:solidFill>
                <a:latin typeface="Cambria" pitchFamily="34" charset="0"/>
                <a:ea typeface="Cambria" pitchFamily="34" charset="-122"/>
                <a:cs typeface="Cambria" pitchFamily="34" charset="-120"/>
              </a:rPr>
              <a:t>8.5%</a:t>
            </a:r>
            <a:endParaRPr lang="en-US" sz="1700" dirty="0"/>
          </a:p>
        </p:txBody>
      </p:sp>
      <p:sp>
        <p:nvSpPr>
          <p:cNvPr id="18" name="Shape 16"/>
          <p:cNvSpPr/>
          <p:nvPr/>
        </p:nvSpPr>
        <p:spPr>
          <a:xfrm>
            <a:off x="8125968" y="2542032"/>
            <a:ext cx="3514344" cy="868680"/>
          </a:xfrm>
          <a:prstGeom prst="roundRect">
            <a:avLst>
              <a:gd name="adj" fmla="val 8421"/>
            </a:avLst>
          </a:prstGeom>
          <a:solidFill>
            <a:srgbClr val="F4F7F9"/>
          </a:solidFill>
          <a:ln/>
        </p:spPr>
      </p:sp>
      <p:sp>
        <p:nvSpPr>
          <p:cNvPr id="19" name="Text 17"/>
          <p:cNvSpPr txBox="1"/>
          <p:nvPr/>
        </p:nvSpPr>
        <p:spPr>
          <a:xfrm>
            <a:off x="8263128" y="2596896"/>
            <a:ext cx="3240024" cy="237744"/>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練習中(11-14h)平均血糖</a:t>
            </a:r>
            <a:endParaRPr lang="en-US" sz="1050" dirty="0"/>
          </a:p>
        </p:txBody>
      </p:sp>
      <p:sp>
        <p:nvSpPr>
          <p:cNvPr id="20" name="Text 18"/>
          <p:cNvSpPr txBox="1"/>
          <p:nvPr/>
        </p:nvSpPr>
        <p:spPr>
          <a:xfrm>
            <a:off x="8263128" y="2834640"/>
            <a:ext cx="1620012" cy="36576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220.1</a:t>
            </a:r>
            <a:endParaRPr lang="en-US" sz="1700" dirty="0"/>
          </a:p>
        </p:txBody>
      </p:sp>
      <p:sp>
        <p:nvSpPr>
          <p:cNvPr id="21" name="Text 19"/>
          <p:cNvSpPr txBox="1"/>
          <p:nvPr/>
        </p:nvSpPr>
        <p:spPr>
          <a:xfrm>
            <a:off x="9883140" y="2834640"/>
            <a:ext cx="1620012" cy="365760"/>
          </a:xfrm>
          <a:prstGeom prst="rect">
            <a:avLst/>
          </a:prstGeom>
          <a:noFill/>
          <a:ln/>
        </p:spPr>
        <p:txBody>
          <a:bodyPr wrap="square" lIns="0" tIns="0" rIns="0" bIns="0" rtlCol="0" anchor="ctr"/>
          <a:lstStyle/>
          <a:p>
            <a:pPr algn="r" indent="0" marL="0">
              <a:buNone/>
            </a:pPr>
            <a:r>
              <a:rPr lang="en-US" sz="1700" b="1" dirty="0">
                <a:solidFill>
                  <a:srgbClr val="EDA100"/>
                </a:solidFill>
                <a:latin typeface="Cambria" pitchFamily="34" charset="0"/>
                <a:ea typeface="Cambria" pitchFamily="34" charset="-122"/>
                <a:cs typeface="Cambria" pitchFamily="34" charset="-120"/>
              </a:rPr>
              <a:t>229.4</a:t>
            </a:r>
            <a:endParaRPr lang="en-US" sz="1700" dirty="0"/>
          </a:p>
        </p:txBody>
      </p:sp>
      <p:sp>
        <p:nvSpPr>
          <p:cNvPr id="22" name="Text 20"/>
          <p:cNvSpPr txBox="1"/>
          <p:nvPr/>
        </p:nvSpPr>
        <p:spPr>
          <a:xfrm>
            <a:off x="8263128" y="3200400"/>
            <a:ext cx="3240024" cy="182880"/>
          </a:xfrm>
          <a:prstGeom prst="rect">
            <a:avLst/>
          </a:prstGeom>
          <a:noFill/>
          <a:ln/>
        </p:spPr>
        <p:txBody>
          <a:bodyPr wrap="square" lIns="0" tIns="0" rIns="0" bIns="0" rtlCol="0" anchor="ctr"/>
          <a:lstStyle/>
          <a:p>
            <a:pPr indent="0" marL="0">
              <a:buNone/>
            </a:pPr>
            <a:r>
              <a:rPr lang="en-US" sz="800" dirty="0">
                <a:solidFill>
                  <a:srgbClr val="5C6570"/>
                </a:solidFill>
                <a:latin typeface="Calibri" pitchFamily="34" charset="0"/>
                <a:ea typeface="Calibri" pitchFamily="34" charset="-122"/>
                <a:cs typeface="Calibri" pitchFamily="34" charset="-120"/>
              </a:rPr>
              <a:t>糖質減の方がむしろ高い</a:t>
            </a:r>
            <a:endParaRPr lang="en-US" sz="800" dirty="0"/>
          </a:p>
        </p:txBody>
      </p:sp>
      <p:sp>
        <p:nvSpPr>
          <p:cNvPr id="23" name="Text 21"/>
          <p:cNvSpPr txBox="1"/>
          <p:nvPr/>
        </p:nvSpPr>
        <p:spPr>
          <a:xfrm>
            <a:off x="548640" y="3611880"/>
            <a:ext cx="5486400" cy="274320"/>
          </a:xfrm>
          <a:prstGeom prst="rect">
            <a:avLst/>
          </a:prstGeom>
          <a:noFill/>
          <a:ln/>
        </p:spPr>
        <p:txBody>
          <a:bodyPr wrap="square" lIns="0" tIns="0" rIns="0" bIns="0" rtlCol="0" anchor="ctr"/>
          <a:lstStyle/>
          <a:p>
            <a:pPr indent="0" marL="0">
              <a:buNone/>
            </a:pPr>
            <a:r>
              <a:rPr lang="en-US" sz="1300" b="1" dirty="0">
                <a:solidFill>
                  <a:srgbClr val="EDA100"/>
                </a:solidFill>
                <a:latin typeface="Calibri" pitchFamily="34" charset="0"/>
                <a:ea typeface="Calibri" pitchFamily="34" charset="-122"/>
                <a:cs typeface="Calibri" pitchFamily="34" charset="-120"/>
              </a:rPr>
              <a:t>毎日のコンディション（夜のアプリ記録）</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913632"/>
          <a:ext cx="6675120" cy="1737360"/>
        </p:xfrm>
        <a:graphic>
          <a:graphicData uri="http://schemas.openxmlformats.org/drawingml/2006/table">
            <a:tbl>
              <a:tblPr/>
              <a:tblGrid>
                <a:gridCol w="2468880"/>
                <a:gridCol w="2103120"/>
                <a:gridCol w="2103120"/>
              </a:tblGrid>
              <a:tr h="288036">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おにぎり+スムージー</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おにぎり+糖質減</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21295C"/>
                    </a:solidFill>
                  </a:tcPr>
                </a:tc>
              </a:tr>
              <a:tr h="288036">
                <a:tc>
                  <a:txBody>
                    <a:bodyPr/>
                    <a:lstStyle/>
                    <a:p>
                      <a:pPr indent="0" marL="0">
                        <a:buNone/>
                      </a:pPr>
                      <a:r>
                        <a:rPr lang="en-US" sz="1150" b="1" dirty="0">
                          <a:solidFill>
                            <a:srgbClr val="1A1A1A"/>
                          </a:solidFill>
                          <a:latin typeface="Calibri" pitchFamily="34" charset="0"/>
                          <a:ea typeface="Calibri" pitchFamily="34" charset="-122"/>
                          <a:cs typeface="Calibri" pitchFamily="34" charset="-120"/>
                        </a:rPr>
                        <a:t>起床時コンディション</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2.33</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2.67</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FFFFF"/>
                    </a:solidFill>
                  </a:tcPr>
                </a:tc>
              </a:tr>
              <a:tr h="288036">
                <a:tc>
                  <a:txBody>
                    <a:bodyPr/>
                    <a:lstStyle/>
                    <a:p>
                      <a:pPr indent="0" marL="0">
                        <a:buNone/>
                      </a:pPr>
                      <a:r>
                        <a:rPr lang="en-US" sz="1150" b="1" dirty="0">
                          <a:solidFill>
                            <a:srgbClr val="1A1A1A"/>
                          </a:solidFill>
                          <a:latin typeface="Calibri" pitchFamily="34" charset="0"/>
                          <a:ea typeface="Calibri" pitchFamily="34" charset="-122"/>
                          <a:cs typeface="Calibri" pitchFamily="34" charset="-120"/>
                        </a:rPr>
                        <a:t>睡眠の質</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2.67</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4F7F9"/>
                    </a:solidFill>
                  </a:tcPr>
                </a:tc>
              </a:tr>
              <a:tr h="288036">
                <a:tc>
                  <a:txBody>
                    <a:bodyPr/>
                    <a:lstStyle/>
                    <a:p>
                      <a:pPr indent="0" marL="0">
                        <a:buNone/>
                      </a:pPr>
                      <a:r>
                        <a:rPr lang="en-US" sz="1150" b="1" dirty="0">
                          <a:solidFill>
                            <a:srgbClr val="1A1A1A"/>
                          </a:solidFill>
                          <a:latin typeface="Calibri" pitchFamily="34" charset="0"/>
                          <a:ea typeface="Calibri" pitchFamily="34" charset="-122"/>
                          <a:cs typeface="Calibri" pitchFamily="34" charset="-120"/>
                        </a:rPr>
                        <a:t>RPE</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5.50</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6.33</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FFFFF"/>
                    </a:solidFill>
                  </a:tcPr>
                </a:tc>
              </a:tr>
              <a:tr h="288036">
                <a:tc>
                  <a:txBody>
                    <a:bodyPr/>
                    <a:lstStyle/>
                    <a:p>
                      <a:pPr indent="0" marL="0">
                        <a:buNone/>
                      </a:pPr>
                      <a:r>
                        <a:rPr lang="en-US" sz="1150" b="1" dirty="0">
                          <a:solidFill>
                            <a:srgbClr val="B23A3A"/>
                          </a:solidFill>
                          <a:latin typeface="Calibri" pitchFamily="34" charset="0"/>
                          <a:ea typeface="Calibri" pitchFamily="34" charset="-122"/>
                          <a:cs typeface="Calibri" pitchFamily="34" charset="-120"/>
                        </a:rPr>
                        <a:t>持久力</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DECEC"/>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3.83</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DECEC"/>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2.33</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DECEC"/>
                    </a:solidFill>
                  </a:tcPr>
                </a:tc>
              </a:tr>
              <a:tr h="288036">
                <a:tc>
                  <a:txBody>
                    <a:bodyPr/>
                    <a:lstStyle/>
                    <a:p>
                      <a:pPr indent="0" marL="0">
                        <a:buNone/>
                      </a:pPr>
                      <a:r>
                        <a:rPr lang="en-US" sz="1150" b="1" dirty="0">
                          <a:solidFill>
                            <a:srgbClr val="B23A3A"/>
                          </a:solidFill>
                          <a:latin typeface="Calibri" pitchFamily="34" charset="0"/>
                          <a:ea typeface="Calibri" pitchFamily="34" charset="-122"/>
                          <a:cs typeface="Calibri" pitchFamily="34" charset="-120"/>
                        </a:rPr>
                        <a:t>爆発力</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DECEC"/>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3.50</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DECEC"/>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3.33</a:t>
                      </a:r>
                      <a:endParaRPr lang="en-US" sz="1150" dirty="0">
                        <a:latin typeface="Calibri" charset="0"/>
                        <a:ea typeface="Calibri" charset="0"/>
                        <a:cs typeface="Calibri" charset="0"/>
                      </a:endParaRPr>
                    </a:p>
                  </a:txBody>
                  <a:tcPr marL="91440" marR="91440" marT="45720" marB="45720" anchor="ctr">
                    <a:lnL w="6350" cap="flat" cmpd="sng" algn="ctr">
                      <a:solidFill>
                        <a:srgbClr val="E3E1DB"/>
                      </a:solidFill>
                      <a:prstDash val="solid"/>
                      <a:round/>
                      <a:headEnd type="none" w="med" len="med"/>
                      <a:tailEnd type="none" w="med" len="med"/>
                    </a:lnL>
                    <a:lnR w="6350" cap="flat" cmpd="sng" algn="ctr">
                      <a:solidFill>
                        <a:srgbClr val="E3E1DB"/>
                      </a:solidFill>
                      <a:prstDash val="solid"/>
                      <a:round/>
                      <a:headEnd type="none" w="med" len="med"/>
                      <a:tailEnd type="none" w="med" len="med"/>
                    </a:lnR>
                    <a:lnT w="6350" cap="flat" cmpd="sng" algn="ctr">
                      <a:solidFill>
                        <a:srgbClr val="E3E1DB"/>
                      </a:solidFill>
                      <a:prstDash val="solid"/>
                      <a:round/>
                      <a:headEnd type="none" w="med" len="med"/>
                      <a:tailEnd type="none" w="med" len="med"/>
                    </a:lnT>
                    <a:lnB w="6350" cap="flat" cmpd="sng" algn="ctr">
                      <a:solidFill>
                        <a:srgbClr val="E3E1DB"/>
                      </a:solidFill>
                      <a:prstDash val="solid"/>
                      <a:round/>
                      <a:headEnd type="none" w="med" len="med"/>
                      <a:tailEnd type="none" w="med" len="med"/>
                    </a:lnB>
                    <a:solidFill>
                      <a:srgbClr val="FDECEC"/>
                    </a:solidFill>
                  </a:tcPr>
                </a:tc>
              </a:tr>
            </a:tbl>
          </a:graphicData>
        </a:graphic>
      </p:graphicFrame>
      <p:sp>
        <p:nvSpPr>
          <p:cNvPr id="25" name="Shape 22"/>
          <p:cNvSpPr/>
          <p:nvPr/>
        </p:nvSpPr>
        <p:spPr>
          <a:xfrm>
            <a:off x="7498080" y="3913632"/>
            <a:ext cx="4142232" cy="1737360"/>
          </a:xfrm>
          <a:prstGeom prst="roundRect">
            <a:avLst>
              <a:gd name="adj" fmla="val 5263"/>
            </a:avLst>
          </a:prstGeom>
          <a:solidFill>
            <a:srgbClr val="FDF3E2"/>
          </a:solidFill>
          <a:ln w="12700">
            <a:solidFill>
              <a:srgbClr val="EDA100"/>
            </a:solidFill>
            <a:prstDash val="solid"/>
          </a:ln>
        </p:spPr>
      </p:sp>
      <p:sp>
        <p:nvSpPr>
          <p:cNvPr id="26" name="Text 23"/>
          <p:cNvSpPr txBox="1"/>
          <p:nvPr/>
        </p:nvSpPr>
        <p:spPr>
          <a:xfrm>
            <a:off x="7726680" y="4041648"/>
            <a:ext cx="3657600" cy="256032"/>
          </a:xfrm>
          <a:prstGeom prst="rect">
            <a:avLst/>
          </a:prstGeom>
          <a:noFill/>
          <a:ln/>
        </p:spPr>
        <p:txBody>
          <a:bodyPr wrap="square" lIns="0" tIns="0" rIns="0" bIns="0" rtlCol="0" anchor="ctr"/>
          <a:lstStyle/>
          <a:p>
            <a:pPr indent="0" marL="0">
              <a:buNone/>
            </a:pPr>
            <a:r>
              <a:rPr lang="en-US" sz="1150" b="1" dirty="0">
                <a:solidFill>
                  <a:srgbClr val="6B4B00"/>
                </a:solidFill>
                <a:latin typeface="Calibri" pitchFamily="34" charset="0"/>
                <a:ea typeface="Calibri" pitchFamily="34" charset="-122"/>
                <a:cs typeface="Calibri" pitchFamily="34" charset="-120"/>
              </a:rPr>
              <a:t>⚠ 要注意の矛盾</a:t>
            </a:r>
            <a:endParaRPr lang="en-US" sz="1150" dirty="0"/>
          </a:p>
        </p:txBody>
      </p:sp>
      <p:sp>
        <p:nvSpPr>
          <p:cNvPr id="27" name="Text 24"/>
          <p:cNvSpPr txBox="1"/>
          <p:nvPr/>
        </p:nvSpPr>
        <p:spPr>
          <a:xfrm>
            <a:off x="7726680" y="4334256"/>
            <a:ext cx="3703320" cy="1234440"/>
          </a:xfrm>
          <a:prstGeom prst="rect">
            <a:avLst/>
          </a:prstGeom>
          <a:noFill/>
          <a:ln/>
        </p:spPr>
        <p:txBody>
          <a:bodyPr wrap="square" lIns="0" tIns="0" rIns="0" bIns="0" rtlCol="0" anchor="ctr"/>
          <a:lstStyle/>
          <a:p>
            <a:pPr indent="0" marL="0">
              <a:buNone/>
            </a:pPr>
            <a:r>
              <a:rPr lang="en-US" sz="1050" dirty="0">
                <a:solidFill>
                  <a:srgbClr val="6B4B00"/>
                </a:solidFill>
                <a:latin typeface="Calibri" pitchFamily="34" charset="0"/>
                <a:ea typeface="Calibri" pitchFamily="34" charset="-122"/>
                <a:cs typeface="Calibri" pitchFamily="34" charset="-120"/>
              </a:rPr>
              <a:t>血糖面はすべて糖質減が優位なのに、持久力・爆発力の自己評価は逆に最低。練習時間も糖質減の方が長め（100分 vs 80分）で交絡の可能性あり。</a:t>
            </a:r>
            <a:endParaRPr lang="en-US" sz="1050" dirty="0"/>
          </a:p>
        </p:txBody>
      </p:sp>
      <p:sp>
        <p:nvSpPr>
          <p:cNvPr id="28" name="Text 25"/>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5C6570"/>
                </a:solidFill>
                <a:latin typeface="Calibri" pitchFamily="34" charset="0"/>
                <a:ea typeface="Calibri" pitchFamily="34" charset="-122"/>
                <a:cs typeface="Calibri" pitchFamily="34" charset="-120"/>
              </a:rPr>
              <a:t>n=3日／条件。持久力・爆発力は赤字＝糖質減が最も低い値。</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Q3 – DISCUSSION</a:t>
            </a:r>
            <a:endParaRPr lang="en-US" sz="1250" dirty="0"/>
          </a:p>
        </p:txBody>
      </p:sp>
      <p:sp>
        <p:nvSpPr>
          <p:cNvPr id="3" name="Text 1"/>
          <p:cNvSpPr txBox="1"/>
          <p:nvPr/>
        </p:nvSpPr>
        <p:spPr>
          <a:xfrm>
            <a:off x="548640" y="676656"/>
            <a:ext cx="11091672" cy="59436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朝ごはんの糖質量：考察と結論</a:t>
            </a:r>
            <a:endParaRPr lang="en-US" sz="2600" dirty="0"/>
          </a:p>
        </p:txBody>
      </p:sp>
      <p:sp>
        <p:nvSpPr>
          <p:cNvPr id="4" name="Shape 2"/>
          <p:cNvSpPr/>
          <p:nvPr/>
        </p:nvSpPr>
        <p:spPr>
          <a:xfrm>
            <a:off x="548640" y="1298448"/>
            <a:ext cx="11091672" cy="384048"/>
          </a:xfrm>
          <a:prstGeom prst="roundRect">
            <a:avLst>
              <a:gd name="adj" fmla="val 19048"/>
            </a:avLst>
          </a:prstGeom>
          <a:solidFill>
            <a:srgbClr val="F4F7F9"/>
          </a:solidFill>
          <a:ln/>
        </p:spPr>
      </p:sp>
      <p:sp>
        <p:nvSpPr>
          <p:cNvPr id="5" name="Text 3"/>
          <p:cNvSpPr txBox="1"/>
          <p:nvPr/>
        </p:nvSpPr>
        <p:spPr>
          <a:xfrm>
            <a:off x="685800" y="1298448"/>
            <a:ext cx="548640" cy="384048"/>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Q3</a:t>
            </a:r>
            <a:endParaRPr lang="en-US" sz="1400" dirty="0"/>
          </a:p>
        </p:txBody>
      </p:sp>
      <p:sp>
        <p:nvSpPr>
          <p:cNvPr id="6" name="Text 4"/>
          <p:cNvSpPr txBox="1"/>
          <p:nvPr/>
        </p:nvSpPr>
        <p:spPr>
          <a:xfrm>
            <a:off x="1280160" y="1298448"/>
            <a:ext cx="10177272" cy="384048"/>
          </a:xfrm>
          <a:prstGeom prst="rect">
            <a:avLst/>
          </a:prstGeom>
          <a:noFill/>
          <a:ln/>
        </p:spPr>
        <p:txBody>
          <a:bodyPr wrap="square" lIns="0" tIns="0" rIns="0" bIns="0" rtlCol="0" anchor="ctr"/>
          <a:lstStyle/>
          <a:p>
            <a:pPr indent="0" marL="0">
              <a:buNone/>
            </a:pPr>
            <a:r>
              <a:rPr lang="en-US" sz="1300" dirty="0">
                <a:solidFill>
                  <a:srgbClr val="21295C"/>
                </a:solidFill>
                <a:latin typeface="Calibri" pitchFamily="34" charset="0"/>
                <a:ea typeface="Calibri" pitchFamily="34" charset="-122"/>
                <a:cs typeface="Calibri" pitchFamily="34" charset="-120"/>
              </a:rPr>
              <a:t>朝ごはんの糖質（C）は少し減らした方が良いのか？</a:t>
            </a:r>
            <a:endParaRPr lang="en-US" sz="1300" dirty="0"/>
          </a:p>
        </p:txBody>
      </p:sp>
      <p:sp>
        <p:nvSpPr>
          <p:cNvPr id="7" name="Shape 5"/>
          <p:cNvSpPr/>
          <p:nvPr/>
        </p:nvSpPr>
        <p:spPr>
          <a:xfrm>
            <a:off x="548640" y="1874520"/>
            <a:ext cx="11091672" cy="1051560"/>
          </a:xfrm>
          <a:prstGeom prst="roundRect">
            <a:avLst>
              <a:gd name="adj" fmla="val 10435"/>
            </a:avLst>
          </a:prstGeom>
          <a:solidFill>
            <a:srgbClr val="EAF7F0"/>
          </a:solidFill>
          <a:ln w="15875">
            <a:solidFill>
              <a:srgbClr val="EDA100"/>
            </a:solidFill>
            <a:prstDash val="solid"/>
          </a:ln>
        </p:spPr>
      </p:sp>
      <p:sp>
        <p:nvSpPr>
          <p:cNvPr id="8" name="Text 6"/>
          <p:cNvSpPr txBox="1"/>
          <p:nvPr/>
        </p:nvSpPr>
        <p:spPr>
          <a:xfrm>
            <a:off x="822960" y="1984248"/>
            <a:ext cx="18288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 答え</a:t>
            </a:r>
            <a:endParaRPr lang="en-US" sz="1200" dirty="0"/>
          </a:p>
        </p:txBody>
      </p:sp>
      <p:sp>
        <p:nvSpPr>
          <p:cNvPr id="9" name="Text 7"/>
          <p:cNvSpPr txBox="1"/>
          <p:nvPr/>
        </p:nvSpPr>
        <p:spPr>
          <a:xfrm>
            <a:off x="822960" y="2258568"/>
            <a:ext cx="10543032" cy="548640"/>
          </a:xfrm>
          <a:prstGeom prst="rect">
            <a:avLst/>
          </a:prstGeom>
          <a:noFill/>
          <a:ln/>
        </p:spPr>
        <p:txBody>
          <a:bodyPr wrap="square" lIns="0" tIns="0" rIns="0" bIns="0" rtlCol="0" anchor="ctr"/>
          <a:lstStyle/>
          <a:p>
            <a:pPr indent="0" marL="0">
              <a:buNone/>
            </a:pPr>
            <a:r>
              <a:rPr lang="en-US" sz="2000" b="1" dirty="0">
                <a:solidFill>
                  <a:srgbClr val="0F5C3D"/>
                </a:solidFill>
                <a:latin typeface="Cambria" pitchFamily="34" charset="0"/>
                <a:ea typeface="Cambria" pitchFamily="34" charset="-122"/>
                <a:cs typeface="Cambria" pitchFamily="34" charset="-120"/>
              </a:rPr>
              <a:t>血糖面では有望だが、現時点では断定できない</a:t>
            </a:r>
            <a:endParaRPr lang="en-US" sz="2000" dirty="0"/>
          </a:p>
        </p:txBody>
      </p:sp>
      <p:sp>
        <p:nvSpPr>
          <p:cNvPr id="10" name="Shape 8"/>
          <p:cNvSpPr/>
          <p:nvPr/>
        </p:nvSpPr>
        <p:spPr>
          <a:xfrm>
            <a:off x="548640" y="3163824"/>
            <a:ext cx="109728" cy="109728"/>
          </a:xfrm>
          <a:prstGeom prst="oval">
            <a:avLst/>
          </a:prstGeom>
          <a:solidFill>
            <a:srgbClr val="EDA100"/>
          </a:solidFill>
          <a:ln/>
        </p:spPr>
      </p:sp>
      <p:sp>
        <p:nvSpPr>
          <p:cNvPr id="11" name="Text 9"/>
          <p:cNvSpPr txBox="1"/>
          <p:nvPr/>
        </p:nvSpPr>
        <p:spPr>
          <a:xfrm>
            <a:off x="841248" y="3108960"/>
            <a:ext cx="10799064"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糖質を減らすと食後2時間の血糖上昇（iAUC）が約39%減少し、波形もより滑らかになる（CV 8.5%）</a:t>
            </a:r>
            <a:endParaRPr lang="en-US" sz="1250" dirty="0"/>
          </a:p>
        </p:txBody>
      </p:sp>
      <p:sp>
        <p:nvSpPr>
          <p:cNvPr id="12" name="Shape 10"/>
          <p:cNvSpPr/>
          <p:nvPr/>
        </p:nvSpPr>
        <p:spPr>
          <a:xfrm>
            <a:off x="548640" y="3675888"/>
            <a:ext cx="109728" cy="109728"/>
          </a:xfrm>
          <a:prstGeom prst="oval">
            <a:avLst/>
          </a:prstGeom>
          <a:solidFill>
            <a:srgbClr val="EDA100"/>
          </a:solidFill>
          <a:ln/>
        </p:spPr>
      </p:sp>
      <p:sp>
        <p:nvSpPr>
          <p:cNvPr id="13" name="Text 11"/>
          <p:cNvSpPr txBox="1"/>
          <p:nvPr/>
        </p:nvSpPr>
        <p:spPr>
          <a:xfrm>
            <a:off x="841248" y="3621024"/>
            <a:ext cx="10799064"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練習中の血糖＝燃料供給は減らない（むしろ4条件中最高の229 mg/dL）</a:t>
            </a:r>
            <a:endParaRPr lang="en-US" sz="1250" dirty="0"/>
          </a:p>
        </p:txBody>
      </p:sp>
      <p:sp>
        <p:nvSpPr>
          <p:cNvPr id="14" name="Shape 12"/>
          <p:cNvSpPr/>
          <p:nvPr/>
        </p:nvSpPr>
        <p:spPr>
          <a:xfrm>
            <a:off x="548640" y="4187952"/>
            <a:ext cx="109728" cy="109728"/>
          </a:xfrm>
          <a:prstGeom prst="oval">
            <a:avLst/>
          </a:prstGeom>
          <a:solidFill>
            <a:srgbClr val="EDA100"/>
          </a:solidFill>
          <a:ln/>
        </p:spPr>
      </p:sp>
      <p:sp>
        <p:nvSpPr>
          <p:cNvPr id="15" name="Text 13"/>
          <p:cNvSpPr txBox="1"/>
          <p:nvPr/>
        </p:nvSpPr>
        <p:spPr>
          <a:xfrm>
            <a:off x="841248" y="4133088"/>
            <a:ext cx="10799064"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起床時コンディション・睡眠の質も4条件中最も良い</a:t>
            </a:r>
            <a:endParaRPr lang="en-US" sz="1250" dirty="0"/>
          </a:p>
        </p:txBody>
      </p:sp>
      <p:sp>
        <p:nvSpPr>
          <p:cNvPr id="16" name="Shape 14"/>
          <p:cNvSpPr/>
          <p:nvPr/>
        </p:nvSpPr>
        <p:spPr>
          <a:xfrm>
            <a:off x="548640" y="4700016"/>
            <a:ext cx="109728" cy="109728"/>
          </a:xfrm>
          <a:prstGeom prst="oval">
            <a:avLst/>
          </a:prstGeom>
          <a:solidFill>
            <a:srgbClr val="EDA100"/>
          </a:solidFill>
          <a:ln/>
        </p:spPr>
      </p:sp>
      <p:sp>
        <p:nvSpPr>
          <p:cNvPr id="17" name="Text 15"/>
          <p:cNvSpPr txBox="1"/>
          <p:nvPr/>
        </p:nvSpPr>
        <p:spPr>
          <a:xfrm>
            <a:off x="841248" y="4645152"/>
            <a:ext cx="10799064"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一方で持久力・爆発力の自己評価は4条件中最も低く、血糖データと体感が食い違う</a:t>
            </a:r>
            <a:endParaRPr lang="en-US" sz="1250" dirty="0"/>
          </a:p>
        </p:txBody>
      </p:sp>
      <p:sp>
        <p:nvSpPr>
          <p:cNvPr id="18" name="Shape 16"/>
          <p:cNvSpPr/>
          <p:nvPr/>
        </p:nvSpPr>
        <p:spPr>
          <a:xfrm>
            <a:off x="548640" y="5212080"/>
            <a:ext cx="109728" cy="109728"/>
          </a:xfrm>
          <a:prstGeom prst="oval">
            <a:avLst/>
          </a:prstGeom>
          <a:solidFill>
            <a:srgbClr val="EDA100"/>
          </a:solidFill>
          <a:ln/>
        </p:spPr>
      </p:sp>
      <p:sp>
        <p:nvSpPr>
          <p:cNvPr id="19" name="Text 17"/>
          <p:cNvSpPr txBox="1"/>
          <p:nvPr/>
        </p:nvSpPr>
        <p:spPr>
          <a:xfrm>
            <a:off x="841248" y="5157216"/>
            <a:ext cx="10799064"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練習時間の違い（糖質減100分 vs 通常80分）が体感の悪化を招いた可能性があり、食事の効果と断定できない</a:t>
            </a:r>
            <a:endParaRPr lang="en-US" sz="1250" dirty="0"/>
          </a:p>
        </p:txBody>
      </p:sp>
      <p:sp>
        <p:nvSpPr>
          <p:cNvPr id="20" name="Shape 18"/>
          <p:cNvSpPr/>
          <p:nvPr/>
        </p:nvSpPr>
        <p:spPr>
          <a:xfrm>
            <a:off x="548640" y="5715000"/>
            <a:ext cx="11091672" cy="822960"/>
          </a:xfrm>
          <a:prstGeom prst="roundRect">
            <a:avLst>
              <a:gd name="adj" fmla="val 11111"/>
            </a:avLst>
          </a:prstGeom>
          <a:solidFill>
            <a:srgbClr val="FDF3E2"/>
          </a:solidFill>
          <a:ln w="12700">
            <a:solidFill>
              <a:srgbClr val="EDA100"/>
            </a:solidFill>
            <a:prstDash val="solid"/>
          </a:ln>
        </p:spPr>
      </p:sp>
      <p:sp>
        <p:nvSpPr>
          <p:cNvPr id="21" name="Text 19"/>
          <p:cNvSpPr txBox="1"/>
          <p:nvPr/>
        </p:nvSpPr>
        <p:spPr>
          <a:xfrm>
            <a:off x="777240" y="5815584"/>
            <a:ext cx="10634472" cy="640080"/>
          </a:xfrm>
          <a:prstGeom prst="rect">
            <a:avLst/>
          </a:prstGeom>
          <a:noFill/>
          <a:ln/>
        </p:spPr>
        <p:txBody>
          <a:bodyPr wrap="square" lIns="0" tIns="0" rIns="0" bIns="0" rtlCol="0" anchor="ctr"/>
          <a:lstStyle/>
          <a:p>
            <a:pPr indent="0" marL="0">
              <a:buNone/>
            </a:pPr>
            <a:r>
              <a:rPr lang="en-US" sz="1200" b="1" dirty="0">
                <a:solidFill>
                  <a:srgbClr val="6B4B00"/>
                </a:solidFill>
                <a:latin typeface="Calibri" pitchFamily="34" charset="0"/>
                <a:ea typeface="Calibri" pitchFamily="34" charset="-122"/>
                <a:cs typeface="Calibri" pitchFamily="34" charset="-120"/>
              </a:rPr>
              <a:t>→ 血糖・コンディション面では糖質をやや減らす方向を試す価値があるが、練習内容・時間を揃えた再検証で「持久力低下」が食事の影響かどうかを確認してから本格導入するのが望ましい。</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8FB7E0"/>
                </a:solidFill>
                <a:latin typeface="Calibri" pitchFamily="34" charset="0"/>
                <a:ea typeface="Calibri" pitchFamily="34" charset="-122"/>
                <a:cs typeface="Calibri" pitchFamily="34" charset="-120"/>
              </a:rPr>
              <a:t>CONCLUSION</a:t>
            </a:r>
            <a:endParaRPr lang="en-US" sz="1250" dirty="0"/>
          </a:p>
        </p:txBody>
      </p:sp>
      <p:sp>
        <p:nvSpPr>
          <p:cNvPr id="3" name="Text 1"/>
          <p:cNvSpPr txBox="1"/>
          <p:nvPr/>
        </p:nvSpPr>
        <p:spPr>
          <a:xfrm>
            <a:off x="548640" y="676656"/>
            <a:ext cx="11091672" cy="59436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この選手への朝食提案（まとめ）</a:t>
            </a:r>
            <a:endParaRPr lang="en-US" sz="2600" dirty="0"/>
          </a:p>
        </p:txBody>
      </p:sp>
      <p:sp>
        <p:nvSpPr>
          <p:cNvPr id="4" name="Shape 2"/>
          <p:cNvSpPr/>
          <p:nvPr/>
        </p:nvSpPr>
        <p:spPr>
          <a:xfrm>
            <a:off x="548640" y="1600200"/>
            <a:ext cx="11091672" cy="1051560"/>
          </a:xfrm>
          <a:prstGeom prst="roundRect">
            <a:avLst>
              <a:gd name="adj" fmla="val 8696"/>
            </a:avLst>
          </a:prstGeom>
          <a:solidFill>
            <a:srgbClr val="1A2350"/>
          </a:solidFill>
          <a:ln/>
        </p:spPr>
      </p:sp>
      <p:sp>
        <p:nvSpPr>
          <p:cNvPr id="5" name="Shape 3"/>
          <p:cNvSpPr/>
          <p:nvPr/>
        </p:nvSpPr>
        <p:spPr>
          <a:xfrm>
            <a:off x="822960" y="1819656"/>
            <a:ext cx="146304" cy="612648"/>
          </a:xfrm>
          <a:prstGeom prst="rect">
            <a:avLst/>
          </a:prstGeom>
          <a:solidFill>
            <a:srgbClr val="EB6834"/>
          </a:solidFill>
          <a:ln/>
        </p:spPr>
      </p:sp>
      <p:sp>
        <p:nvSpPr>
          <p:cNvPr id="6" name="Text 4"/>
          <p:cNvSpPr txBox="1"/>
          <p:nvPr/>
        </p:nvSpPr>
        <p:spPr>
          <a:xfrm>
            <a:off x="1143000" y="1728216"/>
            <a:ext cx="3840480" cy="822960"/>
          </a:xfrm>
          <a:prstGeom prst="rect">
            <a:avLst/>
          </a:prstGeom>
          <a:noFill/>
          <a:ln/>
        </p:spPr>
        <p:txBody>
          <a:bodyPr wrap="square" lIns="0" tIns="0" rIns="0" bIns="0" rtlCol="0" anchor="ctr"/>
          <a:lstStyle/>
          <a:p>
            <a:pPr indent="0" marL="0">
              <a:buNone/>
            </a:pPr>
            <a:r>
              <a:rPr lang="en-US" sz="1400" dirty="0">
                <a:solidFill>
                  <a:srgbClr val="9AA6C4"/>
                </a:solidFill>
                <a:latin typeface="Calibri" pitchFamily="34" charset="0"/>
                <a:ea typeface="Calibri" pitchFamily="34" charset="-122"/>
                <a:cs typeface="Calibri" pitchFamily="34" charset="-120"/>
              </a:rPr>
              <a:t>Q1  固形 or スムージー</a:t>
            </a:r>
            <a:endParaRPr lang="en-US" sz="1400" dirty="0"/>
          </a:p>
        </p:txBody>
      </p:sp>
      <p:sp>
        <p:nvSpPr>
          <p:cNvPr id="7" name="Text 5"/>
          <p:cNvSpPr txBox="1"/>
          <p:nvPr/>
        </p:nvSpPr>
        <p:spPr>
          <a:xfrm>
            <a:off x="5120640" y="1728216"/>
            <a:ext cx="4297680" cy="8229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スムージー</a:t>
            </a:r>
            <a:endParaRPr lang="en-US" sz="1900" dirty="0"/>
          </a:p>
        </p:txBody>
      </p:sp>
      <p:sp>
        <p:nvSpPr>
          <p:cNvPr id="8" name="Text 6"/>
          <p:cNvSpPr txBox="1"/>
          <p:nvPr/>
        </p:nvSpPr>
        <p:spPr>
          <a:xfrm>
            <a:off x="9509760" y="1728216"/>
            <a:ext cx="2651760" cy="82296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練習中の燃料供給が多く、不調もない</a:t>
            </a:r>
            <a:endParaRPr lang="en-US" sz="1050" dirty="0"/>
          </a:p>
        </p:txBody>
      </p:sp>
      <p:sp>
        <p:nvSpPr>
          <p:cNvPr id="9" name="Shape 7"/>
          <p:cNvSpPr/>
          <p:nvPr/>
        </p:nvSpPr>
        <p:spPr>
          <a:xfrm>
            <a:off x="548640" y="2834640"/>
            <a:ext cx="11091672" cy="1051560"/>
          </a:xfrm>
          <a:prstGeom prst="roundRect">
            <a:avLst>
              <a:gd name="adj" fmla="val 8696"/>
            </a:avLst>
          </a:prstGeom>
          <a:solidFill>
            <a:srgbClr val="1A2350"/>
          </a:solidFill>
          <a:ln/>
        </p:spPr>
      </p:sp>
      <p:sp>
        <p:nvSpPr>
          <p:cNvPr id="10" name="Shape 8"/>
          <p:cNvSpPr/>
          <p:nvPr/>
        </p:nvSpPr>
        <p:spPr>
          <a:xfrm>
            <a:off x="822960" y="3054096"/>
            <a:ext cx="146304" cy="612648"/>
          </a:xfrm>
          <a:prstGeom prst="rect">
            <a:avLst/>
          </a:prstGeom>
          <a:solidFill>
            <a:srgbClr val="1BAF7A"/>
          </a:solidFill>
          <a:ln/>
        </p:spPr>
      </p:sp>
      <p:sp>
        <p:nvSpPr>
          <p:cNvPr id="11" name="Text 9"/>
          <p:cNvSpPr txBox="1"/>
          <p:nvPr/>
        </p:nvSpPr>
        <p:spPr>
          <a:xfrm>
            <a:off x="1143000" y="2962656"/>
            <a:ext cx="3840480" cy="822960"/>
          </a:xfrm>
          <a:prstGeom prst="rect">
            <a:avLst/>
          </a:prstGeom>
          <a:noFill/>
          <a:ln/>
        </p:spPr>
        <p:txBody>
          <a:bodyPr wrap="square" lIns="0" tIns="0" rIns="0" bIns="0" rtlCol="0" anchor="ctr"/>
          <a:lstStyle/>
          <a:p>
            <a:pPr indent="0" marL="0">
              <a:buNone/>
            </a:pPr>
            <a:r>
              <a:rPr lang="en-US" sz="1400" dirty="0">
                <a:solidFill>
                  <a:srgbClr val="9AA6C4"/>
                </a:solidFill>
                <a:latin typeface="Calibri" pitchFamily="34" charset="0"/>
                <a:ea typeface="Calibri" pitchFamily="34" charset="-122"/>
                <a:cs typeface="Calibri" pitchFamily="34" charset="-120"/>
              </a:rPr>
              <a:t>Q2  食べるタイミング</a:t>
            </a:r>
            <a:endParaRPr lang="en-US" sz="1400" dirty="0"/>
          </a:p>
        </p:txBody>
      </p:sp>
      <p:sp>
        <p:nvSpPr>
          <p:cNvPr id="12" name="Text 10"/>
          <p:cNvSpPr txBox="1"/>
          <p:nvPr/>
        </p:nvSpPr>
        <p:spPr>
          <a:xfrm>
            <a:off x="5120640" y="2962656"/>
            <a:ext cx="4297680" cy="8229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おにぎりと8:00に同時摂取</a:t>
            </a:r>
            <a:endParaRPr lang="en-US" sz="1900" dirty="0"/>
          </a:p>
        </p:txBody>
      </p:sp>
      <p:sp>
        <p:nvSpPr>
          <p:cNvPr id="13" name="Text 11"/>
          <p:cNvSpPr txBox="1"/>
          <p:nvPr/>
        </p:nvSpPr>
        <p:spPr>
          <a:xfrm>
            <a:off x="9509760" y="2962656"/>
            <a:ext cx="2651760" cy="82296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血糖の乱高下を抑えつつ燃料は確保</a:t>
            </a:r>
            <a:endParaRPr lang="en-US" sz="1050" dirty="0"/>
          </a:p>
        </p:txBody>
      </p:sp>
      <p:sp>
        <p:nvSpPr>
          <p:cNvPr id="14" name="Shape 12"/>
          <p:cNvSpPr/>
          <p:nvPr/>
        </p:nvSpPr>
        <p:spPr>
          <a:xfrm>
            <a:off x="548640" y="4069080"/>
            <a:ext cx="11091672" cy="1051560"/>
          </a:xfrm>
          <a:prstGeom prst="roundRect">
            <a:avLst>
              <a:gd name="adj" fmla="val 8696"/>
            </a:avLst>
          </a:prstGeom>
          <a:solidFill>
            <a:srgbClr val="1A2350"/>
          </a:solidFill>
          <a:ln/>
        </p:spPr>
      </p:sp>
      <p:sp>
        <p:nvSpPr>
          <p:cNvPr id="15" name="Shape 13"/>
          <p:cNvSpPr/>
          <p:nvPr/>
        </p:nvSpPr>
        <p:spPr>
          <a:xfrm>
            <a:off x="822960" y="4288536"/>
            <a:ext cx="146304" cy="612648"/>
          </a:xfrm>
          <a:prstGeom prst="rect">
            <a:avLst/>
          </a:prstGeom>
          <a:solidFill>
            <a:srgbClr val="EDA100"/>
          </a:solidFill>
          <a:ln/>
        </p:spPr>
      </p:sp>
      <p:sp>
        <p:nvSpPr>
          <p:cNvPr id="16" name="Text 14"/>
          <p:cNvSpPr txBox="1"/>
          <p:nvPr/>
        </p:nvSpPr>
        <p:spPr>
          <a:xfrm>
            <a:off x="1143000" y="4197096"/>
            <a:ext cx="3840480" cy="822960"/>
          </a:xfrm>
          <a:prstGeom prst="rect">
            <a:avLst/>
          </a:prstGeom>
          <a:noFill/>
          <a:ln/>
        </p:spPr>
        <p:txBody>
          <a:bodyPr wrap="square" lIns="0" tIns="0" rIns="0" bIns="0" rtlCol="0" anchor="ctr"/>
          <a:lstStyle/>
          <a:p>
            <a:pPr indent="0" marL="0">
              <a:buNone/>
            </a:pPr>
            <a:r>
              <a:rPr lang="en-US" sz="1400" dirty="0">
                <a:solidFill>
                  <a:srgbClr val="9AA6C4"/>
                </a:solidFill>
                <a:latin typeface="Calibri" pitchFamily="34" charset="0"/>
                <a:ea typeface="Calibri" pitchFamily="34" charset="-122"/>
                <a:cs typeface="Calibri" pitchFamily="34" charset="-120"/>
              </a:rPr>
              <a:t>Q3  糖質（C）を減らすか</a:t>
            </a:r>
            <a:endParaRPr lang="en-US" sz="1400" dirty="0"/>
          </a:p>
        </p:txBody>
      </p:sp>
      <p:sp>
        <p:nvSpPr>
          <p:cNvPr id="17" name="Text 15"/>
          <p:cNvSpPr txBox="1"/>
          <p:nvPr/>
        </p:nvSpPr>
        <p:spPr>
          <a:xfrm>
            <a:off x="5120640" y="4197096"/>
            <a:ext cx="4297680" cy="8229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有望だが要検証</a:t>
            </a:r>
            <a:endParaRPr lang="en-US" sz="1900" dirty="0"/>
          </a:p>
        </p:txBody>
      </p:sp>
      <p:sp>
        <p:nvSpPr>
          <p:cNvPr id="18" name="Text 16"/>
          <p:cNvSpPr txBox="1"/>
          <p:nvPr/>
        </p:nvSpPr>
        <p:spPr>
          <a:xfrm>
            <a:off x="9509760" y="4197096"/>
            <a:ext cx="2651760" cy="82296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血糖面は良いが持久力の体感と矛盾</a:t>
            </a:r>
            <a:endParaRPr lang="en-US" sz="1050" dirty="0"/>
          </a:p>
        </p:txBody>
      </p:sp>
      <p:sp>
        <p:nvSpPr>
          <p:cNvPr id="19" name="Shape 17"/>
          <p:cNvSpPr/>
          <p:nvPr/>
        </p:nvSpPr>
        <p:spPr>
          <a:xfrm>
            <a:off x="548640" y="5303520"/>
            <a:ext cx="11091672" cy="960120"/>
          </a:xfrm>
          <a:prstGeom prst="roundRect">
            <a:avLst>
              <a:gd name="adj" fmla="val 9524"/>
            </a:avLst>
          </a:prstGeom>
          <a:solidFill>
            <a:srgbClr val="1C7293"/>
          </a:solidFill>
          <a:ln/>
        </p:spPr>
      </p:sp>
      <p:sp>
        <p:nvSpPr>
          <p:cNvPr id="20" name="Text 18"/>
          <p:cNvSpPr txBox="1"/>
          <p:nvPr/>
        </p:nvSpPr>
        <p:spPr>
          <a:xfrm>
            <a:off x="822960" y="5394960"/>
            <a:ext cx="10543032" cy="7772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最終提案：8:00に「おにぎり＋スムージー（通常糖質量）」を同時摂取。糖質を少し減らす案は、練習量を揃えた追加検証で持久力への影響を確認してから判断する。</a:t>
            </a:r>
            <a:endParaRPr lang="en-US" sz="1350" dirty="0"/>
          </a:p>
        </p:txBody>
      </p:sp>
      <p:sp>
        <p:nvSpPr>
          <p:cNvPr id="21" name="Text 19"/>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9AA6C4"/>
                </a:solidFill>
                <a:latin typeface="Calibri" pitchFamily="34" charset="0"/>
                <a:ea typeface="Calibri" pitchFamily="34" charset="-122"/>
                <a:cs typeface="Calibri" pitchFamily="34" charset="-120"/>
              </a:rPr>
              <a:t>データ出典：for_AI_.xlsx／0824スケジュール.xlsx／condition_app_2026-08-25_2026-09-07.xlsx</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2026-09-19T09:17:12Z</dcterms:created>
  <dcterms:modified xsi:type="dcterms:W3CDTF">2026-09-19T09:17:12Z</dcterms:modified>
</cp:coreProperties>
</file>