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固形摂取</c:v>
                </c:pt>
              </c:strCache>
            </c:strRef>
          </c:tx>
          <c:spPr>
            <a:solidFill>
              <a:srgbClr val="2A78D6"/>
            </a:solidFill>
            <a:ln w="28575"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Sheet1!$A$2:$A$26</c:f>
              <c:multiLvlStrCache>
                <c:ptCount val="25"/>
                <c:lvl>
                  <c:pt idx="0">
                    <c:v>08:00</c:v>
                  </c:pt>
                  <c:pt idx="1">
                    <c:v>08:15</c:v>
                  </c:pt>
                  <c:pt idx="2">
                    <c:v>08:30</c:v>
                  </c:pt>
                  <c:pt idx="3">
                    <c:v>08:45</c:v>
                  </c:pt>
                  <c:pt idx="4">
                    <c:v>09:00</c:v>
                  </c:pt>
                  <c:pt idx="5">
                    <c:v>09:15</c:v>
                  </c:pt>
                  <c:pt idx="6">
                    <c:v>09:30</c:v>
                  </c:pt>
                  <c:pt idx="7">
                    <c:v>09:45</c:v>
                  </c:pt>
                  <c:pt idx="8">
                    <c:v>10:00</c:v>
                  </c:pt>
                  <c:pt idx="9">
                    <c:v>10:15</c:v>
                  </c:pt>
                  <c:pt idx="10">
                    <c:v>10:30</c:v>
                  </c:pt>
                  <c:pt idx="11">
                    <c:v>10:45</c:v>
                  </c:pt>
                  <c:pt idx="12">
                    <c:v>11:00</c:v>
                  </c:pt>
                  <c:pt idx="13">
                    <c:v>11:15</c:v>
                  </c:pt>
                  <c:pt idx="14">
                    <c:v>11:30</c:v>
                  </c:pt>
                  <c:pt idx="15">
                    <c:v>11:45</c:v>
                  </c:pt>
                  <c:pt idx="16">
                    <c:v>12:00</c:v>
                  </c:pt>
                  <c:pt idx="17">
                    <c:v>12:15</c:v>
                  </c:pt>
                  <c:pt idx="18">
                    <c:v>12:30</c:v>
                  </c:pt>
                  <c:pt idx="19">
                    <c:v>12:45</c:v>
                  </c:pt>
                  <c:pt idx="20">
                    <c:v>13:00</c:v>
                  </c:pt>
                  <c:pt idx="21">
                    <c:v>13:15</c:v>
                  </c:pt>
                  <c:pt idx="22">
                    <c:v>13:30</c:v>
                  </c:pt>
                  <c:pt idx="23">
                    <c:v>13:45</c:v>
                  </c:pt>
                  <c:pt idx="24">
                    <c:v>14:00</c:v>
                  </c:pt>
                </c:lvl>
              </c:multiLvlStrCache>
            </c:multiLvlStrRef>
          </c:cat>
          <c:val>
            <c:numRef>
              <c:f>Sheet1!$B$2:$B$26</c:f>
              <c:numCache>
                <c:formatCode>General</c:formatCode>
                <c:ptCount val="25"/>
                <c:pt idx="0">
                  <c:v>99</c:v>
                </c:pt>
                <c:pt idx="1">
                  <c:v>112</c:v>
                </c:pt>
                <c:pt idx="2">
                  <c:v>133.3</c:v>
                </c:pt>
                <c:pt idx="3">
                  <c:v>129</c:v>
                </c:pt>
                <c:pt idx="4">
                  <c:v>113</c:v>
                </c:pt>
                <c:pt idx="5">
                  <c:v>105.3</c:v>
                </c:pt>
                <c:pt idx="6">
                  <c:v>108.7</c:v>
                </c:pt>
                <c:pt idx="7">
                  <c:v>108.7</c:v>
                </c:pt>
                <c:pt idx="8">
                  <c:v>106</c:v>
                </c:pt>
                <c:pt idx="9">
                  <c:v>120</c:v>
                </c:pt>
                <c:pt idx="10">
                  <c:v>130.3</c:v>
                </c:pt>
                <c:pt idx="11">
                  <c:v>125.3</c:v>
                </c:pt>
                <c:pt idx="12">
                  <c:v>120.3</c:v>
                </c:pt>
                <c:pt idx="13">
                  <c:v>135</c:v>
                </c:pt>
                <c:pt idx="14">
                  <c:v>152.7</c:v>
                </c:pt>
                <c:pt idx="15">
                  <c:v>143</c:v>
                </c:pt>
                <c:pt idx="16">
                  <c:v>139</c:v>
                </c:pt>
                <c:pt idx="17">
                  <c:v>129.7</c:v>
                </c:pt>
                <c:pt idx="18">
                  <c:v>119</c:v>
                </c:pt>
                <c:pt idx="19">
                  <c:v>131</c:v>
                </c:pt>
                <c:pt idx="20">
                  <c:v>143</c:v>
                </c:pt>
                <c:pt idx="21">
                  <c:v>136.7</c:v>
                </c:pt>
                <c:pt idx="22">
                  <c:v>138</c:v>
                </c:pt>
                <c:pt idx="23">
                  <c:v>140.3</c:v>
                </c:pt>
                <c:pt idx="24">
                  <c:v>129</c:v>
                </c:pt>
              </c:numCache>
            </c:numRef>
          </c:val>
          <c:smooth val="0"/>
        </c:ser>
        <c:ser>
          <c:idx val="1"/>
          <c:order val="1"/>
          <c:tx>
            <c:strRef>
              <c:f>Sheet1!$C$1</c:f>
              <c:strCache>
                <c:ptCount val="1"/>
                <c:pt idx="0">
                  <c:v>スムージー摂取</c:v>
                </c:pt>
              </c:strCache>
            </c:strRef>
          </c:tx>
          <c:spPr>
            <a:solidFill>
              <a:srgbClr val="EB6834"/>
            </a:solidFill>
            <a:ln w="28575"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Sheet1!$A$2:$A$26</c:f>
              <c:multiLvlStrCache>
                <c:ptCount val="25"/>
                <c:lvl>
                  <c:pt idx="0">
                    <c:v>08:00</c:v>
                  </c:pt>
                  <c:pt idx="1">
                    <c:v>08:15</c:v>
                  </c:pt>
                  <c:pt idx="2">
                    <c:v>08:30</c:v>
                  </c:pt>
                  <c:pt idx="3">
                    <c:v>08:45</c:v>
                  </c:pt>
                  <c:pt idx="4">
                    <c:v>09:00</c:v>
                  </c:pt>
                  <c:pt idx="5">
                    <c:v>09:15</c:v>
                  </c:pt>
                  <c:pt idx="6">
                    <c:v>09:30</c:v>
                  </c:pt>
                  <c:pt idx="7">
                    <c:v>09:45</c:v>
                  </c:pt>
                  <c:pt idx="8">
                    <c:v>10:00</c:v>
                  </c:pt>
                  <c:pt idx="9">
                    <c:v>10:15</c:v>
                  </c:pt>
                  <c:pt idx="10">
                    <c:v>10:30</c:v>
                  </c:pt>
                  <c:pt idx="11">
                    <c:v>10:45</c:v>
                  </c:pt>
                  <c:pt idx="12">
                    <c:v>11:00</c:v>
                  </c:pt>
                  <c:pt idx="13">
                    <c:v>11:15</c:v>
                  </c:pt>
                  <c:pt idx="14">
                    <c:v>11:30</c:v>
                  </c:pt>
                  <c:pt idx="15">
                    <c:v>11:45</c:v>
                  </c:pt>
                  <c:pt idx="16">
                    <c:v>12:00</c:v>
                  </c:pt>
                  <c:pt idx="17">
                    <c:v>12:15</c:v>
                  </c:pt>
                  <c:pt idx="18">
                    <c:v>12:30</c:v>
                  </c:pt>
                  <c:pt idx="19">
                    <c:v>12:45</c:v>
                  </c:pt>
                  <c:pt idx="20">
                    <c:v>13:00</c:v>
                  </c:pt>
                  <c:pt idx="21">
                    <c:v>13:15</c:v>
                  </c:pt>
                  <c:pt idx="22">
                    <c:v>13:30</c:v>
                  </c:pt>
                  <c:pt idx="23">
                    <c:v>13:45</c:v>
                  </c:pt>
                  <c:pt idx="24">
                    <c:v>14:00</c:v>
                  </c:pt>
                </c:lvl>
              </c:multiLvlStrCache>
            </c:multiLvlStrRef>
          </c:cat>
          <c:val>
            <c:numRef>
              <c:f>Sheet1!$C$2:$C$26</c:f>
              <c:numCache>
                <c:formatCode>General</c:formatCode>
                <c:ptCount val="25"/>
                <c:pt idx="0">
                  <c:v>159.3</c:v>
                </c:pt>
                <c:pt idx="1">
                  <c:v>163</c:v>
                </c:pt>
                <c:pt idx="2">
                  <c:v>182</c:v>
                </c:pt>
                <c:pt idx="3">
                  <c:v>202.7</c:v>
                </c:pt>
                <c:pt idx="4">
                  <c:v>193.7</c:v>
                </c:pt>
                <c:pt idx="5">
                  <c:v>163.7</c:v>
                </c:pt>
                <c:pt idx="6">
                  <c:v>149</c:v>
                </c:pt>
                <c:pt idx="7">
                  <c:v>148.7</c:v>
                </c:pt>
                <c:pt idx="8">
                  <c:v>154.7</c:v>
                </c:pt>
                <c:pt idx="9">
                  <c:v>179.3</c:v>
                </c:pt>
                <c:pt idx="10">
                  <c:v>194.3</c:v>
                </c:pt>
                <c:pt idx="11">
                  <c:v>226</c:v>
                </c:pt>
                <c:pt idx="12">
                  <c:v>226.3</c:v>
                </c:pt>
                <c:pt idx="13">
                  <c:v>223</c:v>
                </c:pt>
                <c:pt idx="14">
                  <c:v>239.7</c:v>
                </c:pt>
                <c:pt idx="15">
                  <c:v>244.3</c:v>
                </c:pt>
                <c:pt idx="16">
                  <c:v>213.7</c:v>
                </c:pt>
                <c:pt idx="17">
                  <c:v>225</c:v>
                </c:pt>
                <c:pt idx="18">
                  <c:v>218.3</c:v>
                </c:pt>
                <c:pt idx="19">
                  <c:v>218.7</c:v>
                </c:pt>
                <c:pt idx="20">
                  <c:v>224.7</c:v>
                </c:pt>
                <c:pt idx="21">
                  <c:v>207</c:v>
                </c:pt>
                <c:pt idx="22">
                  <c:v>212.3</c:v>
                </c:pt>
                <c:pt idx="23">
                  <c:v>222.7</c:v>
                </c:pt>
                <c:pt idx="24">
                  <c:v>211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E3E1DB"/>
            </a:solidFill>
            <a:prstDash val="solid"/>
            <a:round/>
          </a:ln>
        </c:spPr>
        <c:txPr>
          <a:bodyPr/>
          <a:lstStyle/>
          <a:p>
            <a:pPr>
              <a:defRPr sz="900" b="0" i="0" u="none" strike="noStrike">
                <a:solidFill>
                  <a:srgbClr val="5C6570"/>
                </a:solidFill>
                <a:latin typeface="Arial"/>
              </a:defRPr>
            </a:pPr>
            <a:endParaRPr lang="en-US"/>
          </a:p>
        </c:txPr>
        <c:crossAx val="2094734552"/>
        <c:crosses val="autoZero"/>
        <c:auto val="1"/>
        <c:lblAlgn val="ctr"/>
        <c:noMultiLvlLbl val="1"/>
        <c:tickLblSkip val="4"/>
      </c:catAx>
      <c:valAx>
        <c:axId val="2094734552"/>
        <c:scaling>
          <c:orientation val="minMax"/>
        </c:scaling>
        <c:delete val="0"/>
        <c:axPos val="l"/>
        <c:majorGridlines>
          <c:spPr>
            <a:ln w="9525" cap="flat">
              <a:solidFill>
                <a:srgbClr val="E3E1DB"/>
              </a:solidFill>
              <a:prstDash val="solid"/>
              <a:round/>
            </a:ln>
          </c:spPr>
        </c:majorGridlines>
        <c:title>
          <c:tx>
            <c:rich>
              <a:bodyPr/>
              <a:lstStyle/>
              <a:p>
                <a:pPr>
                  <a:defRPr sz="1000" b="0" i="0" u="none" strike="noStrike">
                    <a:solidFill>
                      <a:srgbClr val="5C6570"/>
                    </a:solidFill>
                    <a:latin typeface="Arial"/>
                  </a:defRPr>
                </a:pPr>
                <a:r>
                  <a:rPr sz="1000" b="0" i="0" u="none" strike="noStrike">
                    <a:solidFill>
                      <a:srgbClr val="5C6570"/>
                    </a:solidFill>
                    <a:latin typeface="Arial"/>
                  </a:rPr>
                  <a:t>血糖値 (mg/dL)</a:t>
                </a:r>
              </a:p>
            </c:rich>
          </c:tx>
          <c:layout/>
          <c:overlay val="0"/>
        </c:title>
        <c:numFmt formatCode="General" sourceLinked="0"/>
        <c:majorTickMark val="out"/>
        <c:minorTickMark val="none"/>
        <c:tickLblPos val="nextTo"/>
        <c:spPr>
          <a:ln w="12700" cap="flat">
            <a:solidFill>
              <a:srgbClr val="E3E1DB"/>
            </a:solidFill>
            <a:prstDash val="solid"/>
            <a:round/>
          </a:ln>
        </c:spPr>
        <c:txPr>
          <a:bodyPr/>
          <a:lstStyle/>
          <a:p>
            <a:pPr>
              <a:defRPr sz="900" b="0" i="0" u="none" strike="noStrike">
                <a:solidFill>
                  <a:srgbClr val="5C65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A1A1A"/>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1295C"/>
          </a:solidFill>
          <a:ln/>
        </p:spPr>
      </p:sp>
      <p:sp>
        <p:nvSpPr>
          <p:cNvPr id="3" name="Shape 1"/>
          <p:cNvSpPr/>
          <p:nvPr/>
        </p:nvSpPr>
        <p:spPr>
          <a:xfrm>
            <a:off x="9692640" y="-1463040"/>
            <a:ext cx="5029200" cy="5029200"/>
          </a:xfrm>
          <a:prstGeom prst="oval">
            <a:avLst/>
          </a:prstGeom>
          <a:solidFill>
            <a:srgbClr val="065A82">
              <a:alpha val="45000"/>
            </a:srgbClr>
          </a:solidFill>
          <a:ln/>
        </p:spPr>
      </p:sp>
      <p:sp>
        <p:nvSpPr>
          <p:cNvPr id="4" name="Shape 2"/>
          <p:cNvSpPr/>
          <p:nvPr/>
        </p:nvSpPr>
        <p:spPr>
          <a:xfrm>
            <a:off x="-1828800" y="4206240"/>
            <a:ext cx="4206240" cy="4206240"/>
          </a:xfrm>
          <a:prstGeom prst="oval">
            <a:avLst/>
          </a:prstGeom>
          <a:solidFill>
            <a:srgbClr val="1C7293">
              <a:alpha val="40000"/>
            </a:srgbClr>
          </a:solidFill>
          <a:ln/>
        </p:spPr>
      </p:sp>
      <p:sp>
        <p:nvSpPr>
          <p:cNvPr id="5" name="Text 3"/>
          <p:cNvSpPr txBox="1"/>
          <p:nvPr/>
        </p:nvSpPr>
        <p:spPr>
          <a:xfrm>
            <a:off x="548640" y="1554480"/>
            <a:ext cx="10058400" cy="365760"/>
          </a:xfrm>
          <a:prstGeom prst="rect">
            <a:avLst/>
          </a:prstGeom>
          <a:noFill/>
          <a:ln/>
        </p:spPr>
        <p:txBody>
          <a:bodyPr wrap="square" rtlCol="0" anchor="ctr"/>
          <a:lstStyle/>
          <a:p>
            <a:pPr indent="0" marL="0">
              <a:buNone/>
            </a:pPr>
            <a:r>
              <a:rPr lang="en-US" sz="1400" b="1" spc="100" kern="0" dirty="0">
                <a:solidFill>
                  <a:srgbClr val="8FB7E0"/>
                </a:solidFill>
                <a:latin typeface="Calibri" pitchFamily="34" charset="0"/>
                <a:ea typeface="Calibri" pitchFamily="34" charset="-122"/>
                <a:cs typeface="Calibri" pitchFamily="34" charset="-120"/>
              </a:rPr>
              <a:t>血糖値・コンディションデータに基づく</a:t>
            </a:r>
            <a:endParaRPr lang="en-US" sz="1400" dirty="0"/>
          </a:p>
        </p:txBody>
      </p:sp>
      <p:sp>
        <p:nvSpPr>
          <p:cNvPr id="6" name="Text 4"/>
          <p:cNvSpPr txBox="1"/>
          <p:nvPr/>
        </p:nvSpPr>
        <p:spPr>
          <a:xfrm>
            <a:off x="548640" y="1965960"/>
            <a:ext cx="10515600" cy="91440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この選手への朝食提案</a:t>
            </a:r>
            <a:endParaRPr lang="en-US" sz="3800" dirty="0"/>
          </a:p>
        </p:txBody>
      </p:sp>
      <p:sp>
        <p:nvSpPr>
          <p:cNvPr id="7" name="Text 5"/>
          <p:cNvSpPr txBox="1"/>
          <p:nvPr/>
        </p:nvSpPr>
        <p:spPr>
          <a:xfrm>
            <a:off x="548640" y="2880360"/>
            <a:ext cx="10058400" cy="45720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3つの実践的な問いに、結果と考察で答える</a:t>
            </a:r>
            <a:endParaRPr lang="en-US" sz="1600" dirty="0"/>
          </a:p>
        </p:txBody>
      </p:sp>
      <p:sp>
        <p:nvSpPr>
          <p:cNvPr id="8" name="Shape 6"/>
          <p:cNvSpPr/>
          <p:nvPr/>
        </p:nvSpPr>
        <p:spPr>
          <a:xfrm>
            <a:off x="548640" y="3749040"/>
            <a:ext cx="502920" cy="502920"/>
          </a:xfrm>
          <a:prstGeom prst="oval">
            <a:avLst/>
          </a:prstGeom>
          <a:solidFill>
            <a:srgbClr val="1C7293"/>
          </a:solidFill>
          <a:ln/>
        </p:spPr>
      </p:sp>
      <p:sp>
        <p:nvSpPr>
          <p:cNvPr id="9" name="Text 7"/>
          <p:cNvSpPr txBox="1"/>
          <p:nvPr/>
        </p:nvSpPr>
        <p:spPr>
          <a:xfrm>
            <a:off x="548640" y="37490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Q1</a:t>
            </a:r>
            <a:endParaRPr lang="en-US" sz="1500" dirty="0"/>
          </a:p>
        </p:txBody>
      </p:sp>
      <p:sp>
        <p:nvSpPr>
          <p:cNvPr id="10" name="Text 8"/>
          <p:cNvSpPr txBox="1"/>
          <p:nvPr/>
        </p:nvSpPr>
        <p:spPr>
          <a:xfrm>
            <a:off x="1234440" y="3794760"/>
            <a:ext cx="9601200" cy="411480"/>
          </a:xfrm>
          <a:prstGeom prst="rect">
            <a:avLst/>
          </a:prstGeom>
          <a:noFill/>
          <a:ln/>
        </p:spPr>
        <p:txBody>
          <a:bodyPr wrap="square" lIns="0" tIns="0" rIns="0" bIns="0" rtlCol="0" anchor="ctr"/>
          <a:lstStyle/>
          <a:p>
            <a:pPr indent="0" marL="0">
              <a:buNone/>
            </a:pPr>
            <a:r>
              <a:rPr lang="en-US" sz="1500" dirty="0">
                <a:solidFill>
                  <a:srgbClr val="E8EDF7"/>
                </a:solidFill>
                <a:latin typeface="Calibri" pitchFamily="34" charset="0"/>
                <a:ea typeface="Calibri" pitchFamily="34" charset="-122"/>
                <a:cs typeface="Calibri" pitchFamily="34" charset="-120"/>
              </a:rPr>
              <a:t>固形が良いのか、スムージーが良いのか</a:t>
            </a:r>
            <a:endParaRPr lang="en-US" sz="1500" dirty="0"/>
          </a:p>
        </p:txBody>
      </p:sp>
      <p:sp>
        <p:nvSpPr>
          <p:cNvPr id="11" name="Shape 9"/>
          <p:cNvSpPr/>
          <p:nvPr/>
        </p:nvSpPr>
        <p:spPr>
          <a:xfrm>
            <a:off x="548640" y="4462272"/>
            <a:ext cx="502920" cy="502920"/>
          </a:xfrm>
          <a:prstGeom prst="oval">
            <a:avLst/>
          </a:prstGeom>
          <a:solidFill>
            <a:srgbClr val="1C7293"/>
          </a:solidFill>
          <a:ln/>
        </p:spPr>
      </p:sp>
      <p:sp>
        <p:nvSpPr>
          <p:cNvPr id="12" name="Text 10"/>
          <p:cNvSpPr txBox="1"/>
          <p:nvPr/>
        </p:nvSpPr>
        <p:spPr>
          <a:xfrm>
            <a:off x="548640" y="446227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Q2</a:t>
            </a:r>
            <a:endParaRPr lang="en-US" sz="1500" dirty="0"/>
          </a:p>
        </p:txBody>
      </p:sp>
      <p:sp>
        <p:nvSpPr>
          <p:cNvPr id="13" name="Text 11"/>
          <p:cNvSpPr txBox="1"/>
          <p:nvPr/>
        </p:nvSpPr>
        <p:spPr>
          <a:xfrm>
            <a:off x="1234440" y="4507992"/>
            <a:ext cx="9601200" cy="411480"/>
          </a:xfrm>
          <a:prstGeom prst="rect">
            <a:avLst/>
          </a:prstGeom>
          <a:noFill/>
          <a:ln/>
        </p:spPr>
        <p:txBody>
          <a:bodyPr wrap="square" lIns="0" tIns="0" rIns="0" bIns="0" rtlCol="0" anchor="ctr"/>
          <a:lstStyle/>
          <a:p>
            <a:pPr indent="0" marL="0">
              <a:buNone/>
            </a:pPr>
            <a:r>
              <a:rPr lang="en-US" sz="1500" dirty="0">
                <a:solidFill>
                  <a:srgbClr val="E8EDF7"/>
                </a:solidFill>
                <a:latin typeface="Calibri" pitchFamily="34" charset="0"/>
                <a:ea typeface="Calibri" pitchFamily="34" charset="-122"/>
                <a:cs typeface="Calibri" pitchFamily="34" charset="-120"/>
              </a:rPr>
              <a:t>スムージーとおにぎりを食べるタイミングはいつが良いのか</a:t>
            </a:r>
            <a:endParaRPr lang="en-US" sz="1500" dirty="0"/>
          </a:p>
        </p:txBody>
      </p:sp>
      <p:sp>
        <p:nvSpPr>
          <p:cNvPr id="14" name="Shape 12"/>
          <p:cNvSpPr/>
          <p:nvPr/>
        </p:nvSpPr>
        <p:spPr>
          <a:xfrm>
            <a:off x="548640" y="5175504"/>
            <a:ext cx="502920" cy="502920"/>
          </a:xfrm>
          <a:prstGeom prst="oval">
            <a:avLst/>
          </a:prstGeom>
          <a:solidFill>
            <a:srgbClr val="1C7293"/>
          </a:solidFill>
          <a:ln/>
        </p:spPr>
      </p:sp>
      <p:sp>
        <p:nvSpPr>
          <p:cNvPr id="15" name="Text 13"/>
          <p:cNvSpPr txBox="1"/>
          <p:nvPr/>
        </p:nvSpPr>
        <p:spPr>
          <a:xfrm>
            <a:off x="548640" y="5175504"/>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Q3</a:t>
            </a:r>
            <a:endParaRPr lang="en-US" sz="1500" dirty="0"/>
          </a:p>
        </p:txBody>
      </p:sp>
      <p:sp>
        <p:nvSpPr>
          <p:cNvPr id="16" name="Text 14"/>
          <p:cNvSpPr txBox="1"/>
          <p:nvPr/>
        </p:nvSpPr>
        <p:spPr>
          <a:xfrm>
            <a:off x="1234440" y="5221224"/>
            <a:ext cx="9601200" cy="411480"/>
          </a:xfrm>
          <a:prstGeom prst="rect">
            <a:avLst/>
          </a:prstGeom>
          <a:noFill/>
          <a:ln/>
        </p:spPr>
        <p:txBody>
          <a:bodyPr wrap="square" lIns="0" tIns="0" rIns="0" bIns="0" rtlCol="0" anchor="ctr"/>
          <a:lstStyle/>
          <a:p>
            <a:pPr indent="0" marL="0">
              <a:buNone/>
            </a:pPr>
            <a:r>
              <a:rPr lang="en-US" sz="1500" dirty="0">
                <a:solidFill>
                  <a:srgbClr val="E8EDF7"/>
                </a:solidFill>
                <a:latin typeface="Calibri" pitchFamily="34" charset="0"/>
                <a:ea typeface="Calibri" pitchFamily="34" charset="-122"/>
                <a:cs typeface="Calibri" pitchFamily="34" charset="-120"/>
              </a:rPr>
              <a:t>朝ごはんの糖質（C）は少し減らした方が良いのか</a:t>
            </a:r>
            <a:endParaRPr lang="en-US" sz="1500" dirty="0"/>
          </a:p>
        </p:txBody>
      </p:sp>
      <p:sp>
        <p:nvSpPr>
          <p:cNvPr id="17" name="Text 15"/>
          <p:cNvSpPr txBox="1"/>
          <p:nvPr/>
        </p:nvSpPr>
        <p:spPr>
          <a:xfrm>
            <a:off x="548640" y="6263640"/>
            <a:ext cx="9144000" cy="320040"/>
          </a:xfrm>
          <a:prstGeom prst="rect">
            <a:avLst/>
          </a:prstGeom>
          <a:noFill/>
          <a:ln/>
        </p:spPr>
        <p:txBody>
          <a:bodyPr wrap="square" rtlCol="0" anchor="ctr"/>
          <a:lstStyle/>
          <a:p>
            <a:pPr indent="0" marL="0">
              <a:buNone/>
            </a:pPr>
            <a:r>
              <a:rPr lang="en-US" sz="1050" i="1" dirty="0">
                <a:solidFill>
                  <a:srgbClr val="9AA6C4"/>
                </a:solidFill>
                <a:latin typeface="Calibri" pitchFamily="34" charset="0"/>
                <a:ea typeface="Calibri" pitchFamily="34" charset="-122"/>
                <a:cs typeface="Calibri" pitchFamily="34" charset="-120"/>
              </a:rPr>
              <a:t>対象：高位脊髄損傷（SCI）車いす陸上選手 1名（反復測定、各条件n=3日）</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310896"/>
          </a:xfrm>
          <a:prstGeom prst="rect">
            <a:avLst/>
          </a:prstGeom>
          <a:noFill/>
          <a:ln/>
        </p:spPr>
        <p:txBody>
          <a:bodyPr wrap="square" rtlCol="0" anchor="ctr"/>
          <a:lstStyle/>
          <a:p>
            <a:pPr indent="0" marL="0">
              <a:buNone/>
            </a:pPr>
            <a:r>
              <a:rPr lang="en-US" sz="1250" b="1" spc="100" kern="0" dirty="0">
                <a:solidFill>
                  <a:srgbClr val="1C7293"/>
                </a:solidFill>
                <a:latin typeface="Calibri" pitchFamily="34" charset="0"/>
                <a:ea typeface="Calibri" pitchFamily="34" charset="-122"/>
                <a:cs typeface="Calibri" pitchFamily="34" charset="-120"/>
              </a:rPr>
              <a:t>先にお読みください</a:t>
            </a:r>
            <a:endParaRPr lang="en-US" sz="1250" dirty="0"/>
          </a:p>
        </p:txBody>
      </p:sp>
      <p:sp>
        <p:nvSpPr>
          <p:cNvPr id="3" name="Text 1"/>
          <p:cNvSpPr txBox="1"/>
          <p:nvPr/>
        </p:nvSpPr>
        <p:spPr>
          <a:xfrm>
            <a:off x="548640" y="676656"/>
            <a:ext cx="11091672" cy="59436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新知見：血糖ベースラインの持続的シフト</a:t>
            </a:r>
            <a:endParaRPr lang="en-US" sz="2600" dirty="0"/>
          </a:p>
        </p:txBody>
      </p:sp>
      <p:sp>
        <p:nvSpPr>
          <p:cNvPr id="4" name="Text 2"/>
          <p:cNvSpPr txBox="1"/>
          <p:nvPr/>
        </p:nvSpPr>
        <p:spPr>
          <a:xfrm>
            <a:off x="548640" y="1554480"/>
            <a:ext cx="11091672" cy="100584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14日間の連続CGMデータで、DAY5（8/29）14:50頃から血糖が持続的に上昇し、以後一度も元の水準に戻っていないことが判明しました。夜間平均血糖：DAY1〜4は93〜107 mg/dL→DAY6以降は130〜177 mg/dL。低血糖（70mg/dL未満）は14日間通じて一度も検出されていません。</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11091672" cy="1828800"/>
        </p:xfrm>
        <a:graphic>
          <a:graphicData uri="http://schemas.openxmlformats.org/drawingml/2006/table">
            <a:tbl>
              <a:tblPr/>
              <a:tblGrid>
                <a:gridCol w="3776472"/>
                <a:gridCol w="786384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この提案への影響</a:t>
                      </a:r>
                      <a:endParaRPr lang="en-US" sz="13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21295C"/>
                    </a:solidFill>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21295C"/>
                    </a:solidFill>
                  </a:tcPr>
                </a:tc>
              </a:tr>
              <a:tr h="457200">
                <a:tc>
                  <a:txBody>
                    <a:bodyPr/>
                    <a:lstStyle/>
                    <a:p>
                      <a:pPr indent="0" marL="0">
                        <a:buNone/>
                      </a:pPr>
                      <a:r>
                        <a:rPr lang="en-US" sz="1300" b="1" dirty="0">
                          <a:solidFill>
                            <a:srgbClr val="21295C"/>
                          </a:solidFill>
                          <a:latin typeface="Calibri" pitchFamily="34" charset="0"/>
                          <a:ea typeface="Calibri" pitchFamily="34" charset="-122"/>
                          <a:cs typeface="Calibri" pitchFamily="34" charset="-120"/>
                        </a:rPr>
                        <a:t>Q1（固形 vs スムージー）</a:t>
                      </a:r>
                      <a:endParaRPr lang="en-US" sz="13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300" dirty="0">
                          <a:solidFill>
                            <a:srgbClr val="6B4B00"/>
                          </a:solidFill>
                          <a:latin typeface="Calibri" pitchFamily="34" charset="0"/>
                          <a:ea typeface="Calibri" pitchFamily="34" charset="-122"/>
                          <a:cs typeface="Calibri" pitchFamily="34" charset="-120"/>
                        </a:rPr>
                        <a:t>⚠ スムージーはDAY4・5(シフト前)とDAY6(シフト後)が混在。結論は参考値として扱う</a:t>
                      </a:r>
                      <a:endParaRPr lang="en-US" sz="13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21295C"/>
                          </a:solidFill>
                          <a:latin typeface="Calibri" pitchFamily="34" charset="0"/>
                          <a:ea typeface="Calibri" pitchFamily="34" charset="-122"/>
                          <a:cs typeface="Calibri" pitchFamily="34" charset="-120"/>
                        </a:rPr>
                        <a:t>Q2（食べるタイミング）</a:t>
                      </a:r>
                      <a:endParaRPr lang="en-US" sz="13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4F7F9"/>
                    </a:solidFill>
                  </a:tcPr>
                </a:tc>
                <a:tc>
                  <a:txBody>
                    <a:bodyPr/>
                    <a:lstStyle/>
                    <a:p>
                      <a:pPr indent="0" marL="0">
                        <a:buNone/>
                      </a:pPr>
                      <a:r>
                        <a:rPr lang="en-US" sz="1300" dirty="0">
                          <a:solidFill>
                            <a:srgbClr val="6B4B00"/>
                          </a:solidFill>
                          <a:latin typeface="Calibri" pitchFamily="34" charset="0"/>
                          <a:ea typeface="Calibri" pitchFamily="34" charset="-122"/>
                          <a:cs typeface="Calibri" pitchFamily="34" charset="-120"/>
                        </a:rPr>
                        <a:t>⚠ 同様にスムージー側がシフト前後混在。結論は参考値として扱う</a:t>
                      </a:r>
                      <a:endParaRPr lang="en-US" sz="13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4F7F9"/>
                    </a:solidFill>
                  </a:tcPr>
                </a:tc>
              </a:tr>
              <a:tr h="457200">
                <a:tc>
                  <a:txBody>
                    <a:bodyPr/>
                    <a:lstStyle/>
                    <a:p>
                      <a:pPr indent="0" marL="0">
                        <a:buNone/>
                      </a:pPr>
                      <a:r>
                        <a:rPr lang="en-US" sz="1300" b="1" dirty="0">
                          <a:solidFill>
                            <a:srgbClr val="21295C"/>
                          </a:solidFill>
                          <a:latin typeface="Calibri" pitchFamily="34" charset="0"/>
                          <a:ea typeface="Calibri" pitchFamily="34" charset="-122"/>
                          <a:cs typeface="Calibri" pitchFamily="34" charset="-120"/>
                        </a:rPr>
                        <a:t>Q3（糖質量）</a:t>
                      </a:r>
                      <a:endParaRPr lang="en-US" sz="13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300" dirty="0">
                          <a:solidFill>
                            <a:srgbClr val="0F5C3D"/>
                          </a:solidFill>
                          <a:latin typeface="Calibri" pitchFamily="34" charset="0"/>
                          <a:ea typeface="Calibri" pitchFamily="34" charset="-122"/>
                          <a:cs typeface="Calibri" pitchFamily="34" charset="-120"/>
                        </a:rPr>
                        <a:t>✓ 両条件ともシフト後で条件が揃っており、結論は維持できる</a:t>
                      </a:r>
                      <a:endParaRPr lang="en-US" sz="13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937760"/>
            <a:ext cx="11091672" cy="1188720"/>
          </a:xfrm>
          <a:prstGeom prst="roundRect">
            <a:avLst>
              <a:gd name="adj" fmla="val 7692"/>
            </a:avLst>
          </a:prstGeom>
          <a:solidFill>
            <a:srgbClr val="FDF3E2"/>
          </a:solidFill>
          <a:ln w="12700">
            <a:solidFill>
              <a:srgbClr val="EDA100"/>
            </a:solidFill>
            <a:prstDash val="solid"/>
          </a:ln>
        </p:spPr>
      </p:sp>
      <p:sp>
        <p:nvSpPr>
          <p:cNvPr id="7" name="Text 4"/>
          <p:cNvSpPr txBox="1"/>
          <p:nvPr/>
        </p:nvSpPr>
        <p:spPr>
          <a:xfrm>
            <a:off x="822960" y="5074920"/>
            <a:ext cx="10543032" cy="914400"/>
          </a:xfrm>
          <a:prstGeom prst="rect">
            <a:avLst/>
          </a:prstGeom>
          <a:noFill/>
          <a:ln/>
        </p:spPr>
        <p:txBody>
          <a:bodyPr wrap="square" lIns="0" tIns="0" rIns="0" bIns="0" rtlCol="0" anchor="ctr"/>
          <a:lstStyle/>
          <a:p>
            <a:pPr indent="0" marL="0">
              <a:buNone/>
            </a:pPr>
            <a:r>
              <a:rPr lang="en-US" sz="1200" b="1" dirty="0">
                <a:solidFill>
                  <a:srgbClr val="6B4B00"/>
                </a:solidFill>
                <a:latin typeface="Calibri" pitchFamily="34" charset="0"/>
                <a:ea typeface="Calibri" pitchFamily="34" charset="-122"/>
                <a:cs typeface="Calibri" pitchFamily="34" charset="-120"/>
              </a:rPr>
              <a:t>原因はデータからは特定できません。選手・スタッフに8/29 14:30〜15:30頃の状況（補食・体調・ストレス）を確認することを推奨します。原因が判明すればQ1・Q2の結論を再評価できます。</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310896"/>
          </a:xfrm>
          <a:prstGeom prst="rect">
            <a:avLst/>
          </a:prstGeom>
          <a:noFill/>
          <a:ln/>
        </p:spPr>
        <p:txBody>
          <a:bodyPr wrap="square" rtlCol="0" anchor="ctr"/>
          <a:lstStyle/>
          <a:p>
            <a:pPr indent="0" marL="0">
              <a:buNone/>
            </a:pPr>
            <a:r>
              <a:rPr lang="en-US" sz="1250" b="1" spc="100" kern="0" dirty="0">
                <a:solidFill>
                  <a:srgbClr val="1C7293"/>
                </a:solidFill>
                <a:latin typeface="Calibri" pitchFamily="34" charset="0"/>
                <a:ea typeface="Calibri" pitchFamily="34" charset="-122"/>
                <a:cs typeface="Calibri" pitchFamily="34" charset="-120"/>
              </a:rPr>
              <a:t>Q1 – RESULTS</a:t>
            </a:r>
            <a:endParaRPr lang="en-US" sz="1250" dirty="0"/>
          </a:p>
        </p:txBody>
      </p:sp>
      <p:sp>
        <p:nvSpPr>
          <p:cNvPr id="3" name="Text 1"/>
          <p:cNvSpPr txBox="1"/>
          <p:nvPr/>
        </p:nvSpPr>
        <p:spPr>
          <a:xfrm>
            <a:off x="548640" y="676656"/>
            <a:ext cx="11091672" cy="59436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固形 vs スムージー：結果</a:t>
            </a:r>
            <a:endParaRPr lang="en-US" sz="2600" dirty="0"/>
          </a:p>
        </p:txBody>
      </p:sp>
      <p:sp>
        <p:nvSpPr>
          <p:cNvPr id="4" name="Shape 2"/>
          <p:cNvSpPr/>
          <p:nvPr/>
        </p:nvSpPr>
        <p:spPr>
          <a:xfrm>
            <a:off x="548640" y="1298448"/>
            <a:ext cx="11091672" cy="384048"/>
          </a:xfrm>
          <a:prstGeom prst="roundRect">
            <a:avLst>
              <a:gd name="adj" fmla="val 19048"/>
            </a:avLst>
          </a:prstGeom>
          <a:solidFill>
            <a:srgbClr val="F4F7F9"/>
          </a:solidFill>
          <a:ln/>
        </p:spPr>
      </p:sp>
      <p:sp>
        <p:nvSpPr>
          <p:cNvPr id="5" name="Text 3"/>
          <p:cNvSpPr txBox="1"/>
          <p:nvPr/>
        </p:nvSpPr>
        <p:spPr>
          <a:xfrm>
            <a:off x="685800" y="1298448"/>
            <a:ext cx="548640" cy="384048"/>
          </a:xfrm>
          <a:prstGeom prst="rect">
            <a:avLst/>
          </a:prstGeom>
          <a:noFill/>
          <a:ln/>
        </p:spPr>
        <p:txBody>
          <a:bodyPr wrap="square" lIns="0" tIns="0" rIns="0" bIns="0" rtlCol="0" anchor="ctr"/>
          <a:lstStyle/>
          <a:p>
            <a:pPr algn="ctr" indent="0" marL="0">
              <a:buNone/>
            </a:pPr>
            <a:r>
              <a:rPr lang="en-US" sz="1400" b="1" dirty="0">
                <a:solidFill>
                  <a:srgbClr val="1C7293"/>
                </a:solidFill>
                <a:latin typeface="Cambria" pitchFamily="34" charset="0"/>
                <a:ea typeface="Cambria" pitchFamily="34" charset="-122"/>
                <a:cs typeface="Cambria" pitchFamily="34" charset="-120"/>
              </a:rPr>
              <a:t>Q1</a:t>
            </a:r>
            <a:endParaRPr lang="en-US" sz="1400" dirty="0"/>
          </a:p>
        </p:txBody>
      </p:sp>
      <p:sp>
        <p:nvSpPr>
          <p:cNvPr id="6" name="Text 4"/>
          <p:cNvSpPr txBox="1"/>
          <p:nvPr/>
        </p:nvSpPr>
        <p:spPr>
          <a:xfrm>
            <a:off x="1280160" y="1298448"/>
            <a:ext cx="10177272" cy="384048"/>
          </a:xfrm>
          <a:prstGeom prst="rect">
            <a:avLst/>
          </a:prstGeom>
          <a:noFill/>
          <a:ln/>
        </p:spPr>
        <p:txBody>
          <a:bodyPr wrap="square" lIns="0" tIns="0" rIns="0" bIns="0" rtlCol="0" anchor="ctr"/>
          <a:lstStyle/>
          <a:p>
            <a:pPr indent="0" marL="0">
              <a:buNone/>
            </a:pPr>
            <a:r>
              <a:rPr lang="en-US" sz="1300" dirty="0">
                <a:solidFill>
                  <a:srgbClr val="21295C"/>
                </a:solidFill>
                <a:latin typeface="Calibri" pitchFamily="34" charset="0"/>
                <a:ea typeface="Calibri" pitchFamily="34" charset="-122"/>
                <a:cs typeface="Calibri" pitchFamily="34" charset="-120"/>
              </a:rPr>
              <a:t>固形が良いのか、スムージーが良いのか？</a:t>
            </a:r>
            <a:endParaRPr lang="en-US" sz="1300" dirty="0"/>
          </a:p>
        </p:txBody>
      </p:sp>
      <p:graphicFrame>
        <p:nvGraphicFramePr>
          <p:cNvPr id="7" name="Chart 0" descr=""/>
          <p:cNvGraphicFramePr/>
          <p:nvPr/>
        </p:nvGraphicFramePr>
        <p:xfrm>
          <a:off x="548640" y="1874520"/>
          <a:ext cx="6949440" cy="32461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7818120" y="1920240"/>
            <a:ext cx="3822192" cy="219456"/>
          </a:xfrm>
          <a:prstGeom prst="rect">
            <a:avLst/>
          </a:prstGeom>
          <a:noFill/>
          <a:ln/>
        </p:spPr>
        <p:txBody>
          <a:bodyPr wrap="square" lIns="0" tIns="0" rIns="0" bIns="0" rtlCol="0" anchor="ctr"/>
          <a:lstStyle/>
          <a:p>
            <a:pPr indent="0" marL="0">
              <a:buNone/>
            </a:pPr>
            <a:r>
              <a:rPr lang="en-US" sz="1050" b="1" dirty="0">
                <a:solidFill>
                  <a:srgbClr val="21295C"/>
                </a:solidFill>
                <a:latin typeface="Calibri" pitchFamily="34" charset="0"/>
                <a:ea typeface="Calibri" pitchFamily="34" charset="-122"/>
                <a:cs typeface="Calibri" pitchFamily="34" charset="-120"/>
              </a:rPr>
              <a:t>Δピーク血糖値</a:t>
            </a:r>
            <a:endParaRPr lang="en-US" sz="1050" dirty="0"/>
          </a:p>
        </p:txBody>
      </p:sp>
      <p:sp>
        <p:nvSpPr>
          <p:cNvPr id="9" name="Text 6"/>
          <p:cNvSpPr txBox="1"/>
          <p:nvPr/>
        </p:nvSpPr>
        <p:spPr>
          <a:xfrm>
            <a:off x="7818120" y="2139696"/>
            <a:ext cx="1911096" cy="365760"/>
          </a:xfrm>
          <a:prstGeom prst="rect">
            <a:avLst/>
          </a:prstGeom>
          <a:noFill/>
          <a:ln/>
        </p:spPr>
        <p:txBody>
          <a:bodyPr wrap="square" lIns="0" tIns="0" rIns="0" bIns="0" rtlCol="0" anchor="ctr"/>
          <a:lstStyle/>
          <a:p>
            <a:pPr indent="0" marL="0">
              <a:buNone/>
            </a:pPr>
            <a:r>
              <a:rPr lang="en-US" sz="1800" b="1" dirty="0">
                <a:solidFill>
                  <a:srgbClr val="EB6834"/>
                </a:solidFill>
                <a:latin typeface="Cambria" pitchFamily="34" charset="0"/>
                <a:ea typeface="Cambria" pitchFamily="34" charset="-122"/>
                <a:cs typeface="Cambria" pitchFamily="34" charset="-120"/>
              </a:rPr>
              <a:t>85.0</a:t>
            </a:r>
            <a:endParaRPr lang="en-US" sz="1800" dirty="0"/>
          </a:p>
        </p:txBody>
      </p:sp>
      <p:sp>
        <p:nvSpPr>
          <p:cNvPr id="10" name="Text 7"/>
          <p:cNvSpPr txBox="1"/>
          <p:nvPr/>
        </p:nvSpPr>
        <p:spPr>
          <a:xfrm>
            <a:off x="9729216" y="2139696"/>
            <a:ext cx="1911096" cy="365760"/>
          </a:xfrm>
          <a:prstGeom prst="rect">
            <a:avLst/>
          </a:prstGeom>
          <a:noFill/>
          <a:ln/>
        </p:spPr>
        <p:txBody>
          <a:bodyPr wrap="square" lIns="0" tIns="0" rIns="0" bIns="0" rtlCol="0" anchor="ctr"/>
          <a:lstStyle/>
          <a:p>
            <a:pPr algn="r" indent="0" marL="0">
              <a:buNone/>
            </a:pPr>
            <a:r>
              <a:rPr lang="en-US" sz="1800" b="1" dirty="0">
                <a:solidFill>
                  <a:srgbClr val="2A78D6"/>
                </a:solidFill>
                <a:latin typeface="Cambria" pitchFamily="34" charset="0"/>
                <a:ea typeface="Cambria" pitchFamily="34" charset="-122"/>
                <a:cs typeface="Cambria" pitchFamily="34" charset="-120"/>
              </a:rPr>
              <a:t>53.7</a:t>
            </a:r>
            <a:endParaRPr lang="en-US" sz="1800" dirty="0"/>
          </a:p>
        </p:txBody>
      </p:sp>
      <p:sp>
        <p:nvSpPr>
          <p:cNvPr id="11" name="Text 8"/>
          <p:cNvSpPr txBox="1"/>
          <p:nvPr/>
        </p:nvSpPr>
        <p:spPr>
          <a:xfrm>
            <a:off x="7818120" y="2487168"/>
            <a:ext cx="3822192" cy="182880"/>
          </a:xfrm>
          <a:prstGeom prst="rect">
            <a:avLst/>
          </a:prstGeom>
          <a:noFill/>
          <a:ln/>
        </p:spPr>
        <p:txBody>
          <a:bodyPr wrap="square" lIns="0" tIns="0" rIns="0" bIns="0" rtlCol="0" anchor="ctr"/>
          <a:lstStyle/>
          <a:p>
            <a:pPr indent="0" marL="0">
              <a:buNone/>
            </a:pPr>
            <a:r>
              <a:rPr lang="en-US" sz="800" dirty="0">
                <a:solidFill>
                  <a:srgbClr val="5C6570"/>
                </a:solidFill>
                <a:latin typeface="Calibri" pitchFamily="34" charset="0"/>
                <a:ea typeface="Calibri" pitchFamily="34" charset="-122"/>
                <a:cs typeface="Calibri" pitchFamily="34" charset="-120"/>
              </a:rPr>
              <a:t>mg/dL</a:t>
            </a:r>
            <a:endParaRPr lang="en-US" sz="800" dirty="0"/>
          </a:p>
        </p:txBody>
      </p:sp>
      <p:sp>
        <p:nvSpPr>
          <p:cNvPr id="12" name="Text 9"/>
          <p:cNvSpPr txBox="1"/>
          <p:nvPr/>
        </p:nvSpPr>
        <p:spPr>
          <a:xfrm>
            <a:off x="7818120" y="2852928"/>
            <a:ext cx="3822192" cy="219456"/>
          </a:xfrm>
          <a:prstGeom prst="rect">
            <a:avLst/>
          </a:prstGeom>
          <a:noFill/>
          <a:ln/>
        </p:spPr>
        <p:txBody>
          <a:bodyPr wrap="square" lIns="0" tIns="0" rIns="0" bIns="0" rtlCol="0" anchor="ctr"/>
          <a:lstStyle/>
          <a:p>
            <a:pPr indent="0" marL="0">
              <a:buNone/>
            </a:pPr>
            <a:r>
              <a:rPr lang="en-US" sz="1050" b="1" dirty="0">
                <a:solidFill>
                  <a:srgbClr val="21295C"/>
                </a:solidFill>
                <a:latin typeface="Calibri" pitchFamily="34" charset="0"/>
                <a:ea typeface="Calibri" pitchFamily="34" charset="-122"/>
                <a:cs typeface="Calibri" pitchFamily="34" charset="-120"/>
              </a:rPr>
              <a:t>変動係数 CV</a:t>
            </a:r>
            <a:endParaRPr lang="en-US" sz="1050" dirty="0"/>
          </a:p>
        </p:txBody>
      </p:sp>
      <p:sp>
        <p:nvSpPr>
          <p:cNvPr id="13" name="Text 10"/>
          <p:cNvSpPr txBox="1"/>
          <p:nvPr/>
        </p:nvSpPr>
        <p:spPr>
          <a:xfrm>
            <a:off x="7818120" y="3072384"/>
            <a:ext cx="1911096" cy="365760"/>
          </a:xfrm>
          <a:prstGeom prst="rect">
            <a:avLst/>
          </a:prstGeom>
          <a:noFill/>
          <a:ln/>
        </p:spPr>
        <p:txBody>
          <a:bodyPr wrap="square" lIns="0" tIns="0" rIns="0" bIns="0" rtlCol="0" anchor="ctr"/>
          <a:lstStyle/>
          <a:p>
            <a:pPr indent="0" marL="0">
              <a:buNone/>
            </a:pPr>
            <a:r>
              <a:rPr lang="en-US" sz="1800" b="1" dirty="0">
                <a:solidFill>
                  <a:srgbClr val="EB6834"/>
                </a:solidFill>
                <a:latin typeface="Cambria" pitchFamily="34" charset="0"/>
                <a:ea typeface="Cambria" pitchFamily="34" charset="-122"/>
                <a:cs typeface="Cambria" pitchFamily="34" charset="-120"/>
              </a:rPr>
              <a:t>14.7%</a:t>
            </a:r>
            <a:endParaRPr lang="en-US" sz="1800" dirty="0"/>
          </a:p>
        </p:txBody>
      </p:sp>
      <p:sp>
        <p:nvSpPr>
          <p:cNvPr id="14" name="Text 11"/>
          <p:cNvSpPr txBox="1"/>
          <p:nvPr/>
        </p:nvSpPr>
        <p:spPr>
          <a:xfrm>
            <a:off x="9729216" y="3072384"/>
            <a:ext cx="1911096" cy="365760"/>
          </a:xfrm>
          <a:prstGeom prst="rect">
            <a:avLst/>
          </a:prstGeom>
          <a:noFill/>
          <a:ln/>
        </p:spPr>
        <p:txBody>
          <a:bodyPr wrap="square" lIns="0" tIns="0" rIns="0" bIns="0" rtlCol="0" anchor="ctr"/>
          <a:lstStyle/>
          <a:p>
            <a:pPr algn="r" indent="0" marL="0">
              <a:buNone/>
            </a:pPr>
            <a:r>
              <a:rPr lang="en-US" sz="1800" b="1" dirty="0">
                <a:solidFill>
                  <a:srgbClr val="2A78D6"/>
                </a:solidFill>
                <a:latin typeface="Cambria" pitchFamily="34" charset="0"/>
                <a:ea typeface="Cambria" pitchFamily="34" charset="-122"/>
                <a:cs typeface="Cambria" pitchFamily="34" charset="-120"/>
              </a:rPr>
              <a:t>11.2%</a:t>
            </a:r>
            <a:endParaRPr lang="en-US" sz="1800" dirty="0"/>
          </a:p>
        </p:txBody>
      </p:sp>
      <p:sp>
        <p:nvSpPr>
          <p:cNvPr id="15" name="Text 12"/>
          <p:cNvSpPr txBox="1"/>
          <p:nvPr/>
        </p:nvSpPr>
        <p:spPr>
          <a:xfrm>
            <a:off x="7818120" y="3785616"/>
            <a:ext cx="3822192" cy="219456"/>
          </a:xfrm>
          <a:prstGeom prst="rect">
            <a:avLst/>
          </a:prstGeom>
          <a:noFill/>
          <a:ln/>
        </p:spPr>
        <p:txBody>
          <a:bodyPr wrap="square" lIns="0" tIns="0" rIns="0" bIns="0" rtlCol="0" anchor="ctr"/>
          <a:lstStyle/>
          <a:p>
            <a:pPr indent="0" marL="0">
              <a:buNone/>
            </a:pPr>
            <a:r>
              <a:rPr lang="en-US" sz="1050" b="1" dirty="0">
                <a:solidFill>
                  <a:srgbClr val="21295C"/>
                </a:solidFill>
                <a:latin typeface="Calibri" pitchFamily="34" charset="0"/>
                <a:ea typeface="Calibri" pitchFamily="34" charset="-122"/>
                <a:cs typeface="Calibri" pitchFamily="34" charset="-120"/>
              </a:rPr>
              <a:t>練習中(11-14h)平均血糖</a:t>
            </a:r>
            <a:endParaRPr lang="en-US" sz="1050" dirty="0"/>
          </a:p>
        </p:txBody>
      </p:sp>
      <p:sp>
        <p:nvSpPr>
          <p:cNvPr id="16" name="Text 13"/>
          <p:cNvSpPr txBox="1"/>
          <p:nvPr/>
        </p:nvSpPr>
        <p:spPr>
          <a:xfrm>
            <a:off x="7818120" y="4005072"/>
            <a:ext cx="1911096" cy="365760"/>
          </a:xfrm>
          <a:prstGeom prst="rect">
            <a:avLst/>
          </a:prstGeom>
          <a:noFill/>
          <a:ln/>
        </p:spPr>
        <p:txBody>
          <a:bodyPr wrap="square" lIns="0" tIns="0" rIns="0" bIns="0" rtlCol="0" anchor="ctr"/>
          <a:lstStyle/>
          <a:p>
            <a:pPr indent="0" marL="0">
              <a:buNone/>
            </a:pPr>
            <a:r>
              <a:rPr lang="en-US" sz="1800" b="1" dirty="0">
                <a:solidFill>
                  <a:srgbClr val="EB6834"/>
                </a:solidFill>
                <a:latin typeface="Cambria" pitchFamily="34" charset="0"/>
                <a:ea typeface="Cambria" pitchFamily="34" charset="-122"/>
                <a:cs typeface="Cambria" pitchFamily="34" charset="-120"/>
              </a:rPr>
              <a:t>222.1</a:t>
            </a:r>
            <a:endParaRPr lang="en-US" sz="1800" dirty="0"/>
          </a:p>
        </p:txBody>
      </p:sp>
      <p:sp>
        <p:nvSpPr>
          <p:cNvPr id="17" name="Text 14"/>
          <p:cNvSpPr txBox="1"/>
          <p:nvPr/>
        </p:nvSpPr>
        <p:spPr>
          <a:xfrm>
            <a:off x="9729216" y="4005072"/>
            <a:ext cx="1911096" cy="365760"/>
          </a:xfrm>
          <a:prstGeom prst="rect">
            <a:avLst/>
          </a:prstGeom>
          <a:noFill/>
          <a:ln/>
        </p:spPr>
        <p:txBody>
          <a:bodyPr wrap="square" lIns="0" tIns="0" rIns="0" bIns="0" rtlCol="0" anchor="ctr"/>
          <a:lstStyle/>
          <a:p>
            <a:pPr algn="r" indent="0" marL="0">
              <a:buNone/>
            </a:pPr>
            <a:r>
              <a:rPr lang="en-US" sz="1800" b="1" dirty="0">
                <a:solidFill>
                  <a:srgbClr val="2A78D6"/>
                </a:solidFill>
                <a:latin typeface="Cambria" pitchFamily="34" charset="0"/>
                <a:ea typeface="Cambria" pitchFamily="34" charset="-122"/>
                <a:cs typeface="Cambria" pitchFamily="34" charset="-120"/>
              </a:rPr>
              <a:t>135.1</a:t>
            </a:r>
            <a:endParaRPr lang="en-US" sz="1800" dirty="0"/>
          </a:p>
        </p:txBody>
      </p:sp>
      <p:sp>
        <p:nvSpPr>
          <p:cNvPr id="18" name="Text 15"/>
          <p:cNvSpPr txBox="1"/>
          <p:nvPr/>
        </p:nvSpPr>
        <p:spPr>
          <a:xfrm>
            <a:off x="7818120" y="4352544"/>
            <a:ext cx="3822192" cy="182880"/>
          </a:xfrm>
          <a:prstGeom prst="rect">
            <a:avLst/>
          </a:prstGeom>
          <a:noFill/>
          <a:ln/>
        </p:spPr>
        <p:txBody>
          <a:bodyPr wrap="square" lIns="0" tIns="0" rIns="0" bIns="0" rtlCol="0" anchor="ctr"/>
          <a:lstStyle/>
          <a:p>
            <a:pPr indent="0" marL="0">
              <a:buNone/>
            </a:pPr>
            <a:r>
              <a:rPr lang="en-US" sz="800" dirty="0">
                <a:solidFill>
                  <a:srgbClr val="5C6570"/>
                </a:solidFill>
                <a:latin typeface="Calibri" pitchFamily="34" charset="0"/>
                <a:ea typeface="Calibri" pitchFamily="34" charset="-122"/>
                <a:cs typeface="Calibri" pitchFamily="34" charset="-120"/>
              </a:rPr>
              <a:t>mg/dL＝燃料供給</a:t>
            </a:r>
            <a:endParaRPr lang="en-US" sz="800" dirty="0"/>
          </a:p>
        </p:txBody>
      </p:sp>
      <p:sp>
        <p:nvSpPr>
          <p:cNvPr id="19" name="Text 16"/>
          <p:cNvSpPr txBox="1"/>
          <p:nvPr/>
        </p:nvSpPr>
        <p:spPr>
          <a:xfrm>
            <a:off x="7818120" y="4736592"/>
            <a:ext cx="3822192" cy="274320"/>
          </a:xfrm>
          <a:prstGeom prst="rect">
            <a:avLst/>
          </a:prstGeom>
          <a:noFill/>
          <a:ln/>
        </p:spPr>
        <p:txBody>
          <a:bodyPr wrap="square" lIns="0" tIns="0" rIns="0" bIns="0" rtlCol="0" anchor="ctr"/>
          <a:lstStyle/>
          <a:p>
            <a:pPr indent="0" marL="0">
              <a:buNone/>
            </a:pPr>
            <a:r>
              <a:rPr lang="en-US" sz="900" dirty="0">
                <a:solidFill>
                  <a:srgbClr val="5C6570"/>
                </a:solidFill>
                <a:latin typeface="Calibri" pitchFamily="34" charset="0"/>
                <a:ea typeface="Calibri" pitchFamily="34" charset="-122"/>
                <a:cs typeface="Calibri" pitchFamily="34" charset="-120"/>
              </a:rPr>
              <a:t>上＝スムージー／下＝固形</a:t>
            </a:r>
            <a:endParaRPr lang="en-US" sz="900" dirty="0"/>
          </a:p>
        </p:txBody>
      </p:sp>
      <p:sp>
        <p:nvSpPr>
          <p:cNvPr id="20" name="Shape 17"/>
          <p:cNvSpPr/>
          <p:nvPr/>
        </p:nvSpPr>
        <p:spPr>
          <a:xfrm>
            <a:off x="548640" y="5303520"/>
            <a:ext cx="11091672" cy="960120"/>
          </a:xfrm>
          <a:prstGeom prst="roundRect">
            <a:avLst>
              <a:gd name="adj" fmla="val 9524"/>
            </a:avLst>
          </a:prstGeom>
          <a:solidFill>
            <a:srgbClr val="F4F7F9"/>
          </a:solidFill>
          <a:ln/>
        </p:spPr>
      </p:sp>
      <p:sp>
        <p:nvSpPr>
          <p:cNvPr id="21" name="Text 18"/>
          <p:cNvSpPr txBox="1"/>
          <p:nvPr/>
        </p:nvSpPr>
        <p:spPr>
          <a:xfrm>
            <a:off x="777240" y="5394960"/>
            <a:ext cx="10634472" cy="77724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自覚コンディション・毎日のコンディション：頭痛・吐き気はどちらも全時点で最小値、満腹感・食欲もほぼ同水準。夜間コンディション（起床時・睡眠）にも大きな差はない（ただし練習時間がスムージー60分/日・固形140分/日と大きく異なり、RPE等は練習量の交絡を強く受ける）。</a:t>
            </a:r>
            <a:endParaRPr lang="en-US" sz="1100" dirty="0"/>
          </a:p>
        </p:txBody>
      </p:sp>
      <p:sp>
        <p:nvSpPr>
          <p:cNvPr id="22" name="Text 19"/>
          <p:cNvSpPr/>
          <p:nvPr/>
        </p:nvSpPr>
        <p:spPr>
          <a:xfrm>
            <a:off x="548640" y="6492240"/>
            <a:ext cx="11091672" cy="256032"/>
          </a:xfrm>
          <a:prstGeom prst="rect">
            <a:avLst/>
          </a:prstGeom>
          <a:noFill/>
          <a:ln/>
        </p:spPr>
        <p:txBody>
          <a:bodyPr wrap="square" rtlCol="0" anchor="ctr"/>
          <a:lstStyle/>
          <a:p>
            <a:pPr algn="l" indent="0" marL="0">
              <a:buNone/>
            </a:pPr>
            <a:r>
              <a:rPr lang="en-US" sz="950" dirty="0">
                <a:solidFill>
                  <a:srgbClr val="5C6570"/>
                </a:solidFill>
                <a:latin typeface="Calibri" pitchFamily="34" charset="0"/>
                <a:ea typeface="Calibri" pitchFamily="34" charset="-122"/>
                <a:cs typeface="Calibri" pitchFamily="34" charset="-120"/>
              </a:rPr>
              <a:t>15分間隔・条件ごとの平均血糖値（各条件3日間平均）。</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310896"/>
          </a:xfrm>
          <a:prstGeom prst="rect">
            <a:avLst/>
          </a:prstGeom>
          <a:noFill/>
          <a:ln/>
        </p:spPr>
        <p:txBody>
          <a:bodyPr wrap="square" rtlCol="0" anchor="ctr"/>
          <a:lstStyle/>
          <a:p>
            <a:pPr indent="0" marL="0">
              <a:buNone/>
            </a:pPr>
            <a:r>
              <a:rPr lang="en-US" sz="1250" b="1" spc="100" kern="0" dirty="0">
                <a:solidFill>
                  <a:srgbClr val="1C7293"/>
                </a:solidFill>
                <a:latin typeface="Calibri" pitchFamily="34" charset="0"/>
                <a:ea typeface="Calibri" pitchFamily="34" charset="-122"/>
                <a:cs typeface="Calibri" pitchFamily="34" charset="-120"/>
              </a:rPr>
              <a:t>Q1 – DISCUSSION</a:t>
            </a:r>
            <a:endParaRPr lang="en-US" sz="1250" dirty="0"/>
          </a:p>
        </p:txBody>
      </p:sp>
      <p:sp>
        <p:nvSpPr>
          <p:cNvPr id="3" name="Text 1"/>
          <p:cNvSpPr txBox="1"/>
          <p:nvPr/>
        </p:nvSpPr>
        <p:spPr>
          <a:xfrm>
            <a:off x="548640" y="676656"/>
            <a:ext cx="11091672" cy="59436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固形 vs スムージー：考察と結論</a:t>
            </a:r>
            <a:endParaRPr lang="en-US" sz="2600" dirty="0"/>
          </a:p>
        </p:txBody>
      </p:sp>
      <p:sp>
        <p:nvSpPr>
          <p:cNvPr id="4" name="Shape 2"/>
          <p:cNvSpPr/>
          <p:nvPr/>
        </p:nvSpPr>
        <p:spPr>
          <a:xfrm>
            <a:off x="548640" y="1298448"/>
            <a:ext cx="11091672" cy="384048"/>
          </a:xfrm>
          <a:prstGeom prst="roundRect">
            <a:avLst>
              <a:gd name="adj" fmla="val 19048"/>
            </a:avLst>
          </a:prstGeom>
          <a:solidFill>
            <a:srgbClr val="F4F7F9"/>
          </a:solidFill>
          <a:ln/>
        </p:spPr>
      </p:sp>
      <p:sp>
        <p:nvSpPr>
          <p:cNvPr id="5" name="Text 3"/>
          <p:cNvSpPr txBox="1"/>
          <p:nvPr/>
        </p:nvSpPr>
        <p:spPr>
          <a:xfrm>
            <a:off x="685800" y="1298448"/>
            <a:ext cx="548640" cy="384048"/>
          </a:xfrm>
          <a:prstGeom prst="rect">
            <a:avLst/>
          </a:prstGeom>
          <a:noFill/>
          <a:ln/>
        </p:spPr>
        <p:txBody>
          <a:bodyPr wrap="square" lIns="0" tIns="0" rIns="0" bIns="0" rtlCol="0" anchor="ctr"/>
          <a:lstStyle/>
          <a:p>
            <a:pPr algn="ctr" indent="0" marL="0">
              <a:buNone/>
            </a:pPr>
            <a:r>
              <a:rPr lang="en-US" sz="1400" b="1" dirty="0">
                <a:solidFill>
                  <a:srgbClr val="1C7293"/>
                </a:solidFill>
                <a:latin typeface="Cambria" pitchFamily="34" charset="0"/>
                <a:ea typeface="Cambria" pitchFamily="34" charset="-122"/>
                <a:cs typeface="Cambria" pitchFamily="34" charset="-120"/>
              </a:rPr>
              <a:t>Q1</a:t>
            </a:r>
            <a:endParaRPr lang="en-US" sz="1400" dirty="0"/>
          </a:p>
        </p:txBody>
      </p:sp>
      <p:sp>
        <p:nvSpPr>
          <p:cNvPr id="6" name="Text 4"/>
          <p:cNvSpPr txBox="1"/>
          <p:nvPr/>
        </p:nvSpPr>
        <p:spPr>
          <a:xfrm>
            <a:off x="1280160" y="1298448"/>
            <a:ext cx="10177272" cy="384048"/>
          </a:xfrm>
          <a:prstGeom prst="rect">
            <a:avLst/>
          </a:prstGeom>
          <a:noFill/>
          <a:ln/>
        </p:spPr>
        <p:txBody>
          <a:bodyPr wrap="square" lIns="0" tIns="0" rIns="0" bIns="0" rtlCol="0" anchor="ctr"/>
          <a:lstStyle/>
          <a:p>
            <a:pPr indent="0" marL="0">
              <a:buNone/>
            </a:pPr>
            <a:r>
              <a:rPr lang="en-US" sz="1300" dirty="0">
                <a:solidFill>
                  <a:srgbClr val="21295C"/>
                </a:solidFill>
                <a:latin typeface="Calibri" pitchFamily="34" charset="0"/>
                <a:ea typeface="Calibri" pitchFamily="34" charset="-122"/>
                <a:cs typeface="Calibri" pitchFamily="34" charset="-120"/>
              </a:rPr>
              <a:t>固形が良いのか、スムージーが良いのか？</a:t>
            </a:r>
            <a:endParaRPr lang="en-US" sz="1300" dirty="0"/>
          </a:p>
        </p:txBody>
      </p:sp>
      <p:sp>
        <p:nvSpPr>
          <p:cNvPr id="7" name="Shape 5"/>
          <p:cNvSpPr/>
          <p:nvPr/>
        </p:nvSpPr>
        <p:spPr>
          <a:xfrm>
            <a:off x="548640" y="1874520"/>
            <a:ext cx="11091672" cy="1051560"/>
          </a:xfrm>
          <a:prstGeom prst="roundRect">
            <a:avLst>
              <a:gd name="adj" fmla="val 10435"/>
            </a:avLst>
          </a:prstGeom>
          <a:solidFill>
            <a:srgbClr val="EAF7F0"/>
          </a:solidFill>
          <a:ln w="15875">
            <a:solidFill>
              <a:srgbClr val="EB6834"/>
            </a:solidFill>
            <a:prstDash val="solid"/>
          </a:ln>
        </p:spPr>
      </p:sp>
      <p:sp>
        <p:nvSpPr>
          <p:cNvPr id="8" name="Text 6"/>
          <p:cNvSpPr txBox="1"/>
          <p:nvPr/>
        </p:nvSpPr>
        <p:spPr>
          <a:xfrm>
            <a:off x="822960" y="1984248"/>
            <a:ext cx="1828800" cy="274320"/>
          </a:xfrm>
          <a:prstGeom prst="rect">
            <a:avLst/>
          </a:prstGeom>
          <a:noFill/>
          <a:ln/>
        </p:spPr>
        <p:txBody>
          <a:bodyPr wrap="square" lIns="0" tIns="0" rIns="0" bIns="0" rtlCol="0" anchor="ctr"/>
          <a:lstStyle/>
          <a:p>
            <a:pPr indent="0" marL="0">
              <a:buNone/>
            </a:pPr>
            <a:r>
              <a:rPr lang="en-US" sz="1200" b="1" dirty="0">
                <a:solidFill>
                  <a:srgbClr val="0F5C3D"/>
                </a:solidFill>
                <a:latin typeface="Calibri" pitchFamily="34" charset="0"/>
                <a:ea typeface="Calibri" pitchFamily="34" charset="-122"/>
                <a:cs typeface="Calibri" pitchFamily="34" charset="-120"/>
              </a:rPr>
              <a:t>✓ 答え</a:t>
            </a:r>
            <a:endParaRPr lang="en-US" sz="1200" dirty="0"/>
          </a:p>
        </p:txBody>
      </p:sp>
      <p:sp>
        <p:nvSpPr>
          <p:cNvPr id="9" name="Text 7"/>
          <p:cNvSpPr txBox="1"/>
          <p:nvPr/>
        </p:nvSpPr>
        <p:spPr>
          <a:xfrm>
            <a:off x="822960" y="2258568"/>
            <a:ext cx="10543032" cy="548640"/>
          </a:xfrm>
          <a:prstGeom prst="rect">
            <a:avLst/>
          </a:prstGeom>
          <a:noFill/>
          <a:ln/>
        </p:spPr>
        <p:txBody>
          <a:bodyPr wrap="square" lIns="0" tIns="0" rIns="0" bIns="0" rtlCol="0" anchor="ctr"/>
          <a:lstStyle/>
          <a:p>
            <a:pPr indent="0" marL="0">
              <a:buNone/>
            </a:pPr>
            <a:r>
              <a:rPr lang="en-US" sz="2000" b="1" dirty="0">
                <a:solidFill>
                  <a:srgbClr val="0F5C3D"/>
                </a:solidFill>
                <a:latin typeface="Cambria" pitchFamily="34" charset="0"/>
                <a:ea typeface="Cambria" pitchFamily="34" charset="-122"/>
                <a:cs typeface="Cambria" pitchFamily="34" charset="-120"/>
              </a:rPr>
              <a:t>スムージーの方が良い</a:t>
            </a:r>
            <a:endParaRPr lang="en-US" sz="2000" dirty="0"/>
          </a:p>
        </p:txBody>
      </p:sp>
      <p:sp>
        <p:nvSpPr>
          <p:cNvPr id="10" name="Shape 8"/>
          <p:cNvSpPr/>
          <p:nvPr/>
        </p:nvSpPr>
        <p:spPr>
          <a:xfrm>
            <a:off x="7708392" y="1984248"/>
            <a:ext cx="3931920" cy="310896"/>
          </a:xfrm>
          <a:prstGeom prst="roundRect">
            <a:avLst>
              <a:gd name="adj" fmla="val 20588"/>
            </a:avLst>
          </a:prstGeom>
          <a:solidFill>
            <a:srgbClr val="FDF3E2"/>
          </a:solidFill>
          <a:ln w="9525">
            <a:solidFill>
              <a:srgbClr val="6B4B00"/>
            </a:solidFill>
            <a:prstDash val="solid"/>
          </a:ln>
        </p:spPr>
      </p:sp>
      <p:sp>
        <p:nvSpPr>
          <p:cNvPr id="11" name="Text 9"/>
          <p:cNvSpPr txBox="1"/>
          <p:nvPr/>
        </p:nvSpPr>
        <p:spPr>
          <a:xfrm>
            <a:off x="7799832" y="1984248"/>
            <a:ext cx="3749040" cy="310896"/>
          </a:xfrm>
          <a:prstGeom prst="rect">
            <a:avLst/>
          </a:prstGeom>
          <a:noFill/>
          <a:ln/>
        </p:spPr>
        <p:txBody>
          <a:bodyPr wrap="square" lIns="0" tIns="0" rIns="0" bIns="0" rtlCol="0" anchor="ctr"/>
          <a:lstStyle/>
          <a:p>
            <a:pPr algn="ctr" indent="0" marL="0">
              <a:buNone/>
            </a:pPr>
            <a:r>
              <a:rPr lang="en-US" sz="950" b="1" dirty="0">
                <a:solidFill>
                  <a:srgbClr val="6B4B00"/>
                </a:solidFill>
                <a:latin typeface="Calibri" pitchFamily="34" charset="0"/>
                <a:ea typeface="Calibri" pitchFamily="34" charset="-122"/>
                <a:cs typeface="Calibri" pitchFamily="34" charset="-120"/>
              </a:rPr>
              <a:t>⚠ 血糖シフトの影響で参考値</a:t>
            </a:r>
            <a:endParaRPr lang="en-US" sz="950" dirty="0"/>
          </a:p>
        </p:txBody>
      </p:sp>
      <p:sp>
        <p:nvSpPr>
          <p:cNvPr id="12" name="Shape 10"/>
          <p:cNvSpPr/>
          <p:nvPr/>
        </p:nvSpPr>
        <p:spPr>
          <a:xfrm>
            <a:off x="548640" y="3163824"/>
            <a:ext cx="109728" cy="109728"/>
          </a:xfrm>
          <a:prstGeom prst="oval">
            <a:avLst/>
          </a:prstGeom>
          <a:solidFill>
            <a:srgbClr val="EB6834"/>
          </a:solidFill>
          <a:ln/>
        </p:spPr>
      </p:sp>
      <p:sp>
        <p:nvSpPr>
          <p:cNvPr id="13" name="Text 11"/>
          <p:cNvSpPr txBox="1"/>
          <p:nvPr/>
        </p:nvSpPr>
        <p:spPr>
          <a:xfrm>
            <a:off x="841248" y="3108960"/>
            <a:ext cx="10799064" cy="4572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練習中（11:00〜14:00）に使える血糖＝燃料がスムージーの方が圧倒的に多い（222 vs 135 mg/dL）</a:t>
            </a:r>
            <a:endParaRPr lang="en-US" sz="1300" dirty="0"/>
          </a:p>
        </p:txBody>
      </p:sp>
      <p:sp>
        <p:nvSpPr>
          <p:cNvPr id="14" name="Shape 12"/>
          <p:cNvSpPr/>
          <p:nvPr/>
        </p:nvSpPr>
        <p:spPr>
          <a:xfrm>
            <a:off x="548640" y="3730752"/>
            <a:ext cx="109728" cy="109728"/>
          </a:xfrm>
          <a:prstGeom prst="oval">
            <a:avLst/>
          </a:prstGeom>
          <a:solidFill>
            <a:srgbClr val="EB6834"/>
          </a:solidFill>
          <a:ln/>
        </p:spPr>
      </p:sp>
      <p:sp>
        <p:nvSpPr>
          <p:cNvPr id="15" name="Text 13"/>
          <p:cNvSpPr txBox="1"/>
          <p:nvPr/>
        </p:nvSpPr>
        <p:spPr>
          <a:xfrm>
            <a:off x="841248" y="3675888"/>
            <a:ext cx="10799064" cy="4572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頭痛・吐き気などの不調は出ておらず、反応性低血糖（急降下）も起きていない</a:t>
            </a:r>
            <a:endParaRPr lang="en-US" sz="1300" dirty="0"/>
          </a:p>
        </p:txBody>
      </p:sp>
      <p:sp>
        <p:nvSpPr>
          <p:cNvPr id="16" name="Shape 14"/>
          <p:cNvSpPr/>
          <p:nvPr/>
        </p:nvSpPr>
        <p:spPr>
          <a:xfrm>
            <a:off x="548640" y="4297680"/>
            <a:ext cx="109728" cy="109728"/>
          </a:xfrm>
          <a:prstGeom prst="oval">
            <a:avLst/>
          </a:prstGeom>
          <a:solidFill>
            <a:srgbClr val="EB6834"/>
          </a:solidFill>
          <a:ln/>
        </p:spPr>
      </p:sp>
      <p:sp>
        <p:nvSpPr>
          <p:cNvPr id="17" name="Text 15"/>
          <p:cNvSpPr txBox="1"/>
          <p:nvPr/>
        </p:nvSpPr>
        <p:spPr>
          <a:xfrm>
            <a:off x="841248" y="4242816"/>
            <a:ext cx="10799064" cy="4572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血糖の乱高下（CV・Δピーク）は固形の方が小さいが、実害（症状・クラッシュ）にはつながっていない</a:t>
            </a:r>
            <a:endParaRPr lang="en-US" sz="1300" dirty="0"/>
          </a:p>
        </p:txBody>
      </p:sp>
      <p:sp>
        <p:nvSpPr>
          <p:cNvPr id="18" name="Shape 16"/>
          <p:cNvSpPr/>
          <p:nvPr/>
        </p:nvSpPr>
        <p:spPr>
          <a:xfrm>
            <a:off x="548640" y="4864608"/>
            <a:ext cx="109728" cy="109728"/>
          </a:xfrm>
          <a:prstGeom prst="oval">
            <a:avLst/>
          </a:prstGeom>
          <a:solidFill>
            <a:srgbClr val="EB6834"/>
          </a:solidFill>
          <a:ln/>
        </p:spPr>
      </p:sp>
      <p:sp>
        <p:nvSpPr>
          <p:cNvPr id="19" name="Text 17"/>
          <p:cNvSpPr txBox="1"/>
          <p:nvPr/>
        </p:nvSpPr>
        <p:spPr>
          <a:xfrm>
            <a:off x="841248" y="4809744"/>
            <a:ext cx="10799064" cy="4572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選手自身が語っていた「スムージー化で出力が上がった」という体感とも一致する</a:t>
            </a:r>
            <a:endParaRPr lang="en-US" sz="1300" dirty="0"/>
          </a:p>
        </p:txBody>
      </p:sp>
      <p:sp>
        <p:nvSpPr>
          <p:cNvPr id="20" name="Shape 18"/>
          <p:cNvSpPr/>
          <p:nvPr/>
        </p:nvSpPr>
        <p:spPr>
          <a:xfrm>
            <a:off x="548640" y="5623560"/>
            <a:ext cx="11091672" cy="868680"/>
          </a:xfrm>
          <a:prstGeom prst="roundRect">
            <a:avLst>
              <a:gd name="adj" fmla="val 10526"/>
            </a:avLst>
          </a:prstGeom>
          <a:solidFill>
            <a:srgbClr val="FDF3E2"/>
          </a:solidFill>
          <a:ln w="12700">
            <a:solidFill>
              <a:srgbClr val="EDA100"/>
            </a:solidFill>
            <a:prstDash val="solid"/>
          </a:ln>
        </p:spPr>
      </p:sp>
      <p:sp>
        <p:nvSpPr>
          <p:cNvPr id="21" name="Text 19"/>
          <p:cNvSpPr txBox="1"/>
          <p:nvPr/>
        </p:nvSpPr>
        <p:spPr>
          <a:xfrm>
            <a:off x="777240" y="5742432"/>
            <a:ext cx="10634472" cy="640080"/>
          </a:xfrm>
          <a:prstGeom prst="rect">
            <a:avLst/>
          </a:prstGeom>
          <a:noFill/>
          <a:ln/>
        </p:spPr>
        <p:txBody>
          <a:bodyPr wrap="square" lIns="0" tIns="0" rIns="0" bIns="0" rtlCol="0" anchor="ctr"/>
          <a:lstStyle/>
          <a:p>
            <a:pPr indent="0" marL="0">
              <a:buNone/>
            </a:pPr>
            <a:r>
              <a:rPr lang="en-US" sz="1250" b="1" dirty="0">
                <a:solidFill>
                  <a:srgbClr val="6B4B00"/>
                </a:solidFill>
                <a:latin typeface="Calibri" pitchFamily="34" charset="0"/>
                <a:ea typeface="Calibri" pitchFamily="34" charset="-122"/>
                <a:cs typeface="Calibri" pitchFamily="34" charset="-120"/>
              </a:rPr>
              <a:t>→ ただし最終的には「スムージー単体」よりも「おにぎりと同時に食べる」方がさらに良い結果でした（Q2で解説）。</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310896"/>
          </a:xfrm>
          <a:prstGeom prst="rect">
            <a:avLst/>
          </a:prstGeom>
          <a:noFill/>
          <a:ln/>
        </p:spPr>
        <p:txBody>
          <a:bodyPr wrap="square" rtlCol="0" anchor="ctr"/>
          <a:lstStyle/>
          <a:p>
            <a:pPr indent="0" marL="0">
              <a:buNone/>
            </a:pPr>
            <a:r>
              <a:rPr lang="en-US" sz="1250" b="1" spc="100" kern="0" dirty="0">
                <a:solidFill>
                  <a:srgbClr val="1C7293"/>
                </a:solidFill>
                <a:latin typeface="Calibri" pitchFamily="34" charset="0"/>
                <a:ea typeface="Calibri" pitchFamily="34" charset="-122"/>
                <a:cs typeface="Calibri" pitchFamily="34" charset="-120"/>
              </a:rPr>
              <a:t>Q2 – RESULTS</a:t>
            </a:r>
            <a:endParaRPr lang="en-US" sz="1250" dirty="0"/>
          </a:p>
        </p:txBody>
      </p:sp>
      <p:sp>
        <p:nvSpPr>
          <p:cNvPr id="3" name="Text 1"/>
          <p:cNvSpPr txBox="1"/>
          <p:nvPr/>
        </p:nvSpPr>
        <p:spPr>
          <a:xfrm>
            <a:off x="548640" y="676656"/>
            <a:ext cx="11091672" cy="59436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食べるタイミング：結果</a:t>
            </a:r>
            <a:endParaRPr lang="en-US" sz="2600" dirty="0"/>
          </a:p>
        </p:txBody>
      </p:sp>
      <p:sp>
        <p:nvSpPr>
          <p:cNvPr id="4" name="Shape 2"/>
          <p:cNvSpPr/>
          <p:nvPr/>
        </p:nvSpPr>
        <p:spPr>
          <a:xfrm>
            <a:off x="548640" y="1298448"/>
            <a:ext cx="11091672" cy="384048"/>
          </a:xfrm>
          <a:prstGeom prst="roundRect">
            <a:avLst>
              <a:gd name="adj" fmla="val 19048"/>
            </a:avLst>
          </a:prstGeom>
          <a:solidFill>
            <a:srgbClr val="F4F7F9"/>
          </a:solidFill>
          <a:ln/>
        </p:spPr>
      </p:sp>
      <p:sp>
        <p:nvSpPr>
          <p:cNvPr id="5" name="Text 3"/>
          <p:cNvSpPr txBox="1"/>
          <p:nvPr/>
        </p:nvSpPr>
        <p:spPr>
          <a:xfrm>
            <a:off x="685800" y="1298448"/>
            <a:ext cx="548640" cy="384048"/>
          </a:xfrm>
          <a:prstGeom prst="rect">
            <a:avLst/>
          </a:prstGeom>
          <a:noFill/>
          <a:ln/>
        </p:spPr>
        <p:txBody>
          <a:bodyPr wrap="square" lIns="0" tIns="0" rIns="0" bIns="0" rtlCol="0" anchor="ctr"/>
          <a:lstStyle/>
          <a:p>
            <a:pPr algn="ctr" indent="0" marL="0">
              <a:buNone/>
            </a:pPr>
            <a:r>
              <a:rPr lang="en-US" sz="1400" b="1" dirty="0">
                <a:solidFill>
                  <a:srgbClr val="1C7293"/>
                </a:solidFill>
                <a:latin typeface="Cambria" pitchFamily="34" charset="0"/>
                <a:ea typeface="Cambria" pitchFamily="34" charset="-122"/>
                <a:cs typeface="Cambria" pitchFamily="34" charset="-120"/>
              </a:rPr>
              <a:t>Q2</a:t>
            </a:r>
            <a:endParaRPr lang="en-US" sz="1400" dirty="0"/>
          </a:p>
        </p:txBody>
      </p:sp>
      <p:sp>
        <p:nvSpPr>
          <p:cNvPr id="6" name="Text 4"/>
          <p:cNvSpPr txBox="1"/>
          <p:nvPr/>
        </p:nvSpPr>
        <p:spPr>
          <a:xfrm>
            <a:off x="1280160" y="1298448"/>
            <a:ext cx="10177272" cy="384048"/>
          </a:xfrm>
          <a:prstGeom prst="rect">
            <a:avLst/>
          </a:prstGeom>
          <a:noFill/>
          <a:ln/>
        </p:spPr>
        <p:txBody>
          <a:bodyPr wrap="square" lIns="0" tIns="0" rIns="0" bIns="0" rtlCol="0" anchor="ctr"/>
          <a:lstStyle/>
          <a:p>
            <a:pPr indent="0" marL="0">
              <a:buNone/>
            </a:pPr>
            <a:r>
              <a:rPr lang="en-US" sz="1300" dirty="0">
                <a:solidFill>
                  <a:srgbClr val="21295C"/>
                </a:solidFill>
                <a:latin typeface="Calibri" pitchFamily="34" charset="0"/>
                <a:ea typeface="Calibri" pitchFamily="34" charset="-122"/>
                <a:cs typeface="Calibri" pitchFamily="34" charset="-120"/>
              </a:rPr>
              <a:t>スムージーとおにぎりを食べるタイミングはいつが良いのか？</a:t>
            </a:r>
            <a:endParaRPr lang="en-US" sz="1300" dirty="0"/>
          </a:p>
        </p:txBody>
      </p:sp>
      <p:sp>
        <p:nvSpPr>
          <p:cNvPr id="7" name="Text 5"/>
          <p:cNvSpPr txBox="1"/>
          <p:nvPr/>
        </p:nvSpPr>
        <p:spPr>
          <a:xfrm>
            <a:off x="548640" y="1828800"/>
            <a:ext cx="11091672" cy="457200"/>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4条件とも14:00までの総エネルギーはほぼ同じ。自由摂取が始まる12:00より前（8:00〜11:30）に絞り、「同時に食べる」か「2.5〜3時間ずらして食べる」かを比較。</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91672" cy="1828800"/>
        </p:xfrm>
        <a:graphic>
          <a:graphicData uri="http://schemas.openxmlformats.org/drawingml/2006/table">
            <a:tbl>
              <a:tblPr/>
              <a:tblGrid>
                <a:gridCol w="2103120"/>
                <a:gridCol w="2834640"/>
                <a:gridCol w="2194560"/>
                <a:gridCol w="1490472"/>
                <a:gridCol w="173736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条件</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タイミング</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平均血糖(8:00-11:30)</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CV</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Δピーク</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21295C"/>
                    </a:solidFill>
                  </a:tcPr>
                </a:tc>
              </a:tr>
              <a:tr h="365760">
                <a:tc>
                  <a:txBody>
                    <a:bodyPr/>
                    <a:lstStyle/>
                    <a:p>
                      <a:pPr indent="0" marL="0">
                        <a:buNone/>
                      </a:pPr>
                      <a:r>
                        <a:rPr lang="en-US" sz="1200" b="1" dirty="0">
                          <a:solidFill>
                            <a:srgbClr val="21295C"/>
                          </a:solidFill>
                          <a:latin typeface="Calibri" pitchFamily="34" charset="0"/>
                          <a:ea typeface="Calibri" pitchFamily="34" charset="-122"/>
                          <a:cs typeface="Calibri" pitchFamily="34" charset="-120"/>
                        </a:rPr>
                        <a:t>固形</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分割（おにぎりは2.5〜3h後）</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119.9</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12.0%</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53.7</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21295C"/>
                          </a:solidFill>
                          <a:latin typeface="Calibri" pitchFamily="34" charset="0"/>
                          <a:ea typeface="Calibri" pitchFamily="34" charset="-122"/>
                          <a:cs typeface="Calibri" pitchFamily="34" charset="-120"/>
                        </a:rPr>
                        <a:t>スムージー</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4F7F9"/>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分割（おにぎりは2.5〜3h後）</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4F7F9"/>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187.0</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4F7F9"/>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16.5%</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4F7F9"/>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80.3</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4F7F9"/>
                    </a:solidFill>
                  </a:tcPr>
                </a:tc>
              </a:tr>
              <a:tr h="365760">
                <a:tc>
                  <a:txBody>
                    <a:bodyPr/>
                    <a:lstStyle/>
                    <a:p>
                      <a:pPr indent="0" marL="0">
                        <a:buNone/>
                      </a:pPr>
                      <a:r>
                        <a:rPr lang="en-US" sz="1200" b="1" dirty="0">
                          <a:solidFill>
                            <a:srgbClr val="21295C"/>
                          </a:solidFill>
                          <a:latin typeface="Calibri" pitchFamily="34" charset="0"/>
                          <a:ea typeface="Calibri" pitchFamily="34" charset="-122"/>
                          <a:cs typeface="Calibri" pitchFamily="34" charset="-120"/>
                        </a:rPr>
                        <a:t>おにぎり＋スムージー</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同時（8:00に一緒に）</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199.8</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10.1%</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70.7</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21295C"/>
                          </a:solidFill>
                          <a:latin typeface="Calibri" pitchFamily="34" charset="0"/>
                          <a:ea typeface="Calibri" pitchFamily="34" charset="-122"/>
                          <a:cs typeface="Calibri" pitchFamily="34" charset="-120"/>
                        </a:rPr>
                        <a:t>おにぎり＋糖質減</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4F7F9"/>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同時（8:00に一緒に）</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4F7F9"/>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194.9</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4F7F9"/>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8.5%</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4F7F9"/>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52.3</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4F7F9"/>
                    </a:solidFill>
                  </a:tcPr>
                </a:tc>
              </a:tr>
            </a:tbl>
          </a:graphicData>
        </a:graphic>
      </p:graphicFrame>
      <p:sp>
        <p:nvSpPr>
          <p:cNvPr id="9" name="Shape 6"/>
          <p:cNvSpPr/>
          <p:nvPr/>
        </p:nvSpPr>
        <p:spPr>
          <a:xfrm>
            <a:off x="548640" y="4480560"/>
            <a:ext cx="11091672" cy="1783080"/>
          </a:xfrm>
          <a:prstGeom prst="roundRect">
            <a:avLst>
              <a:gd name="adj" fmla="val 5128"/>
            </a:avLst>
          </a:prstGeom>
          <a:solidFill>
            <a:srgbClr val="F4F7F9"/>
          </a:solidFill>
          <a:ln/>
        </p:spPr>
      </p:sp>
      <p:sp>
        <p:nvSpPr>
          <p:cNvPr id="10" name="Text 7"/>
          <p:cNvSpPr txBox="1"/>
          <p:nvPr/>
        </p:nvSpPr>
        <p:spPr>
          <a:xfrm>
            <a:off x="777240" y="4590288"/>
            <a:ext cx="10634472" cy="160020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同時摂取にすると、平均血糖はわずかに上がる（187→200、+13程度）ものの、Δピーク・CVはどちらも明確に小さくなる。副食とおにぎりを2.5〜3時間ずらして食べると、それぞれが独立した急峻な山を作るのに対し、同時に食べるとおにぎり（ゆっくり吸収されるデンプン）が副食の急な糖吸収を緩衝し、1つのなだらかな波にまとまると解釈できる。糖質減はこの「なだらかさ」に加えてΔピークも固形並み（52.3 vs 53.7）まで抑えられている。</a:t>
            </a:r>
            <a:endParaRPr lang="en-US" sz="1200" dirty="0"/>
          </a:p>
        </p:txBody>
      </p:sp>
      <p:sp>
        <p:nvSpPr>
          <p:cNvPr id="11" name="Text 8"/>
          <p:cNvSpPr/>
          <p:nvPr/>
        </p:nvSpPr>
        <p:spPr>
          <a:xfrm>
            <a:off x="548640" y="6492240"/>
            <a:ext cx="11091672" cy="256032"/>
          </a:xfrm>
          <a:prstGeom prst="rect">
            <a:avLst/>
          </a:prstGeom>
          <a:noFill/>
          <a:ln/>
        </p:spPr>
        <p:txBody>
          <a:bodyPr wrap="square" rtlCol="0" anchor="ctr"/>
          <a:lstStyle/>
          <a:p>
            <a:pPr algn="l" indent="0" marL="0">
              <a:buNone/>
            </a:pPr>
            <a:r>
              <a:rPr lang="en-US" sz="950" dirty="0">
                <a:solidFill>
                  <a:srgbClr val="5C6570"/>
                </a:solidFill>
                <a:latin typeface="Calibri" pitchFamily="34" charset="0"/>
                <a:ea typeface="Calibri" pitchFamily="34" charset="-122"/>
                <a:cs typeface="Calibri" pitchFamily="34" charset="-120"/>
              </a:rPr>
              <a:t>自覚コンディション：満腹感は同時摂取の方が高いが、頭痛・吐き気には差がない。</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310896"/>
          </a:xfrm>
          <a:prstGeom prst="rect">
            <a:avLst/>
          </a:prstGeom>
          <a:noFill/>
          <a:ln/>
        </p:spPr>
        <p:txBody>
          <a:bodyPr wrap="square" rtlCol="0" anchor="ctr"/>
          <a:lstStyle/>
          <a:p>
            <a:pPr indent="0" marL="0">
              <a:buNone/>
            </a:pPr>
            <a:r>
              <a:rPr lang="en-US" sz="1250" b="1" spc="100" kern="0" dirty="0">
                <a:solidFill>
                  <a:srgbClr val="1C7293"/>
                </a:solidFill>
                <a:latin typeface="Calibri" pitchFamily="34" charset="0"/>
                <a:ea typeface="Calibri" pitchFamily="34" charset="-122"/>
                <a:cs typeface="Calibri" pitchFamily="34" charset="-120"/>
              </a:rPr>
              <a:t>Q2 – DISCUSSION</a:t>
            </a:r>
            <a:endParaRPr lang="en-US" sz="1250" dirty="0"/>
          </a:p>
        </p:txBody>
      </p:sp>
      <p:sp>
        <p:nvSpPr>
          <p:cNvPr id="3" name="Text 1"/>
          <p:cNvSpPr txBox="1"/>
          <p:nvPr/>
        </p:nvSpPr>
        <p:spPr>
          <a:xfrm>
            <a:off x="548640" y="676656"/>
            <a:ext cx="11091672" cy="59436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食べるタイミング：考察と結論</a:t>
            </a:r>
            <a:endParaRPr lang="en-US" sz="2600" dirty="0"/>
          </a:p>
        </p:txBody>
      </p:sp>
      <p:sp>
        <p:nvSpPr>
          <p:cNvPr id="4" name="Shape 2"/>
          <p:cNvSpPr/>
          <p:nvPr/>
        </p:nvSpPr>
        <p:spPr>
          <a:xfrm>
            <a:off x="548640" y="1298448"/>
            <a:ext cx="11091672" cy="384048"/>
          </a:xfrm>
          <a:prstGeom prst="roundRect">
            <a:avLst>
              <a:gd name="adj" fmla="val 19048"/>
            </a:avLst>
          </a:prstGeom>
          <a:solidFill>
            <a:srgbClr val="F4F7F9"/>
          </a:solidFill>
          <a:ln/>
        </p:spPr>
      </p:sp>
      <p:sp>
        <p:nvSpPr>
          <p:cNvPr id="5" name="Text 3"/>
          <p:cNvSpPr txBox="1"/>
          <p:nvPr/>
        </p:nvSpPr>
        <p:spPr>
          <a:xfrm>
            <a:off x="685800" y="1298448"/>
            <a:ext cx="548640" cy="384048"/>
          </a:xfrm>
          <a:prstGeom prst="rect">
            <a:avLst/>
          </a:prstGeom>
          <a:noFill/>
          <a:ln/>
        </p:spPr>
        <p:txBody>
          <a:bodyPr wrap="square" lIns="0" tIns="0" rIns="0" bIns="0" rtlCol="0" anchor="ctr"/>
          <a:lstStyle/>
          <a:p>
            <a:pPr algn="ctr" indent="0" marL="0">
              <a:buNone/>
            </a:pPr>
            <a:r>
              <a:rPr lang="en-US" sz="1400" b="1" dirty="0">
                <a:solidFill>
                  <a:srgbClr val="1C7293"/>
                </a:solidFill>
                <a:latin typeface="Cambria" pitchFamily="34" charset="0"/>
                <a:ea typeface="Cambria" pitchFamily="34" charset="-122"/>
                <a:cs typeface="Cambria" pitchFamily="34" charset="-120"/>
              </a:rPr>
              <a:t>Q2</a:t>
            </a:r>
            <a:endParaRPr lang="en-US" sz="1400" dirty="0"/>
          </a:p>
        </p:txBody>
      </p:sp>
      <p:sp>
        <p:nvSpPr>
          <p:cNvPr id="6" name="Text 4"/>
          <p:cNvSpPr txBox="1"/>
          <p:nvPr/>
        </p:nvSpPr>
        <p:spPr>
          <a:xfrm>
            <a:off x="1280160" y="1298448"/>
            <a:ext cx="10177272" cy="384048"/>
          </a:xfrm>
          <a:prstGeom prst="rect">
            <a:avLst/>
          </a:prstGeom>
          <a:noFill/>
          <a:ln/>
        </p:spPr>
        <p:txBody>
          <a:bodyPr wrap="square" lIns="0" tIns="0" rIns="0" bIns="0" rtlCol="0" anchor="ctr"/>
          <a:lstStyle/>
          <a:p>
            <a:pPr indent="0" marL="0">
              <a:buNone/>
            </a:pPr>
            <a:r>
              <a:rPr lang="en-US" sz="1300" dirty="0">
                <a:solidFill>
                  <a:srgbClr val="21295C"/>
                </a:solidFill>
                <a:latin typeface="Calibri" pitchFamily="34" charset="0"/>
                <a:ea typeface="Calibri" pitchFamily="34" charset="-122"/>
                <a:cs typeface="Calibri" pitchFamily="34" charset="-120"/>
              </a:rPr>
              <a:t>スムージーとおにぎりを食べるタイミングはいつが良いのか？</a:t>
            </a:r>
            <a:endParaRPr lang="en-US" sz="1300" dirty="0"/>
          </a:p>
        </p:txBody>
      </p:sp>
      <p:sp>
        <p:nvSpPr>
          <p:cNvPr id="7" name="Shape 5"/>
          <p:cNvSpPr/>
          <p:nvPr/>
        </p:nvSpPr>
        <p:spPr>
          <a:xfrm>
            <a:off x="548640" y="1874520"/>
            <a:ext cx="11091672" cy="1051560"/>
          </a:xfrm>
          <a:prstGeom prst="roundRect">
            <a:avLst>
              <a:gd name="adj" fmla="val 10435"/>
            </a:avLst>
          </a:prstGeom>
          <a:solidFill>
            <a:srgbClr val="EAF7F0"/>
          </a:solidFill>
          <a:ln w="15875">
            <a:solidFill>
              <a:srgbClr val="1BAF7A"/>
            </a:solidFill>
            <a:prstDash val="solid"/>
          </a:ln>
        </p:spPr>
      </p:sp>
      <p:sp>
        <p:nvSpPr>
          <p:cNvPr id="8" name="Text 6"/>
          <p:cNvSpPr txBox="1"/>
          <p:nvPr/>
        </p:nvSpPr>
        <p:spPr>
          <a:xfrm>
            <a:off x="822960" y="1984248"/>
            <a:ext cx="1828800" cy="274320"/>
          </a:xfrm>
          <a:prstGeom prst="rect">
            <a:avLst/>
          </a:prstGeom>
          <a:noFill/>
          <a:ln/>
        </p:spPr>
        <p:txBody>
          <a:bodyPr wrap="square" lIns="0" tIns="0" rIns="0" bIns="0" rtlCol="0" anchor="ctr"/>
          <a:lstStyle/>
          <a:p>
            <a:pPr indent="0" marL="0">
              <a:buNone/>
            </a:pPr>
            <a:r>
              <a:rPr lang="en-US" sz="1200" b="1" dirty="0">
                <a:solidFill>
                  <a:srgbClr val="0F5C3D"/>
                </a:solidFill>
                <a:latin typeface="Calibri" pitchFamily="34" charset="0"/>
                <a:ea typeface="Calibri" pitchFamily="34" charset="-122"/>
                <a:cs typeface="Calibri" pitchFamily="34" charset="-120"/>
              </a:rPr>
              <a:t>✓ 答え</a:t>
            </a:r>
            <a:endParaRPr lang="en-US" sz="1200" dirty="0"/>
          </a:p>
        </p:txBody>
      </p:sp>
      <p:sp>
        <p:nvSpPr>
          <p:cNvPr id="9" name="Text 7"/>
          <p:cNvSpPr txBox="1"/>
          <p:nvPr/>
        </p:nvSpPr>
        <p:spPr>
          <a:xfrm>
            <a:off x="822960" y="2258568"/>
            <a:ext cx="10543032" cy="548640"/>
          </a:xfrm>
          <a:prstGeom prst="rect">
            <a:avLst/>
          </a:prstGeom>
          <a:noFill/>
          <a:ln/>
        </p:spPr>
        <p:txBody>
          <a:bodyPr wrap="square" lIns="0" tIns="0" rIns="0" bIns="0" rtlCol="0" anchor="ctr"/>
          <a:lstStyle/>
          <a:p>
            <a:pPr indent="0" marL="0">
              <a:buNone/>
            </a:pPr>
            <a:r>
              <a:rPr lang="en-US" sz="2000" b="1" dirty="0">
                <a:solidFill>
                  <a:srgbClr val="0F5C3D"/>
                </a:solidFill>
                <a:latin typeface="Cambria" pitchFamily="34" charset="0"/>
                <a:ea typeface="Cambria" pitchFamily="34" charset="-122"/>
                <a:cs typeface="Cambria" pitchFamily="34" charset="-120"/>
              </a:rPr>
              <a:t>8:00に「同時に」食べるのが良い</a:t>
            </a:r>
            <a:endParaRPr lang="en-US" sz="2000" dirty="0"/>
          </a:p>
        </p:txBody>
      </p:sp>
      <p:sp>
        <p:nvSpPr>
          <p:cNvPr id="10" name="Shape 8"/>
          <p:cNvSpPr/>
          <p:nvPr/>
        </p:nvSpPr>
        <p:spPr>
          <a:xfrm>
            <a:off x="7708392" y="1984248"/>
            <a:ext cx="3931920" cy="310896"/>
          </a:xfrm>
          <a:prstGeom prst="roundRect">
            <a:avLst>
              <a:gd name="adj" fmla="val 20588"/>
            </a:avLst>
          </a:prstGeom>
          <a:solidFill>
            <a:srgbClr val="FDF3E2"/>
          </a:solidFill>
          <a:ln w="9525">
            <a:solidFill>
              <a:srgbClr val="6B4B00"/>
            </a:solidFill>
            <a:prstDash val="solid"/>
          </a:ln>
        </p:spPr>
      </p:sp>
      <p:sp>
        <p:nvSpPr>
          <p:cNvPr id="11" name="Text 9"/>
          <p:cNvSpPr txBox="1"/>
          <p:nvPr/>
        </p:nvSpPr>
        <p:spPr>
          <a:xfrm>
            <a:off x="7799832" y="1984248"/>
            <a:ext cx="3749040" cy="310896"/>
          </a:xfrm>
          <a:prstGeom prst="rect">
            <a:avLst/>
          </a:prstGeom>
          <a:noFill/>
          <a:ln/>
        </p:spPr>
        <p:txBody>
          <a:bodyPr wrap="square" lIns="0" tIns="0" rIns="0" bIns="0" rtlCol="0" anchor="ctr"/>
          <a:lstStyle/>
          <a:p>
            <a:pPr algn="ctr" indent="0" marL="0">
              <a:buNone/>
            </a:pPr>
            <a:r>
              <a:rPr lang="en-US" sz="950" b="1" dirty="0">
                <a:solidFill>
                  <a:srgbClr val="6B4B00"/>
                </a:solidFill>
                <a:latin typeface="Calibri" pitchFamily="34" charset="0"/>
                <a:ea typeface="Calibri" pitchFamily="34" charset="-122"/>
                <a:cs typeface="Calibri" pitchFamily="34" charset="-120"/>
              </a:rPr>
              <a:t>⚠ 血糖シフトの影響で参考値</a:t>
            </a:r>
            <a:endParaRPr lang="en-US" sz="950" dirty="0"/>
          </a:p>
        </p:txBody>
      </p:sp>
      <p:sp>
        <p:nvSpPr>
          <p:cNvPr id="12" name="Shape 10"/>
          <p:cNvSpPr/>
          <p:nvPr/>
        </p:nvSpPr>
        <p:spPr>
          <a:xfrm>
            <a:off x="548640" y="3163824"/>
            <a:ext cx="109728" cy="109728"/>
          </a:xfrm>
          <a:prstGeom prst="oval">
            <a:avLst/>
          </a:prstGeom>
          <a:solidFill>
            <a:srgbClr val="1BAF7A"/>
          </a:solidFill>
          <a:ln/>
        </p:spPr>
      </p:sp>
      <p:sp>
        <p:nvSpPr>
          <p:cNvPr id="13" name="Text 11"/>
          <p:cNvSpPr txBox="1"/>
          <p:nvPr/>
        </p:nvSpPr>
        <p:spPr>
          <a:xfrm>
            <a:off x="841248" y="3108960"/>
            <a:ext cx="10799064" cy="4572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同時摂取は、練習中の燃料供給をスムージー単独と同水準（220 vs 222 mg/dL）に保ったまま、血糖の乱高下（CV・Δピーク）を明確に小さくする</a:t>
            </a:r>
            <a:endParaRPr lang="en-US" sz="1300" dirty="0"/>
          </a:p>
        </p:txBody>
      </p:sp>
      <p:sp>
        <p:nvSpPr>
          <p:cNvPr id="14" name="Shape 12"/>
          <p:cNvSpPr/>
          <p:nvPr/>
        </p:nvSpPr>
        <p:spPr>
          <a:xfrm>
            <a:off x="548640" y="3730752"/>
            <a:ext cx="109728" cy="109728"/>
          </a:xfrm>
          <a:prstGeom prst="oval">
            <a:avLst/>
          </a:prstGeom>
          <a:solidFill>
            <a:srgbClr val="1BAF7A"/>
          </a:solidFill>
          <a:ln/>
        </p:spPr>
      </p:sp>
      <p:sp>
        <p:nvSpPr>
          <p:cNvPr id="15" name="Text 13"/>
          <p:cNvSpPr txBox="1"/>
          <p:nvPr/>
        </p:nvSpPr>
        <p:spPr>
          <a:xfrm>
            <a:off x="841248" y="3675888"/>
            <a:ext cx="10799064" cy="4572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おにぎり（ゆっくり吸収されるデンプン）が副食の急な糖吸収を緩衝し、波形がなだらかになると解釈できる</a:t>
            </a:r>
            <a:endParaRPr lang="en-US" sz="1300" dirty="0"/>
          </a:p>
        </p:txBody>
      </p:sp>
      <p:sp>
        <p:nvSpPr>
          <p:cNvPr id="16" name="Shape 14"/>
          <p:cNvSpPr/>
          <p:nvPr/>
        </p:nvSpPr>
        <p:spPr>
          <a:xfrm>
            <a:off x="548640" y="4297680"/>
            <a:ext cx="109728" cy="109728"/>
          </a:xfrm>
          <a:prstGeom prst="oval">
            <a:avLst/>
          </a:prstGeom>
          <a:solidFill>
            <a:srgbClr val="1BAF7A"/>
          </a:solidFill>
          <a:ln/>
        </p:spPr>
      </p:sp>
      <p:sp>
        <p:nvSpPr>
          <p:cNvPr id="17" name="Text 15"/>
          <p:cNvSpPr txBox="1"/>
          <p:nvPr/>
        </p:nvSpPr>
        <p:spPr>
          <a:xfrm>
            <a:off x="841248" y="4242816"/>
            <a:ext cx="10799064" cy="4572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満腹感は上がるが、頭痛・吐き気などの消化器症状は軽微で、実害は見られない</a:t>
            </a:r>
            <a:endParaRPr lang="en-US" sz="1300" dirty="0"/>
          </a:p>
        </p:txBody>
      </p:sp>
      <p:sp>
        <p:nvSpPr>
          <p:cNvPr id="18" name="Shape 16"/>
          <p:cNvSpPr/>
          <p:nvPr/>
        </p:nvSpPr>
        <p:spPr>
          <a:xfrm>
            <a:off x="548640" y="4864608"/>
            <a:ext cx="109728" cy="109728"/>
          </a:xfrm>
          <a:prstGeom prst="oval">
            <a:avLst/>
          </a:prstGeom>
          <a:solidFill>
            <a:srgbClr val="1BAF7A"/>
          </a:solidFill>
          <a:ln/>
        </p:spPr>
      </p:sp>
      <p:sp>
        <p:nvSpPr>
          <p:cNvPr id="19" name="Text 17"/>
          <p:cNvSpPr txBox="1"/>
          <p:nvPr/>
        </p:nvSpPr>
        <p:spPr>
          <a:xfrm>
            <a:off x="841248" y="4809744"/>
            <a:ext cx="10799064" cy="45720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夜間コンディション（起床時・睡眠）もスムージー単独よりわずかに良好な傾向</a:t>
            </a:r>
            <a:endParaRPr lang="en-US" sz="1300" dirty="0"/>
          </a:p>
        </p:txBody>
      </p:sp>
      <p:sp>
        <p:nvSpPr>
          <p:cNvPr id="20" name="Shape 18"/>
          <p:cNvSpPr/>
          <p:nvPr/>
        </p:nvSpPr>
        <p:spPr>
          <a:xfrm>
            <a:off x="548640" y="5623560"/>
            <a:ext cx="11091672" cy="868680"/>
          </a:xfrm>
          <a:prstGeom prst="roundRect">
            <a:avLst>
              <a:gd name="adj" fmla="val 10526"/>
            </a:avLst>
          </a:prstGeom>
          <a:solidFill>
            <a:srgbClr val="FDF3E2"/>
          </a:solidFill>
          <a:ln w="12700">
            <a:solidFill>
              <a:srgbClr val="EDA100"/>
            </a:solidFill>
            <a:prstDash val="solid"/>
          </a:ln>
        </p:spPr>
      </p:sp>
      <p:sp>
        <p:nvSpPr>
          <p:cNvPr id="21" name="Text 19"/>
          <p:cNvSpPr txBox="1"/>
          <p:nvPr/>
        </p:nvSpPr>
        <p:spPr>
          <a:xfrm>
            <a:off x="777240" y="5742432"/>
            <a:ext cx="10634472" cy="640080"/>
          </a:xfrm>
          <a:prstGeom prst="rect">
            <a:avLst/>
          </a:prstGeom>
          <a:noFill/>
          <a:ln/>
        </p:spPr>
        <p:txBody>
          <a:bodyPr wrap="square" lIns="0" tIns="0" rIns="0" bIns="0" rtlCol="0" anchor="ctr"/>
          <a:lstStyle/>
          <a:p>
            <a:pPr indent="0" marL="0">
              <a:buNone/>
            </a:pPr>
            <a:r>
              <a:rPr lang="en-US" sz="1250" b="1" dirty="0">
                <a:solidFill>
                  <a:srgbClr val="6B4B00"/>
                </a:solidFill>
                <a:latin typeface="Calibri" pitchFamily="34" charset="0"/>
                <a:ea typeface="Calibri" pitchFamily="34" charset="-122"/>
                <a:cs typeface="Calibri" pitchFamily="34" charset="-120"/>
              </a:rPr>
              <a:t>→ 「おにぎりを崩さず、副食だけをスムージー化して同時に食べる」という部分的液状化のアイデアは、血糖の観点から明確に支持される。</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310896"/>
          </a:xfrm>
          <a:prstGeom prst="rect">
            <a:avLst/>
          </a:prstGeom>
          <a:noFill/>
          <a:ln/>
        </p:spPr>
        <p:txBody>
          <a:bodyPr wrap="square" rtlCol="0" anchor="ctr"/>
          <a:lstStyle/>
          <a:p>
            <a:pPr indent="0" marL="0">
              <a:buNone/>
            </a:pPr>
            <a:r>
              <a:rPr lang="en-US" sz="1250" b="1" spc="100" kern="0" dirty="0">
                <a:solidFill>
                  <a:srgbClr val="1C7293"/>
                </a:solidFill>
                <a:latin typeface="Calibri" pitchFamily="34" charset="0"/>
                <a:ea typeface="Calibri" pitchFamily="34" charset="-122"/>
                <a:cs typeface="Calibri" pitchFamily="34" charset="-120"/>
              </a:rPr>
              <a:t>Q3 – RESULTS</a:t>
            </a:r>
            <a:endParaRPr lang="en-US" sz="1250" dirty="0"/>
          </a:p>
        </p:txBody>
      </p:sp>
      <p:sp>
        <p:nvSpPr>
          <p:cNvPr id="3" name="Text 1"/>
          <p:cNvSpPr txBox="1"/>
          <p:nvPr/>
        </p:nvSpPr>
        <p:spPr>
          <a:xfrm>
            <a:off x="548640" y="676656"/>
            <a:ext cx="11091672" cy="59436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朝ごはんの糖質量：結果</a:t>
            </a:r>
            <a:endParaRPr lang="en-US" sz="2600" dirty="0"/>
          </a:p>
        </p:txBody>
      </p:sp>
      <p:sp>
        <p:nvSpPr>
          <p:cNvPr id="4" name="Shape 2"/>
          <p:cNvSpPr/>
          <p:nvPr/>
        </p:nvSpPr>
        <p:spPr>
          <a:xfrm>
            <a:off x="548640" y="1298448"/>
            <a:ext cx="11091672" cy="384048"/>
          </a:xfrm>
          <a:prstGeom prst="roundRect">
            <a:avLst>
              <a:gd name="adj" fmla="val 19048"/>
            </a:avLst>
          </a:prstGeom>
          <a:solidFill>
            <a:srgbClr val="F4F7F9"/>
          </a:solidFill>
          <a:ln/>
        </p:spPr>
      </p:sp>
      <p:sp>
        <p:nvSpPr>
          <p:cNvPr id="5" name="Text 3"/>
          <p:cNvSpPr txBox="1"/>
          <p:nvPr/>
        </p:nvSpPr>
        <p:spPr>
          <a:xfrm>
            <a:off x="685800" y="1298448"/>
            <a:ext cx="548640" cy="384048"/>
          </a:xfrm>
          <a:prstGeom prst="rect">
            <a:avLst/>
          </a:prstGeom>
          <a:noFill/>
          <a:ln/>
        </p:spPr>
        <p:txBody>
          <a:bodyPr wrap="square" lIns="0" tIns="0" rIns="0" bIns="0" rtlCol="0" anchor="ctr"/>
          <a:lstStyle/>
          <a:p>
            <a:pPr algn="ctr" indent="0" marL="0">
              <a:buNone/>
            </a:pPr>
            <a:r>
              <a:rPr lang="en-US" sz="1400" b="1" dirty="0">
                <a:solidFill>
                  <a:srgbClr val="1C7293"/>
                </a:solidFill>
                <a:latin typeface="Cambria" pitchFamily="34" charset="0"/>
                <a:ea typeface="Cambria" pitchFamily="34" charset="-122"/>
                <a:cs typeface="Cambria" pitchFamily="34" charset="-120"/>
              </a:rPr>
              <a:t>Q3</a:t>
            </a:r>
            <a:endParaRPr lang="en-US" sz="1400" dirty="0"/>
          </a:p>
        </p:txBody>
      </p:sp>
      <p:sp>
        <p:nvSpPr>
          <p:cNvPr id="6" name="Text 4"/>
          <p:cNvSpPr txBox="1"/>
          <p:nvPr/>
        </p:nvSpPr>
        <p:spPr>
          <a:xfrm>
            <a:off x="1280160" y="1298448"/>
            <a:ext cx="10177272" cy="384048"/>
          </a:xfrm>
          <a:prstGeom prst="rect">
            <a:avLst/>
          </a:prstGeom>
          <a:noFill/>
          <a:ln/>
        </p:spPr>
        <p:txBody>
          <a:bodyPr wrap="square" lIns="0" tIns="0" rIns="0" bIns="0" rtlCol="0" anchor="ctr"/>
          <a:lstStyle/>
          <a:p>
            <a:pPr indent="0" marL="0">
              <a:buNone/>
            </a:pPr>
            <a:r>
              <a:rPr lang="en-US" sz="1300" dirty="0">
                <a:solidFill>
                  <a:srgbClr val="21295C"/>
                </a:solidFill>
                <a:latin typeface="Calibri" pitchFamily="34" charset="0"/>
                <a:ea typeface="Calibri" pitchFamily="34" charset="-122"/>
                <a:cs typeface="Calibri" pitchFamily="34" charset="-120"/>
              </a:rPr>
              <a:t>朝ごはんの糖質（C）は少し減らした方が良いのか？</a:t>
            </a:r>
            <a:endParaRPr lang="en-US" sz="1300" dirty="0"/>
          </a:p>
        </p:txBody>
      </p:sp>
      <p:sp>
        <p:nvSpPr>
          <p:cNvPr id="7" name="Text 5"/>
          <p:cNvSpPr txBox="1"/>
          <p:nvPr/>
        </p:nvSpPr>
        <p:spPr>
          <a:xfrm>
            <a:off x="548640" y="1783080"/>
            <a:ext cx="11091672" cy="365760"/>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同時摂取プロトコルの中で、副食の糖質を通常量にした条件（おにぎり＋スムージー）と、少し減らした条件（おにぎり＋糖質減）を比較。</a:t>
            </a:r>
            <a:endParaRPr lang="en-US" sz="1200" dirty="0"/>
          </a:p>
        </p:txBody>
      </p:sp>
      <p:sp>
        <p:nvSpPr>
          <p:cNvPr id="8" name="Text 6"/>
          <p:cNvSpPr txBox="1"/>
          <p:nvPr/>
        </p:nvSpPr>
        <p:spPr>
          <a:xfrm>
            <a:off x="548640" y="2240280"/>
            <a:ext cx="2743200" cy="27432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血糖値</a:t>
            </a:r>
            <a:endParaRPr lang="en-US" sz="1300" dirty="0"/>
          </a:p>
        </p:txBody>
      </p:sp>
      <p:sp>
        <p:nvSpPr>
          <p:cNvPr id="9" name="Shape 7"/>
          <p:cNvSpPr/>
          <p:nvPr/>
        </p:nvSpPr>
        <p:spPr>
          <a:xfrm>
            <a:off x="548640" y="2542032"/>
            <a:ext cx="3514344" cy="868680"/>
          </a:xfrm>
          <a:prstGeom prst="roundRect">
            <a:avLst>
              <a:gd name="adj" fmla="val 8421"/>
            </a:avLst>
          </a:prstGeom>
          <a:solidFill>
            <a:srgbClr val="F4F7F9"/>
          </a:solidFill>
          <a:ln/>
        </p:spPr>
      </p:sp>
      <p:sp>
        <p:nvSpPr>
          <p:cNvPr id="10" name="Text 8"/>
          <p:cNvSpPr txBox="1"/>
          <p:nvPr/>
        </p:nvSpPr>
        <p:spPr>
          <a:xfrm>
            <a:off x="685800" y="2596896"/>
            <a:ext cx="3240024" cy="237744"/>
          </a:xfrm>
          <a:prstGeom prst="rect">
            <a:avLst/>
          </a:prstGeom>
          <a:noFill/>
          <a:ln/>
        </p:spPr>
        <p:txBody>
          <a:bodyPr wrap="square" lIns="0" tIns="0" rIns="0" bIns="0" rtlCol="0" anchor="ctr"/>
          <a:lstStyle/>
          <a:p>
            <a:pPr indent="0" marL="0">
              <a:buNone/>
            </a:pPr>
            <a:r>
              <a:rPr lang="en-US" sz="1050" b="1" dirty="0">
                <a:solidFill>
                  <a:srgbClr val="21295C"/>
                </a:solidFill>
                <a:latin typeface="Calibri" pitchFamily="34" charset="0"/>
                <a:ea typeface="Calibri" pitchFamily="34" charset="-122"/>
                <a:cs typeface="Calibri" pitchFamily="34" charset="-120"/>
              </a:rPr>
              <a:t>iAUC 2h (mg/dL・分)</a:t>
            </a:r>
            <a:endParaRPr lang="en-US" sz="1050" dirty="0"/>
          </a:p>
        </p:txBody>
      </p:sp>
      <p:sp>
        <p:nvSpPr>
          <p:cNvPr id="11" name="Text 9"/>
          <p:cNvSpPr txBox="1"/>
          <p:nvPr/>
        </p:nvSpPr>
        <p:spPr>
          <a:xfrm>
            <a:off x="685800" y="2834640"/>
            <a:ext cx="1620012" cy="365760"/>
          </a:xfrm>
          <a:prstGeom prst="rect">
            <a:avLst/>
          </a:prstGeom>
          <a:noFill/>
          <a:ln/>
        </p:spPr>
        <p:txBody>
          <a:bodyPr wrap="square" lIns="0" tIns="0" rIns="0" bIns="0" rtlCol="0" anchor="ctr"/>
          <a:lstStyle/>
          <a:p>
            <a:pPr indent="0" marL="0">
              <a:buNone/>
            </a:pPr>
            <a:r>
              <a:rPr lang="en-US" sz="1700" b="1" dirty="0">
                <a:solidFill>
                  <a:srgbClr val="1BAF7A"/>
                </a:solidFill>
                <a:latin typeface="Cambria" pitchFamily="34" charset="0"/>
                <a:ea typeface="Cambria" pitchFamily="34" charset="-122"/>
                <a:cs typeface="Cambria" pitchFamily="34" charset="-120"/>
              </a:rPr>
              <a:t>5,230</a:t>
            </a:r>
            <a:endParaRPr lang="en-US" sz="1700" dirty="0"/>
          </a:p>
        </p:txBody>
      </p:sp>
      <p:sp>
        <p:nvSpPr>
          <p:cNvPr id="12" name="Text 10"/>
          <p:cNvSpPr txBox="1"/>
          <p:nvPr/>
        </p:nvSpPr>
        <p:spPr>
          <a:xfrm>
            <a:off x="2305812" y="2834640"/>
            <a:ext cx="1620012" cy="365760"/>
          </a:xfrm>
          <a:prstGeom prst="rect">
            <a:avLst/>
          </a:prstGeom>
          <a:noFill/>
          <a:ln/>
        </p:spPr>
        <p:txBody>
          <a:bodyPr wrap="square" lIns="0" tIns="0" rIns="0" bIns="0" rtlCol="0" anchor="ctr"/>
          <a:lstStyle/>
          <a:p>
            <a:pPr algn="r" indent="0" marL="0">
              <a:buNone/>
            </a:pPr>
            <a:r>
              <a:rPr lang="en-US" sz="1700" b="1" dirty="0">
                <a:solidFill>
                  <a:srgbClr val="EDA100"/>
                </a:solidFill>
                <a:latin typeface="Cambria" pitchFamily="34" charset="0"/>
                <a:ea typeface="Cambria" pitchFamily="34" charset="-122"/>
                <a:cs typeface="Cambria" pitchFamily="34" charset="-120"/>
              </a:rPr>
              <a:t>3,168</a:t>
            </a:r>
            <a:endParaRPr lang="en-US" sz="1700" dirty="0"/>
          </a:p>
        </p:txBody>
      </p:sp>
      <p:sp>
        <p:nvSpPr>
          <p:cNvPr id="13" name="Text 11"/>
          <p:cNvSpPr txBox="1"/>
          <p:nvPr/>
        </p:nvSpPr>
        <p:spPr>
          <a:xfrm>
            <a:off x="685800" y="3200400"/>
            <a:ext cx="3240024" cy="182880"/>
          </a:xfrm>
          <a:prstGeom prst="rect">
            <a:avLst/>
          </a:prstGeom>
          <a:noFill/>
          <a:ln/>
        </p:spPr>
        <p:txBody>
          <a:bodyPr wrap="square" lIns="0" tIns="0" rIns="0" bIns="0" rtlCol="0" anchor="ctr"/>
          <a:lstStyle/>
          <a:p>
            <a:pPr indent="0" marL="0">
              <a:buNone/>
            </a:pPr>
            <a:r>
              <a:rPr lang="en-US" sz="800" dirty="0">
                <a:solidFill>
                  <a:srgbClr val="5C6570"/>
                </a:solidFill>
                <a:latin typeface="Calibri" pitchFamily="34" charset="0"/>
                <a:ea typeface="Calibri" pitchFamily="34" charset="-122"/>
                <a:cs typeface="Calibri" pitchFamily="34" charset="-120"/>
              </a:rPr>
              <a:t>糖質減で約39%減</a:t>
            </a:r>
            <a:endParaRPr lang="en-US" sz="800" dirty="0"/>
          </a:p>
        </p:txBody>
      </p:sp>
      <p:sp>
        <p:nvSpPr>
          <p:cNvPr id="14" name="Shape 12"/>
          <p:cNvSpPr/>
          <p:nvPr/>
        </p:nvSpPr>
        <p:spPr>
          <a:xfrm>
            <a:off x="4337304" y="2542032"/>
            <a:ext cx="3514344" cy="868680"/>
          </a:xfrm>
          <a:prstGeom prst="roundRect">
            <a:avLst>
              <a:gd name="adj" fmla="val 8421"/>
            </a:avLst>
          </a:prstGeom>
          <a:solidFill>
            <a:srgbClr val="F4F7F9"/>
          </a:solidFill>
          <a:ln/>
        </p:spPr>
      </p:sp>
      <p:sp>
        <p:nvSpPr>
          <p:cNvPr id="15" name="Text 13"/>
          <p:cNvSpPr txBox="1"/>
          <p:nvPr/>
        </p:nvSpPr>
        <p:spPr>
          <a:xfrm>
            <a:off x="4474464" y="2596896"/>
            <a:ext cx="3240024" cy="237744"/>
          </a:xfrm>
          <a:prstGeom prst="rect">
            <a:avLst/>
          </a:prstGeom>
          <a:noFill/>
          <a:ln/>
        </p:spPr>
        <p:txBody>
          <a:bodyPr wrap="square" lIns="0" tIns="0" rIns="0" bIns="0" rtlCol="0" anchor="ctr"/>
          <a:lstStyle/>
          <a:p>
            <a:pPr indent="0" marL="0">
              <a:buNone/>
            </a:pPr>
            <a:r>
              <a:rPr lang="en-US" sz="1050" b="1" dirty="0">
                <a:solidFill>
                  <a:srgbClr val="21295C"/>
                </a:solidFill>
                <a:latin typeface="Calibri" pitchFamily="34" charset="0"/>
                <a:ea typeface="Calibri" pitchFamily="34" charset="-122"/>
                <a:cs typeface="Calibri" pitchFamily="34" charset="-120"/>
              </a:rPr>
              <a:t>CV (8:00-11:30)</a:t>
            </a:r>
            <a:endParaRPr lang="en-US" sz="1050" dirty="0"/>
          </a:p>
        </p:txBody>
      </p:sp>
      <p:sp>
        <p:nvSpPr>
          <p:cNvPr id="16" name="Text 14"/>
          <p:cNvSpPr txBox="1"/>
          <p:nvPr/>
        </p:nvSpPr>
        <p:spPr>
          <a:xfrm>
            <a:off x="4474464" y="2834640"/>
            <a:ext cx="1620012" cy="365760"/>
          </a:xfrm>
          <a:prstGeom prst="rect">
            <a:avLst/>
          </a:prstGeom>
          <a:noFill/>
          <a:ln/>
        </p:spPr>
        <p:txBody>
          <a:bodyPr wrap="square" lIns="0" tIns="0" rIns="0" bIns="0" rtlCol="0" anchor="ctr"/>
          <a:lstStyle/>
          <a:p>
            <a:pPr indent="0" marL="0">
              <a:buNone/>
            </a:pPr>
            <a:r>
              <a:rPr lang="en-US" sz="1700" b="1" dirty="0">
                <a:solidFill>
                  <a:srgbClr val="1BAF7A"/>
                </a:solidFill>
                <a:latin typeface="Cambria" pitchFamily="34" charset="0"/>
                <a:ea typeface="Cambria" pitchFamily="34" charset="-122"/>
                <a:cs typeface="Cambria" pitchFamily="34" charset="-120"/>
              </a:rPr>
              <a:t>10.1%</a:t>
            </a:r>
            <a:endParaRPr lang="en-US" sz="1700" dirty="0"/>
          </a:p>
        </p:txBody>
      </p:sp>
      <p:sp>
        <p:nvSpPr>
          <p:cNvPr id="17" name="Text 15"/>
          <p:cNvSpPr txBox="1"/>
          <p:nvPr/>
        </p:nvSpPr>
        <p:spPr>
          <a:xfrm>
            <a:off x="6094476" y="2834640"/>
            <a:ext cx="1620012" cy="365760"/>
          </a:xfrm>
          <a:prstGeom prst="rect">
            <a:avLst/>
          </a:prstGeom>
          <a:noFill/>
          <a:ln/>
        </p:spPr>
        <p:txBody>
          <a:bodyPr wrap="square" lIns="0" tIns="0" rIns="0" bIns="0" rtlCol="0" anchor="ctr"/>
          <a:lstStyle/>
          <a:p>
            <a:pPr algn="r" indent="0" marL="0">
              <a:buNone/>
            </a:pPr>
            <a:r>
              <a:rPr lang="en-US" sz="1700" b="1" dirty="0">
                <a:solidFill>
                  <a:srgbClr val="EDA100"/>
                </a:solidFill>
                <a:latin typeface="Cambria" pitchFamily="34" charset="0"/>
                <a:ea typeface="Cambria" pitchFamily="34" charset="-122"/>
                <a:cs typeface="Cambria" pitchFamily="34" charset="-120"/>
              </a:rPr>
              <a:t>8.5%</a:t>
            </a:r>
            <a:endParaRPr lang="en-US" sz="1700" dirty="0"/>
          </a:p>
        </p:txBody>
      </p:sp>
      <p:sp>
        <p:nvSpPr>
          <p:cNvPr id="18" name="Shape 16"/>
          <p:cNvSpPr/>
          <p:nvPr/>
        </p:nvSpPr>
        <p:spPr>
          <a:xfrm>
            <a:off x="8125968" y="2542032"/>
            <a:ext cx="3514344" cy="868680"/>
          </a:xfrm>
          <a:prstGeom prst="roundRect">
            <a:avLst>
              <a:gd name="adj" fmla="val 8421"/>
            </a:avLst>
          </a:prstGeom>
          <a:solidFill>
            <a:srgbClr val="F4F7F9"/>
          </a:solidFill>
          <a:ln/>
        </p:spPr>
      </p:sp>
      <p:sp>
        <p:nvSpPr>
          <p:cNvPr id="19" name="Text 17"/>
          <p:cNvSpPr txBox="1"/>
          <p:nvPr/>
        </p:nvSpPr>
        <p:spPr>
          <a:xfrm>
            <a:off x="8263128" y="2596896"/>
            <a:ext cx="3240024" cy="237744"/>
          </a:xfrm>
          <a:prstGeom prst="rect">
            <a:avLst/>
          </a:prstGeom>
          <a:noFill/>
          <a:ln/>
        </p:spPr>
        <p:txBody>
          <a:bodyPr wrap="square" lIns="0" tIns="0" rIns="0" bIns="0" rtlCol="0" anchor="ctr"/>
          <a:lstStyle/>
          <a:p>
            <a:pPr indent="0" marL="0">
              <a:buNone/>
            </a:pPr>
            <a:r>
              <a:rPr lang="en-US" sz="1050" b="1" dirty="0">
                <a:solidFill>
                  <a:srgbClr val="21295C"/>
                </a:solidFill>
                <a:latin typeface="Calibri" pitchFamily="34" charset="0"/>
                <a:ea typeface="Calibri" pitchFamily="34" charset="-122"/>
                <a:cs typeface="Calibri" pitchFamily="34" charset="-120"/>
              </a:rPr>
              <a:t>練習中(11-14h)平均血糖</a:t>
            </a:r>
            <a:endParaRPr lang="en-US" sz="1050" dirty="0"/>
          </a:p>
        </p:txBody>
      </p:sp>
      <p:sp>
        <p:nvSpPr>
          <p:cNvPr id="20" name="Text 18"/>
          <p:cNvSpPr txBox="1"/>
          <p:nvPr/>
        </p:nvSpPr>
        <p:spPr>
          <a:xfrm>
            <a:off x="8263128" y="2834640"/>
            <a:ext cx="1620012" cy="365760"/>
          </a:xfrm>
          <a:prstGeom prst="rect">
            <a:avLst/>
          </a:prstGeom>
          <a:noFill/>
          <a:ln/>
        </p:spPr>
        <p:txBody>
          <a:bodyPr wrap="square" lIns="0" tIns="0" rIns="0" bIns="0" rtlCol="0" anchor="ctr"/>
          <a:lstStyle/>
          <a:p>
            <a:pPr indent="0" marL="0">
              <a:buNone/>
            </a:pPr>
            <a:r>
              <a:rPr lang="en-US" sz="1700" b="1" dirty="0">
                <a:solidFill>
                  <a:srgbClr val="1BAF7A"/>
                </a:solidFill>
                <a:latin typeface="Cambria" pitchFamily="34" charset="0"/>
                <a:ea typeface="Cambria" pitchFamily="34" charset="-122"/>
                <a:cs typeface="Cambria" pitchFamily="34" charset="-120"/>
              </a:rPr>
              <a:t>220.1</a:t>
            </a:r>
            <a:endParaRPr lang="en-US" sz="1700" dirty="0"/>
          </a:p>
        </p:txBody>
      </p:sp>
      <p:sp>
        <p:nvSpPr>
          <p:cNvPr id="21" name="Text 19"/>
          <p:cNvSpPr txBox="1"/>
          <p:nvPr/>
        </p:nvSpPr>
        <p:spPr>
          <a:xfrm>
            <a:off x="9883140" y="2834640"/>
            <a:ext cx="1620012" cy="365760"/>
          </a:xfrm>
          <a:prstGeom prst="rect">
            <a:avLst/>
          </a:prstGeom>
          <a:noFill/>
          <a:ln/>
        </p:spPr>
        <p:txBody>
          <a:bodyPr wrap="square" lIns="0" tIns="0" rIns="0" bIns="0" rtlCol="0" anchor="ctr"/>
          <a:lstStyle/>
          <a:p>
            <a:pPr algn="r" indent="0" marL="0">
              <a:buNone/>
            </a:pPr>
            <a:r>
              <a:rPr lang="en-US" sz="1700" b="1" dirty="0">
                <a:solidFill>
                  <a:srgbClr val="EDA100"/>
                </a:solidFill>
                <a:latin typeface="Cambria" pitchFamily="34" charset="0"/>
                <a:ea typeface="Cambria" pitchFamily="34" charset="-122"/>
                <a:cs typeface="Cambria" pitchFamily="34" charset="-120"/>
              </a:rPr>
              <a:t>229.4</a:t>
            </a:r>
            <a:endParaRPr lang="en-US" sz="1700" dirty="0"/>
          </a:p>
        </p:txBody>
      </p:sp>
      <p:sp>
        <p:nvSpPr>
          <p:cNvPr id="22" name="Text 20"/>
          <p:cNvSpPr txBox="1"/>
          <p:nvPr/>
        </p:nvSpPr>
        <p:spPr>
          <a:xfrm>
            <a:off x="8263128" y="3200400"/>
            <a:ext cx="3240024" cy="182880"/>
          </a:xfrm>
          <a:prstGeom prst="rect">
            <a:avLst/>
          </a:prstGeom>
          <a:noFill/>
          <a:ln/>
        </p:spPr>
        <p:txBody>
          <a:bodyPr wrap="square" lIns="0" tIns="0" rIns="0" bIns="0" rtlCol="0" anchor="ctr"/>
          <a:lstStyle/>
          <a:p>
            <a:pPr indent="0" marL="0">
              <a:buNone/>
            </a:pPr>
            <a:r>
              <a:rPr lang="en-US" sz="800" dirty="0">
                <a:solidFill>
                  <a:srgbClr val="5C6570"/>
                </a:solidFill>
                <a:latin typeface="Calibri" pitchFamily="34" charset="0"/>
                <a:ea typeface="Calibri" pitchFamily="34" charset="-122"/>
                <a:cs typeface="Calibri" pitchFamily="34" charset="-120"/>
              </a:rPr>
              <a:t>糖質減の方がむしろ高い</a:t>
            </a:r>
            <a:endParaRPr lang="en-US" sz="800" dirty="0"/>
          </a:p>
        </p:txBody>
      </p:sp>
      <p:sp>
        <p:nvSpPr>
          <p:cNvPr id="23" name="Text 21"/>
          <p:cNvSpPr txBox="1"/>
          <p:nvPr/>
        </p:nvSpPr>
        <p:spPr>
          <a:xfrm>
            <a:off x="548640" y="3611880"/>
            <a:ext cx="5486400" cy="274320"/>
          </a:xfrm>
          <a:prstGeom prst="rect">
            <a:avLst/>
          </a:prstGeom>
          <a:noFill/>
          <a:ln/>
        </p:spPr>
        <p:txBody>
          <a:bodyPr wrap="square" lIns="0" tIns="0" rIns="0" bIns="0" rtlCol="0" anchor="ctr"/>
          <a:lstStyle/>
          <a:p>
            <a:pPr indent="0" marL="0">
              <a:buNone/>
            </a:pPr>
            <a:r>
              <a:rPr lang="en-US" sz="1300" b="1" dirty="0">
                <a:solidFill>
                  <a:srgbClr val="EDA100"/>
                </a:solidFill>
                <a:latin typeface="Calibri" pitchFamily="34" charset="0"/>
                <a:ea typeface="Calibri" pitchFamily="34" charset="-122"/>
                <a:cs typeface="Calibri" pitchFamily="34" charset="-120"/>
              </a:rPr>
              <a:t>毎日のコンディション（夜のアプリ記録）</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913632"/>
          <a:ext cx="6675120" cy="1737360"/>
        </p:xfrm>
        <a:graphic>
          <a:graphicData uri="http://schemas.openxmlformats.org/drawingml/2006/table">
            <a:tbl>
              <a:tblPr/>
              <a:tblGrid>
                <a:gridCol w="2468880"/>
                <a:gridCol w="2103120"/>
                <a:gridCol w="2103120"/>
              </a:tblGrid>
              <a:tr h="288036">
                <a:tc>
                  <a:txBody>
                    <a:bodyPr/>
                    <a:lstStyle/>
                    <a:p>
                      <a:pP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2129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おにぎり+スムージー</a:t>
                      </a: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21295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おにぎり+糖質減</a:t>
                      </a: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21295C"/>
                    </a:solidFill>
                  </a:tcPr>
                </a:tc>
              </a:tr>
              <a:tr h="288036">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起床時コンディション</a:t>
                      </a: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2.33</a:t>
                      </a: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2.67</a:t>
                      </a: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r h="288036">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睡眠の質</a:t>
                      </a: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4F7F9"/>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4F7F9"/>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2.67</a:t>
                      </a: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4F7F9"/>
                    </a:solidFill>
                  </a:tcPr>
                </a:tc>
              </a:tr>
              <a:tr h="288036">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RPE</a:t>
                      </a: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5.50</a:t>
                      </a: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6.33</a:t>
                      </a: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FFFFF"/>
                    </a:solidFill>
                  </a:tcPr>
                </a:tc>
              </a:tr>
              <a:tr h="288036">
                <a:tc>
                  <a:txBody>
                    <a:bodyPr/>
                    <a:lstStyle/>
                    <a:p>
                      <a:pPr indent="0" marL="0">
                        <a:buNone/>
                      </a:pPr>
                      <a:r>
                        <a:rPr lang="en-US" sz="1150" b="1" dirty="0">
                          <a:solidFill>
                            <a:srgbClr val="B23A3A"/>
                          </a:solidFill>
                          <a:latin typeface="Calibri" pitchFamily="34" charset="0"/>
                          <a:ea typeface="Calibri" pitchFamily="34" charset="-122"/>
                          <a:cs typeface="Calibri" pitchFamily="34" charset="-120"/>
                        </a:rPr>
                        <a:t>持久力</a:t>
                      </a: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DECEC"/>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3.83</a:t>
                      </a: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DECEC"/>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2.33</a:t>
                      </a: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DECEC"/>
                    </a:solidFill>
                  </a:tcPr>
                </a:tc>
              </a:tr>
              <a:tr h="288036">
                <a:tc>
                  <a:txBody>
                    <a:bodyPr/>
                    <a:lstStyle/>
                    <a:p>
                      <a:pPr indent="0" marL="0">
                        <a:buNone/>
                      </a:pPr>
                      <a:r>
                        <a:rPr lang="en-US" sz="1150" b="1" dirty="0">
                          <a:solidFill>
                            <a:srgbClr val="B23A3A"/>
                          </a:solidFill>
                          <a:latin typeface="Calibri" pitchFamily="34" charset="0"/>
                          <a:ea typeface="Calibri" pitchFamily="34" charset="-122"/>
                          <a:cs typeface="Calibri" pitchFamily="34" charset="-120"/>
                        </a:rPr>
                        <a:t>爆発力</a:t>
                      </a: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DECEC"/>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3.50</a:t>
                      </a: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DECEC"/>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3.33</a:t>
                      </a:r>
                      <a:endParaRPr lang="en-US" sz="1150" dirty="0">
                        <a:latin typeface="Calibri" charset="0"/>
                        <a:ea typeface="Calibri" charset="0"/>
                        <a:cs typeface="Calibri" charset="0"/>
                      </a:endParaRPr>
                    </a:p>
                  </a:txBody>
                  <a:tcPr marL="91440" marR="91440" marT="45720" marB="45720" anchor="ctr">
                    <a:lnL w="6350" cap="flat" cmpd="sng" algn="ctr">
                      <a:solidFill>
                        <a:srgbClr val="E3E1DB"/>
                      </a:solidFill>
                      <a:prstDash val="solid"/>
                      <a:round/>
                      <a:headEnd type="none" w="med" len="med"/>
                      <a:tailEnd type="none" w="med" len="med"/>
                    </a:lnL>
                    <a:lnR w="6350" cap="flat" cmpd="sng" algn="ctr">
                      <a:solidFill>
                        <a:srgbClr val="E3E1DB"/>
                      </a:solidFill>
                      <a:prstDash val="solid"/>
                      <a:round/>
                      <a:headEnd type="none" w="med" len="med"/>
                      <a:tailEnd type="none" w="med" len="med"/>
                    </a:lnR>
                    <a:lnT w="6350" cap="flat" cmpd="sng" algn="ctr">
                      <a:solidFill>
                        <a:srgbClr val="E3E1DB"/>
                      </a:solidFill>
                      <a:prstDash val="solid"/>
                      <a:round/>
                      <a:headEnd type="none" w="med" len="med"/>
                      <a:tailEnd type="none" w="med" len="med"/>
                    </a:lnT>
                    <a:lnB w="6350" cap="flat" cmpd="sng" algn="ctr">
                      <a:solidFill>
                        <a:srgbClr val="E3E1DB"/>
                      </a:solidFill>
                      <a:prstDash val="solid"/>
                      <a:round/>
                      <a:headEnd type="none" w="med" len="med"/>
                      <a:tailEnd type="none" w="med" len="med"/>
                    </a:lnB>
                    <a:solidFill>
                      <a:srgbClr val="FDECEC"/>
                    </a:solidFill>
                  </a:tcPr>
                </a:tc>
              </a:tr>
            </a:tbl>
          </a:graphicData>
        </a:graphic>
      </p:graphicFrame>
      <p:sp>
        <p:nvSpPr>
          <p:cNvPr id="25" name="Shape 22"/>
          <p:cNvSpPr/>
          <p:nvPr/>
        </p:nvSpPr>
        <p:spPr>
          <a:xfrm>
            <a:off x="7498080" y="3913632"/>
            <a:ext cx="4142232" cy="1737360"/>
          </a:xfrm>
          <a:prstGeom prst="roundRect">
            <a:avLst>
              <a:gd name="adj" fmla="val 5263"/>
            </a:avLst>
          </a:prstGeom>
          <a:solidFill>
            <a:srgbClr val="FDF3E2"/>
          </a:solidFill>
          <a:ln w="12700">
            <a:solidFill>
              <a:srgbClr val="EDA100"/>
            </a:solidFill>
            <a:prstDash val="solid"/>
          </a:ln>
        </p:spPr>
      </p:sp>
      <p:sp>
        <p:nvSpPr>
          <p:cNvPr id="26" name="Text 23"/>
          <p:cNvSpPr txBox="1"/>
          <p:nvPr/>
        </p:nvSpPr>
        <p:spPr>
          <a:xfrm>
            <a:off x="7726680" y="4041648"/>
            <a:ext cx="3657600" cy="256032"/>
          </a:xfrm>
          <a:prstGeom prst="rect">
            <a:avLst/>
          </a:prstGeom>
          <a:noFill/>
          <a:ln/>
        </p:spPr>
        <p:txBody>
          <a:bodyPr wrap="square" lIns="0" tIns="0" rIns="0" bIns="0" rtlCol="0" anchor="ctr"/>
          <a:lstStyle/>
          <a:p>
            <a:pPr indent="0" marL="0">
              <a:buNone/>
            </a:pPr>
            <a:r>
              <a:rPr lang="en-US" sz="1150" b="1" dirty="0">
                <a:solidFill>
                  <a:srgbClr val="6B4B00"/>
                </a:solidFill>
                <a:latin typeface="Calibri" pitchFamily="34" charset="0"/>
                <a:ea typeface="Calibri" pitchFamily="34" charset="-122"/>
                <a:cs typeface="Calibri" pitchFamily="34" charset="-120"/>
              </a:rPr>
              <a:t>⚠ 要注意の矛盾</a:t>
            </a:r>
            <a:endParaRPr lang="en-US" sz="1150" dirty="0"/>
          </a:p>
        </p:txBody>
      </p:sp>
      <p:sp>
        <p:nvSpPr>
          <p:cNvPr id="27" name="Text 24"/>
          <p:cNvSpPr txBox="1"/>
          <p:nvPr/>
        </p:nvSpPr>
        <p:spPr>
          <a:xfrm>
            <a:off x="7726680" y="4334256"/>
            <a:ext cx="3703320" cy="1234440"/>
          </a:xfrm>
          <a:prstGeom prst="rect">
            <a:avLst/>
          </a:prstGeom>
          <a:noFill/>
          <a:ln/>
        </p:spPr>
        <p:txBody>
          <a:bodyPr wrap="square" lIns="0" tIns="0" rIns="0" bIns="0" rtlCol="0" anchor="ctr"/>
          <a:lstStyle/>
          <a:p>
            <a:pPr indent="0" marL="0">
              <a:buNone/>
            </a:pPr>
            <a:r>
              <a:rPr lang="en-US" sz="1050" dirty="0">
                <a:solidFill>
                  <a:srgbClr val="6B4B00"/>
                </a:solidFill>
                <a:latin typeface="Calibri" pitchFamily="34" charset="0"/>
                <a:ea typeface="Calibri" pitchFamily="34" charset="-122"/>
                <a:cs typeface="Calibri" pitchFamily="34" charset="-120"/>
              </a:rPr>
              <a:t>血糖面はすべて糖質減が優位なのに、持久力・爆発力の自己評価は逆に最低。練習時間も糖質減の方が長め（100分 vs 80分）で交絡の可能性あり。</a:t>
            </a:r>
            <a:endParaRPr lang="en-US" sz="1050" dirty="0"/>
          </a:p>
        </p:txBody>
      </p:sp>
      <p:sp>
        <p:nvSpPr>
          <p:cNvPr id="28" name="Text 25"/>
          <p:cNvSpPr/>
          <p:nvPr/>
        </p:nvSpPr>
        <p:spPr>
          <a:xfrm>
            <a:off x="548640" y="6492240"/>
            <a:ext cx="11091672" cy="256032"/>
          </a:xfrm>
          <a:prstGeom prst="rect">
            <a:avLst/>
          </a:prstGeom>
          <a:noFill/>
          <a:ln/>
        </p:spPr>
        <p:txBody>
          <a:bodyPr wrap="square" rtlCol="0" anchor="ctr"/>
          <a:lstStyle/>
          <a:p>
            <a:pPr algn="l" indent="0" marL="0">
              <a:buNone/>
            </a:pPr>
            <a:r>
              <a:rPr lang="en-US" sz="950" dirty="0">
                <a:solidFill>
                  <a:srgbClr val="5C6570"/>
                </a:solidFill>
                <a:latin typeface="Calibri" pitchFamily="34" charset="0"/>
                <a:ea typeface="Calibri" pitchFamily="34" charset="-122"/>
                <a:cs typeface="Calibri" pitchFamily="34" charset="-120"/>
              </a:rPr>
              <a:t>n=3日／条件。持久力・爆発力は赤字＝糖質減が最も低い値。</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310896"/>
          </a:xfrm>
          <a:prstGeom prst="rect">
            <a:avLst/>
          </a:prstGeom>
          <a:noFill/>
          <a:ln/>
        </p:spPr>
        <p:txBody>
          <a:bodyPr wrap="square" rtlCol="0" anchor="ctr"/>
          <a:lstStyle/>
          <a:p>
            <a:pPr indent="0" marL="0">
              <a:buNone/>
            </a:pPr>
            <a:r>
              <a:rPr lang="en-US" sz="1250" b="1" spc="100" kern="0" dirty="0">
                <a:solidFill>
                  <a:srgbClr val="1C7293"/>
                </a:solidFill>
                <a:latin typeface="Calibri" pitchFamily="34" charset="0"/>
                <a:ea typeface="Calibri" pitchFamily="34" charset="-122"/>
                <a:cs typeface="Calibri" pitchFamily="34" charset="-120"/>
              </a:rPr>
              <a:t>Q3 – DISCUSSION</a:t>
            </a:r>
            <a:endParaRPr lang="en-US" sz="1250" dirty="0"/>
          </a:p>
        </p:txBody>
      </p:sp>
      <p:sp>
        <p:nvSpPr>
          <p:cNvPr id="3" name="Text 1"/>
          <p:cNvSpPr txBox="1"/>
          <p:nvPr/>
        </p:nvSpPr>
        <p:spPr>
          <a:xfrm>
            <a:off x="548640" y="676656"/>
            <a:ext cx="11091672" cy="59436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朝ごはんの糖質量：考察と結論</a:t>
            </a:r>
            <a:endParaRPr lang="en-US" sz="2600" dirty="0"/>
          </a:p>
        </p:txBody>
      </p:sp>
      <p:sp>
        <p:nvSpPr>
          <p:cNvPr id="4" name="Shape 2"/>
          <p:cNvSpPr/>
          <p:nvPr/>
        </p:nvSpPr>
        <p:spPr>
          <a:xfrm>
            <a:off x="548640" y="1298448"/>
            <a:ext cx="11091672" cy="384048"/>
          </a:xfrm>
          <a:prstGeom prst="roundRect">
            <a:avLst>
              <a:gd name="adj" fmla="val 19048"/>
            </a:avLst>
          </a:prstGeom>
          <a:solidFill>
            <a:srgbClr val="F4F7F9"/>
          </a:solidFill>
          <a:ln/>
        </p:spPr>
      </p:sp>
      <p:sp>
        <p:nvSpPr>
          <p:cNvPr id="5" name="Text 3"/>
          <p:cNvSpPr txBox="1"/>
          <p:nvPr/>
        </p:nvSpPr>
        <p:spPr>
          <a:xfrm>
            <a:off x="685800" y="1298448"/>
            <a:ext cx="548640" cy="384048"/>
          </a:xfrm>
          <a:prstGeom prst="rect">
            <a:avLst/>
          </a:prstGeom>
          <a:noFill/>
          <a:ln/>
        </p:spPr>
        <p:txBody>
          <a:bodyPr wrap="square" lIns="0" tIns="0" rIns="0" bIns="0" rtlCol="0" anchor="ctr"/>
          <a:lstStyle/>
          <a:p>
            <a:pPr algn="ctr" indent="0" marL="0">
              <a:buNone/>
            </a:pPr>
            <a:r>
              <a:rPr lang="en-US" sz="1400" b="1" dirty="0">
                <a:solidFill>
                  <a:srgbClr val="1C7293"/>
                </a:solidFill>
                <a:latin typeface="Cambria" pitchFamily="34" charset="0"/>
                <a:ea typeface="Cambria" pitchFamily="34" charset="-122"/>
                <a:cs typeface="Cambria" pitchFamily="34" charset="-120"/>
              </a:rPr>
              <a:t>Q3</a:t>
            </a:r>
            <a:endParaRPr lang="en-US" sz="1400" dirty="0"/>
          </a:p>
        </p:txBody>
      </p:sp>
      <p:sp>
        <p:nvSpPr>
          <p:cNvPr id="6" name="Text 4"/>
          <p:cNvSpPr txBox="1"/>
          <p:nvPr/>
        </p:nvSpPr>
        <p:spPr>
          <a:xfrm>
            <a:off x="1280160" y="1298448"/>
            <a:ext cx="10177272" cy="384048"/>
          </a:xfrm>
          <a:prstGeom prst="rect">
            <a:avLst/>
          </a:prstGeom>
          <a:noFill/>
          <a:ln/>
        </p:spPr>
        <p:txBody>
          <a:bodyPr wrap="square" lIns="0" tIns="0" rIns="0" bIns="0" rtlCol="0" anchor="ctr"/>
          <a:lstStyle/>
          <a:p>
            <a:pPr indent="0" marL="0">
              <a:buNone/>
            </a:pPr>
            <a:r>
              <a:rPr lang="en-US" sz="1300" dirty="0">
                <a:solidFill>
                  <a:srgbClr val="21295C"/>
                </a:solidFill>
                <a:latin typeface="Calibri" pitchFamily="34" charset="0"/>
                <a:ea typeface="Calibri" pitchFamily="34" charset="-122"/>
                <a:cs typeface="Calibri" pitchFamily="34" charset="-120"/>
              </a:rPr>
              <a:t>朝ごはんの糖質（C）は少し減らした方が良いのか？</a:t>
            </a:r>
            <a:endParaRPr lang="en-US" sz="1300" dirty="0"/>
          </a:p>
        </p:txBody>
      </p:sp>
      <p:sp>
        <p:nvSpPr>
          <p:cNvPr id="7" name="Shape 5"/>
          <p:cNvSpPr/>
          <p:nvPr/>
        </p:nvSpPr>
        <p:spPr>
          <a:xfrm>
            <a:off x="548640" y="1874520"/>
            <a:ext cx="11091672" cy="1051560"/>
          </a:xfrm>
          <a:prstGeom prst="roundRect">
            <a:avLst>
              <a:gd name="adj" fmla="val 10435"/>
            </a:avLst>
          </a:prstGeom>
          <a:solidFill>
            <a:srgbClr val="EAF7F0"/>
          </a:solidFill>
          <a:ln w="15875">
            <a:solidFill>
              <a:srgbClr val="EDA100"/>
            </a:solidFill>
            <a:prstDash val="solid"/>
          </a:ln>
        </p:spPr>
      </p:sp>
      <p:sp>
        <p:nvSpPr>
          <p:cNvPr id="8" name="Text 6"/>
          <p:cNvSpPr txBox="1"/>
          <p:nvPr/>
        </p:nvSpPr>
        <p:spPr>
          <a:xfrm>
            <a:off x="822960" y="1984248"/>
            <a:ext cx="1828800" cy="274320"/>
          </a:xfrm>
          <a:prstGeom prst="rect">
            <a:avLst/>
          </a:prstGeom>
          <a:noFill/>
          <a:ln/>
        </p:spPr>
        <p:txBody>
          <a:bodyPr wrap="square" lIns="0" tIns="0" rIns="0" bIns="0" rtlCol="0" anchor="ctr"/>
          <a:lstStyle/>
          <a:p>
            <a:pPr indent="0" marL="0">
              <a:buNone/>
            </a:pPr>
            <a:r>
              <a:rPr lang="en-US" sz="1200" b="1" dirty="0">
                <a:solidFill>
                  <a:srgbClr val="0F5C3D"/>
                </a:solidFill>
                <a:latin typeface="Calibri" pitchFamily="34" charset="0"/>
                <a:ea typeface="Calibri" pitchFamily="34" charset="-122"/>
                <a:cs typeface="Calibri" pitchFamily="34" charset="-120"/>
              </a:rPr>
              <a:t>✓ 答え</a:t>
            </a:r>
            <a:endParaRPr lang="en-US" sz="1200" dirty="0"/>
          </a:p>
        </p:txBody>
      </p:sp>
      <p:sp>
        <p:nvSpPr>
          <p:cNvPr id="9" name="Text 7"/>
          <p:cNvSpPr txBox="1"/>
          <p:nvPr/>
        </p:nvSpPr>
        <p:spPr>
          <a:xfrm>
            <a:off x="822960" y="2258568"/>
            <a:ext cx="10543032" cy="548640"/>
          </a:xfrm>
          <a:prstGeom prst="rect">
            <a:avLst/>
          </a:prstGeom>
          <a:noFill/>
          <a:ln/>
        </p:spPr>
        <p:txBody>
          <a:bodyPr wrap="square" lIns="0" tIns="0" rIns="0" bIns="0" rtlCol="0" anchor="ctr"/>
          <a:lstStyle/>
          <a:p>
            <a:pPr indent="0" marL="0">
              <a:buNone/>
            </a:pPr>
            <a:r>
              <a:rPr lang="en-US" sz="2000" b="1" dirty="0">
                <a:solidFill>
                  <a:srgbClr val="0F5C3D"/>
                </a:solidFill>
                <a:latin typeface="Cambria" pitchFamily="34" charset="0"/>
                <a:ea typeface="Cambria" pitchFamily="34" charset="-122"/>
                <a:cs typeface="Cambria" pitchFamily="34" charset="-120"/>
              </a:rPr>
              <a:t>血糖面では有望だが、現時点では断定できない</a:t>
            </a:r>
            <a:endParaRPr lang="en-US" sz="2000" dirty="0"/>
          </a:p>
        </p:txBody>
      </p:sp>
      <p:sp>
        <p:nvSpPr>
          <p:cNvPr id="10" name="Shape 8"/>
          <p:cNvSpPr/>
          <p:nvPr/>
        </p:nvSpPr>
        <p:spPr>
          <a:xfrm>
            <a:off x="7708392" y="1984248"/>
            <a:ext cx="3931920" cy="310896"/>
          </a:xfrm>
          <a:prstGeom prst="roundRect">
            <a:avLst>
              <a:gd name="adj" fmla="val 20588"/>
            </a:avLst>
          </a:prstGeom>
          <a:solidFill>
            <a:srgbClr val="FFFFFF"/>
          </a:solidFill>
          <a:ln w="9525">
            <a:solidFill>
              <a:srgbClr val="0F5C3D"/>
            </a:solidFill>
            <a:prstDash val="solid"/>
          </a:ln>
        </p:spPr>
      </p:sp>
      <p:sp>
        <p:nvSpPr>
          <p:cNvPr id="11" name="Text 9"/>
          <p:cNvSpPr txBox="1"/>
          <p:nvPr/>
        </p:nvSpPr>
        <p:spPr>
          <a:xfrm>
            <a:off x="7799832" y="1984248"/>
            <a:ext cx="3749040" cy="310896"/>
          </a:xfrm>
          <a:prstGeom prst="rect">
            <a:avLst/>
          </a:prstGeom>
          <a:noFill/>
          <a:ln/>
        </p:spPr>
        <p:txBody>
          <a:bodyPr wrap="square" lIns="0" tIns="0" rIns="0" bIns="0" rtlCol="0" anchor="ctr"/>
          <a:lstStyle/>
          <a:p>
            <a:pPr algn="ctr" indent="0" marL="0">
              <a:buNone/>
            </a:pPr>
            <a:r>
              <a:rPr lang="en-US" sz="950" b="1" dirty="0">
                <a:solidFill>
                  <a:srgbClr val="0F5C3D"/>
                </a:solidFill>
                <a:latin typeface="Calibri" pitchFamily="34" charset="0"/>
                <a:ea typeface="Calibri" pitchFamily="34" charset="-122"/>
                <a:cs typeface="Calibri" pitchFamily="34" charset="-120"/>
              </a:rPr>
              <a:t>✓ シフト後で条件が揃い信頼できる</a:t>
            </a:r>
            <a:endParaRPr lang="en-US" sz="950" dirty="0"/>
          </a:p>
        </p:txBody>
      </p:sp>
      <p:sp>
        <p:nvSpPr>
          <p:cNvPr id="12" name="Shape 10"/>
          <p:cNvSpPr/>
          <p:nvPr/>
        </p:nvSpPr>
        <p:spPr>
          <a:xfrm>
            <a:off x="548640" y="3163824"/>
            <a:ext cx="109728" cy="109728"/>
          </a:xfrm>
          <a:prstGeom prst="oval">
            <a:avLst/>
          </a:prstGeom>
          <a:solidFill>
            <a:srgbClr val="EDA100"/>
          </a:solidFill>
          <a:ln/>
        </p:spPr>
      </p:sp>
      <p:sp>
        <p:nvSpPr>
          <p:cNvPr id="13" name="Text 11"/>
          <p:cNvSpPr txBox="1"/>
          <p:nvPr/>
        </p:nvSpPr>
        <p:spPr>
          <a:xfrm>
            <a:off x="841248" y="3108960"/>
            <a:ext cx="10799064" cy="45720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糖質を減らすと食後2時間の血糖上昇（iAUC）が約39%減少し、波形もより滑らかになる（CV 8.5%）</a:t>
            </a:r>
            <a:endParaRPr lang="en-US" sz="1250" dirty="0"/>
          </a:p>
        </p:txBody>
      </p:sp>
      <p:sp>
        <p:nvSpPr>
          <p:cNvPr id="14" name="Shape 12"/>
          <p:cNvSpPr/>
          <p:nvPr/>
        </p:nvSpPr>
        <p:spPr>
          <a:xfrm>
            <a:off x="548640" y="3675888"/>
            <a:ext cx="109728" cy="109728"/>
          </a:xfrm>
          <a:prstGeom prst="oval">
            <a:avLst/>
          </a:prstGeom>
          <a:solidFill>
            <a:srgbClr val="EDA100"/>
          </a:solidFill>
          <a:ln/>
        </p:spPr>
      </p:sp>
      <p:sp>
        <p:nvSpPr>
          <p:cNvPr id="15" name="Text 13"/>
          <p:cNvSpPr txBox="1"/>
          <p:nvPr/>
        </p:nvSpPr>
        <p:spPr>
          <a:xfrm>
            <a:off x="841248" y="3621024"/>
            <a:ext cx="10799064" cy="45720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練習中の血糖＝燃料供給は減らない（むしろ4条件中最高の229 mg/dL）</a:t>
            </a:r>
            <a:endParaRPr lang="en-US" sz="1250" dirty="0"/>
          </a:p>
        </p:txBody>
      </p:sp>
      <p:sp>
        <p:nvSpPr>
          <p:cNvPr id="16" name="Shape 14"/>
          <p:cNvSpPr/>
          <p:nvPr/>
        </p:nvSpPr>
        <p:spPr>
          <a:xfrm>
            <a:off x="548640" y="4187952"/>
            <a:ext cx="109728" cy="109728"/>
          </a:xfrm>
          <a:prstGeom prst="oval">
            <a:avLst/>
          </a:prstGeom>
          <a:solidFill>
            <a:srgbClr val="EDA100"/>
          </a:solidFill>
          <a:ln/>
        </p:spPr>
      </p:sp>
      <p:sp>
        <p:nvSpPr>
          <p:cNvPr id="17" name="Text 15"/>
          <p:cNvSpPr txBox="1"/>
          <p:nvPr/>
        </p:nvSpPr>
        <p:spPr>
          <a:xfrm>
            <a:off x="841248" y="4133088"/>
            <a:ext cx="10799064" cy="45720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起床時コンディション・睡眠の質も4条件中最も良い</a:t>
            </a:r>
            <a:endParaRPr lang="en-US" sz="1250" dirty="0"/>
          </a:p>
        </p:txBody>
      </p:sp>
      <p:sp>
        <p:nvSpPr>
          <p:cNvPr id="18" name="Shape 16"/>
          <p:cNvSpPr/>
          <p:nvPr/>
        </p:nvSpPr>
        <p:spPr>
          <a:xfrm>
            <a:off x="548640" y="4700016"/>
            <a:ext cx="109728" cy="109728"/>
          </a:xfrm>
          <a:prstGeom prst="oval">
            <a:avLst/>
          </a:prstGeom>
          <a:solidFill>
            <a:srgbClr val="EDA100"/>
          </a:solidFill>
          <a:ln/>
        </p:spPr>
      </p:sp>
      <p:sp>
        <p:nvSpPr>
          <p:cNvPr id="19" name="Text 17"/>
          <p:cNvSpPr txBox="1"/>
          <p:nvPr/>
        </p:nvSpPr>
        <p:spPr>
          <a:xfrm>
            <a:off x="841248" y="4645152"/>
            <a:ext cx="10799064" cy="45720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一方で持久力・爆発力の自己評価は4条件中最も低く、血糖データと体感が食い違う</a:t>
            </a:r>
            <a:endParaRPr lang="en-US" sz="1250" dirty="0"/>
          </a:p>
        </p:txBody>
      </p:sp>
      <p:sp>
        <p:nvSpPr>
          <p:cNvPr id="20" name="Shape 18"/>
          <p:cNvSpPr/>
          <p:nvPr/>
        </p:nvSpPr>
        <p:spPr>
          <a:xfrm>
            <a:off x="548640" y="5212080"/>
            <a:ext cx="109728" cy="109728"/>
          </a:xfrm>
          <a:prstGeom prst="oval">
            <a:avLst/>
          </a:prstGeom>
          <a:solidFill>
            <a:srgbClr val="EDA100"/>
          </a:solidFill>
          <a:ln/>
        </p:spPr>
      </p:sp>
      <p:sp>
        <p:nvSpPr>
          <p:cNvPr id="21" name="Text 19"/>
          <p:cNvSpPr txBox="1"/>
          <p:nvPr/>
        </p:nvSpPr>
        <p:spPr>
          <a:xfrm>
            <a:off x="841248" y="5157216"/>
            <a:ext cx="10799064" cy="457200"/>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練習時間の違い（糖質減100分 vs 通常80分）が体感の悪化を招いた可能性があり、食事の効果と断定できない</a:t>
            </a:r>
            <a:endParaRPr lang="en-US" sz="1250" dirty="0"/>
          </a:p>
        </p:txBody>
      </p:sp>
      <p:sp>
        <p:nvSpPr>
          <p:cNvPr id="22" name="Shape 20"/>
          <p:cNvSpPr/>
          <p:nvPr/>
        </p:nvSpPr>
        <p:spPr>
          <a:xfrm>
            <a:off x="548640" y="5715000"/>
            <a:ext cx="11091672" cy="822960"/>
          </a:xfrm>
          <a:prstGeom prst="roundRect">
            <a:avLst>
              <a:gd name="adj" fmla="val 11111"/>
            </a:avLst>
          </a:prstGeom>
          <a:solidFill>
            <a:srgbClr val="FDF3E2"/>
          </a:solidFill>
          <a:ln w="12700">
            <a:solidFill>
              <a:srgbClr val="EDA100"/>
            </a:solidFill>
            <a:prstDash val="solid"/>
          </a:ln>
        </p:spPr>
      </p:sp>
      <p:sp>
        <p:nvSpPr>
          <p:cNvPr id="23" name="Text 21"/>
          <p:cNvSpPr txBox="1"/>
          <p:nvPr/>
        </p:nvSpPr>
        <p:spPr>
          <a:xfrm>
            <a:off x="777240" y="5815584"/>
            <a:ext cx="10634472" cy="640080"/>
          </a:xfrm>
          <a:prstGeom prst="rect">
            <a:avLst/>
          </a:prstGeom>
          <a:noFill/>
          <a:ln/>
        </p:spPr>
        <p:txBody>
          <a:bodyPr wrap="square" lIns="0" tIns="0" rIns="0" bIns="0" rtlCol="0" anchor="ctr"/>
          <a:lstStyle/>
          <a:p>
            <a:pPr indent="0" marL="0">
              <a:buNone/>
            </a:pPr>
            <a:r>
              <a:rPr lang="en-US" sz="1200" b="1" dirty="0">
                <a:solidFill>
                  <a:srgbClr val="6B4B00"/>
                </a:solidFill>
                <a:latin typeface="Calibri" pitchFamily="34" charset="0"/>
                <a:ea typeface="Calibri" pitchFamily="34" charset="-122"/>
                <a:cs typeface="Calibri" pitchFamily="34" charset="-120"/>
              </a:rPr>
              <a:t>→ 血糖・コンディション面では糖質をやや減らす方向を試す価値があるが、練習内容・時間を揃えた再検証で「持久力低下」が食事の影響かどうかを確認してから本格導入するのが望ましい。</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310896"/>
          </a:xfrm>
          <a:prstGeom prst="rect">
            <a:avLst/>
          </a:prstGeom>
          <a:noFill/>
          <a:ln/>
        </p:spPr>
        <p:txBody>
          <a:bodyPr wrap="square" rtlCol="0" anchor="ctr"/>
          <a:lstStyle/>
          <a:p>
            <a:pPr indent="0" marL="0">
              <a:buNone/>
            </a:pPr>
            <a:r>
              <a:rPr lang="en-US" sz="1250" b="1" spc="100" kern="0" dirty="0">
                <a:solidFill>
                  <a:srgbClr val="8FB7E0"/>
                </a:solidFill>
                <a:latin typeface="Calibri" pitchFamily="34" charset="0"/>
                <a:ea typeface="Calibri" pitchFamily="34" charset="-122"/>
                <a:cs typeface="Calibri" pitchFamily="34" charset="-120"/>
              </a:rPr>
              <a:t>CONCLUSION</a:t>
            </a:r>
            <a:endParaRPr lang="en-US" sz="1250" dirty="0"/>
          </a:p>
        </p:txBody>
      </p:sp>
      <p:sp>
        <p:nvSpPr>
          <p:cNvPr id="3" name="Text 1"/>
          <p:cNvSpPr txBox="1"/>
          <p:nvPr/>
        </p:nvSpPr>
        <p:spPr>
          <a:xfrm>
            <a:off x="548640" y="676656"/>
            <a:ext cx="11091672" cy="594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この選手への朝食提案（まとめ）</a:t>
            </a:r>
            <a:endParaRPr lang="en-US" sz="2600" dirty="0"/>
          </a:p>
        </p:txBody>
      </p:sp>
      <p:sp>
        <p:nvSpPr>
          <p:cNvPr id="4" name="Shape 2"/>
          <p:cNvSpPr/>
          <p:nvPr/>
        </p:nvSpPr>
        <p:spPr>
          <a:xfrm>
            <a:off x="548640" y="1600200"/>
            <a:ext cx="11091672" cy="1051560"/>
          </a:xfrm>
          <a:prstGeom prst="roundRect">
            <a:avLst>
              <a:gd name="adj" fmla="val 8696"/>
            </a:avLst>
          </a:prstGeom>
          <a:solidFill>
            <a:srgbClr val="1A2350"/>
          </a:solidFill>
          <a:ln/>
        </p:spPr>
      </p:sp>
      <p:sp>
        <p:nvSpPr>
          <p:cNvPr id="5" name="Shape 3"/>
          <p:cNvSpPr/>
          <p:nvPr/>
        </p:nvSpPr>
        <p:spPr>
          <a:xfrm>
            <a:off x="822960" y="1819656"/>
            <a:ext cx="146304" cy="612648"/>
          </a:xfrm>
          <a:prstGeom prst="rect">
            <a:avLst/>
          </a:prstGeom>
          <a:solidFill>
            <a:srgbClr val="EB6834"/>
          </a:solidFill>
          <a:ln/>
        </p:spPr>
      </p:sp>
      <p:sp>
        <p:nvSpPr>
          <p:cNvPr id="6" name="Text 4"/>
          <p:cNvSpPr txBox="1"/>
          <p:nvPr/>
        </p:nvSpPr>
        <p:spPr>
          <a:xfrm>
            <a:off x="1143000" y="1728216"/>
            <a:ext cx="3840480" cy="822960"/>
          </a:xfrm>
          <a:prstGeom prst="rect">
            <a:avLst/>
          </a:prstGeom>
          <a:noFill/>
          <a:ln/>
        </p:spPr>
        <p:txBody>
          <a:bodyPr wrap="square" lIns="0" tIns="0" rIns="0" bIns="0" rtlCol="0" anchor="ctr"/>
          <a:lstStyle/>
          <a:p>
            <a:pPr indent="0" marL="0">
              <a:buNone/>
            </a:pPr>
            <a:r>
              <a:rPr lang="en-US" sz="1400" dirty="0">
                <a:solidFill>
                  <a:srgbClr val="9AA6C4"/>
                </a:solidFill>
                <a:latin typeface="Calibri" pitchFamily="34" charset="0"/>
                <a:ea typeface="Calibri" pitchFamily="34" charset="-122"/>
                <a:cs typeface="Calibri" pitchFamily="34" charset="-120"/>
              </a:rPr>
              <a:t>Q1  固形 or スムージー</a:t>
            </a:r>
            <a:endParaRPr lang="en-US" sz="1400" dirty="0"/>
          </a:p>
        </p:txBody>
      </p:sp>
      <p:sp>
        <p:nvSpPr>
          <p:cNvPr id="7" name="Text 5"/>
          <p:cNvSpPr txBox="1"/>
          <p:nvPr/>
        </p:nvSpPr>
        <p:spPr>
          <a:xfrm>
            <a:off x="5120640" y="1728216"/>
            <a:ext cx="4297680" cy="8229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スムージー ⚠参考値</a:t>
            </a:r>
            <a:endParaRPr lang="en-US" sz="1900" dirty="0"/>
          </a:p>
        </p:txBody>
      </p:sp>
      <p:sp>
        <p:nvSpPr>
          <p:cNvPr id="8" name="Text 6"/>
          <p:cNvSpPr txBox="1"/>
          <p:nvPr/>
        </p:nvSpPr>
        <p:spPr>
          <a:xfrm>
            <a:off x="9509760" y="1728216"/>
            <a:ext cx="2651760" cy="82296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血糖シフトの影響あり。練習中の燃料供給は多い</a:t>
            </a:r>
            <a:endParaRPr lang="en-US" sz="1050" dirty="0"/>
          </a:p>
        </p:txBody>
      </p:sp>
      <p:sp>
        <p:nvSpPr>
          <p:cNvPr id="9" name="Shape 7"/>
          <p:cNvSpPr/>
          <p:nvPr/>
        </p:nvSpPr>
        <p:spPr>
          <a:xfrm>
            <a:off x="548640" y="2834640"/>
            <a:ext cx="11091672" cy="1051560"/>
          </a:xfrm>
          <a:prstGeom prst="roundRect">
            <a:avLst>
              <a:gd name="adj" fmla="val 8696"/>
            </a:avLst>
          </a:prstGeom>
          <a:solidFill>
            <a:srgbClr val="1A2350"/>
          </a:solidFill>
          <a:ln/>
        </p:spPr>
      </p:sp>
      <p:sp>
        <p:nvSpPr>
          <p:cNvPr id="10" name="Shape 8"/>
          <p:cNvSpPr/>
          <p:nvPr/>
        </p:nvSpPr>
        <p:spPr>
          <a:xfrm>
            <a:off x="822960" y="3054096"/>
            <a:ext cx="146304" cy="612648"/>
          </a:xfrm>
          <a:prstGeom prst="rect">
            <a:avLst/>
          </a:prstGeom>
          <a:solidFill>
            <a:srgbClr val="1BAF7A"/>
          </a:solidFill>
          <a:ln/>
        </p:spPr>
      </p:sp>
      <p:sp>
        <p:nvSpPr>
          <p:cNvPr id="11" name="Text 9"/>
          <p:cNvSpPr txBox="1"/>
          <p:nvPr/>
        </p:nvSpPr>
        <p:spPr>
          <a:xfrm>
            <a:off x="1143000" y="2962656"/>
            <a:ext cx="3840480" cy="822960"/>
          </a:xfrm>
          <a:prstGeom prst="rect">
            <a:avLst/>
          </a:prstGeom>
          <a:noFill/>
          <a:ln/>
        </p:spPr>
        <p:txBody>
          <a:bodyPr wrap="square" lIns="0" tIns="0" rIns="0" bIns="0" rtlCol="0" anchor="ctr"/>
          <a:lstStyle/>
          <a:p>
            <a:pPr indent="0" marL="0">
              <a:buNone/>
            </a:pPr>
            <a:r>
              <a:rPr lang="en-US" sz="1400" dirty="0">
                <a:solidFill>
                  <a:srgbClr val="9AA6C4"/>
                </a:solidFill>
                <a:latin typeface="Calibri" pitchFamily="34" charset="0"/>
                <a:ea typeface="Calibri" pitchFamily="34" charset="-122"/>
                <a:cs typeface="Calibri" pitchFamily="34" charset="-120"/>
              </a:rPr>
              <a:t>Q2  食べるタイミング</a:t>
            </a:r>
            <a:endParaRPr lang="en-US" sz="1400" dirty="0"/>
          </a:p>
        </p:txBody>
      </p:sp>
      <p:sp>
        <p:nvSpPr>
          <p:cNvPr id="12" name="Text 10"/>
          <p:cNvSpPr txBox="1"/>
          <p:nvPr/>
        </p:nvSpPr>
        <p:spPr>
          <a:xfrm>
            <a:off x="5120640" y="2962656"/>
            <a:ext cx="4297680" cy="8229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おにぎりと8:00に同時摂取 ⚠参考値</a:t>
            </a:r>
            <a:endParaRPr lang="en-US" sz="1900" dirty="0"/>
          </a:p>
        </p:txBody>
      </p:sp>
      <p:sp>
        <p:nvSpPr>
          <p:cNvPr id="13" name="Text 11"/>
          <p:cNvSpPr txBox="1"/>
          <p:nvPr/>
        </p:nvSpPr>
        <p:spPr>
          <a:xfrm>
            <a:off x="9509760" y="2962656"/>
            <a:ext cx="2651760" cy="82296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血糖シフトの影響あり。乱高下を抑え燃料は確保</a:t>
            </a:r>
            <a:endParaRPr lang="en-US" sz="1050" dirty="0"/>
          </a:p>
        </p:txBody>
      </p:sp>
      <p:sp>
        <p:nvSpPr>
          <p:cNvPr id="14" name="Shape 12"/>
          <p:cNvSpPr/>
          <p:nvPr/>
        </p:nvSpPr>
        <p:spPr>
          <a:xfrm>
            <a:off x="548640" y="4069080"/>
            <a:ext cx="11091672" cy="1051560"/>
          </a:xfrm>
          <a:prstGeom prst="roundRect">
            <a:avLst>
              <a:gd name="adj" fmla="val 8696"/>
            </a:avLst>
          </a:prstGeom>
          <a:solidFill>
            <a:srgbClr val="1A2350"/>
          </a:solidFill>
          <a:ln/>
        </p:spPr>
      </p:sp>
      <p:sp>
        <p:nvSpPr>
          <p:cNvPr id="15" name="Shape 13"/>
          <p:cNvSpPr/>
          <p:nvPr/>
        </p:nvSpPr>
        <p:spPr>
          <a:xfrm>
            <a:off x="822960" y="4288536"/>
            <a:ext cx="146304" cy="612648"/>
          </a:xfrm>
          <a:prstGeom prst="rect">
            <a:avLst/>
          </a:prstGeom>
          <a:solidFill>
            <a:srgbClr val="EDA100"/>
          </a:solidFill>
          <a:ln/>
        </p:spPr>
      </p:sp>
      <p:sp>
        <p:nvSpPr>
          <p:cNvPr id="16" name="Text 14"/>
          <p:cNvSpPr txBox="1"/>
          <p:nvPr/>
        </p:nvSpPr>
        <p:spPr>
          <a:xfrm>
            <a:off x="1143000" y="4197096"/>
            <a:ext cx="3840480" cy="822960"/>
          </a:xfrm>
          <a:prstGeom prst="rect">
            <a:avLst/>
          </a:prstGeom>
          <a:noFill/>
          <a:ln/>
        </p:spPr>
        <p:txBody>
          <a:bodyPr wrap="square" lIns="0" tIns="0" rIns="0" bIns="0" rtlCol="0" anchor="ctr"/>
          <a:lstStyle/>
          <a:p>
            <a:pPr indent="0" marL="0">
              <a:buNone/>
            </a:pPr>
            <a:r>
              <a:rPr lang="en-US" sz="1400" dirty="0">
                <a:solidFill>
                  <a:srgbClr val="9AA6C4"/>
                </a:solidFill>
                <a:latin typeface="Calibri" pitchFamily="34" charset="0"/>
                <a:ea typeface="Calibri" pitchFamily="34" charset="-122"/>
                <a:cs typeface="Calibri" pitchFamily="34" charset="-120"/>
              </a:rPr>
              <a:t>Q3  糖質（C）を減らすか</a:t>
            </a:r>
            <a:endParaRPr lang="en-US" sz="1400" dirty="0"/>
          </a:p>
        </p:txBody>
      </p:sp>
      <p:sp>
        <p:nvSpPr>
          <p:cNvPr id="17" name="Text 15"/>
          <p:cNvSpPr txBox="1"/>
          <p:nvPr/>
        </p:nvSpPr>
        <p:spPr>
          <a:xfrm>
            <a:off x="5120640" y="4197096"/>
            <a:ext cx="4297680" cy="8229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有望だが要検証 ✓信頼できる</a:t>
            </a:r>
            <a:endParaRPr lang="en-US" sz="1900" dirty="0"/>
          </a:p>
        </p:txBody>
      </p:sp>
      <p:sp>
        <p:nvSpPr>
          <p:cNvPr id="18" name="Text 16"/>
          <p:cNvSpPr txBox="1"/>
          <p:nvPr/>
        </p:nvSpPr>
        <p:spPr>
          <a:xfrm>
            <a:off x="9509760" y="4197096"/>
            <a:ext cx="2651760" cy="82296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シフト後で条件が揃う。体感との矛盾のみ要検証</a:t>
            </a:r>
            <a:endParaRPr lang="en-US" sz="1050" dirty="0"/>
          </a:p>
        </p:txBody>
      </p:sp>
      <p:sp>
        <p:nvSpPr>
          <p:cNvPr id="19" name="Shape 17"/>
          <p:cNvSpPr/>
          <p:nvPr/>
        </p:nvSpPr>
        <p:spPr>
          <a:xfrm>
            <a:off x="548640" y="5303520"/>
            <a:ext cx="11091672" cy="960120"/>
          </a:xfrm>
          <a:prstGeom prst="roundRect">
            <a:avLst>
              <a:gd name="adj" fmla="val 9524"/>
            </a:avLst>
          </a:prstGeom>
          <a:solidFill>
            <a:srgbClr val="1C7293"/>
          </a:solidFill>
          <a:ln/>
        </p:spPr>
      </p:sp>
      <p:sp>
        <p:nvSpPr>
          <p:cNvPr id="20" name="Text 18"/>
          <p:cNvSpPr txBox="1"/>
          <p:nvPr/>
        </p:nvSpPr>
        <p:spPr>
          <a:xfrm>
            <a:off x="822960" y="5394960"/>
            <a:ext cx="10543032" cy="7772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最終提案：8:00に「おにぎり＋スムージー（通常糖質量）」を同時摂取。糖質を少し減らす案は、練習量を揃えた追加検証で持久力への影響を確認してから判断する。</a:t>
            </a:r>
            <a:endParaRPr lang="en-US" sz="1350" dirty="0"/>
          </a:p>
        </p:txBody>
      </p:sp>
      <p:sp>
        <p:nvSpPr>
          <p:cNvPr id="21" name="Text 19"/>
          <p:cNvSpPr/>
          <p:nvPr/>
        </p:nvSpPr>
        <p:spPr>
          <a:xfrm>
            <a:off x="548640" y="6492240"/>
            <a:ext cx="11091672" cy="256032"/>
          </a:xfrm>
          <a:prstGeom prst="rect">
            <a:avLst/>
          </a:prstGeom>
          <a:noFill/>
          <a:ln/>
        </p:spPr>
        <p:txBody>
          <a:bodyPr wrap="square" rtlCol="0" anchor="ctr"/>
          <a:lstStyle/>
          <a:p>
            <a:pPr algn="l" indent="0" marL="0">
              <a:buNone/>
            </a:pPr>
            <a:r>
              <a:rPr lang="en-US" sz="950" dirty="0">
                <a:solidFill>
                  <a:srgbClr val="9AA6C4"/>
                </a:solidFill>
                <a:latin typeface="Calibri" pitchFamily="34" charset="0"/>
                <a:ea typeface="Calibri" pitchFamily="34" charset="-122"/>
                <a:cs typeface="Calibri" pitchFamily="34" charset="-120"/>
              </a:rPr>
              <a:t>データ出典：for_AI_.xlsx／0824スケジュール.xlsx／condition_app_2026-08-25_2026-09-07.xlsx</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2026-09-19T09:59:26Z</dcterms:created>
  <dcterms:modified xsi:type="dcterms:W3CDTF">2026-09-19T09:59:26Z</dcterms:modified>
</cp:coreProperties>
</file>