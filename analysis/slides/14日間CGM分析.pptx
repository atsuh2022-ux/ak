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終日平均血糖</c:v>
                </c:pt>
              </c:strCache>
            </c:strRef>
          </c:tx>
          <c:spPr>
            <a:solidFill>
              <a:srgbClr val="EB6834"/>
            </a:solidFill>
            <a:ln w="3175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準備</c:v>
                  </c:pt>
                  <c:pt idx="1">
                    <c:v>DAY1</c:v>
                  </c:pt>
                  <c:pt idx="2">
                    <c:v>DAY2</c:v>
                  </c:pt>
                  <c:pt idx="3">
                    <c:v>DAY3</c:v>
                  </c:pt>
                  <c:pt idx="4">
                    <c:v>DAY4</c:v>
                  </c:pt>
                  <c:pt idx="5">
                    <c:v>DAY5</c:v>
                  </c:pt>
                  <c:pt idx="6">
                    <c:v>DAY6</c:v>
                  </c:pt>
                  <c:pt idx="7">
                    <c:v>DAY7</c:v>
                  </c:pt>
                  <c:pt idx="8">
                    <c:v>DAY8</c:v>
                  </c:pt>
                  <c:pt idx="9">
                    <c:v>DAY9</c:v>
                  </c:pt>
                  <c:pt idx="10">
                    <c:v>DAY10</c:v>
                  </c:pt>
                  <c:pt idx="11">
                    <c:v>DAY11</c:v>
                  </c:pt>
                  <c:pt idx="12">
                    <c:v>DAY12</c:v>
                  </c:pt>
                  <c:pt idx="13">
                    <c:v>DAY13</c:v>
                  </c:pt>
                  <c:pt idx="14">
                    <c:v>DAY14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141.2</c:v>
                </c:pt>
                <c:pt idx="1">
                  <c:v>126.7</c:v>
                </c:pt>
                <c:pt idx="2">
                  <c:v>117.6</c:v>
                </c:pt>
                <c:pt idx="3">
                  <c:v>119</c:v>
                </c:pt>
                <c:pt idx="4">
                  <c:v>126</c:v>
                </c:pt>
                <c:pt idx="5">
                  <c:v>160.7</c:v>
                </c:pt>
                <c:pt idx="6">
                  <c:v>208.9</c:v>
                </c:pt>
                <c:pt idx="7">
                  <c:v>210.8</c:v>
                </c:pt>
                <c:pt idx="8">
                  <c:v>196</c:v>
                </c:pt>
                <c:pt idx="9">
                  <c:v>189.1</c:v>
                </c:pt>
                <c:pt idx="10">
                  <c:v>191</c:v>
                </c:pt>
                <c:pt idx="11">
                  <c:v>204.5</c:v>
                </c:pt>
                <c:pt idx="12">
                  <c:v>187.3</c:v>
                </c:pt>
                <c:pt idx="13">
                  <c:v>174.2</c:v>
                </c:pt>
                <c:pt idx="14">
                  <c:v>184.2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夜間(0-6時)平均血糖</c:v>
                </c:pt>
              </c:strCache>
            </c:strRef>
          </c:tx>
          <c:spPr>
            <a:solidFill>
              <a:srgbClr val="2A78D6"/>
            </a:solidFill>
            <a:ln w="3175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準備</c:v>
                  </c:pt>
                  <c:pt idx="1">
                    <c:v>DAY1</c:v>
                  </c:pt>
                  <c:pt idx="2">
                    <c:v>DAY2</c:v>
                  </c:pt>
                  <c:pt idx="3">
                    <c:v>DAY3</c:v>
                  </c:pt>
                  <c:pt idx="4">
                    <c:v>DAY4</c:v>
                  </c:pt>
                  <c:pt idx="5">
                    <c:v>DAY5</c:v>
                  </c:pt>
                  <c:pt idx="6">
                    <c:v>DAY6</c:v>
                  </c:pt>
                  <c:pt idx="7">
                    <c:v>DAY7</c:v>
                  </c:pt>
                  <c:pt idx="8">
                    <c:v>DAY8</c:v>
                  </c:pt>
                  <c:pt idx="9">
                    <c:v>DAY9</c:v>
                  </c:pt>
                  <c:pt idx="10">
                    <c:v>DAY10</c:v>
                  </c:pt>
                  <c:pt idx="11">
                    <c:v>DAY11</c:v>
                  </c:pt>
                  <c:pt idx="12">
                    <c:v>DAY12</c:v>
                  </c:pt>
                  <c:pt idx="13">
                    <c:v>DAY13</c:v>
                  </c:pt>
                  <c:pt idx="14">
                    <c:v>DAY14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/>
                </c:pt>
                <c:pt idx="1">
                  <c:v>106.6</c:v>
                </c:pt>
                <c:pt idx="2">
                  <c:v>93.4</c:v>
                </c:pt>
                <c:pt idx="3">
                  <c:v>93.9</c:v>
                </c:pt>
                <c:pt idx="4">
                  <c:v>96.5</c:v>
                </c:pt>
                <c:pt idx="5">
                  <c:v>104.2</c:v>
                </c:pt>
                <c:pt idx="6">
                  <c:v>176.7</c:v>
                </c:pt>
                <c:pt idx="7">
                  <c:v>176.8</c:v>
                </c:pt>
                <c:pt idx="8">
                  <c:v>160.5</c:v>
                </c:pt>
                <c:pt idx="9">
                  <c:v>152.7</c:v>
                </c:pt>
                <c:pt idx="10">
                  <c:v>152.2</c:v>
                </c:pt>
                <c:pt idx="11">
                  <c:v>165.8</c:v>
                </c:pt>
                <c:pt idx="12">
                  <c:v>161.8</c:v>
                </c:pt>
                <c:pt idx="13">
                  <c:v>129.8</c:v>
                </c:pt>
                <c:pt idx="14">
                  <c:v>152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5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1D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C6570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C6570"/>
                    </a:solidFill>
                    <a:latin typeface="Arial"/>
                  </a:rPr>
                  <a:t>血糖値 (mg/dL)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5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A1A1A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血糖値</c:v>
                </c:pt>
              </c:strCache>
            </c:strRef>
          </c:tx>
          <c:spPr>
            <a:solidFill>
              <a:srgbClr val="EDA100"/>
            </a:solidFill>
            <a:ln w="25400" cap="flat">
              <a:solidFill>
                <a:srgbClr val="EDA1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DA100"/>
              </a:solidFill>
              <a:ln w="9525" cap="flat">
                <a:solidFill>
                  <a:srgbClr val="EDA1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Sheet1!$A$2:$A$42</c:f>
              <c:multiLvlStrCache>
                <c:ptCount val="41"/>
                <c:lvl>
                  <c:pt idx="0">
                    <c:v>12:00</c:v>
                  </c:pt>
                  <c:pt idx="1">
                    <c:v>12:30</c:v>
                  </c:pt>
                  <c:pt idx="2">
                    <c:v>13:00</c:v>
                  </c:pt>
                  <c:pt idx="3">
                    <c:v>13:30</c:v>
                  </c:pt>
                  <c:pt idx="4">
                    <c:v>14:00</c:v>
                  </c:pt>
                  <c:pt idx="5">
                    <c:v>14:30</c:v>
                  </c:pt>
                  <c:pt idx="6">
                    <c:v>15:00</c:v>
                  </c:pt>
                  <c:pt idx="7">
                    <c:v>15:30</c:v>
                  </c:pt>
                  <c:pt idx="8">
                    <c:v>16:00</c:v>
                  </c:pt>
                  <c:pt idx="9">
                    <c:v>16:30</c:v>
                  </c:pt>
                  <c:pt idx="10">
                    <c:v>17:00</c:v>
                  </c:pt>
                  <c:pt idx="11">
                    <c:v>17:30</c:v>
                  </c:pt>
                  <c:pt idx="12">
                    <c:v>18:00</c:v>
                  </c:pt>
                  <c:pt idx="13">
                    <c:v>18:30</c:v>
                  </c:pt>
                  <c:pt idx="14">
                    <c:v>19:00</c:v>
                  </c:pt>
                  <c:pt idx="15">
                    <c:v>19:30</c:v>
                  </c:pt>
                  <c:pt idx="16">
                    <c:v>20:00</c:v>
                  </c:pt>
                  <c:pt idx="17">
                    <c:v>20:30</c:v>
                  </c:pt>
                  <c:pt idx="18">
                    <c:v>21:00</c:v>
                  </c:pt>
                  <c:pt idx="19">
                    <c:v>21:30</c:v>
                  </c:pt>
                  <c:pt idx="20">
                    <c:v>22:00</c:v>
                  </c:pt>
                  <c:pt idx="21">
                    <c:v>22:30</c:v>
                  </c:pt>
                  <c:pt idx="22">
                    <c:v>23:00</c:v>
                  </c:pt>
                  <c:pt idx="23">
                    <c:v>23:30</c:v>
                  </c:pt>
                  <c:pt idx="24">
                    <c:v>0:00</c:v>
                  </c:pt>
                  <c:pt idx="25">
                    <c:v>0:30</c:v>
                  </c:pt>
                  <c:pt idx="26">
                    <c:v>1:00</c:v>
                  </c:pt>
                  <c:pt idx="27">
                    <c:v>1:30</c:v>
                  </c:pt>
                  <c:pt idx="28">
                    <c:v>2:00</c:v>
                  </c:pt>
                  <c:pt idx="29">
                    <c:v>2:30</c:v>
                  </c:pt>
                  <c:pt idx="30">
                    <c:v>3:00</c:v>
                  </c:pt>
                  <c:pt idx="31">
                    <c:v>3:30</c:v>
                  </c:pt>
                  <c:pt idx="32">
                    <c:v>4:00</c:v>
                  </c:pt>
                  <c:pt idx="33">
                    <c:v>4:30</c:v>
                  </c:pt>
                  <c:pt idx="34">
                    <c:v>5:00</c:v>
                  </c:pt>
                  <c:pt idx="35">
                    <c:v>5:30</c:v>
                  </c:pt>
                  <c:pt idx="36">
                    <c:v>6:00</c:v>
                  </c:pt>
                  <c:pt idx="37">
                    <c:v>6:30</c:v>
                  </c:pt>
                  <c:pt idx="38">
                    <c:v>7:00</c:v>
                  </c:pt>
                  <c:pt idx="39">
                    <c:v>7:30</c:v>
                  </c:pt>
                  <c:pt idx="40">
                    <c:v>8:00</c:v>
                  </c:pt>
                </c:lvl>
              </c:multiLvlStrCache>
            </c:multiLvlStrRef>
          </c:cat>
          <c:val>
            <c:numRef>
              <c:f>Sheet1!$B$2:$B$42</c:f>
              <c:numCache>
                <c:formatCode>General</c:formatCode>
                <c:ptCount val="41"/>
                <c:pt idx="0">
                  <c:v>152</c:v>
                </c:pt>
                <c:pt idx="1">
                  <c:v>146</c:v>
                </c:pt>
                <c:pt idx="2">
                  <c:v>156</c:v>
                </c:pt>
                <c:pt idx="3">
                  <c:v>149</c:v>
                </c:pt>
                <c:pt idx="4">
                  <c:v>154</c:v>
                </c:pt>
                <c:pt idx="5">
                  <c:v>150</c:v>
                </c:pt>
                <c:pt idx="6">
                  <c:v>225</c:v>
                </c:pt>
                <c:pt idx="7">
                  <c:v>253</c:v>
                </c:pt>
                <c:pt idx="8">
                  <c:v>216</c:v>
                </c:pt>
                <c:pt idx="9">
                  <c:v>239</c:v>
                </c:pt>
                <c:pt idx="10">
                  <c:v>264</c:v>
                </c:pt>
                <c:pt idx="11">
                  <c:v>222</c:v>
                </c:pt>
                <c:pt idx="12">
                  <c:v>192</c:v>
                </c:pt>
                <c:pt idx="13">
                  <c:v>201</c:v>
                </c:pt>
                <c:pt idx="14">
                  <c:v>181</c:v>
                </c:pt>
                <c:pt idx="15">
                  <c:v>178</c:v>
                </c:pt>
                <c:pt idx="16">
                  <c:v>285</c:v>
                </c:pt>
                <c:pt idx="17">
                  <c:v>256</c:v>
                </c:pt>
                <c:pt idx="18">
                  <c:v>260</c:v>
                </c:pt>
                <c:pt idx="19">
                  <c:v>238</c:v>
                </c:pt>
                <c:pt idx="20">
                  <c:v>216</c:v>
                </c:pt>
                <c:pt idx="21">
                  <c:v>212</c:v>
                </c:pt>
                <c:pt idx="22">
                  <c:v>225</c:v>
                </c:pt>
                <c:pt idx="23">
                  <c:v>200</c:v>
                </c:pt>
                <c:pt idx="24">
                  <c:v>193</c:v>
                </c:pt>
                <c:pt idx="25">
                  <c:v>212</c:v>
                </c:pt>
                <c:pt idx="26">
                  <c:v>184</c:v>
                </c:pt>
                <c:pt idx="27">
                  <c:v>204</c:v>
                </c:pt>
                <c:pt idx="28">
                  <c:v>188</c:v>
                </c:pt>
                <c:pt idx="29">
                  <c:v>176</c:v>
                </c:pt>
                <c:pt idx="30">
                  <c:v>179</c:v>
                </c:pt>
                <c:pt idx="31">
                  <c:v>172</c:v>
                </c:pt>
                <c:pt idx="32">
                  <c:v>163</c:v>
                </c:pt>
                <c:pt idx="33">
                  <c:v>154</c:v>
                </c:pt>
                <c:pt idx="34">
                  <c:v>153</c:v>
                </c:pt>
                <c:pt idx="35">
                  <c:v>164</c:v>
                </c:pt>
                <c:pt idx="36">
                  <c:v>164</c:v>
                </c:pt>
                <c:pt idx="37">
                  <c:v>165</c:v>
                </c:pt>
                <c:pt idx="38">
                  <c:v>203</c:v>
                </c:pt>
                <c:pt idx="39">
                  <c:v>184</c:v>
                </c:pt>
                <c:pt idx="40">
                  <c:v>191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 rot="2700000"/>
          <a:lstStyle/>
          <a:p>
            <a:pPr>
              <a:defRPr sz="800" b="0" i="0" u="none" strike="noStrike">
                <a:solidFill>
                  <a:srgbClr val="5C65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4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1D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C6570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C6570"/>
                    </a:solidFill>
                    <a:latin typeface="Arial"/>
                  </a:rPr>
                  <a:t>血糖値(mg/dL)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5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463040"/>
            <a:ext cx="5029200" cy="5029200"/>
          </a:xfrm>
          <a:prstGeom prst="oval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828800" y="4206240"/>
            <a:ext cx="4206240" cy="4206240"/>
          </a:xfrm>
          <a:prstGeom prst="oval">
            <a:avLst/>
          </a:prstGeom>
          <a:solidFill>
            <a:srgbClr val="1C7293">
              <a:alpha val="40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920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8FB7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FreeStyleリブレ 24時間連続測定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14日間連続CGMデータ分析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46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DAY準備〜DAY14（8/24〜9/7）の24時間血糖データから分かったこと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3891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1,432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029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血糖測定点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43891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5029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測定日数(日)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43891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5029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低血糖(70未満)件数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2636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対象：高位脊髄損傷（SCI）車いす陸上選手 1名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今回のデータについて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1672" cy="1188720"/>
          </a:xfrm>
          <a:prstGeom prst="roundRect">
            <a:avLst>
              <a:gd name="adj" fmla="val 7692"/>
            </a:avLst>
          </a:prstGeom>
          <a:solidFill>
            <a:srgbClr val="F4F7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93392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測定機器・期間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59152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FreeStyleリブレLink（間欠スキャン式CGM）。2026/8/24 20:21〜9/7 20:22の連続記録。センサーは1本のみ使用（途中交換なし）。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11091672" cy="1188720"/>
          </a:xfrm>
          <a:prstGeom prst="roundRect">
            <a:avLst>
              <a:gd name="adj" fmla="val 7692"/>
            </a:avLst>
          </a:prstGeom>
          <a:solidFill>
            <a:srgbClr val="F4F7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3410712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これまでの分析との違い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776472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従来は各条件の8:00〜14:00のみを比較していたが、今回は24時間×14日間の全データを分析。夜間・自由摂取後・練習後を含む生活全体の血糖動態が見える。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11091672" cy="1188720"/>
          </a:xfrm>
          <a:prstGeom prst="roundRect">
            <a:avLst>
              <a:gd name="adj" fmla="val 7692"/>
            </a:avLst>
          </a:prstGeom>
          <a:solidFill>
            <a:srgbClr val="F4F7F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4828032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測定間隔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193792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自動記録（過去のグルコース値）は約15分間隔。手動スキャンも含め、期間全体で1,432点の血糖データを取得。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14日間の血糖トレンド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11091672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92240"/>
            <a:ext cx="11091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DAY5(8/29)を境に、終日平均・夜間平均とも明確な段差が生じ、以後高い水準で推移している。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良い知らせ：低血糖は一度も検出されず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91672" cy="1554480"/>
          </a:xfrm>
          <a:prstGeom prst="roundRect">
            <a:avLst>
              <a:gd name="adj" fmla="val 7059"/>
            </a:avLst>
          </a:prstGeom>
          <a:solidFill>
            <a:srgbClr val="EAF7F0"/>
          </a:solidFill>
          <a:ln w="15875">
            <a:solidFill>
              <a:srgbClr val="1BAF7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96596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0F5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5000" dirty="0"/>
          </a:p>
        </p:txBody>
      </p:sp>
      <p:sp>
        <p:nvSpPr>
          <p:cNvPr id="6" name="Text 4"/>
          <p:cNvSpPr txBox="1"/>
          <p:nvPr/>
        </p:nvSpPr>
        <p:spPr>
          <a:xfrm>
            <a:off x="1920240" y="1965960"/>
            <a:ext cx="94457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14日間・1,432測定点を通じ、低血糖（70 mg/dL未満）は日中・夜間問わず一度も検出されませんでした。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661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まで断片的な時間帯（8:00〜14:00）だけで判断していた「反応性低血糖のリスクなし」を、24時間データで裏付けられました。研究背景にある「血糖スパイク＋反応性低血糖」のうち、少なくとも低血糖側のリスクは実測ベースで否定されます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480560"/>
            <a:ext cx="5362956" cy="1600200"/>
          </a:xfrm>
          <a:prstGeom prst="roundRect">
            <a:avLst>
              <a:gd name="adj" fmla="val 5714"/>
            </a:avLst>
          </a:prstGeom>
          <a:solidFill>
            <a:srgbClr val="F4F7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61772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低血糖(70未満)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89204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0件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53212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1,432測定点中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77356" y="4480560"/>
            <a:ext cx="5362956" cy="1600200"/>
          </a:xfrm>
          <a:prstGeom prst="roundRect">
            <a:avLst>
              <a:gd name="adj" fmla="val 5714"/>
            </a:avLst>
          </a:prstGeom>
          <a:solidFill>
            <a:srgbClr val="F4F7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05956" y="461772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高血糖(250超)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505956" y="489204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DA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81件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505956" y="553212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大半がDAY5・6・7・11に集中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DAY5(8/29)午後に何が起きたか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14:50頃を境に血糖が急上昇し、翌朝になっても下がりきりませんでした（30分間隔、8/29 12:00〜8/30 8:00）。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74520"/>
          <a:ext cx="11091672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8333"/>
            </a:avLst>
          </a:prstGeom>
          <a:solidFill>
            <a:srgbClr val="FDF3E2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303520"/>
            <a:ext cx="10634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4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14:50に175→15:20には270まで急上昇。そのまま夜通し200前後を推移し、翌朝8時になっても191と下がりきらない。通常の食事1回分の反応では説明できない持続性。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11091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この日は自由摂取の午後で、被験食プロトコルの対象外の時間帯。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原因の候補（データからは特定できず）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84048" cy="384048"/>
          </a:xfrm>
          <a:prstGeom prst="oval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71907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記録されていない間食・夕食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201168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CGMアプリの食事ログ機能はほとんど使われておらず（食事メモの記載は14日間で数件のみ）、この時間帯に何を食べたか確認できない。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34640"/>
            <a:ext cx="384048" cy="384048"/>
          </a:xfrm>
          <a:prstGeom prst="oval">
            <a:avLst/>
          </a:prstGeom>
          <a:solidFill>
            <a:srgbClr val="EB68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281635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体調不良・感染症の初期症状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31089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ストレスホルモン（コルチゾール等）による持続的な高血糖は、体調不良の初期に典型的に見られるパターン。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384048" cy="384048"/>
          </a:xfrm>
          <a:prstGeom prst="oval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91363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蓄積した練習・精神的ストレス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420624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翌朝（DAY6 9:17）のメモに「7時にドーピング検査があった」との記載あり。前夜からの緊張状態が影響した可能性。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384048" cy="384048"/>
          </a:xfrm>
          <a:prstGeom prst="oval">
            <a:avLst/>
          </a:prstGeom>
          <a:solidFill>
            <a:srgbClr val="5C657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029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501091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その他の生活要因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530352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記録に残っていない睡眠の乱れ、水分摂取量の変化等、CGMデータだけでは把握できない要因。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92240"/>
            <a:ext cx="11091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選手・スタッフへの聞き取りが、原因特定に向けた最も費用対効果の高い次の一手。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これまでの4条件比較への影響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固形／スムージー／おにぎり＋スムージー／おにぎり＋糖質減の比較は、DAY1〜13にまたがって実施されていたため、比較によって信頼度が異なる。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91672" cy="2194560"/>
        </p:xfrm>
        <a:graphic>
          <a:graphicData uri="http://schemas.openxmlformats.org/drawingml/2006/table">
            <a:tbl>
              <a:tblPr/>
              <a:tblGrid>
                <a:gridCol w="3017520"/>
                <a:gridCol w="5971032"/>
                <a:gridCol w="21031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比較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シフトとの関係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信頼度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① 固形 vs スムージー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固形(DAY1〜3)は完全にシフト前。スムージー(DAY4〜6)はDAY4・5がシフト前、DAY6のみシフト後で3日平均が引っ張られている可能性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 要注意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② スムージー vs おにぎり＋スムージー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スムージー側はシフト前後が混在。おにぎり＋スムージー(DAY8〜10)は完全にシフト後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 要注意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③ おにぎり＋スムージー vs 糖質減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両条件(DAY8〜13)とも完全にシフト後で条件が揃っている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5C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信頼できる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480560"/>
            <a:ext cx="11091672" cy="1737360"/>
          </a:xfrm>
          <a:prstGeom prst="roundRect">
            <a:avLst>
              <a:gd name="adj" fmla="val 5263"/>
            </a:avLst>
          </a:prstGeom>
          <a:solidFill>
            <a:srgbClr val="EAF7F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4663440"/>
            <a:ext cx="105430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最も重要な結果（③糖質量の比較、iAUC 39%減）はシフトの影響を受けず維持できる。①・②で見られた「固形の方が安定」「スムージー単独は乱高下が大きい」という結果は、一部がタイミング（シフト前後の混在）による見かけ上のものである可能性があり、割り引いて解釈する必要がある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その他に観察された傾向（参考値, n=14）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09928"/>
            <a:ext cx="365760" cy="365760"/>
          </a:xfrm>
          <a:prstGeom prst="oval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◯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916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体重は安定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1993392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62.1〜63.4kgの範囲で14日間を通じ大きな変動なし。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852928"/>
            <a:ext cx="365760" cy="365760"/>
          </a:xfrm>
          <a:prstGeom prst="oval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852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◯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8346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血糖の変動が小さい日ほど、翌朝の起床時コンディションが良い傾向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136392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CV（変動係数）と起床時コンディションの相関 r=-0.41。血糖の乱高下は主観的な体調にも表れている可能性。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995928"/>
            <a:ext cx="365760" cy="365760"/>
          </a:xfrm>
          <a:prstGeom prst="oval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995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◯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9776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血糖の絶対的なばらつきが小さい日ほど、爆発力の自己評価が高い傾向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279392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SD（標準偏差）と爆発力の相関 r=-0.48。「なだらかな血糖の方が良い」というこれまでの考察と整合。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5138928"/>
            <a:ext cx="365760" cy="365760"/>
          </a:xfrm>
          <a:prstGeom prst="oval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138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△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1206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夜間血糖と起床時コンディションの正の相関は要注意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5422392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相関 r=0.71と高いが、両者とも同じ14日間トレンド（DAY5以降の上昇）に乗っているだけの見かけ上の相関の可能性が高い。因果関係とは解釈しない。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48640" y="6492240"/>
            <a:ext cx="11091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n=14の記述的傾向。統計的検定ではなく参考情報として解釈。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8FB7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まとめと推奨アクション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84048" cy="384048"/>
          </a:xfrm>
          <a:prstGeom prst="oval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7190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14日間・1,432測定点を通じ、低血糖（70mg/dL未満）は一度も検出されなかった（安全面の朗報）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788920"/>
            <a:ext cx="384048" cy="384048"/>
          </a:xfrm>
          <a:prstGeom prst="oval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277063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DAY5(8/29)14:50頃から血糖ベースラインが持続的に上昇し、以後DAY14まで元の水準に戻らなかった（原因不明）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840480"/>
            <a:ext cx="384048" cy="384048"/>
          </a:xfrm>
          <a:prstGeom prst="oval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382219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この結果、①固形vsスムージー・②タイミングの比較結論は参考値、③糖質量の比較（最重要結果）は結論を維持できる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074920"/>
            <a:ext cx="11091672" cy="1188720"/>
          </a:xfrm>
          <a:prstGeom prst="roundRect">
            <a:avLst>
              <a:gd name="adj" fmla="val 7692"/>
            </a:avLst>
          </a:prstGeom>
          <a:solidFill>
            <a:srgbClr val="1A235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521208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推奨アクション：選手・スタッフに「8/29 14:30〜15:30頃、普段と違うこと（補食・体調の変化・ストレスの多い出来事）がなかったか」を確認する。コスト0・即実施可能で、原因が判明すれば①②の結論を再評価できる。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11091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データ出典：14日間_for_AI.xlsx（FreeStyleリブレ連続血糖データ）／condition_app_2026-08-25_2026-09-07.xlsx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2026-09-19T12:15:51Z</dcterms:created>
  <dcterms:modified xsi:type="dcterms:W3CDTF">2026-09-19T12:15:51Z</dcterms:modified>
</cp:coreProperties>
</file>