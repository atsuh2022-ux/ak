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終日平均血糖</c:v>
                </c:pt>
              </c:strCache>
            </c:strRef>
          </c:tx>
          <c:spPr>
            <a:solidFill>
              <a:srgbClr val="EB6834"/>
            </a:solidFill>
            <a:ln w="3175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EB6834"/>
              </a:solidFill>
              <a:ln w="9525" cap="flat">
                <a:solidFill>
                  <a:srgbClr val="EB6834"/>
                </a:solidFill>
                <a:prstDash val="solid"/>
                <a:round/>
              </a:ln>
              <a:effectLst/>
            </c:spPr>
          </c:marker>
          <c:cat>
            <c:multiLvlStrRef>
              <c:f>Sheet1!$A$2:$A$16</c:f>
              <c:multiLvlStrCache>
                <c:ptCount val="15"/>
                <c:lvl>
                  <c:pt idx="0">
                    <c:v>準備</c:v>
                  </c:pt>
                  <c:pt idx="1">
                    <c:v>DAY1</c:v>
                  </c:pt>
                  <c:pt idx="2">
                    <c:v>DAY2</c:v>
                  </c:pt>
                  <c:pt idx="3">
                    <c:v>DAY3</c:v>
                  </c:pt>
                  <c:pt idx="4">
                    <c:v>DAY4</c:v>
                  </c:pt>
                  <c:pt idx="5">
                    <c:v>DAY5</c:v>
                  </c:pt>
                  <c:pt idx="6">
                    <c:v>DAY6</c:v>
                  </c:pt>
                  <c:pt idx="7">
                    <c:v>DAY7</c:v>
                  </c:pt>
                  <c:pt idx="8">
                    <c:v>DAY8</c:v>
                  </c:pt>
                  <c:pt idx="9">
                    <c:v>DAY9</c:v>
                  </c:pt>
                  <c:pt idx="10">
                    <c:v>DAY10</c:v>
                  </c:pt>
                  <c:pt idx="11">
                    <c:v>DAY11</c:v>
                  </c:pt>
                  <c:pt idx="12">
                    <c:v>DAY12</c:v>
                  </c:pt>
                  <c:pt idx="13">
                    <c:v>DAY13</c:v>
                  </c:pt>
                  <c:pt idx="14">
                    <c:v>DAY14</c:v>
                  </c:pt>
                </c:lvl>
              </c:multiLvlStrCache>
            </c:multiLvlStrRef>
          </c:cat>
          <c:val>
            <c:numRef>
              <c:f>Sheet1!$B$2:$B$16</c:f>
              <c:numCache>
                <c:formatCode>General</c:formatCode>
                <c:ptCount val="15"/>
                <c:pt idx="0">
                  <c:v>141.2</c:v>
                </c:pt>
                <c:pt idx="1">
                  <c:v>126.7</c:v>
                </c:pt>
                <c:pt idx="2">
                  <c:v>117.6</c:v>
                </c:pt>
                <c:pt idx="3">
                  <c:v>119</c:v>
                </c:pt>
                <c:pt idx="4">
                  <c:v>126</c:v>
                </c:pt>
                <c:pt idx="5">
                  <c:v>160.7</c:v>
                </c:pt>
                <c:pt idx="6">
                  <c:v>208.9</c:v>
                </c:pt>
                <c:pt idx="7">
                  <c:v>210.8</c:v>
                </c:pt>
                <c:pt idx="8">
                  <c:v>196</c:v>
                </c:pt>
                <c:pt idx="9">
                  <c:v>189.1</c:v>
                </c:pt>
                <c:pt idx="10">
                  <c:v>191</c:v>
                </c:pt>
                <c:pt idx="11">
                  <c:v>204.5</c:v>
                </c:pt>
                <c:pt idx="12">
                  <c:v>187.3</c:v>
                </c:pt>
                <c:pt idx="13">
                  <c:v>174.2</c:v>
                </c:pt>
                <c:pt idx="14">
                  <c:v>184.2</c:v>
                </c:pt>
              </c:numCache>
            </c:numRef>
          </c:val>
          <c:smooth val="0"/>
        </c:ser>
        <c:ser>
          <c:idx val="1"/>
          <c:order val="1"/>
          <c:tx>
            <c:strRef>
              <c:f>Sheet1!$C$1</c:f>
              <c:strCache>
                <c:ptCount val="1"/>
                <c:pt idx="0">
                  <c:v>夜間(0-6時)平均血糖</c:v>
                </c:pt>
              </c:strCache>
            </c:strRef>
          </c:tx>
          <c:spPr>
            <a:solidFill>
              <a:srgbClr val="2A78D6"/>
            </a:solidFill>
            <a:ln w="3175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A78D6"/>
              </a:solidFill>
              <a:ln w="9525" cap="flat">
                <a:solidFill>
                  <a:srgbClr val="2A78D6"/>
                </a:solidFill>
                <a:prstDash val="solid"/>
                <a:round/>
              </a:ln>
              <a:effectLst/>
            </c:spPr>
          </c:marker>
          <c:cat>
            <c:multiLvlStrRef>
              <c:f>Sheet1!$A$2:$A$16</c:f>
              <c:multiLvlStrCache>
                <c:ptCount val="15"/>
                <c:lvl>
                  <c:pt idx="0">
                    <c:v>準備</c:v>
                  </c:pt>
                  <c:pt idx="1">
                    <c:v>DAY1</c:v>
                  </c:pt>
                  <c:pt idx="2">
                    <c:v>DAY2</c:v>
                  </c:pt>
                  <c:pt idx="3">
                    <c:v>DAY3</c:v>
                  </c:pt>
                  <c:pt idx="4">
                    <c:v>DAY4</c:v>
                  </c:pt>
                  <c:pt idx="5">
                    <c:v>DAY5</c:v>
                  </c:pt>
                  <c:pt idx="6">
                    <c:v>DAY6</c:v>
                  </c:pt>
                  <c:pt idx="7">
                    <c:v>DAY7</c:v>
                  </c:pt>
                  <c:pt idx="8">
                    <c:v>DAY8</c:v>
                  </c:pt>
                  <c:pt idx="9">
                    <c:v>DAY9</c:v>
                  </c:pt>
                  <c:pt idx="10">
                    <c:v>DAY10</c:v>
                  </c:pt>
                  <c:pt idx="11">
                    <c:v>DAY11</c:v>
                  </c:pt>
                  <c:pt idx="12">
                    <c:v>DAY12</c:v>
                  </c:pt>
                  <c:pt idx="13">
                    <c:v>DAY13</c:v>
                  </c:pt>
                  <c:pt idx="14">
                    <c:v>DAY14</c:v>
                  </c:pt>
                </c:lvl>
              </c:multiLvlStrCache>
            </c:multiLvlStrRef>
          </c:cat>
          <c:val>
            <c:numRef>
              <c:f>Sheet1!$C$2:$C$16</c:f>
              <c:numCache>
                <c:formatCode>General</c:formatCode>
                <c:ptCount val="15"/>
                <c:pt idx="0">
                  <c:v/>
                </c:pt>
                <c:pt idx="1">
                  <c:v>106.6</c:v>
                </c:pt>
                <c:pt idx="2">
                  <c:v>93.4</c:v>
                </c:pt>
                <c:pt idx="3">
                  <c:v>93.9</c:v>
                </c:pt>
                <c:pt idx="4">
                  <c:v>96.5</c:v>
                </c:pt>
                <c:pt idx="5">
                  <c:v>104.2</c:v>
                </c:pt>
                <c:pt idx="6">
                  <c:v>176.7</c:v>
                </c:pt>
                <c:pt idx="7">
                  <c:v>176.8</c:v>
                </c:pt>
                <c:pt idx="8">
                  <c:v>160.5</c:v>
                </c:pt>
                <c:pt idx="9">
                  <c:v>152.7</c:v>
                </c:pt>
                <c:pt idx="10">
                  <c:v>152.2</c:v>
                </c:pt>
                <c:pt idx="11">
                  <c:v>165.8</c:v>
                </c:pt>
                <c:pt idx="12">
                  <c:v>161.8</c:v>
                </c:pt>
                <c:pt idx="13">
                  <c:v>129.8</c:v>
                </c:pt>
                <c:pt idx="14">
                  <c:v>152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1DB"/>
            </a:solidFill>
            <a:prstDash val="solid"/>
            <a:round/>
          </a:ln>
        </c:spPr>
        <c:txPr>
          <a:bodyPr/>
          <a:lstStyle/>
          <a:p>
            <a:pPr>
              <a:defRPr sz="1000" b="0" i="0" u="none" strike="noStrike">
                <a:solidFill>
                  <a:srgbClr val="5C657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1DB"/>
              </a:solidFill>
              <a:prstDash val="solid"/>
              <a:round/>
            </a:ln>
          </c:spPr>
        </c:majorGridlines>
        <c:title>
          <c:tx>
            <c:rich>
              <a:bodyPr/>
              <a:lstStyle/>
              <a:p>
                <a:pPr>
                  <a:defRPr sz="1100" b="0" i="0" u="none" strike="noStrike">
                    <a:solidFill>
                      <a:srgbClr val="5C6570"/>
                    </a:solidFill>
                    <a:latin typeface="Arial"/>
                  </a:defRPr>
                </a:pPr>
                <a:r>
                  <a:rPr sz="1100" b="0" i="0" u="none" strike="noStrike">
                    <a:solidFill>
                      <a:srgbClr val="5C6570"/>
                    </a:solidFill>
                    <a:latin typeface="Arial"/>
                  </a:rPr>
                  <a:t>血糖値 (mg/dL)</a:t>
                </a:r>
              </a:p>
            </c:rich>
          </c:tx>
          <c:layout/>
          <c:overlay val="0"/>
        </c:title>
        <c:numFmt formatCode="General" sourceLinked="0"/>
        <c:majorTickMark val="out"/>
        <c:minorTickMark val="none"/>
        <c:tickLblPos val="nextTo"/>
        <c:spPr>
          <a:ln w="12700" cap="flat">
            <a:solidFill>
              <a:srgbClr val="E3E1DB"/>
            </a:solidFill>
            <a:prstDash val="solid"/>
            <a:round/>
          </a:ln>
        </c:spPr>
        <c:txPr>
          <a:bodyPr/>
          <a:lstStyle/>
          <a:p>
            <a:pPr>
              <a:defRPr sz="1000" b="0" i="0" u="none" strike="noStrike">
                <a:solidFill>
                  <a:srgbClr val="5C657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A1A1A"/>
              </a:solidFil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血糖値</c:v>
                </c:pt>
              </c:strCache>
            </c:strRef>
          </c:tx>
          <c:spPr>
            <a:solidFill>
              <a:srgbClr val="EDA100"/>
            </a:solidFill>
            <a:ln w="25400" cap="flat">
              <a:solidFill>
                <a:srgbClr val="EDA1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DA100"/>
              </a:solidFill>
              <a:ln w="9525" cap="flat">
                <a:solidFill>
                  <a:srgbClr val="EDA100"/>
                </a:solidFill>
                <a:prstDash val="solid"/>
                <a:round/>
              </a:ln>
              <a:effectLst/>
            </c:spPr>
          </c:marker>
          <c:cat>
            <c:multiLvlStrRef>
              <c:f>Sheet1!$A$2:$A$42</c:f>
              <c:multiLvlStrCache>
                <c:ptCount val="41"/>
                <c:lvl>
                  <c:pt idx="0">
                    <c:v>12:00</c:v>
                  </c:pt>
                  <c:pt idx="1">
                    <c:v>12:30</c:v>
                  </c:pt>
                  <c:pt idx="2">
                    <c:v>13:00</c:v>
                  </c:pt>
                  <c:pt idx="3">
                    <c:v>13:30</c:v>
                  </c:pt>
                  <c:pt idx="4">
                    <c:v>14:00</c:v>
                  </c:pt>
                  <c:pt idx="5">
                    <c:v>14:30</c:v>
                  </c:pt>
                  <c:pt idx="6">
                    <c:v>15:00</c:v>
                  </c:pt>
                  <c:pt idx="7">
                    <c:v>15:30</c:v>
                  </c:pt>
                  <c:pt idx="8">
                    <c:v>16:00</c:v>
                  </c:pt>
                  <c:pt idx="9">
                    <c:v>16:30</c:v>
                  </c:pt>
                  <c:pt idx="10">
                    <c:v>17:00</c:v>
                  </c:pt>
                  <c:pt idx="11">
                    <c:v>17:30</c:v>
                  </c:pt>
                  <c:pt idx="12">
                    <c:v>18:00</c:v>
                  </c:pt>
                  <c:pt idx="13">
                    <c:v>18:30</c:v>
                  </c:pt>
                  <c:pt idx="14">
                    <c:v>19:00</c:v>
                  </c:pt>
                  <c:pt idx="15">
                    <c:v>19:30</c:v>
                  </c:pt>
                  <c:pt idx="16">
                    <c:v>20:00</c:v>
                  </c:pt>
                  <c:pt idx="17">
                    <c:v>20:30</c:v>
                  </c:pt>
                  <c:pt idx="18">
                    <c:v>21:00</c:v>
                  </c:pt>
                  <c:pt idx="19">
                    <c:v>21:30</c:v>
                  </c:pt>
                  <c:pt idx="20">
                    <c:v>22:00</c:v>
                  </c:pt>
                  <c:pt idx="21">
                    <c:v>22:30</c:v>
                  </c:pt>
                  <c:pt idx="22">
                    <c:v>23:00</c:v>
                  </c:pt>
                  <c:pt idx="23">
                    <c:v>23:30</c:v>
                  </c:pt>
                  <c:pt idx="24">
                    <c:v>0:00</c:v>
                  </c:pt>
                  <c:pt idx="25">
                    <c:v>0:30</c:v>
                  </c:pt>
                  <c:pt idx="26">
                    <c:v>1:00</c:v>
                  </c:pt>
                  <c:pt idx="27">
                    <c:v>1:30</c:v>
                  </c:pt>
                  <c:pt idx="28">
                    <c:v>2:00</c:v>
                  </c:pt>
                  <c:pt idx="29">
                    <c:v>2:30</c:v>
                  </c:pt>
                  <c:pt idx="30">
                    <c:v>3:00</c:v>
                  </c:pt>
                  <c:pt idx="31">
                    <c:v>3:30</c:v>
                  </c:pt>
                  <c:pt idx="32">
                    <c:v>4:00</c:v>
                  </c:pt>
                  <c:pt idx="33">
                    <c:v>4:30</c:v>
                  </c:pt>
                  <c:pt idx="34">
                    <c:v>5:00</c:v>
                  </c:pt>
                  <c:pt idx="35">
                    <c:v>5:30</c:v>
                  </c:pt>
                  <c:pt idx="36">
                    <c:v>6:00</c:v>
                  </c:pt>
                  <c:pt idx="37">
                    <c:v>6:30</c:v>
                  </c:pt>
                  <c:pt idx="38">
                    <c:v>7:00</c:v>
                  </c:pt>
                  <c:pt idx="39">
                    <c:v>7:30</c:v>
                  </c:pt>
                  <c:pt idx="40">
                    <c:v>8:00</c:v>
                  </c:pt>
                </c:lvl>
              </c:multiLvlStrCache>
            </c:multiLvlStrRef>
          </c:cat>
          <c:val>
            <c:numRef>
              <c:f>Sheet1!$B$2:$B$42</c:f>
              <c:numCache>
                <c:formatCode>General</c:formatCode>
                <c:ptCount val="41"/>
                <c:pt idx="0">
                  <c:v>152</c:v>
                </c:pt>
                <c:pt idx="1">
                  <c:v>146</c:v>
                </c:pt>
                <c:pt idx="2">
                  <c:v>156</c:v>
                </c:pt>
                <c:pt idx="3">
                  <c:v>149</c:v>
                </c:pt>
                <c:pt idx="4">
                  <c:v>154</c:v>
                </c:pt>
                <c:pt idx="5">
                  <c:v>150</c:v>
                </c:pt>
                <c:pt idx="6">
                  <c:v>225</c:v>
                </c:pt>
                <c:pt idx="7">
                  <c:v>253</c:v>
                </c:pt>
                <c:pt idx="8">
                  <c:v>216</c:v>
                </c:pt>
                <c:pt idx="9">
                  <c:v>239</c:v>
                </c:pt>
                <c:pt idx="10">
                  <c:v>264</c:v>
                </c:pt>
                <c:pt idx="11">
                  <c:v>222</c:v>
                </c:pt>
                <c:pt idx="12">
                  <c:v>192</c:v>
                </c:pt>
                <c:pt idx="13">
                  <c:v>201</c:v>
                </c:pt>
                <c:pt idx="14">
                  <c:v>181</c:v>
                </c:pt>
                <c:pt idx="15">
                  <c:v>178</c:v>
                </c:pt>
                <c:pt idx="16">
                  <c:v>285</c:v>
                </c:pt>
                <c:pt idx="17">
                  <c:v>256</c:v>
                </c:pt>
                <c:pt idx="18">
                  <c:v>260</c:v>
                </c:pt>
                <c:pt idx="19">
                  <c:v>238</c:v>
                </c:pt>
                <c:pt idx="20">
                  <c:v>216</c:v>
                </c:pt>
                <c:pt idx="21">
                  <c:v>212</c:v>
                </c:pt>
                <c:pt idx="22">
                  <c:v>225</c:v>
                </c:pt>
                <c:pt idx="23">
                  <c:v>200</c:v>
                </c:pt>
                <c:pt idx="24">
                  <c:v>193</c:v>
                </c:pt>
                <c:pt idx="25">
                  <c:v>212</c:v>
                </c:pt>
                <c:pt idx="26">
                  <c:v>184</c:v>
                </c:pt>
                <c:pt idx="27">
                  <c:v>204</c:v>
                </c:pt>
                <c:pt idx="28">
                  <c:v>188</c:v>
                </c:pt>
                <c:pt idx="29">
                  <c:v>176</c:v>
                </c:pt>
                <c:pt idx="30">
                  <c:v>179</c:v>
                </c:pt>
                <c:pt idx="31">
                  <c:v>172</c:v>
                </c:pt>
                <c:pt idx="32">
                  <c:v>163</c:v>
                </c:pt>
                <c:pt idx="33">
                  <c:v>154</c:v>
                </c:pt>
                <c:pt idx="34">
                  <c:v>153</c:v>
                </c:pt>
                <c:pt idx="35">
                  <c:v>164</c:v>
                </c:pt>
                <c:pt idx="36">
                  <c:v>164</c:v>
                </c:pt>
                <c:pt idx="37">
                  <c:v>165</c:v>
                </c:pt>
                <c:pt idx="38">
                  <c:v>203</c:v>
                </c:pt>
                <c:pt idx="39">
                  <c:v>184</c:v>
                </c:pt>
                <c:pt idx="40">
                  <c:v>191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E3E1DB"/>
            </a:solidFill>
            <a:prstDash val="solid"/>
            <a:round/>
          </a:ln>
        </c:spPr>
        <c:txPr>
          <a:bodyPr rot="2700000"/>
          <a:lstStyle/>
          <a:p>
            <a:pPr>
              <a:defRPr sz="800" b="0" i="0" u="none" strike="noStrike">
                <a:solidFill>
                  <a:srgbClr val="5C6570"/>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E3E1DB"/>
              </a:solidFill>
              <a:prstDash val="solid"/>
              <a:round/>
            </a:ln>
          </c:spPr>
        </c:majorGridlines>
        <c:title>
          <c:tx>
            <c:rich>
              <a:bodyPr/>
              <a:lstStyle/>
              <a:p>
                <a:pPr>
                  <a:defRPr sz="900" b="0" i="0" u="none" strike="noStrike">
                    <a:solidFill>
                      <a:srgbClr val="5C6570"/>
                    </a:solidFill>
                    <a:latin typeface="Arial"/>
                  </a:defRPr>
                </a:pPr>
                <a:r>
                  <a:rPr sz="900" b="0" i="0" u="none" strike="noStrike">
                    <a:solidFill>
                      <a:srgbClr val="5C6570"/>
                    </a:solidFill>
                    <a:latin typeface="Arial"/>
                  </a:rPr>
                  <a:t>血糖値(mg/dL)</a:t>
                </a:r>
              </a:p>
            </c:rich>
          </c:tx>
          <c:layout/>
          <c:overlay val="0"/>
        </c:title>
        <c:numFmt formatCode="General" sourceLinked="0"/>
        <c:majorTickMark val="out"/>
        <c:minorTickMark val="none"/>
        <c:tickLblPos val="nextTo"/>
        <c:spPr>
          <a:ln w="12700" cap="flat">
            <a:solidFill>
              <a:srgbClr val="E3E1DB"/>
            </a:solidFill>
            <a:prstDash val="solid"/>
            <a:round/>
          </a:ln>
        </c:spPr>
        <c:txPr>
          <a:bodyPr/>
          <a:lstStyle/>
          <a:p>
            <a:pPr>
              <a:defRPr sz="900" b="0" i="0" u="none" strike="noStrike">
                <a:solidFill>
                  <a:srgbClr val="5C657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21295C"/>
          </a:solidFill>
          <a:ln/>
        </p:spPr>
      </p:sp>
      <p:sp>
        <p:nvSpPr>
          <p:cNvPr id="3" name="Shape 1"/>
          <p:cNvSpPr/>
          <p:nvPr/>
        </p:nvSpPr>
        <p:spPr>
          <a:xfrm>
            <a:off x="9692640" y="-1463040"/>
            <a:ext cx="5029200" cy="5029200"/>
          </a:xfrm>
          <a:prstGeom prst="oval">
            <a:avLst/>
          </a:prstGeom>
          <a:solidFill>
            <a:srgbClr val="065A82">
              <a:alpha val="45000"/>
            </a:srgbClr>
          </a:solidFill>
          <a:ln/>
        </p:spPr>
      </p:sp>
      <p:sp>
        <p:nvSpPr>
          <p:cNvPr id="4" name="Shape 2"/>
          <p:cNvSpPr/>
          <p:nvPr/>
        </p:nvSpPr>
        <p:spPr>
          <a:xfrm>
            <a:off x="-1828800" y="4206240"/>
            <a:ext cx="4206240" cy="4206240"/>
          </a:xfrm>
          <a:prstGeom prst="oval">
            <a:avLst/>
          </a:prstGeom>
          <a:solidFill>
            <a:srgbClr val="1C7293">
              <a:alpha val="40000"/>
            </a:srgbClr>
          </a:solidFill>
          <a:ln/>
        </p:spPr>
      </p:sp>
      <p:sp>
        <p:nvSpPr>
          <p:cNvPr id="5" name="Text 3"/>
          <p:cNvSpPr txBox="1"/>
          <p:nvPr/>
        </p:nvSpPr>
        <p:spPr>
          <a:xfrm>
            <a:off x="548640" y="1920240"/>
            <a:ext cx="10058400" cy="365760"/>
          </a:xfrm>
          <a:prstGeom prst="rect">
            <a:avLst/>
          </a:prstGeom>
          <a:noFill/>
          <a:ln/>
        </p:spPr>
        <p:txBody>
          <a:bodyPr wrap="square" rtlCol="0" anchor="ctr"/>
          <a:lstStyle/>
          <a:p>
            <a:pPr indent="0" marL="0">
              <a:buNone/>
            </a:pPr>
            <a:r>
              <a:rPr lang="en-US" sz="1500" b="1" spc="100" kern="0" dirty="0">
                <a:solidFill>
                  <a:srgbClr val="8FB7E0"/>
                </a:solidFill>
                <a:latin typeface="Calibri" pitchFamily="34" charset="0"/>
                <a:ea typeface="Calibri" pitchFamily="34" charset="-122"/>
                <a:cs typeface="Calibri" pitchFamily="34" charset="-120"/>
              </a:rPr>
              <a:t>FreeStyleリブレ 24時間連続測定</a:t>
            </a:r>
            <a:endParaRPr lang="en-US" sz="1500" dirty="0"/>
          </a:p>
        </p:txBody>
      </p:sp>
      <p:sp>
        <p:nvSpPr>
          <p:cNvPr id="6" name="Text 4"/>
          <p:cNvSpPr txBox="1"/>
          <p:nvPr/>
        </p:nvSpPr>
        <p:spPr>
          <a:xfrm>
            <a:off x="548640" y="2331720"/>
            <a:ext cx="10515600" cy="9144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14日間連続CGMデータ分析</a:t>
            </a:r>
            <a:endParaRPr lang="en-US" sz="3800" dirty="0"/>
          </a:p>
        </p:txBody>
      </p:sp>
      <p:sp>
        <p:nvSpPr>
          <p:cNvPr id="7" name="Text 5"/>
          <p:cNvSpPr txBox="1"/>
          <p:nvPr/>
        </p:nvSpPr>
        <p:spPr>
          <a:xfrm>
            <a:off x="548640" y="3246120"/>
            <a:ext cx="100584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DAY準備〜DAY14（8/24〜9/7）の24時間血糖データから分かったこと</a:t>
            </a:r>
            <a:endParaRPr lang="en-US" sz="1600" dirty="0"/>
          </a:p>
        </p:txBody>
      </p:sp>
      <p:sp>
        <p:nvSpPr>
          <p:cNvPr id="8" name="Text 6"/>
          <p:cNvSpPr txBox="1"/>
          <p:nvPr/>
        </p:nvSpPr>
        <p:spPr>
          <a:xfrm>
            <a:off x="548640" y="4389120"/>
            <a:ext cx="23774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1,432</a:t>
            </a:r>
            <a:endParaRPr lang="en-US" sz="3400" dirty="0"/>
          </a:p>
        </p:txBody>
      </p:sp>
      <p:sp>
        <p:nvSpPr>
          <p:cNvPr id="9" name="Text 7"/>
          <p:cNvSpPr txBox="1"/>
          <p:nvPr/>
        </p:nvSpPr>
        <p:spPr>
          <a:xfrm>
            <a:off x="548640" y="5029200"/>
            <a:ext cx="2743200" cy="365760"/>
          </a:xfrm>
          <a:prstGeom prst="rect">
            <a:avLst/>
          </a:prstGeom>
          <a:noFill/>
          <a:ln/>
        </p:spPr>
        <p:txBody>
          <a:bodyPr wrap="square" lIns="0" tIns="0" rIns="0" bIns="0" rtlCol="0" anchor="ctr"/>
          <a:lstStyle/>
          <a:p>
            <a:pPr indent="0" marL="0">
              <a:buNone/>
            </a:pPr>
            <a:r>
              <a:rPr lang="en-US" sz="1200" dirty="0">
                <a:solidFill>
                  <a:srgbClr val="9AA6C4"/>
                </a:solidFill>
                <a:latin typeface="Calibri" pitchFamily="34" charset="0"/>
                <a:ea typeface="Calibri" pitchFamily="34" charset="-122"/>
                <a:cs typeface="Calibri" pitchFamily="34" charset="-120"/>
              </a:rPr>
              <a:t>血糖測定点</a:t>
            </a:r>
            <a:endParaRPr lang="en-US" sz="1200" dirty="0"/>
          </a:p>
        </p:txBody>
      </p:sp>
      <p:sp>
        <p:nvSpPr>
          <p:cNvPr id="10" name="Text 8"/>
          <p:cNvSpPr txBox="1"/>
          <p:nvPr/>
        </p:nvSpPr>
        <p:spPr>
          <a:xfrm>
            <a:off x="3657600" y="4389120"/>
            <a:ext cx="23774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15</a:t>
            </a:r>
            <a:endParaRPr lang="en-US" sz="3400" dirty="0"/>
          </a:p>
        </p:txBody>
      </p:sp>
      <p:sp>
        <p:nvSpPr>
          <p:cNvPr id="11" name="Text 9"/>
          <p:cNvSpPr txBox="1"/>
          <p:nvPr/>
        </p:nvSpPr>
        <p:spPr>
          <a:xfrm>
            <a:off x="3657600" y="5029200"/>
            <a:ext cx="2743200" cy="365760"/>
          </a:xfrm>
          <a:prstGeom prst="rect">
            <a:avLst/>
          </a:prstGeom>
          <a:noFill/>
          <a:ln/>
        </p:spPr>
        <p:txBody>
          <a:bodyPr wrap="square" lIns="0" tIns="0" rIns="0" bIns="0" rtlCol="0" anchor="ctr"/>
          <a:lstStyle/>
          <a:p>
            <a:pPr indent="0" marL="0">
              <a:buNone/>
            </a:pPr>
            <a:r>
              <a:rPr lang="en-US" sz="1200" dirty="0">
                <a:solidFill>
                  <a:srgbClr val="9AA6C4"/>
                </a:solidFill>
                <a:latin typeface="Calibri" pitchFamily="34" charset="0"/>
                <a:ea typeface="Calibri" pitchFamily="34" charset="-122"/>
                <a:cs typeface="Calibri" pitchFamily="34" charset="-120"/>
              </a:rPr>
              <a:t>測定日数(日)</a:t>
            </a:r>
            <a:endParaRPr lang="en-US" sz="1200" dirty="0"/>
          </a:p>
        </p:txBody>
      </p:sp>
      <p:sp>
        <p:nvSpPr>
          <p:cNvPr id="12" name="Text 10"/>
          <p:cNvSpPr txBox="1"/>
          <p:nvPr/>
        </p:nvSpPr>
        <p:spPr>
          <a:xfrm>
            <a:off x="6766560" y="4389120"/>
            <a:ext cx="237744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0</a:t>
            </a:r>
            <a:endParaRPr lang="en-US" sz="3400" dirty="0"/>
          </a:p>
        </p:txBody>
      </p:sp>
      <p:sp>
        <p:nvSpPr>
          <p:cNvPr id="13" name="Text 11"/>
          <p:cNvSpPr txBox="1"/>
          <p:nvPr/>
        </p:nvSpPr>
        <p:spPr>
          <a:xfrm>
            <a:off x="6766560" y="5029200"/>
            <a:ext cx="2743200" cy="365760"/>
          </a:xfrm>
          <a:prstGeom prst="rect">
            <a:avLst/>
          </a:prstGeom>
          <a:noFill/>
          <a:ln/>
        </p:spPr>
        <p:txBody>
          <a:bodyPr wrap="square" lIns="0" tIns="0" rIns="0" bIns="0" rtlCol="0" anchor="ctr"/>
          <a:lstStyle/>
          <a:p>
            <a:pPr indent="0" marL="0">
              <a:buNone/>
            </a:pPr>
            <a:r>
              <a:rPr lang="en-US" sz="1200" dirty="0">
                <a:solidFill>
                  <a:srgbClr val="9AA6C4"/>
                </a:solidFill>
                <a:latin typeface="Calibri" pitchFamily="34" charset="0"/>
                <a:ea typeface="Calibri" pitchFamily="34" charset="-122"/>
                <a:cs typeface="Calibri" pitchFamily="34" charset="-120"/>
              </a:rPr>
              <a:t>低血糖(70未満)件数</a:t>
            </a:r>
            <a:endParaRPr lang="en-US" sz="1200" dirty="0"/>
          </a:p>
        </p:txBody>
      </p:sp>
      <p:sp>
        <p:nvSpPr>
          <p:cNvPr id="14" name="Text 12"/>
          <p:cNvSpPr txBox="1"/>
          <p:nvPr/>
        </p:nvSpPr>
        <p:spPr>
          <a:xfrm>
            <a:off x="548640" y="6263640"/>
            <a:ext cx="9144000" cy="320040"/>
          </a:xfrm>
          <a:prstGeom prst="rect">
            <a:avLst/>
          </a:prstGeom>
          <a:noFill/>
          <a:ln/>
        </p:spPr>
        <p:txBody>
          <a:bodyPr wrap="square" rtlCol="0" anchor="ctr"/>
          <a:lstStyle/>
          <a:p>
            <a:pPr indent="0" marL="0">
              <a:buNone/>
            </a:pPr>
            <a:r>
              <a:rPr lang="en-US" sz="1050" i="1" dirty="0">
                <a:solidFill>
                  <a:srgbClr val="9AA6C4"/>
                </a:solidFill>
                <a:latin typeface="Calibri" pitchFamily="34" charset="0"/>
                <a:ea typeface="Calibri" pitchFamily="34" charset="-122"/>
                <a:cs typeface="Calibri" pitchFamily="34" charset="-120"/>
              </a:rPr>
              <a:t>対象：高位脊髄損傷（SCI）車いす陸上選手 1名</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METHOD</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今回のデータについて</a:t>
            </a:r>
            <a:endParaRPr lang="en-US" sz="2600" dirty="0"/>
          </a:p>
        </p:txBody>
      </p:sp>
      <p:sp>
        <p:nvSpPr>
          <p:cNvPr id="4" name="Shape 2"/>
          <p:cNvSpPr/>
          <p:nvPr/>
        </p:nvSpPr>
        <p:spPr>
          <a:xfrm>
            <a:off x="548640" y="1828800"/>
            <a:ext cx="11091672" cy="1188720"/>
          </a:xfrm>
          <a:prstGeom prst="roundRect">
            <a:avLst>
              <a:gd name="adj" fmla="val 7692"/>
            </a:avLst>
          </a:prstGeom>
          <a:solidFill>
            <a:srgbClr val="F4F7F9"/>
          </a:solidFill>
          <a:ln/>
        </p:spPr>
      </p:sp>
      <p:sp>
        <p:nvSpPr>
          <p:cNvPr id="5" name="Text 3"/>
          <p:cNvSpPr txBox="1"/>
          <p:nvPr/>
        </p:nvSpPr>
        <p:spPr>
          <a:xfrm>
            <a:off x="822960" y="1993392"/>
            <a:ext cx="10543032" cy="3200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測定機器・期間</a:t>
            </a:r>
            <a:endParaRPr lang="en-US" sz="1500" dirty="0"/>
          </a:p>
        </p:txBody>
      </p:sp>
      <p:sp>
        <p:nvSpPr>
          <p:cNvPr id="6" name="Text 4"/>
          <p:cNvSpPr txBox="1"/>
          <p:nvPr/>
        </p:nvSpPr>
        <p:spPr>
          <a:xfrm>
            <a:off x="822960" y="2359152"/>
            <a:ext cx="10543032" cy="594360"/>
          </a:xfrm>
          <a:prstGeom prst="rect">
            <a:avLst/>
          </a:prstGeom>
          <a:noFill/>
          <a:ln/>
        </p:spPr>
        <p:txBody>
          <a:bodyPr wrap="square" lIns="0" tIns="0" rIns="0" bIns="0" rtlCol="0" anchor="ctr"/>
          <a:lstStyle/>
          <a:p>
            <a:pPr indent="0" marL="0">
              <a:buNone/>
            </a:pPr>
            <a:r>
              <a:rPr lang="en-US" sz="1250" dirty="0">
                <a:solidFill>
                  <a:srgbClr val="5C6570"/>
                </a:solidFill>
                <a:latin typeface="Calibri" pitchFamily="34" charset="0"/>
                <a:ea typeface="Calibri" pitchFamily="34" charset="-122"/>
                <a:cs typeface="Calibri" pitchFamily="34" charset="-120"/>
              </a:rPr>
              <a:t>FreeStyleリブレLink（間欠スキャン式CGM）。2026/8/24 20:21〜9/7 20:22の連続記録。センサーは1本のみ使用（途中交換なし）。</a:t>
            </a:r>
            <a:endParaRPr lang="en-US" sz="1250" dirty="0"/>
          </a:p>
        </p:txBody>
      </p:sp>
      <p:sp>
        <p:nvSpPr>
          <p:cNvPr id="7" name="Shape 5"/>
          <p:cNvSpPr/>
          <p:nvPr/>
        </p:nvSpPr>
        <p:spPr>
          <a:xfrm>
            <a:off x="548640" y="3246120"/>
            <a:ext cx="11091672" cy="1188720"/>
          </a:xfrm>
          <a:prstGeom prst="roundRect">
            <a:avLst>
              <a:gd name="adj" fmla="val 7692"/>
            </a:avLst>
          </a:prstGeom>
          <a:solidFill>
            <a:srgbClr val="F4F7F9"/>
          </a:solidFill>
          <a:ln/>
        </p:spPr>
      </p:sp>
      <p:sp>
        <p:nvSpPr>
          <p:cNvPr id="8" name="Text 6"/>
          <p:cNvSpPr txBox="1"/>
          <p:nvPr/>
        </p:nvSpPr>
        <p:spPr>
          <a:xfrm>
            <a:off x="822960" y="3410712"/>
            <a:ext cx="10543032" cy="3200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これまでの分析との違い</a:t>
            </a:r>
            <a:endParaRPr lang="en-US" sz="1500" dirty="0"/>
          </a:p>
        </p:txBody>
      </p:sp>
      <p:sp>
        <p:nvSpPr>
          <p:cNvPr id="9" name="Text 7"/>
          <p:cNvSpPr txBox="1"/>
          <p:nvPr/>
        </p:nvSpPr>
        <p:spPr>
          <a:xfrm>
            <a:off x="822960" y="3776472"/>
            <a:ext cx="10543032" cy="594360"/>
          </a:xfrm>
          <a:prstGeom prst="rect">
            <a:avLst/>
          </a:prstGeom>
          <a:noFill/>
          <a:ln/>
        </p:spPr>
        <p:txBody>
          <a:bodyPr wrap="square" lIns="0" tIns="0" rIns="0" bIns="0" rtlCol="0" anchor="ctr"/>
          <a:lstStyle/>
          <a:p>
            <a:pPr indent="0" marL="0">
              <a:buNone/>
            </a:pPr>
            <a:r>
              <a:rPr lang="en-US" sz="1250" dirty="0">
                <a:solidFill>
                  <a:srgbClr val="5C6570"/>
                </a:solidFill>
                <a:latin typeface="Calibri" pitchFamily="34" charset="0"/>
                <a:ea typeface="Calibri" pitchFamily="34" charset="-122"/>
                <a:cs typeface="Calibri" pitchFamily="34" charset="-120"/>
              </a:rPr>
              <a:t>従来は各条件の8:00〜14:00のみを比較していたが、今回は24時間×14日間の全データを分析。夜間・自由摂取後・練習後を含む生活全体の血糖動態が見える。</a:t>
            </a:r>
            <a:endParaRPr lang="en-US" sz="1250" dirty="0"/>
          </a:p>
        </p:txBody>
      </p:sp>
      <p:sp>
        <p:nvSpPr>
          <p:cNvPr id="10" name="Shape 8"/>
          <p:cNvSpPr/>
          <p:nvPr/>
        </p:nvSpPr>
        <p:spPr>
          <a:xfrm>
            <a:off x="548640" y="4663440"/>
            <a:ext cx="11091672" cy="1188720"/>
          </a:xfrm>
          <a:prstGeom prst="roundRect">
            <a:avLst>
              <a:gd name="adj" fmla="val 7692"/>
            </a:avLst>
          </a:prstGeom>
          <a:solidFill>
            <a:srgbClr val="F4F7F9"/>
          </a:solidFill>
          <a:ln/>
        </p:spPr>
      </p:sp>
      <p:sp>
        <p:nvSpPr>
          <p:cNvPr id="11" name="Text 9"/>
          <p:cNvSpPr txBox="1"/>
          <p:nvPr/>
        </p:nvSpPr>
        <p:spPr>
          <a:xfrm>
            <a:off x="822960" y="4828032"/>
            <a:ext cx="10543032" cy="320040"/>
          </a:xfrm>
          <a:prstGeom prst="rect">
            <a:avLst/>
          </a:prstGeom>
          <a:noFill/>
          <a:ln/>
        </p:spPr>
        <p:txBody>
          <a:bodyPr wrap="square" lIns="0" tIns="0" rIns="0" bIns="0" rtlCol="0" anchor="ctr"/>
          <a:lstStyle/>
          <a:p>
            <a:pPr indent="0" marL="0">
              <a:buNone/>
            </a:pPr>
            <a:r>
              <a:rPr lang="en-US" sz="1500" b="1" dirty="0">
                <a:solidFill>
                  <a:srgbClr val="21295C"/>
                </a:solidFill>
                <a:latin typeface="Calibri" pitchFamily="34" charset="0"/>
                <a:ea typeface="Calibri" pitchFamily="34" charset="-122"/>
                <a:cs typeface="Calibri" pitchFamily="34" charset="-120"/>
              </a:rPr>
              <a:t>測定間隔</a:t>
            </a:r>
            <a:endParaRPr lang="en-US" sz="1500" dirty="0"/>
          </a:p>
        </p:txBody>
      </p:sp>
      <p:sp>
        <p:nvSpPr>
          <p:cNvPr id="12" name="Text 10"/>
          <p:cNvSpPr txBox="1"/>
          <p:nvPr/>
        </p:nvSpPr>
        <p:spPr>
          <a:xfrm>
            <a:off x="822960" y="5193792"/>
            <a:ext cx="10543032" cy="594360"/>
          </a:xfrm>
          <a:prstGeom prst="rect">
            <a:avLst/>
          </a:prstGeom>
          <a:noFill/>
          <a:ln/>
        </p:spPr>
        <p:txBody>
          <a:bodyPr wrap="square" lIns="0" tIns="0" rIns="0" bIns="0" rtlCol="0" anchor="ctr"/>
          <a:lstStyle/>
          <a:p>
            <a:pPr indent="0" marL="0">
              <a:buNone/>
            </a:pPr>
            <a:r>
              <a:rPr lang="en-US" sz="1250" dirty="0">
                <a:solidFill>
                  <a:srgbClr val="5C6570"/>
                </a:solidFill>
                <a:latin typeface="Calibri" pitchFamily="34" charset="0"/>
                <a:ea typeface="Calibri" pitchFamily="34" charset="-122"/>
                <a:cs typeface="Calibri" pitchFamily="34" charset="-120"/>
              </a:rPr>
              <a:t>自動記録（過去のグルコース値）は約15分間隔。手動スキャンも含め、期間全体で1,432点の血糖データを取得。</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RESULTS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14日間の血糖トレンド</a:t>
            </a:r>
            <a:endParaRPr lang="en-US" sz="2600" dirty="0"/>
          </a:p>
        </p:txBody>
      </p:sp>
      <p:graphicFrame>
        <p:nvGraphicFramePr>
          <p:cNvPr id="4" name="Chart 0" descr=""/>
          <p:cNvGraphicFramePr/>
          <p:nvPr/>
        </p:nvGraphicFramePr>
        <p:xfrm>
          <a:off x="548640" y="1554480"/>
          <a:ext cx="11091672" cy="4160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DAY5(8/29)を境に、終日平均・夜間平均とも明確な段差が生じ、以後高い水準で推移している。</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RESULTS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良い知らせ：低血糖は一度も検出されず</a:t>
            </a:r>
            <a:endParaRPr lang="en-US" sz="2600" dirty="0"/>
          </a:p>
        </p:txBody>
      </p:sp>
      <p:sp>
        <p:nvSpPr>
          <p:cNvPr id="4" name="Shape 2"/>
          <p:cNvSpPr/>
          <p:nvPr/>
        </p:nvSpPr>
        <p:spPr>
          <a:xfrm>
            <a:off x="548640" y="1737360"/>
            <a:ext cx="11091672" cy="1554480"/>
          </a:xfrm>
          <a:prstGeom prst="roundRect">
            <a:avLst>
              <a:gd name="adj" fmla="val 7059"/>
            </a:avLst>
          </a:prstGeom>
          <a:solidFill>
            <a:srgbClr val="EAF7F0"/>
          </a:solidFill>
          <a:ln w="15875">
            <a:solidFill>
              <a:srgbClr val="1BAF7A"/>
            </a:solidFill>
            <a:prstDash val="solid"/>
          </a:ln>
        </p:spPr>
      </p:sp>
      <p:sp>
        <p:nvSpPr>
          <p:cNvPr id="5" name="Text 3"/>
          <p:cNvSpPr txBox="1"/>
          <p:nvPr/>
        </p:nvSpPr>
        <p:spPr>
          <a:xfrm>
            <a:off x="868680" y="1965960"/>
            <a:ext cx="914400" cy="1005840"/>
          </a:xfrm>
          <a:prstGeom prst="rect">
            <a:avLst/>
          </a:prstGeom>
          <a:noFill/>
          <a:ln/>
        </p:spPr>
        <p:txBody>
          <a:bodyPr wrap="square" lIns="0" tIns="0" rIns="0" bIns="0" rtlCol="0" anchor="ctr"/>
          <a:lstStyle/>
          <a:p>
            <a:pPr indent="0" marL="0">
              <a:buNone/>
            </a:pPr>
            <a:r>
              <a:rPr lang="en-US" sz="5000" b="1" dirty="0">
                <a:solidFill>
                  <a:srgbClr val="0F5C3D"/>
                </a:solidFill>
                <a:latin typeface="Cambria" pitchFamily="34" charset="0"/>
                <a:ea typeface="Cambria" pitchFamily="34" charset="-122"/>
                <a:cs typeface="Cambria" pitchFamily="34" charset="-120"/>
              </a:rPr>
              <a:t>✓</a:t>
            </a:r>
            <a:endParaRPr lang="en-US" sz="5000" dirty="0"/>
          </a:p>
        </p:txBody>
      </p:sp>
      <p:sp>
        <p:nvSpPr>
          <p:cNvPr id="6" name="Text 4"/>
          <p:cNvSpPr txBox="1"/>
          <p:nvPr/>
        </p:nvSpPr>
        <p:spPr>
          <a:xfrm>
            <a:off x="1920240" y="1965960"/>
            <a:ext cx="9445752" cy="1234440"/>
          </a:xfrm>
          <a:prstGeom prst="rect">
            <a:avLst/>
          </a:prstGeom>
          <a:noFill/>
          <a:ln/>
        </p:spPr>
        <p:txBody>
          <a:bodyPr wrap="square" lIns="0" tIns="0" rIns="0" bIns="0" rtlCol="0" anchor="ctr"/>
          <a:lstStyle/>
          <a:p>
            <a:pPr indent="0" marL="0">
              <a:buNone/>
            </a:pPr>
            <a:r>
              <a:rPr lang="en-US" sz="1600" b="1" dirty="0">
                <a:solidFill>
                  <a:srgbClr val="0F5C3D"/>
                </a:solidFill>
                <a:latin typeface="Calibri" pitchFamily="34" charset="0"/>
                <a:ea typeface="Calibri" pitchFamily="34" charset="-122"/>
                <a:cs typeface="Calibri" pitchFamily="34" charset="-120"/>
              </a:rPr>
              <a:t>14日間・1,432測定点を通じ、低血糖（70 mg/dL未満）は日中・夜間問わず一度も検出されませんでした。</a:t>
            </a:r>
            <a:endParaRPr lang="en-US" sz="1600" dirty="0"/>
          </a:p>
        </p:txBody>
      </p:sp>
      <p:sp>
        <p:nvSpPr>
          <p:cNvPr id="7" name="Text 5"/>
          <p:cNvSpPr txBox="1"/>
          <p:nvPr/>
        </p:nvSpPr>
        <p:spPr>
          <a:xfrm>
            <a:off x="548640" y="3566160"/>
            <a:ext cx="11091672" cy="7315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これまで断片的な時間帯（8:00〜14:00）だけで判断していた「反応性低血糖のリスクなし」を、24時間データで裏付けられました。研究背景にある「血糖スパイク＋反応性低血糖」のうち、少なくとも低血糖側のリスクは実測ベースで否定されます。</a:t>
            </a:r>
            <a:endParaRPr lang="en-US" sz="1300" dirty="0"/>
          </a:p>
        </p:txBody>
      </p:sp>
      <p:sp>
        <p:nvSpPr>
          <p:cNvPr id="8" name="Shape 6"/>
          <p:cNvSpPr/>
          <p:nvPr/>
        </p:nvSpPr>
        <p:spPr>
          <a:xfrm>
            <a:off x="548640" y="4480560"/>
            <a:ext cx="5362956" cy="1600200"/>
          </a:xfrm>
          <a:prstGeom prst="roundRect">
            <a:avLst>
              <a:gd name="adj" fmla="val 5714"/>
            </a:avLst>
          </a:prstGeom>
          <a:solidFill>
            <a:srgbClr val="F4F7F9"/>
          </a:solidFill>
          <a:ln/>
        </p:spPr>
      </p:sp>
      <p:sp>
        <p:nvSpPr>
          <p:cNvPr id="9" name="Text 7"/>
          <p:cNvSpPr txBox="1"/>
          <p:nvPr/>
        </p:nvSpPr>
        <p:spPr>
          <a:xfrm>
            <a:off x="777240" y="4617720"/>
            <a:ext cx="4905756"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低血糖(70未満)</a:t>
            </a:r>
            <a:endParaRPr lang="en-US" sz="1250" dirty="0"/>
          </a:p>
        </p:txBody>
      </p:sp>
      <p:sp>
        <p:nvSpPr>
          <p:cNvPr id="10" name="Text 8"/>
          <p:cNvSpPr txBox="1"/>
          <p:nvPr/>
        </p:nvSpPr>
        <p:spPr>
          <a:xfrm>
            <a:off x="777240" y="4892040"/>
            <a:ext cx="4905756" cy="640080"/>
          </a:xfrm>
          <a:prstGeom prst="rect">
            <a:avLst/>
          </a:prstGeom>
          <a:noFill/>
          <a:ln/>
        </p:spPr>
        <p:txBody>
          <a:bodyPr wrap="square" lIns="0" tIns="0" rIns="0" bIns="0" rtlCol="0" anchor="ctr"/>
          <a:lstStyle/>
          <a:p>
            <a:pPr indent="0" marL="0">
              <a:buNone/>
            </a:pPr>
            <a:r>
              <a:rPr lang="en-US" sz="3600" b="1" dirty="0">
                <a:solidFill>
                  <a:srgbClr val="1BAF7A"/>
                </a:solidFill>
                <a:latin typeface="Cambria" pitchFamily="34" charset="0"/>
                <a:ea typeface="Cambria" pitchFamily="34" charset="-122"/>
                <a:cs typeface="Cambria" pitchFamily="34" charset="-120"/>
              </a:rPr>
              <a:t>0件</a:t>
            </a:r>
            <a:endParaRPr lang="en-US" sz="3600" dirty="0"/>
          </a:p>
        </p:txBody>
      </p:sp>
      <p:sp>
        <p:nvSpPr>
          <p:cNvPr id="11" name="Text 9"/>
          <p:cNvSpPr txBox="1"/>
          <p:nvPr/>
        </p:nvSpPr>
        <p:spPr>
          <a:xfrm>
            <a:off x="777240" y="5532120"/>
            <a:ext cx="4905756" cy="274320"/>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 1,432測定点中</a:t>
            </a:r>
            <a:endParaRPr lang="en-US" sz="1050" dirty="0"/>
          </a:p>
        </p:txBody>
      </p:sp>
      <p:sp>
        <p:nvSpPr>
          <p:cNvPr id="12" name="Shape 10"/>
          <p:cNvSpPr/>
          <p:nvPr/>
        </p:nvSpPr>
        <p:spPr>
          <a:xfrm>
            <a:off x="6277356" y="4480560"/>
            <a:ext cx="5362956" cy="1600200"/>
          </a:xfrm>
          <a:prstGeom prst="roundRect">
            <a:avLst>
              <a:gd name="adj" fmla="val 5714"/>
            </a:avLst>
          </a:prstGeom>
          <a:solidFill>
            <a:srgbClr val="F4F7F9"/>
          </a:solidFill>
          <a:ln/>
        </p:spPr>
      </p:sp>
      <p:sp>
        <p:nvSpPr>
          <p:cNvPr id="13" name="Text 11"/>
          <p:cNvSpPr txBox="1"/>
          <p:nvPr/>
        </p:nvSpPr>
        <p:spPr>
          <a:xfrm>
            <a:off x="6505956" y="4617720"/>
            <a:ext cx="4905756" cy="274320"/>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高血糖(250超)</a:t>
            </a:r>
            <a:endParaRPr lang="en-US" sz="1250" dirty="0"/>
          </a:p>
        </p:txBody>
      </p:sp>
      <p:sp>
        <p:nvSpPr>
          <p:cNvPr id="14" name="Text 12"/>
          <p:cNvSpPr txBox="1"/>
          <p:nvPr/>
        </p:nvSpPr>
        <p:spPr>
          <a:xfrm>
            <a:off x="6505956" y="4892040"/>
            <a:ext cx="4905756" cy="640080"/>
          </a:xfrm>
          <a:prstGeom prst="rect">
            <a:avLst/>
          </a:prstGeom>
          <a:noFill/>
          <a:ln/>
        </p:spPr>
        <p:txBody>
          <a:bodyPr wrap="square" lIns="0" tIns="0" rIns="0" bIns="0" rtlCol="0" anchor="ctr"/>
          <a:lstStyle/>
          <a:p>
            <a:pPr indent="0" marL="0">
              <a:buNone/>
            </a:pPr>
            <a:r>
              <a:rPr lang="en-US" sz="3600" b="1" dirty="0">
                <a:solidFill>
                  <a:srgbClr val="EDA100"/>
                </a:solidFill>
                <a:latin typeface="Cambria" pitchFamily="34" charset="0"/>
                <a:ea typeface="Cambria" pitchFamily="34" charset="-122"/>
                <a:cs typeface="Cambria" pitchFamily="34" charset="-120"/>
              </a:rPr>
              <a:t>81件</a:t>
            </a:r>
            <a:endParaRPr lang="en-US" sz="3600" dirty="0"/>
          </a:p>
        </p:txBody>
      </p:sp>
      <p:sp>
        <p:nvSpPr>
          <p:cNvPr id="15" name="Text 13"/>
          <p:cNvSpPr txBox="1"/>
          <p:nvPr/>
        </p:nvSpPr>
        <p:spPr>
          <a:xfrm>
            <a:off x="6505956" y="5532120"/>
            <a:ext cx="4905756" cy="274320"/>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大半がDAY5・6・7・11に集中</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KEY FINDING</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DAY5(8/29)午後に何が起きたか</a:t>
            </a:r>
            <a:endParaRPr lang="en-US" sz="2600" dirty="0"/>
          </a:p>
        </p:txBody>
      </p:sp>
      <p:sp>
        <p:nvSpPr>
          <p:cNvPr id="4" name="Text 2"/>
          <p:cNvSpPr txBox="1"/>
          <p:nvPr/>
        </p:nvSpPr>
        <p:spPr>
          <a:xfrm>
            <a:off x="548640" y="1463040"/>
            <a:ext cx="11091672" cy="36576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14:50頃を境に血糖が急上昇し、翌朝になっても下がりきりませんでした（30分間隔、8/29 12:00〜8/30 8:00）。</a:t>
            </a:r>
            <a:endParaRPr lang="en-US" sz="1200" dirty="0"/>
          </a:p>
        </p:txBody>
      </p:sp>
      <p:graphicFrame>
        <p:nvGraphicFramePr>
          <p:cNvPr id="5" name="Chart 0" descr=""/>
          <p:cNvGraphicFramePr/>
          <p:nvPr/>
        </p:nvGraphicFramePr>
        <p:xfrm>
          <a:off x="548640" y="1874520"/>
          <a:ext cx="11091672"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48640" y="5166360"/>
            <a:ext cx="11091672" cy="1097280"/>
          </a:xfrm>
          <a:prstGeom prst="roundRect">
            <a:avLst>
              <a:gd name="adj" fmla="val 8333"/>
            </a:avLst>
          </a:prstGeom>
          <a:solidFill>
            <a:srgbClr val="FDF3E2"/>
          </a:solidFill>
          <a:ln w="12700">
            <a:solidFill>
              <a:srgbClr val="EDA100"/>
            </a:solidFill>
            <a:prstDash val="solid"/>
          </a:ln>
        </p:spPr>
      </p:sp>
      <p:sp>
        <p:nvSpPr>
          <p:cNvPr id="7" name="Text 4"/>
          <p:cNvSpPr txBox="1"/>
          <p:nvPr/>
        </p:nvSpPr>
        <p:spPr>
          <a:xfrm>
            <a:off x="777240" y="5303520"/>
            <a:ext cx="10634472" cy="822960"/>
          </a:xfrm>
          <a:prstGeom prst="rect">
            <a:avLst/>
          </a:prstGeom>
          <a:noFill/>
          <a:ln/>
        </p:spPr>
        <p:txBody>
          <a:bodyPr wrap="square" lIns="0" tIns="0" rIns="0" bIns="0" rtlCol="0" anchor="ctr"/>
          <a:lstStyle/>
          <a:p>
            <a:pPr indent="0" marL="0">
              <a:buNone/>
            </a:pPr>
            <a:r>
              <a:rPr lang="en-US" sz="1200" b="1" dirty="0">
                <a:solidFill>
                  <a:srgbClr val="6B4B00"/>
                </a:solidFill>
                <a:latin typeface="Calibri" pitchFamily="34" charset="0"/>
                <a:ea typeface="Calibri" pitchFamily="34" charset="-122"/>
                <a:cs typeface="Calibri" pitchFamily="34" charset="-120"/>
              </a:rPr>
              <a:t>14:50に175→15:20には270まで急上昇。そのまま夜通し200前後を推移し、翌朝8時になっても191と下がりきらない。通常の食事1回分の反応では説明できない持続性。</a:t>
            </a:r>
            <a:endParaRPr lang="en-US" sz="1200" dirty="0"/>
          </a:p>
        </p:txBody>
      </p:sp>
      <p:sp>
        <p:nvSpPr>
          <p:cNvPr id="8" name="Text 5"/>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この日は自由摂取の午後で、被験食プロトコルの対象外の時間帯。</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DISCUSSION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原因の候補（データからは特定できず）</a:t>
            </a:r>
            <a:endParaRPr lang="en-US" sz="2600" dirty="0"/>
          </a:p>
        </p:txBody>
      </p:sp>
      <p:sp>
        <p:nvSpPr>
          <p:cNvPr id="4" name="Shape 2"/>
          <p:cNvSpPr/>
          <p:nvPr/>
        </p:nvSpPr>
        <p:spPr>
          <a:xfrm>
            <a:off x="548640" y="1737360"/>
            <a:ext cx="384048" cy="384048"/>
          </a:xfrm>
          <a:prstGeom prst="oval">
            <a:avLst/>
          </a:prstGeom>
          <a:solidFill>
            <a:srgbClr val="2A78D6"/>
          </a:solidFill>
          <a:ln/>
        </p:spPr>
      </p:sp>
      <p:sp>
        <p:nvSpPr>
          <p:cNvPr id="5" name="Text 3"/>
          <p:cNvSpPr txBox="1"/>
          <p:nvPr/>
        </p:nvSpPr>
        <p:spPr>
          <a:xfrm>
            <a:off x="548640" y="1737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43000" y="1719072"/>
            <a:ext cx="1033272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記録されていない間食・夕食</a:t>
            </a:r>
            <a:endParaRPr lang="en-US" sz="1400" dirty="0"/>
          </a:p>
        </p:txBody>
      </p:sp>
      <p:sp>
        <p:nvSpPr>
          <p:cNvPr id="7" name="Text 5"/>
          <p:cNvSpPr txBox="1"/>
          <p:nvPr/>
        </p:nvSpPr>
        <p:spPr>
          <a:xfrm>
            <a:off x="1143000" y="2011680"/>
            <a:ext cx="1033272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CGMアプリの食事ログ機能はほとんど使われておらず（食事メモの記載は14日間で数件のみ）、この時間帯に何を食べたか確認できない。</a:t>
            </a:r>
            <a:endParaRPr lang="en-US" sz="1200" dirty="0"/>
          </a:p>
        </p:txBody>
      </p:sp>
      <p:sp>
        <p:nvSpPr>
          <p:cNvPr id="8" name="Shape 6"/>
          <p:cNvSpPr/>
          <p:nvPr/>
        </p:nvSpPr>
        <p:spPr>
          <a:xfrm>
            <a:off x="548640" y="2834640"/>
            <a:ext cx="384048" cy="384048"/>
          </a:xfrm>
          <a:prstGeom prst="oval">
            <a:avLst/>
          </a:prstGeom>
          <a:solidFill>
            <a:srgbClr val="EB6834"/>
          </a:solidFill>
          <a:ln/>
        </p:spPr>
      </p:sp>
      <p:sp>
        <p:nvSpPr>
          <p:cNvPr id="9" name="Text 7"/>
          <p:cNvSpPr txBox="1"/>
          <p:nvPr/>
        </p:nvSpPr>
        <p:spPr>
          <a:xfrm>
            <a:off x="548640" y="28346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txBox="1"/>
          <p:nvPr/>
        </p:nvSpPr>
        <p:spPr>
          <a:xfrm>
            <a:off x="1143000" y="2816352"/>
            <a:ext cx="1033272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体調不良・感染症の初期症状</a:t>
            </a:r>
            <a:endParaRPr lang="en-US" sz="1400" dirty="0"/>
          </a:p>
        </p:txBody>
      </p:sp>
      <p:sp>
        <p:nvSpPr>
          <p:cNvPr id="11" name="Text 9"/>
          <p:cNvSpPr txBox="1"/>
          <p:nvPr/>
        </p:nvSpPr>
        <p:spPr>
          <a:xfrm>
            <a:off x="1143000" y="3108960"/>
            <a:ext cx="1033272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ストレスホルモン（コルチゾール等）による持続的な高血糖は、体調不良の初期に典型的に見られるパターン。</a:t>
            </a:r>
            <a:endParaRPr lang="en-US" sz="1200" dirty="0"/>
          </a:p>
        </p:txBody>
      </p:sp>
      <p:sp>
        <p:nvSpPr>
          <p:cNvPr id="12" name="Shape 10"/>
          <p:cNvSpPr/>
          <p:nvPr/>
        </p:nvSpPr>
        <p:spPr>
          <a:xfrm>
            <a:off x="548640" y="3931920"/>
            <a:ext cx="384048" cy="384048"/>
          </a:xfrm>
          <a:prstGeom prst="oval">
            <a:avLst/>
          </a:prstGeom>
          <a:solidFill>
            <a:srgbClr val="1BAF7A"/>
          </a:solidFill>
          <a:ln/>
        </p:spPr>
      </p:sp>
      <p:sp>
        <p:nvSpPr>
          <p:cNvPr id="13" name="Text 11"/>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143000" y="3913632"/>
            <a:ext cx="1033272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蓄積した練習・精神的ストレス</a:t>
            </a:r>
            <a:endParaRPr lang="en-US" sz="1400" dirty="0"/>
          </a:p>
        </p:txBody>
      </p:sp>
      <p:sp>
        <p:nvSpPr>
          <p:cNvPr id="15" name="Text 13"/>
          <p:cNvSpPr txBox="1"/>
          <p:nvPr/>
        </p:nvSpPr>
        <p:spPr>
          <a:xfrm>
            <a:off x="1143000" y="4206240"/>
            <a:ext cx="1033272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翌朝（DAY6 9:17）のメモに「7時にドーピング検査があった」との記載あり。前夜からの緊張状態が影響した可能性。</a:t>
            </a:r>
            <a:endParaRPr lang="en-US" sz="1200" dirty="0"/>
          </a:p>
        </p:txBody>
      </p:sp>
      <p:sp>
        <p:nvSpPr>
          <p:cNvPr id="16" name="Shape 14"/>
          <p:cNvSpPr/>
          <p:nvPr/>
        </p:nvSpPr>
        <p:spPr>
          <a:xfrm>
            <a:off x="548640" y="5029200"/>
            <a:ext cx="384048" cy="384048"/>
          </a:xfrm>
          <a:prstGeom prst="oval">
            <a:avLst/>
          </a:prstGeom>
          <a:solidFill>
            <a:srgbClr val="5C6570"/>
          </a:solidFill>
          <a:ln/>
        </p:spPr>
      </p:sp>
      <p:sp>
        <p:nvSpPr>
          <p:cNvPr id="17" name="Text 15"/>
          <p:cNvSpPr txBox="1"/>
          <p:nvPr/>
        </p:nvSpPr>
        <p:spPr>
          <a:xfrm>
            <a:off x="548640" y="50292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143000" y="5010912"/>
            <a:ext cx="10332720" cy="292608"/>
          </a:xfrm>
          <a:prstGeom prst="rect">
            <a:avLst/>
          </a:prstGeom>
          <a:noFill/>
          <a:ln/>
        </p:spPr>
        <p:txBody>
          <a:bodyPr wrap="square" lIns="0" tIns="0" rIns="0" bIns="0"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その他の生活要因</a:t>
            </a:r>
            <a:endParaRPr lang="en-US" sz="1400" dirty="0"/>
          </a:p>
        </p:txBody>
      </p:sp>
      <p:sp>
        <p:nvSpPr>
          <p:cNvPr id="19" name="Text 17"/>
          <p:cNvSpPr txBox="1"/>
          <p:nvPr/>
        </p:nvSpPr>
        <p:spPr>
          <a:xfrm>
            <a:off x="1143000" y="5303520"/>
            <a:ext cx="10332720" cy="548640"/>
          </a:xfrm>
          <a:prstGeom prst="rect">
            <a:avLst/>
          </a:prstGeom>
          <a:noFill/>
          <a:ln/>
        </p:spPr>
        <p:txBody>
          <a:bodyPr wrap="square" lIns="0" tIns="0" rIns="0" bIns="0" rtlCol="0" anchor="ctr"/>
          <a:lstStyle/>
          <a:p>
            <a:pPr indent="0" marL="0">
              <a:buNone/>
            </a:pPr>
            <a:r>
              <a:rPr lang="en-US" sz="1200" dirty="0">
                <a:solidFill>
                  <a:srgbClr val="5C6570"/>
                </a:solidFill>
                <a:latin typeface="Calibri" pitchFamily="34" charset="0"/>
                <a:ea typeface="Calibri" pitchFamily="34" charset="-122"/>
                <a:cs typeface="Calibri" pitchFamily="34" charset="-120"/>
              </a:rPr>
              <a:t>記録に残っていない睡眠の乱れ、水分摂取量の変化等、CGMデータだけでは把握できない要因。</a:t>
            </a:r>
            <a:endParaRPr lang="en-US" sz="1200" dirty="0"/>
          </a:p>
        </p:txBody>
      </p:sp>
      <p:sp>
        <p:nvSpPr>
          <p:cNvPr id="20" name="Text 18"/>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選手・スタッフへの聞き取りが、原因特定に向けた最も費用対効果の高い次の一手。</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IMPACT</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これまでの4条件比較への影響</a:t>
            </a:r>
            <a:endParaRPr lang="en-US" sz="2600" dirty="0"/>
          </a:p>
        </p:txBody>
      </p:sp>
      <p:sp>
        <p:nvSpPr>
          <p:cNvPr id="4" name="Text 2"/>
          <p:cNvSpPr txBox="1"/>
          <p:nvPr/>
        </p:nvSpPr>
        <p:spPr>
          <a:xfrm>
            <a:off x="548640" y="1463040"/>
            <a:ext cx="11091672" cy="457200"/>
          </a:xfrm>
          <a:prstGeom prst="rect">
            <a:avLst/>
          </a:prstGeom>
          <a:noFill/>
          <a:ln/>
        </p:spPr>
        <p:txBody>
          <a:bodyPr wrap="square" lIns="0" tIns="0" rIns="0" bIns="0" rtlCol="0" anchor="ctr"/>
          <a:lstStyle/>
          <a:p>
            <a:pPr indent="0" marL="0">
              <a:buNone/>
            </a:pPr>
            <a:r>
              <a:rPr lang="en-US" sz="1250" dirty="0">
                <a:solidFill>
                  <a:srgbClr val="5C6570"/>
                </a:solidFill>
                <a:latin typeface="Calibri" pitchFamily="34" charset="0"/>
                <a:ea typeface="Calibri" pitchFamily="34" charset="-122"/>
                <a:cs typeface="Calibri" pitchFamily="34" charset="-120"/>
              </a:rPr>
              <a:t>固形／スムージー／おにぎり＋スムージー／おにぎり＋糖質減の比較は、DAY1〜13にまたがって実施されていたため、比較によって信頼度が異なる。</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2194560"/>
        </p:xfrm>
        <a:graphic>
          <a:graphicData uri="http://schemas.openxmlformats.org/drawingml/2006/table">
            <a:tbl>
              <a:tblPr/>
              <a:tblGrid>
                <a:gridCol w="3017520"/>
                <a:gridCol w="5971032"/>
                <a:gridCol w="2103120"/>
              </a:tblGrid>
              <a:tr h="54864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比較</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シフトとの関係</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信頼度</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21295C"/>
                    </a:solidFill>
                  </a:tcPr>
                </a:tc>
              </a:tr>
              <a:tr h="54864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① 固形 vs スムージー</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固形(DAY1〜3)は完全にシフト前。スムージー(DAY4〜6)はDAY4・5がシフト前、DAY6のみシフト後で3日平均が引っ張られている可能性</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b="1" dirty="0">
                          <a:solidFill>
                            <a:srgbClr val="6B4B00"/>
                          </a:solidFill>
                          <a:latin typeface="Calibri" pitchFamily="34" charset="0"/>
                          <a:ea typeface="Calibri" pitchFamily="34" charset="-122"/>
                          <a:cs typeface="Calibri" pitchFamily="34" charset="-120"/>
                        </a:rPr>
                        <a:t>⚠ 要注意</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r h="54864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② スムージー vs おにぎり＋スムージー</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スムージー側はシフト前後が混在。おにぎり＋スムージー(DAY8〜10)は完全にシフト後</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c>
                  <a:txBody>
                    <a:bodyPr/>
                    <a:lstStyle/>
                    <a:p>
                      <a:pPr indent="0" marL="0">
                        <a:buNone/>
                      </a:pPr>
                      <a:r>
                        <a:rPr lang="en-US" sz="1200" b="1" dirty="0">
                          <a:solidFill>
                            <a:srgbClr val="6B4B00"/>
                          </a:solidFill>
                          <a:latin typeface="Calibri" pitchFamily="34" charset="0"/>
                          <a:ea typeface="Calibri" pitchFamily="34" charset="-122"/>
                          <a:cs typeface="Calibri" pitchFamily="34" charset="-120"/>
                        </a:rPr>
                        <a:t>⚠ 要注意</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4F7F9"/>
                    </a:solidFill>
                  </a:tcPr>
                </a:tc>
              </a:tr>
              <a:tr h="548640">
                <a:tc>
                  <a:txBody>
                    <a:bodyPr/>
                    <a:lstStyle/>
                    <a:p>
                      <a:pPr indent="0" marL="0">
                        <a:buNone/>
                      </a:pPr>
                      <a:r>
                        <a:rPr lang="en-US" sz="1200" b="1" dirty="0">
                          <a:solidFill>
                            <a:srgbClr val="21295C"/>
                          </a:solidFill>
                          <a:latin typeface="Calibri" pitchFamily="34" charset="0"/>
                          <a:ea typeface="Calibri" pitchFamily="34" charset="-122"/>
                          <a:cs typeface="Calibri" pitchFamily="34" charset="-120"/>
                        </a:rPr>
                        <a:t>③ おにぎり＋スムージー vs 糖質減</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Calibri" pitchFamily="34" charset="0"/>
                          <a:ea typeface="Calibri" pitchFamily="34" charset="-122"/>
                          <a:cs typeface="Calibri" pitchFamily="34" charset="-120"/>
                        </a:rPr>
                        <a:t>両条件(DAY8〜13)とも完全にシフト後で条件が揃っている</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c>
                  <a:txBody>
                    <a:bodyPr/>
                    <a:lstStyle/>
                    <a:p>
                      <a:pPr indent="0" marL="0">
                        <a:buNone/>
                      </a:pPr>
                      <a:r>
                        <a:rPr lang="en-US" sz="1200" b="1" dirty="0">
                          <a:solidFill>
                            <a:srgbClr val="0F5C3D"/>
                          </a:solidFill>
                          <a:latin typeface="Calibri" pitchFamily="34" charset="0"/>
                          <a:ea typeface="Calibri" pitchFamily="34" charset="-122"/>
                          <a:cs typeface="Calibri" pitchFamily="34" charset="-120"/>
                        </a:rPr>
                        <a:t>✓ 信頼できる</a:t>
                      </a:r>
                      <a:endParaRPr lang="en-US" sz="1200" dirty="0">
                        <a:latin typeface="Calibri" charset="0"/>
                        <a:ea typeface="Calibri" charset="0"/>
                        <a:cs typeface="Calibri" charset="0"/>
                      </a:endParaRPr>
                    </a:p>
                  </a:txBody>
                  <a:tcPr marL="91440" marR="91440" marT="45720" marB="45720" anchor="ctr">
                    <a:lnL w="9525" cap="flat" cmpd="sng" algn="ctr">
                      <a:solidFill>
                        <a:srgbClr val="E3E1DB"/>
                      </a:solidFill>
                      <a:prstDash val="solid"/>
                      <a:round/>
                      <a:headEnd type="none" w="med" len="med"/>
                      <a:tailEnd type="none" w="med" len="med"/>
                    </a:lnL>
                    <a:lnR w="9525" cap="flat" cmpd="sng" algn="ctr">
                      <a:solidFill>
                        <a:srgbClr val="E3E1DB"/>
                      </a:solidFill>
                      <a:prstDash val="solid"/>
                      <a:round/>
                      <a:headEnd type="none" w="med" len="med"/>
                      <a:tailEnd type="none" w="med" len="med"/>
                    </a:lnR>
                    <a:lnT w="9525" cap="flat" cmpd="sng" algn="ctr">
                      <a:solidFill>
                        <a:srgbClr val="E3E1DB"/>
                      </a:solidFill>
                      <a:prstDash val="solid"/>
                      <a:round/>
                      <a:headEnd type="none" w="med" len="med"/>
                      <a:tailEnd type="none" w="med" len="med"/>
                    </a:lnT>
                    <a:lnB w="9525" cap="flat" cmpd="sng" algn="ctr">
                      <a:solidFill>
                        <a:srgbClr val="E3E1DB"/>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480560"/>
            <a:ext cx="11091672" cy="1737360"/>
          </a:xfrm>
          <a:prstGeom prst="roundRect">
            <a:avLst>
              <a:gd name="adj" fmla="val 5263"/>
            </a:avLst>
          </a:prstGeom>
          <a:solidFill>
            <a:srgbClr val="EAF7F0"/>
          </a:solidFill>
          <a:ln/>
        </p:spPr>
      </p:sp>
      <p:sp>
        <p:nvSpPr>
          <p:cNvPr id="7" name="Text 4"/>
          <p:cNvSpPr txBox="1"/>
          <p:nvPr/>
        </p:nvSpPr>
        <p:spPr>
          <a:xfrm>
            <a:off x="822960" y="4663440"/>
            <a:ext cx="10543032" cy="1463040"/>
          </a:xfrm>
          <a:prstGeom prst="rect">
            <a:avLst/>
          </a:prstGeom>
          <a:noFill/>
          <a:ln/>
        </p:spPr>
        <p:txBody>
          <a:bodyPr wrap="square" lIns="0" tIns="0" rIns="0" bIns="0" rtlCol="0" anchor="ctr"/>
          <a:lstStyle/>
          <a:p>
            <a:pPr indent="0" marL="0">
              <a:buNone/>
            </a:pPr>
            <a:r>
              <a:rPr lang="en-US" sz="1250" b="1" dirty="0">
                <a:solidFill>
                  <a:srgbClr val="0F5C3D"/>
                </a:solidFill>
                <a:latin typeface="Calibri" pitchFamily="34" charset="0"/>
                <a:ea typeface="Calibri" pitchFamily="34" charset="-122"/>
                <a:cs typeface="Calibri" pitchFamily="34" charset="-120"/>
              </a:rPr>
              <a:t>✓ 最も重要な結果（③糖質量の比較、iAUC 39%減）はシフトの影響を受けず維持できる。①・②で見られた「固形の方が安定」「スムージー単独は乱高下が大きい」という結果は、一部がタイミング（シフト前後の混在）による見かけ上のものである可能性があり、割り引いて解釈する必要がある。</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OBSERVATIONS</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その他に観察された傾向（参考値, n=14）</a:t>
            </a:r>
            <a:endParaRPr lang="en-US" sz="2600" dirty="0"/>
          </a:p>
        </p:txBody>
      </p:sp>
      <p:sp>
        <p:nvSpPr>
          <p:cNvPr id="4" name="Shape 2"/>
          <p:cNvSpPr/>
          <p:nvPr/>
        </p:nvSpPr>
        <p:spPr>
          <a:xfrm>
            <a:off x="548640" y="1709928"/>
            <a:ext cx="365760" cy="365760"/>
          </a:xfrm>
          <a:prstGeom prst="oval">
            <a:avLst/>
          </a:prstGeom>
          <a:solidFill>
            <a:srgbClr val="2A78D6"/>
          </a:solidFill>
          <a:ln/>
        </p:spPr>
      </p:sp>
      <p:sp>
        <p:nvSpPr>
          <p:cNvPr id="5" name="Text 3"/>
          <p:cNvSpPr txBox="1"/>
          <p:nvPr/>
        </p:nvSpPr>
        <p:spPr>
          <a:xfrm>
            <a:off x="548640" y="17099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6" name="Text 4"/>
          <p:cNvSpPr txBox="1"/>
          <p:nvPr/>
        </p:nvSpPr>
        <p:spPr>
          <a:xfrm>
            <a:off x="1097280" y="1691640"/>
            <a:ext cx="103327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体重は安定</a:t>
            </a:r>
            <a:endParaRPr lang="en-US" sz="1350" dirty="0"/>
          </a:p>
        </p:txBody>
      </p:sp>
      <p:sp>
        <p:nvSpPr>
          <p:cNvPr id="7" name="Text 5"/>
          <p:cNvSpPr txBox="1"/>
          <p:nvPr/>
        </p:nvSpPr>
        <p:spPr>
          <a:xfrm>
            <a:off x="1097280" y="1993392"/>
            <a:ext cx="10332720" cy="502920"/>
          </a:xfrm>
          <a:prstGeom prst="rect">
            <a:avLst/>
          </a:prstGeom>
          <a:noFill/>
          <a:ln/>
        </p:spPr>
        <p:txBody>
          <a:bodyPr wrap="square" lIns="0" tIns="0" rIns="0" bIns="0" rtlCol="0" anchor="ctr"/>
          <a:lstStyle/>
          <a:p>
            <a:pPr indent="0" marL="0">
              <a:buNone/>
            </a:pPr>
            <a:r>
              <a:rPr lang="en-US" sz="1150" dirty="0">
                <a:solidFill>
                  <a:srgbClr val="5C6570"/>
                </a:solidFill>
                <a:latin typeface="Calibri" pitchFamily="34" charset="0"/>
                <a:ea typeface="Calibri" pitchFamily="34" charset="-122"/>
                <a:cs typeface="Calibri" pitchFamily="34" charset="-120"/>
              </a:rPr>
              <a:t>62.1〜63.4kgの範囲で14日間を通じ大きな変動なし。</a:t>
            </a:r>
            <a:endParaRPr lang="en-US" sz="1150" dirty="0"/>
          </a:p>
        </p:txBody>
      </p:sp>
      <p:sp>
        <p:nvSpPr>
          <p:cNvPr id="8" name="Shape 6"/>
          <p:cNvSpPr/>
          <p:nvPr/>
        </p:nvSpPr>
        <p:spPr>
          <a:xfrm>
            <a:off x="548640" y="2852928"/>
            <a:ext cx="365760" cy="365760"/>
          </a:xfrm>
          <a:prstGeom prst="oval">
            <a:avLst/>
          </a:prstGeom>
          <a:solidFill>
            <a:srgbClr val="1BAF7A"/>
          </a:solidFill>
          <a:ln/>
        </p:spPr>
      </p:sp>
      <p:sp>
        <p:nvSpPr>
          <p:cNvPr id="9" name="Text 7"/>
          <p:cNvSpPr txBox="1"/>
          <p:nvPr/>
        </p:nvSpPr>
        <p:spPr>
          <a:xfrm>
            <a:off x="548640" y="28529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0" name="Text 8"/>
          <p:cNvSpPr txBox="1"/>
          <p:nvPr/>
        </p:nvSpPr>
        <p:spPr>
          <a:xfrm>
            <a:off x="1097280" y="2834640"/>
            <a:ext cx="103327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血糖の変動が小さい日ほど、翌朝の起床時コンディションが良い傾向</a:t>
            </a:r>
            <a:endParaRPr lang="en-US" sz="1350" dirty="0"/>
          </a:p>
        </p:txBody>
      </p:sp>
      <p:sp>
        <p:nvSpPr>
          <p:cNvPr id="11" name="Text 9"/>
          <p:cNvSpPr txBox="1"/>
          <p:nvPr/>
        </p:nvSpPr>
        <p:spPr>
          <a:xfrm>
            <a:off x="1097280" y="3136392"/>
            <a:ext cx="10332720" cy="502920"/>
          </a:xfrm>
          <a:prstGeom prst="rect">
            <a:avLst/>
          </a:prstGeom>
          <a:noFill/>
          <a:ln/>
        </p:spPr>
        <p:txBody>
          <a:bodyPr wrap="square" lIns="0" tIns="0" rIns="0" bIns="0" rtlCol="0" anchor="ctr"/>
          <a:lstStyle/>
          <a:p>
            <a:pPr indent="0" marL="0">
              <a:buNone/>
            </a:pPr>
            <a:r>
              <a:rPr lang="en-US" sz="1150" dirty="0">
                <a:solidFill>
                  <a:srgbClr val="5C6570"/>
                </a:solidFill>
                <a:latin typeface="Calibri" pitchFamily="34" charset="0"/>
                <a:ea typeface="Calibri" pitchFamily="34" charset="-122"/>
                <a:cs typeface="Calibri" pitchFamily="34" charset="-120"/>
              </a:rPr>
              <a:t>CV（変動係数）と起床時コンディションの相関 r=-0.41。血糖の乱高下は主観的な体調にも表れている可能性。</a:t>
            </a:r>
            <a:endParaRPr lang="en-US" sz="1150" dirty="0"/>
          </a:p>
        </p:txBody>
      </p:sp>
      <p:sp>
        <p:nvSpPr>
          <p:cNvPr id="12" name="Shape 10"/>
          <p:cNvSpPr/>
          <p:nvPr/>
        </p:nvSpPr>
        <p:spPr>
          <a:xfrm>
            <a:off x="548640" y="3995928"/>
            <a:ext cx="365760" cy="365760"/>
          </a:xfrm>
          <a:prstGeom prst="oval">
            <a:avLst/>
          </a:prstGeom>
          <a:solidFill>
            <a:srgbClr val="1BAF7A"/>
          </a:solidFill>
          <a:ln/>
        </p:spPr>
      </p:sp>
      <p:sp>
        <p:nvSpPr>
          <p:cNvPr id="13" name="Text 11"/>
          <p:cNvSpPr txBox="1"/>
          <p:nvPr/>
        </p:nvSpPr>
        <p:spPr>
          <a:xfrm>
            <a:off x="548640" y="39959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4" name="Text 12"/>
          <p:cNvSpPr txBox="1"/>
          <p:nvPr/>
        </p:nvSpPr>
        <p:spPr>
          <a:xfrm>
            <a:off x="1097280" y="3977640"/>
            <a:ext cx="103327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血糖の絶対的なばらつきが小さい日ほど、爆発力の自己評価が高い傾向</a:t>
            </a:r>
            <a:endParaRPr lang="en-US" sz="1350" dirty="0"/>
          </a:p>
        </p:txBody>
      </p:sp>
      <p:sp>
        <p:nvSpPr>
          <p:cNvPr id="15" name="Text 13"/>
          <p:cNvSpPr txBox="1"/>
          <p:nvPr/>
        </p:nvSpPr>
        <p:spPr>
          <a:xfrm>
            <a:off x="1097280" y="4279392"/>
            <a:ext cx="10332720" cy="502920"/>
          </a:xfrm>
          <a:prstGeom prst="rect">
            <a:avLst/>
          </a:prstGeom>
          <a:noFill/>
          <a:ln/>
        </p:spPr>
        <p:txBody>
          <a:bodyPr wrap="square" lIns="0" tIns="0" rIns="0" bIns="0" rtlCol="0" anchor="ctr"/>
          <a:lstStyle/>
          <a:p>
            <a:pPr indent="0" marL="0">
              <a:buNone/>
            </a:pPr>
            <a:r>
              <a:rPr lang="en-US" sz="1150" dirty="0">
                <a:solidFill>
                  <a:srgbClr val="5C6570"/>
                </a:solidFill>
                <a:latin typeface="Calibri" pitchFamily="34" charset="0"/>
                <a:ea typeface="Calibri" pitchFamily="34" charset="-122"/>
                <a:cs typeface="Calibri" pitchFamily="34" charset="-120"/>
              </a:rPr>
              <a:t>SD（標準偏差）と爆発力の相関 r=-0.48。「なだらかな血糖の方が良い」というこれまでの考察と整合。</a:t>
            </a:r>
            <a:endParaRPr lang="en-US" sz="1150" dirty="0"/>
          </a:p>
        </p:txBody>
      </p:sp>
      <p:sp>
        <p:nvSpPr>
          <p:cNvPr id="16" name="Shape 14"/>
          <p:cNvSpPr/>
          <p:nvPr/>
        </p:nvSpPr>
        <p:spPr>
          <a:xfrm>
            <a:off x="548640" y="5138928"/>
            <a:ext cx="365760" cy="365760"/>
          </a:xfrm>
          <a:prstGeom prst="oval">
            <a:avLst/>
          </a:prstGeom>
          <a:solidFill>
            <a:srgbClr val="EDA100"/>
          </a:solidFill>
          <a:ln/>
        </p:spPr>
      </p:sp>
      <p:sp>
        <p:nvSpPr>
          <p:cNvPr id="17" name="Text 15"/>
          <p:cNvSpPr txBox="1"/>
          <p:nvPr/>
        </p:nvSpPr>
        <p:spPr>
          <a:xfrm>
            <a:off x="548640" y="513892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txBox="1"/>
          <p:nvPr/>
        </p:nvSpPr>
        <p:spPr>
          <a:xfrm>
            <a:off x="1097280" y="5120640"/>
            <a:ext cx="10332720" cy="310896"/>
          </a:xfrm>
          <a:prstGeom prst="rect">
            <a:avLst/>
          </a:prstGeom>
          <a:noFill/>
          <a:ln/>
        </p:spPr>
        <p:txBody>
          <a:bodyPr wrap="square" lIns="0" tIns="0" rIns="0" bIns="0" rtlCol="0" anchor="ctr"/>
          <a:lstStyle/>
          <a:p>
            <a:pPr indent="0" marL="0">
              <a:buNone/>
            </a:pPr>
            <a:r>
              <a:rPr lang="en-US" sz="1350" b="1" dirty="0">
                <a:solidFill>
                  <a:srgbClr val="21295C"/>
                </a:solidFill>
                <a:latin typeface="Calibri" pitchFamily="34" charset="0"/>
                <a:ea typeface="Calibri" pitchFamily="34" charset="-122"/>
                <a:cs typeface="Calibri" pitchFamily="34" charset="-120"/>
              </a:rPr>
              <a:t>夜間血糖と起床時コンディションの正の相関は要注意</a:t>
            </a:r>
            <a:endParaRPr lang="en-US" sz="1350" dirty="0"/>
          </a:p>
        </p:txBody>
      </p:sp>
      <p:sp>
        <p:nvSpPr>
          <p:cNvPr id="19" name="Text 17"/>
          <p:cNvSpPr txBox="1"/>
          <p:nvPr/>
        </p:nvSpPr>
        <p:spPr>
          <a:xfrm>
            <a:off x="1097280" y="5422392"/>
            <a:ext cx="10332720" cy="502920"/>
          </a:xfrm>
          <a:prstGeom prst="rect">
            <a:avLst/>
          </a:prstGeom>
          <a:noFill/>
          <a:ln/>
        </p:spPr>
        <p:txBody>
          <a:bodyPr wrap="square" lIns="0" tIns="0" rIns="0" bIns="0" rtlCol="0" anchor="ctr"/>
          <a:lstStyle/>
          <a:p>
            <a:pPr indent="0" marL="0">
              <a:buNone/>
            </a:pPr>
            <a:r>
              <a:rPr lang="en-US" sz="1150" dirty="0">
                <a:solidFill>
                  <a:srgbClr val="5C6570"/>
                </a:solidFill>
                <a:latin typeface="Calibri" pitchFamily="34" charset="0"/>
                <a:ea typeface="Calibri" pitchFamily="34" charset="-122"/>
                <a:cs typeface="Calibri" pitchFamily="34" charset="-120"/>
              </a:rPr>
              <a:t>相関 r=0.71と高いが、両者とも同じ14日間トレンド（DAY5以降の上昇）に乗っているだけの見かけ上の相関の可能性が高い。因果関係とは解釈しない。</a:t>
            </a:r>
            <a:endParaRPr lang="en-US" sz="1150" dirty="0"/>
          </a:p>
        </p:txBody>
      </p:sp>
      <p:sp>
        <p:nvSpPr>
          <p:cNvPr id="20" name="Text 18"/>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5C6570"/>
                </a:solidFill>
                <a:latin typeface="Calibri" pitchFamily="34" charset="0"/>
                <a:ea typeface="Calibri" pitchFamily="34" charset="-122"/>
                <a:cs typeface="Calibri" pitchFamily="34" charset="-120"/>
              </a:rPr>
              <a:t>n=14の記述的傾向。統計的検定ではなく参考情報として解釈。</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1C7293"/>
                </a:solidFill>
                <a:latin typeface="Calibri" pitchFamily="34" charset="0"/>
                <a:ea typeface="Calibri" pitchFamily="34" charset="-122"/>
                <a:cs typeface="Calibri" pitchFamily="34" charset="-120"/>
              </a:rPr>
              <a:t>DISCUSSION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21295C"/>
                </a:solidFill>
                <a:latin typeface="Cambria" pitchFamily="34" charset="0"/>
                <a:ea typeface="Cambria" pitchFamily="34" charset="-122"/>
                <a:cs typeface="Cambria" pitchFamily="34" charset="-120"/>
              </a:rPr>
              <a:t>なぜこの相関が起きたのか：仮説とエビデンス</a:t>
            </a:r>
            <a:endParaRPr lang="en-US" sz="2600" dirty="0"/>
          </a:p>
        </p:txBody>
      </p:sp>
      <p:sp>
        <p:nvSpPr>
          <p:cNvPr id="4" name="Shape 2"/>
          <p:cNvSpPr/>
          <p:nvPr/>
        </p:nvSpPr>
        <p:spPr>
          <a:xfrm>
            <a:off x="548640" y="1417320"/>
            <a:ext cx="11091672" cy="1097280"/>
          </a:xfrm>
          <a:prstGeom prst="roundRect">
            <a:avLst>
              <a:gd name="adj" fmla="val 8333"/>
            </a:avLst>
          </a:prstGeom>
          <a:solidFill>
            <a:srgbClr val="FDF3E2"/>
          </a:solidFill>
          <a:ln w="12700">
            <a:solidFill>
              <a:srgbClr val="EDA100"/>
            </a:solidFill>
            <a:prstDash val="solid"/>
          </a:ln>
        </p:spPr>
      </p:sp>
      <p:sp>
        <p:nvSpPr>
          <p:cNvPr id="5" name="Text 3"/>
          <p:cNvSpPr txBox="1"/>
          <p:nvPr/>
        </p:nvSpPr>
        <p:spPr>
          <a:xfrm>
            <a:off x="822960" y="1536192"/>
            <a:ext cx="10543032" cy="274320"/>
          </a:xfrm>
          <a:prstGeom prst="rect">
            <a:avLst/>
          </a:prstGeom>
          <a:noFill/>
          <a:ln/>
        </p:spPr>
        <p:txBody>
          <a:bodyPr wrap="square" lIns="0" tIns="0" rIns="0" bIns="0" rtlCol="0" anchor="ctr"/>
          <a:lstStyle/>
          <a:p>
            <a:pPr indent="0" marL="0">
              <a:buNone/>
            </a:pPr>
            <a:r>
              <a:rPr lang="en-US" sz="1300" b="1" dirty="0">
                <a:solidFill>
                  <a:srgbClr val="6B4B00"/>
                </a:solidFill>
                <a:latin typeface="Calibri" pitchFamily="34" charset="0"/>
                <a:ea typeface="Calibri" pitchFamily="34" charset="-122"/>
                <a:cs typeface="Calibri" pitchFamily="34" charset="-120"/>
              </a:rPr>
              <a:t>⚠ 最優先で疑うべき解釈：交絡（見せかけの相関）</a:t>
            </a:r>
            <a:endParaRPr lang="en-US" sz="1300" dirty="0"/>
          </a:p>
        </p:txBody>
      </p:sp>
      <p:sp>
        <p:nvSpPr>
          <p:cNvPr id="6" name="Text 4"/>
          <p:cNvSpPr txBox="1"/>
          <p:nvPr/>
        </p:nvSpPr>
        <p:spPr>
          <a:xfrm>
            <a:off x="822960" y="1828800"/>
            <a:ext cx="10543032" cy="594360"/>
          </a:xfrm>
          <a:prstGeom prst="rect">
            <a:avLst/>
          </a:prstGeom>
          <a:noFill/>
          <a:ln/>
        </p:spPr>
        <p:txBody>
          <a:bodyPr wrap="square" lIns="0" tIns="0" rIns="0" bIns="0" rtlCol="0" anchor="ctr"/>
          <a:lstStyle/>
          <a:p>
            <a:pPr indent="0" marL="0">
              <a:buNone/>
            </a:pPr>
            <a:r>
              <a:rPr lang="en-US" sz="1100" dirty="0">
                <a:solidFill>
                  <a:srgbClr val="6B4B00"/>
                </a:solidFill>
                <a:latin typeface="Calibri" pitchFamily="34" charset="0"/>
                <a:ea typeface="Calibri" pitchFamily="34" charset="-122"/>
                <a:cs typeface="Calibri" pitchFamily="34" charset="-120"/>
              </a:rPr>
              <a:t>DAY5以降、血糖変動の拡大とコンディション低下が同時進行。体調不良・疲労など共通の要因が両方を引き起こしているだけの可能性が高く、r=-0.41・-0.48程度の相関はこれだけで説明できる。</a:t>
            </a:r>
            <a:endParaRPr lang="en-US" sz="1100" dirty="0"/>
          </a:p>
        </p:txBody>
      </p:sp>
      <p:sp>
        <p:nvSpPr>
          <p:cNvPr id="7" name="Shape 5"/>
          <p:cNvSpPr/>
          <p:nvPr/>
        </p:nvSpPr>
        <p:spPr>
          <a:xfrm>
            <a:off x="548640" y="2697480"/>
            <a:ext cx="5408676" cy="1417320"/>
          </a:xfrm>
          <a:prstGeom prst="roundRect">
            <a:avLst>
              <a:gd name="adj" fmla="val 5161"/>
            </a:avLst>
          </a:prstGeom>
          <a:solidFill>
            <a:srgbClr val="F4F7F9"/>
          </a:solidFill>
          <a:ln/>
        </p:spPr>
      </p:sp>
      <p:sp>
        <p:nvSpPr>
          <p:cNvPr id="8" name="Shape 6"/>
          <p:cNvSpPr/>
          <p:nvPr/>
        </p:nvSpPr>
        <p:spPr>
          <a:xfrm>
            <a:off x="749808" y="2880360"/>
            <a:ext cx="329184" cy="329184"/>
          </a:xfrm>
          <a:prstGeom prst="oval">
            <a:avLst/>
          </a:prstGeom>
          <a:solidFill>
            <a:srgbClr val="2A78D6"/>
          </a:solidFill>
          <a:ln/>
        </p:spPr>
      </p:sp>
      <p:sp>
        <p:nvSpPr>
          <p:cNvPr id="9" name="Text 7"/>
          <p:cNvSpPr txBox="1"/>
          <p:nvPr/>
        </p:nvSpPr>
        <p:spPr>
          <a:xfrm>
            <a:off x="749808" y="2880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①</a:t>
            </a:r>
            <a:endParaRPr lang="en-US" sz="1200" dirty="0"/>
          </a:p>
        </p:txBody>
      </p:sp>
      <p:sp>
        <p:nvSpPr>
          <p:cNvPr id="10" name="Text 8"/>
          <p:cNvSpPr txBox="1"/>
          <p:nvPr/>
        </p:nvSpPr>
        <p:spPr>
          <a:xfrm>
            <a:off x="1207008" y="2862072"/>
            <a:ext cx="4539996" cy="31089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睡眠の質への影響</a:t>
            </a:r>
            <a:endParaRPr lang="en-US" sz="1250" dirty="0"/>
          </a:p>
        </p:txBody>
      </p:sp>
      <p:sp>
        <p:nvSpPr>
          <p:cNvPr id="11" name="Text 9"/>
          <p:cNvSpPr txBox="1"/>
          <p:nvPr/>
        </p:nvSpPr>
        <p:spPr>
          <a:xfrm>
            <a:off x="749808" y="3264408"/>
            <a:ext cx="4997196" cy="804672"/>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夜間の急な血糖変動が中途覚醒を誘発し、翌朝のコンディションを下げる可能性（CGM併用の睡眠研究で報告あり）</a:t>
            </a:r>
            <a:endParaRPr lang="en-US" sz="1050" dirty="0"/>
          </a:p>
        </p:txBody>
      </p:sp>
      <p:sp>
        <p:nvSpPr>
          <p:cNvPr id="12" name="Shape 10"/>
          <p:cNvSpPr/>
          <p:nvPr/>
        </p:nvSpPr>
        <p:spPr>
          <a:xfrm>
            <a:off x="6231636" y="2697480"/>
            <a:ext cx="5408676" cy="1417320"/>
          </a:xfrm>
          <a:prstGeom prst="roundRect">
            <a:avLst>
              <a:gd name="adj" fmla="val 5161"/>
            </a:avLst>
          </a:prstGeom>
          <a:solidFill>
            <a:srgbClr val="F4F7F9"/>
          </a:solidFill>
          <a:ln/>
        </p:spPr>
      </p:sp>
      <p:sp>
        <p:nvSpPr>
          <p:cNvPr id="13" name="Shape 11"/>
          <p:cNvSpPr/>
          <p:nvPr/>
        </p:nvSpPr>
        <p:spPr>
          <a:xfrm>
            <a:off x="6432804" y="2880360"/>
            <a:ext cx="329184" cy="329184"/>
          </a:xfrm>
          <a:prstGeom prst="oval">
            <a:avLst/>
          </a:prstGeom>
          <a:solidFill>
            <a:srgbClr val="EB6834"/>
          </a:solidFill>
          <a:ln/>
        </p:spPr>
      </p:sp>
      <p:sp>
        <p:nvSpPr>
          <p:cNvPr id="14" name="Text 12"/>
          <p:cNvSpPr txBox="1"/>
          <p:nvPr/>
        </p:nvSpPr>
        <p:spPr>
          <a:xfrm>
            <a:off x="6432804" y="2880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②</a:t>
            </a:r>
            <a:endParaRPr lang="en-US" sz="1200" dirty="0"/>
          </a:p>
        </p:txBody>
      </p:sp>
      <p:sp>
        <p:nvSpPr>
          <p:cNvPr id="15" name="Text 13"/>
          <p:cNvSpPr txBox="1"/>
          <p:nvPr/>
        </p:nvSpPr>
        <p:spPr>
          <a:xfrm>
            <a:off x="6890004" y="2862072"/>
            <a:ext cx="4539996" cy="31089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自律神経系への負荷</a:t>
            </a:r>
            <a:endParaRPr lang="en-US" sz="1250" dirty="0"/>
          </a:p>
        </p:txBody>
      </p:sp>
      <p:sp>
        <p:nvSpPr>
          <p:cNvPr id="16" name="Text 14"/>
          <p:cNvSpPr txBox="1"/>
          <p:nvPr/>
        </p:nvSpPr>
        <p:spPr>
          <a:xfrm>
            <a:off x="6432804" y="3264408"/>
            <a:ext cx="4997196" cy="804672"/>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血糖を戻すためのホルモン動員（グルカゴン等）が交感神経を優位にし、夜間の回復を妨げる可能性。SCIでは自律神経調節自体も脆弱</a:t>
            </a:r>
            <a:endParaRPr lang="en-US" sz="1050" dirty="0"/>
          </a:p>
        </p:txBody>
      </p:sp>
      <p:sp>
        <p:nvSpPr>
          <p:cNvPr id="17" name="Shape 15"/>
          <p:cNvSpPr/>
          <p:nvPr/>
        </p:nvSpPr>
        <p:spPr>
          <a:xfrm>
            <a:off x="548640" y="4343400"/>
            <a:ext cx="5408676" cy="1417320"/>
          </a:xfrm>
          <a:prstGeom prst="roundRect">
            <a:avLst>
              <a:gd name="adj" fmla="val 5161"/>
            </a:avLst>
          </a:prstGeom>
          <a:solidFill>
            <a:srgbClr val="F4F7F9"/>
          </a:solidFill>
          <a:ln/>
        </p:spPr>
      </p:sp>
      <p:sp>
        <p:nvSpPr>
          <p:cNvPr id="18" name="Shape 16"/>
          <p:cNvSpPr/>
          <p:nvPr/>
        </p:nvSpPr>
        <p:spPr>
          <a:xfrm>
            <a:off x="749808" y="4526280"/>
            <a:ext cx="329184" cy="329184"/>
          </a:xfrm>
          <a:prstGeom prst="oval">
            <a:avLst/>
          </a:prstGeom>
          <a:solidFill>
            <a:srgbClr val="1BAF7A"/>
          </a:solidFill>
          <a:ln/>
        </p:spPr>
      </p:sp>
      <p:sp>
        <p:nvSpPr>
          <p:cNvPr id="19" name="Text 17"/>
          <p:cNvSpPr txBox="1"/>
          <p:nvPr/>
        </p:nvSpPr>
        <p:spPr>
          <a:xfrm>
            <a:off x="749808"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③</a:t>
            </a:r>
            <a:endParaRPr lang="en-US" sz="1200" dirty="0"/>
          </a:p>
        </p:txBody>
      </p:sp>
      <p:sp>
        <p:nvSpPr>
          <p:cNvPr id="20" name="Text 18"/>
          <p:cNvSpPr txBox="1"/>
          <p:nvPr/>
        </p:nvSpPr>
        <p:spPr>
          <a:xfrm>
            <a:off x="1207008" y="4507992"/>
            <a:ext cx="4539996" cy="31089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酸化ストレス</a:t>
            </a:r>
            <a:endParaRPr lang="en-US" sz="1250" dirty="0"/>
          </a:p>
        </p:txBody>
      </p:sp>
      <p:sp>
        <p:nvSpPr>
          <p:cNvPr id="21" name="Text 19"/>
          <p:cNvSpPr txBox="1"/>
          <p:nvPr/>
        </p:nvSpPr>
        <p:spPr>
          <a:xfrm>
            <a:off x="749808" y="4910328"/>
            <a:ext cx="4997196" cy="804672"/>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平均血糖が同じでも変動幅が大きいほど酸化ストレスが増えることが糖尿病領域で報告されている（Monnierら）。慢性的な疲労感につながりうる経路</a:t>
            </a:r>
            <a:endParaRPr lang="en-US" sz="1050" dirty="0"/>
          </a:p>
        </p:txBody>
      </p:sp>
      <p:sp>
        <p:nvSpPr>
          <p:cNvPr id="22" name="Shape 20"/>
          <p:cNvSpPr/>
          <p:nvPr/>
        </p:nvSpPr>
        <p:spPr>
          <a:xfrm>
            <a:off x="6231636" y="4343400"/>
            <a:ext cx="5408676" cy="1417320"/>
          </a:xfrm>
          <a:prstGeom prst="roundRect">
            <a:avLst>
              <a:gd name="adj" fmla="val 5161"/>
            </a:avLst>
          </a:prstGeom>
          <a:solidFill>
            <a:srgbClr val="F4F7F9"/>
          </a:solidFill>
          <a:ln/>
        </p:spPr>
      </p:sp>
      <p:sp>
        <p:nvSpPr>
          <p:cNvPr id="23" name="Shape 21"/>
          <p:cNvSpPr/>
          <p:nvPr/>
        </p:nvSpPr>
        <p:spPr>
          <a:xfrm>
            <a:off x="6432804" y="4526280"/>
            <a:ext cx="329184" cy="329184"/>
          </a:xfrm>
          <a:prstGeom prst="oval">
            <a:avLst/>
          </a:prstGeom>
          <a:solidFill>
            <a:srgbClr val="EDA100"/>
          </a:solidFill>
          <a:ln/>
        </p:spPr>
      </p:sp>
      <p:sp>
        <p:nvSpPr>
          <p:cNvPr id="24" name="Text 22"/>
          <p:cNvSpPr txBox="1"/>
          <p:nvPr/>
        </p:nvSpPr>
        <p:spPr>
          <a:xfrm>
            <a:off x="6432804" y="4526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④</a:t>
            </a:r>
            <a:endParaRPr lang="en-US" sz="1200" dirty="0"/>
          </a:p>
        </p:txBody>
      </p:sp>
      <p:sp>
        <p:nvSpPr>
          <p:cNvPr id="25" name="Text 23"/>
          <p:cNvSpPr txBox="1"/>
          <p:nvPr/>
        </p:nvSpPr>
        <p:spPr>
          <a:xfrm>
            <a:off x="6890004" y="4507992"/>
            <a:ext cx="4539996" cy="310896"/>
          </a:xfrm>
          <a:prstGeom prst="rect">
            <a:avLst/>
          </a:prstGeom>
          <a:noFill/>
          <a:ln/>
        </p:spPr>
        <p:txBody>
          <a:bodyPr wrap="square" lIns="0" tIns="0" rIns="0" bIns="0" rtlCol="0" anchor="ctr"/>
          <a:lstStyle/>
          <a:p>
            <a:pPr indent="0" marL="0">
              <a:buNone/>
            </a:pPr>
            <a:r>
              <a:rPr lang="en-US" sz="1250" b="1" dirty="0">
                <a:solidFill>
                  <a:srgbClr val="21295C"/>
                </a:solidFill>
                <a:latin typeface="Calibri" pitchFamily="34" charset="0"/>
                <a:ea typeface="Calibri" pitchFamily="34" charset="-122"/>
                <a:cs typeface="Calibri" pitchFamily="34" charset="-120"/>
              </a:rPr>
              <a:t>「爆発力」評価は間接指標の可能性</a:t>
            </a:r>
            <a:endParaRPr lang="en-US" sz="1250" dirty="0"/>
          </a:p>
        </p:txBody>
      </p:sp>
      <p:sp>
        <p:nvSpPr>
          <p:cNvPr id="26" name="Text 24"/>
          <p:cNvSpPr txBox="1"/>
          <p:nvPr/>
        </p:nvSpPr>
        <p:spPr>
          <a:xfrm>
            <a:off x="6432804" y="4910328"/>
            <a:ext cx="4997196" cy="804672"/>
          </a:xfrm>
          <a:prstGeom prst="rect">
            <a:avLst/>
          </a:prstGeom>
          <a:noFill/>
          <a:ln/>
        </p:spPr>
        <p:txBody>
          <a:bodyPr wrap="square" lIns="0" tIns="0" rIns="0" bIns="0" rtlCol="0" anchor="ctr"/>
          <a:lstStyle/>
          <a:p>
            <a:pPr indent="0" marL="0">
              <a:buNone/>
            </a:pPr>
            <a:r>
              <a:rPr lang="en-US" sz="1050" dirty="0">
                <a:solidFill>
                  <a:srgbClr val="5C6570"/>
                </a:solidFill>
                <a:latin typeface="Calibri" pitchFamily="34" charset="0"/>
                <a:ea typeface="Calibri" pitchFamily="34" charset="-122"/>
                <a:cs typeface="Calibri" pitchFamily="34" charset="-120"/>
              </a:rPr>
              <a:t>瞬発力はATP-PCr系が主体で血糖に直接依存しにくい。血糖の安定＝生活リズムが整っている日、という間接的な心理指標である可能性が高い</a:t>
            </a:r>
            <a:endParaRPr lang="en-US" sz="1050" dirty="0"/>
          </a:p>
        </p:txBody>
      </p:sp>
      <p:sp>
        <p:nvSpPr>
          <p:cNvPr id="27" name="Shape 25"/>
          <p:cNvSpPr/>
          <p:nvPr/>
        </p:nvSpPr>
        <p:spPr>
          <a:xfrm>
            <a:off x="548640" y="5943600"/>
            <a:ext cx="11091672" cy="731520"/>
          </a:xfrm>
          <a:prstGeom prst="roundRect">
            <a:avLst>
              <a:gd name="adj" fmla="val 12500"/>
            </a:avLst>
          </a:prstGeom>
          <a:solidFill>
            <a:srgbClr val="F4F7F9"/>
          </a:solidFill>
          <a:ln w="12700">
            <a:solidFill>
              <a:srgbClr val="1C7293"/>
            </a:solidFill>
            <a:prstDash val="solid"/>
          </a:ln>
        </p:spPr>
      </p:sp>
      <p:sp>
        <p:nvSpPr>
          <p:cNvPr id="28" name="Text 26"/>
          <p:cNvSpPr txBox="1"/>
          <p:nvPr/>
        </p:nvSpPr>
        <p:spPr>
          <a:xfrm>
            <a:off x="822960" y="6053328"/>
            <a:ext cx="10543032" cy="512064"/>
          </a:xfrm>
          <a:prstGeom prst="rect">
            <a:avLst/>
          </a:prstGeom>
          <a:noFill/>
          <a:ln/>
        </p:spPr>
        <p:txBody>
          <a:bodyPr wrap="square" lIns="0" tIns="0" rIns="0" bIns="0" rtlCol="0" anchor="ctr"/>
          <a:lstStyle/>
          <a:p>
            <a:pPr indent="0" marL="0">
              <a:buNone/>
            </a:pPr>
            <a:r>
              <a:rPr lang="en-US" sz="1200" b="1" dirty="0">
                <a:solidFill>
                  <a:srgbClr val="21295C"/>
                </a:solidFill>
                <a:latin typeface="Calibri" pitchFamily="34" charset="0"/>
                <a:ea typeface="Calibri" pitchFamily="34" charset="-122"/>
                <a:cs typeface="Calibri" pitchFamily="34" charset="-120"/>
              </a:rPr>
              <a:t>結論：本データはあくまで相関（n=14）であり、因果関係を示すエビデンスではない。検証にはDAY5要因の特定後、条件を統制した再検証が必要。</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310896"/>
          </a:xfrm>
          <a:prstGeom prst="rect">
            <a:avLst/>
          </a:prstGeom>
          <a:noFill/>
          <a:ln/>
        </p:spPr>
        <p:txBody>
          <a:bodyPr wrap="square" rtlCol="0" anchor="ctr"/>
          <a:lstStyle/>
          <a:p>
            <a:pPr indent="0" marL="0">
              <a:buNone/>
            </a:pPr>
            <a:r>
              <a:rPr lang="en-US" sz="1250" b="1" spc="100" kern="0" dirty="0">
                <a:solidFill>
                  <a:srgbClr val="8FB7E0"/>
                </a:solidFill>
                <a:latin typeface="Calibri" pitchFamily="34" charset="0"/>
                <a:ea typeface="Calibri" pitchFamily="34" charset="-122"/>
                <a:cs typeface="Calibri" pitchFamily="34" charset="-120"/>
              </a:rPr>
              <a:t>CONCLUSION</a:t>
            </a:r>
            <a:endParaRPr lang="en-US" sz="1250" dirty="0"/>
          </a:p>
        </p:txBody>
      </p:sp>
      <p:sp>
        <p:nvSpPr>
          <p:cNvPr id="3" name="Text 1"/>
          <p:cNvSpPr txBox="1"/>
          <p:nvPr/>
        </p:nvSpPr>
        <p:spPr>
          <a:xfrm>
            <a:off x="548640" y="676656"/>
            <a:ext cx="11091672" cy="59436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まとめと推奨アクション</a:t>
            </a:r>
            <a:endParaRPr lang="en-US" sz="2600" dirty="0"/>
          </a:p>
        </p:txBody>
      </p:sp>
      <p:sp>
        <p:nvSpPr>
          <p:cNvPr id="4" name="Shape 2"/>
          <p:cNvSpPr/>
          <p:nvPr/>
        </p:nvSpPr>
        <p:spPr>
          <a:xfrm>
            <a:off x="548640" y="1737360"/>
            <a:ext cx="384048" cy="384048"/>
          </a:xfrm>
          <a:prstGeom prst="oval">
            <a:avLst/>
          </a:prstGeom>
          <a:solidFill>
            <a:srgbClr val="1C7293"/>
          </a:solidFill>
          <a:ln/>
        </p:spPr>
      </p:sp>
      <p:sp>
        <p:nvSpPr>
          <p:cNvPr id="5" name="Text 3"/>
          <p:cNvSpPr txBox="1"/>
          <p:nvPr/>
        </p:nvSpPr>
        <p:spPr>
          <a:xfrm>
            <a:off x="548640" y="17373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txBox="1"/>
          <p:nvPr/>
        </p:nvSpPr>
        <p:spPr>
          <a:xfrm>
            <a:off x="1143000" y="1719072"/>
            <a:ext cx="10332720" cy="777240"/>
          </a:xfrm>
          <a:prstGeom prst="rect">
            <a:avLst/>
          </a:prstGeom>
          <a:noFill/>
          <a:ln/>
        </p:spPr>
        <p:txBody>
          <a:bodyPr wrap="square" lIns="0" tIns="0" rIns="0" bIns="0" rtlCol="0" anchor="ctr"/>
          <a:lstStyle/>
          <a:p>
            <a:pPr indent="0" marL="0">
              <a:buNone/>
            </a:pPr>
            <a:r>
              <a:rPr lang="en-US" sz="1400" dirty="0">
                <a:solidFill>
                  <a:srgbClr val="E8EDF7"/>
                </a:solidFill>
                <a:latin typeface="Calibri" pitchFamily="34" charset="0"/>
                <a:ea typeface="Calibri" pitchFamily="34" charset="-122"/>
                <a:cs typeface="Calibri" pitchFamily="34" charset="-120"/>
              </a:rPr>
              <a:t>14日間・1,432測定点を通じ、低血糖（70mg/dL未満）は一度も検出されなかった（安全面の朗報）</a:t>
            </a:r>
            <a:endParaRPr lang="en-US" sz="1400" dirty="0"/>
          </a:p>
        </p:txBody>
      </p:sp>
      <p:sp>
        <p:nvSpPr>
          <p:cNvPr id="7" name="Shape 5"/>
          <p:cNvSpPr/>
          <p:nvPr/>
        </p:nvSpPr>
        <p:spPr>
          <a:xfrm>
            <a:off x="548640" y="2788920"/>
            <a:ext cx="384048" cy="384048"/>
          </a:xfrm>
          <a:prstGeom prst="oval">
            <a:avLst/>
          </a:prstGeom>
          <a:solidFill>
            <a:srgbClr val="1C7293"/>
          </a:solidFill>
          <a:ln/>
        </p:spPr>
      </p:sp>
      <p:sp>
        <p:nvSpPr>
          <p:cNvPr id="8" name="Text 6"/>
          <p:cNvSpPr txBox="1"/>
          <p:nvPr/>
        </p:nvSpPr>
        <p:spPr>
          <a:xfrm>
            <a:off x="548640" y="2788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txBox="1"/>
          <p:nvPr/>
        </p:nvSpPr>
        <p:spPr>
          <a:xfrm>
            <a:off x="1143000" y="2770632"/>
            <a:ext cx="10332720" cy="777240"/>
          </a:xfrm>
          <a:prstGeom prst="rect">
            <a:avLst/>
          </a:prstGeom>
          <a:noFill/>
          <a:ln/>
        </p:spPr>
        <p:txBody>
          <a:bodyPr wrap="square" lIns="0" tIns="0" rIns="0" bIns="0" rtlCol="0" anchor="ctr"/>
          <a:lstStyle/>
          <a:p>
            <a:pPr indent="0" marL="0">
              <a:buNone/>
            </a:pPr>
            <a:r>
              <a:rPr lang="en-US" sz="1400" dirty="0">
                <a:solidFill>
                  <a:srgbClr val="E8EDF7"/>
                </a:solidFill>
                <a:latin typeface="Calibri" pitchFamily="34" charset="0"/>
                <a:ea typeface="Calibri" pitchFamily="34" charset="-122"/>
                <a:cs typeface="Calibri" pitchFamily="34" charset="-120"/>
              </a:rPr>
              <a:t>DAY5(8/29)14:50頃から血糖ベースラインが持続的に上昇し、以後DAY14まで元の水準に戻らなかった（原因不明）</a:t>
            </a:r>
            <a:endParaRPr lang="en-US" sz="1400" dirty="0"/>
          </a:p>
        </p:txBody>
      </p:sp>
      <p:sp>
        <p:nvSpPr>
          <p:cNvPr id="10" name="Shape 8"/>
          <p:cNvSpPr/>
          <p:nvPr/>
        </p:nvSpPr>
        <p:spPr>
          <a:xfrm>
            <a:off x="548640" y="3840480"/>
            <a:ext cx="384048" cy="384048"/>
          </a:xfrm>
          <a:prstGeom prst="oval">
            <a:avLst/>
          </a:prstGeom>
          <a:solidFill>
            <a:srgbClr val="1C7293"/>
          </a:solidFill>
          <a:ln/>
        </p:spPr>
      </p:sp>
      <p:sp>
        <p:nvSpPr>
          <p:cNvPr id="11" name="Text 9"/>
          <p:cNvSpPr txBox="1"/>
          <p:nvPr/>
        </p:nvSpPr>
        <p:spPr>
          <a:xfrm>
            <a:off x="54864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txBox="1"/>
          <p:nvPr/>
        </p:nvSpPr>
        <p:spPr>
          <a:xfrm>
            <a:off x="1143000" y="3822192"/>
            <a:ext cx="10332720" cy="777240"/>
          </a:xfrm>
          <a:prstGeom prst="rect">
            <a:avLst/>
          </a:prstGeom>
          <a:noFill/>
          <a:ln/>
        </p:spPr>
        <p:txBody>
          <a:bodyPr wrap="square" lIns="0" tIns="0" rIns="0" bIns="0" rtlCol="0" anchor="ctr"/>
          <a:lstStyle/>
          <a:p>
            <a:pPr indent="0" marL="0">
              <a:buNone/>
            </a:pPr>
            <a:r>
              <a:rPr lang="en-US" sz="1400" dirty="0">
                <a:solidFill>
                  <a:srgbClr val="E8EDF7"/>
                </a:solidFill>
                <a:latin typeface="Calibri" pitchFamily="34" charset="0"/>
                <a:ea typeface="Calibri" pitchFamily="34" charset="-122"/>
                <a:cs typeface="Calibri" pitchFamily="34" charset="-120"/>
              </a:rPr>
              <a:t>この結果、①固形vsスムージー・②タイミングの比較結論は参考値、③糖質量の比較（最重要結果）は結論を維持できる</a:t>
            </a:r>
            <a:endParaRPr lang="en-US" sz="1400" dirty="0"/>
          </a:p>
        </p:txBody>
      </p:sp>
      <p:sp>
        <p:nvSpPr>
          <p:cNvPr id="13" name="Shape 11"/>
          <p:cNvSpPr/>
          <p:nvPr/>
        </p:nvSpPr>
        <p:spPr>
          <a:xfrm>
            <a:off x="548640" y="5074920"/>
            <a:ext cx="11091672" cy="1188720"/>
          </a:xfrm>
          <a:prstGeom prst="roundRect">
            <a:avLst>
              <a:gd name="adj" fmla="val 7692"/>
            </a:avLst>
          </a:prstGeom>
          <a:solidFill>
            <a:srgbClr val="1A2350"/>
          </a:solidFill>
          <a:ln/>
        </p:spPr>
      </p:sp>
      <p:sp>
        <p:nvSpPr>
          <p:cNvPr id="14" name="Text 12"/>
          <p:cNvSpPr txBox="1"/>
          <p:nvPr/>
        </p:nvSpPr>
        <p:spPr>
          <a:xfrm>
            <a:off x="822960" y="5212080"/>
            <a:ext cx="10543032" cy="914400"/>
          </a:xfrm>
          <a:prstGeom prst="rect">
            <a:avLst/>
          </a:prstGeom>
          <a:noFill/>
          <a:ln/>
        </p:spPr>
        <p:txBody>
          <a:bodyPr wrap="square" lIns="0" tIns="0" rIns="0" bIns="0" rtlCol="0" anchor="ctr"/>
          <a:lstStyle/>
          <a:p>
            <a:pPr indent="0" marL="0">
              <a:buNone/>
            </a:pPr>
            <a:r>
              <a:rPr lang="en-US" sz="1300" b="1" dirty="0">
                <a:solidFill>
                  <a:srgbClr val="E8EDF7"/>
                </a:solidFill>
                <a:latin typeface="Calibri" pitchFamily="34" charset="0"/>
                <a:ea typeface="Calibri" pitchFamily="34" charset="-122"/>
                <a:cs typeface="Calibri" pitchFamily="34" charset="-120"/>
              </a:rPr>
              <a:t>推奨アクション：選手・スタッフに「8/29 14:30〜15:30頃、普段と違うこと（補食・体調の変化・ストレスの多い出来事）がなかったか」を確認する。コスト0・即実施可能で、原因が判明すれば①②の結論を再評価できる。</a:t>
            </a:r>
            <a:endParaRPr lang="en-US" sz="1300" dirty="0"/>
          </a:p>
        </p:txBody>
      </p:sp>
      <p:sp>
        <p:nvSpPr>
          <p:cNvPr id="15" name="Text 13"/>
          <p:cNvSpPr/>
          <p:nvPr/>
        </p:nvSpPr>
        <p:spPr>
          <a:xfrm>
            <a:off x="548640" y="6492240"/>
            <a:ext cx="11091672" cy="256032"/>
          </a:xfrm>
          <a:prstGeom prst="rect">
            <a:avLst/>
          </a:prstGeom>
          <a:noFill/>
          <a:ln/>
        </p:spPr>
        <p:txBody>
          <a:bodyPr wrap="square" rtlCol="0" anchor="ctr"/>
          <a:lstStyle/>
          <a:p>
            <a:pPr algn="l" indent="0" marL="0">
              <a:buNone/>
            </a:pPr>
            <a:r>
              <a:rPr lang="en-US" sz="950" dirty="0">
                <a:solidFill>
                  <a:srgbClr val="9AA6C4"/>
                </a:solidFill>
                <a:latin typeface="Calibri" pitchFamily="34" charset="0"/>
                <a:ea typeface="Calibri" pitchFamily="34" charset="-122"/>
                <a:cs typeface="Calibri" pitchFamily="34" charset="-120"/>
              </a:rPr>
              <a:t>データ出典：14日間_for_AI.xlsx（FreeStyleリブレ連続血糖データ）／condition_app_2026-08-25_2026-09-07.xlsx</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2026-09-20T01:39:49Z</dcterms:created>
  <dcterms:modified xsi:type="dcterms:W3CDTF">2026-09-20T01:39:49Z</dcterms:modified>
</cp:coreProperties>
</file>