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oval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1945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8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血糖値 × 自覚コンディション × 毎日のコンディション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3つの比較の複合評価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①スムージー vs 固形　／　②スムージー vs おにぎり＋スムージー　／　③おにぎり＋スムージー vs おにぎり＋糖質減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14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各比較を「血糖値」「自覚コンディション（食後アンケート）」「毎日のコンディション（アプリ記録）」の3軸で評価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①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スムージー vs 固形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スムージー摂取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89120" y="1399032"/>
            <a:ext cx="146304" cy="146304"/>
          </a:xfrm>
          <a:prstGeom prst="rect">
            <a:avLst/>
          </a:prstGeom>
          <a:solidFill>
            <a:srgbClr val="2A7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90288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固形摂取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9144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655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94767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00253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Δピーク血糖値 (mg/dL)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85.0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305812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53.7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337304" y="194767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74464" y="200253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変動係数 CV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74464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14.7%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094476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11.2%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125968" y="194767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63128" y="200253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練習中(11-14h)平均血糖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63128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222.1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883140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135.1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263128" y="2606040"/>
            <a:ext cx="3240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mg/dL＝燃料供給の目安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2999232"/>
            <a:ext cx="9144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2935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自覚コンディション（食後アンケート）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22783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328269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満腹感ピーク(8:30)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3.67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2305812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4.00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4337304" y="322783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74464" y="328269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食欲(10:00)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474464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8.67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6094476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7.67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8125968" y="322783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63128" y="328269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頭痛・吐き気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63128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1・1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9883140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1・1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8263128" y="3886200"/>
            <a:ext cx="3240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両条件とも症状なし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4279392"/>
            <a:ext cx="91440" cy="146304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1520" y="4215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毎日のコンディション（夜のアプリ記録）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07992"/>
          <a:ext cx="6949440" cy="118872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286000"/>
              </a:tblGrid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スムージー摂取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固形摂取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起床時コンディション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睡眠の質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持久力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爆発力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運動後疲労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 txBox="1"/>
          <p:nvPr/>
        </p:nvSpPr>
        <p:spPr>
          <a:xfrm>
            <a:off x="7772400" y="4526280"/>
            <a:ext cx="4416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練習時間がスムージー60分/日・固形140分/日と大きく異なり、夜間指標には練習量の交絡が強く残る。数値差を食事の効果と断定できない。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48640" y="58521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AF7F0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77240" y="5907024"/>
            <a:ext cx="10634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総合評価：液状化だけでは血糖の乱高下（Δピーク・CV）が明確に悪化する。自覚的な消化器症状・満腹感には大差なく、夜間コンディションも練習量の交絡下では大きな差と言えない。「液状化の単独効果」は血糖面でむしろマイナス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②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スムージー vs おにぎり＋スムージー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146304" cy="146304"/>
          </a:xfrm>
          <a:prstGeom prst="rect">
            <a:avLst/>
          </a:prstGeom>
          <a:solidFill>
            <a:srgbClr val="EB683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スムージー摂取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89120" y="1399032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90288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9144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655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94767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00253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Δピーク血糖値 (mg/dL)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85.0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305812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78.0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337304" y="194767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474464" y="200253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変動係数 CV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74464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14.7%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094476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10.1%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125968" y="194767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63128" y="200253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練習中(11-14h)平均血糖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63128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222.1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9883140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220.1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263128" y="2606040"/>
            <a:ext cx="3240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ほぼ同水準（燃料供給は同等）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48640" y="2999232"/>
            <a:ext cx="9144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31520" y="2935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自覚コンディション（食後アンケート）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322783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85800" y="328269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満腹感ピーク(8:30)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3.67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2305812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7.67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4337304" y="322783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74464" y="328269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食欲(10:00)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4474464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8.67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6094476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5.67</a:t>
            </a:r>
            <a:endParaRPr lang="en-US" sz="1900" dirty="0"/>
          </a:p>
        </p:txBody>
      </p:sp>
      <p:sp>
        <p:nvSpPr>
          <p:cNvPr id="33" name="Shape 31"/>
          <p:cNvSpPr/>
          <p:nvPr/>
        </p:nvSpPr>
        <p:spPr>
          <a:xfrm>
            <a:off x="8125968" y="322783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63128" y="328269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頭痛・吐き気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263128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1・1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9883140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1・(9:30のみ2)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548640" y="4279392"/>
            <a:ext cx="91440" cy="146304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31520" y="4215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毎日のコンディション（夜のアプリ記録）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07992"/>
          <a:ext cx="6949440" cy="118872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286000"/>
              </a:tblGrid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スムージー摂取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おにぎり＋スムージー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起床時コンディション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睡眠の質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持久力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爆発力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運動後疲労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" name="Text 37"/>
          <p:cNvSpPr txBox="1"/>
          <p:nvPr/>
        </p:nvSpPr>
        <p:spPr>
          <a:xfrm>
            <a:off x="7772400" y="4526280"/>
            <a:ext cx="4416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練習時間はスムージー60分/日・おにぎり+スムージー80分/日とやや近く、①よりは比較しやすい。起床時コンディション・睡眠の質は同水準。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8640" y="58521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AF7F0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777240" y="5907024"/>
            <a:ext cx="10634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総合評価：おにぎりを同時摂取すると、同水準の血糖燃料供給を保ったままΔピーク・CVが小さくなり、波形がなだらかになる。満腹感は上がるが消化器症状は軽微。夜間コンディションもわずかに良好な傾向で、単独液状化よりバランスが良い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③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おにぎり＋スムージー vs おにぎり＋糖質減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99032"/>
            <a:ext cx="146304" cy="146304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49808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おにぎり＋スムージー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389120" y="1399032"/>
            <a:ext cx="146304" cy="146304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90288" y="13350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おにぎり＋糖質減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91440" cy="14630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65506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194767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00253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iAUC 2h (mg/dL・分)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5,230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305812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D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3,168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606040"/>
            <a:ext cx="3240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糖質減で約39%減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337304" y="194767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4464" y="200253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変動係数 CV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474464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10.1%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094476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D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11.8%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8125968" y="194767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63128" y="200253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練習中(11-14h)平均血糖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263128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220.1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883140" y="225856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D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229.4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263128" y="2606040"/>
            <a:ext cx="3240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糖質減の方がむしろ高い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2999232"/>
            <a:ext cx="91440" cy="14630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31520" y="29352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自覚コンディション（食後アンケート）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322783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328269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満腹感ピーク(8:30)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7.67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2305812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D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9.00</a:t>
            </a:r>
            <a:endParaRPr lang="en-US" sz="1900" dirty="0"/>
          </a:p>
        </p:txBody>
      </p:sp>
      <p:sp>
        <p:nvSpPr>
          <p:cNvPr id="30" name="Shape 28"/>
          <p:cNvSpPr/>
          <p:nvPr/>
        </p:nvSpPr>
        <p:spPr>
          <a:xfrm>
            <a:off x="4337304" y="322783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474464" y="328269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食欲(10:00)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474464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5.67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6094476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D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5.33</a:t>
            </a:r>
            <a:endParaRPr lang="en-US" sz="1900" dirty="0"/>
          </a:p>
        </p:txBody>
      </p:sp>
      <p:sp>
        <p:nvSpPr>
          <p:cNvPr id="34" name="Shape 32"/>
          <p:cNvSpPr/>
          <p:nvPr/>
        </p:nvSpPr>
        <p:spPr>
          <a:xfrm>
            <a:off x="8125968" y="3227832"/>
            <a:ext cx="3514344" cy="868680"/>
          </a:xfrm>
          <a:prstGeom prst="roundRect">
            <a:avLst>
              <a:gd name="adj" fmla="val 8421"/>
            </a:avLst>
          </a:prstGeom>
          <a:solidFill>
            <a:srgbClr val="F4F7F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263128" y="3282696"/>
            <a:ext cx="3240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頭痛・吐き気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8263128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1・(9:30のみ2)</a:t>
            </a:r>
            <a:endParaRPr lang="en-US" sz="1900" dirty="0"/>
          </a:p>
        </p:txBody>
      </p:sp>
      <p:sp>
        <p:nvSpPr>
          <p:cNvPr id="37" name="Text 35"/>
          <p:cNvSpPr txBox="1"/>
          <p:nvPr/>
        </p:nvSpPr>
        <p:spPr>
          <a:xfrm>
            <a:off x="9883140" y="3538728"/>
            <a:ext cx="16200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ED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1・1</a:t>
            </a:r>
            <a:endParaRPr lang="en-US" sz="1900" dirty="0"/>
          </a:p>
        </p:txBody>
      </p:sp>
      <p:sp>
        <p:nvSpPr>
          <p:cNvPr id="38" name="Shape 36"/>
          <p:cNvSpPr/>
          <p:nvPr/>
        </p:nvSpPr>
        <p:spPr>
          <a:xfrm>
            <a:off x="548640" y="4279392"/>
            <a:ext cx="91440" cy="146304"/>
          </a:xfrm>
          <a:prstGeom prst="rect">
            <a:avLst/>
          </a:prstGeom>
          <a:solidFill>
            <a:srgbClr val="EDA10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1520" y="421538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毎日のコンディション（夜のアプリ記録）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07992"/>
          <a:ext cx="6949440" cy="1188720"/>
        </p:xfrm>
        <a:graphic>
          <a:graphicData uri="http://schemas.openxmlformats.org/drawingml/2006/table">
            <a:tbl>
              <a:tblPr/>
              <a:tblGrid>
                <a:gridCol w="2377440"/>
                <a:gridCol w="2286000"/>
                <a:gridCol w="2286000"/>
              </a:tblGrid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おにぎり＋スムージー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おにぎり＋糖質減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起床時コンディション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睡眠の質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持久力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爆発力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9"/>
                    </a:solidFill>
                  </a:tcPr>
                </a:tc>
              </a:tr>
              <a:tr h="1691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12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運動後疲労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 txBox="1"/>
          <p:nvPr/>
        </p:nvSpPr>
        <p:spPr>
          <a:xfrm>
            <a:off x="7772400" y="4526280"/>
            <a:ext cx="44165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起床時コンディション・睡眠の質は糖質減が最高だが、持久力・爆発力は糖質減が最低。血糖の燃料供給は良好なのに体感が逆という矛盾があり、練習内容の交絡を含め要検証。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48640" y="585216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EAF7F0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77240" y="5907024"/>
            <a:ext cx="10634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総合評価：糖質を減らすとiAUCが約39%減少し血糖の負荷は明確に軽い。練習中の燃料供給も犠牲になっていない。消化器症状も軽微。一方で持久力・爆発力の自己評価は最も低く、血糖データと体感の食い違いが残る最大の論点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2026-09-19T08:44:24Z</dcterms:created>
  <dcterms:modified xsi:type="dcterms:W3CDTF">2026-09-19T08:44:24Z</dcterms:modified>
</cp:coreProperties>
</file>