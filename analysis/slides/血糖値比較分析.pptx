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固形摂取</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Sheet1!$B$2:$B$26</c:f>
              <c:numCache>
                <c:formatCode>General</c:formatCode>
                <c:ptCount val="25"/>
                <c:pt idx="0">
                  <c:v>99</c:v>
                </c:pt>
                <c:pt idx="1">
                  <c:v>112</c:v>
                </c:pt>
                <c:pt idx="2">
                  <c:v>133.3</c:v>
                </c:pt>
                <c:pt idx="3">
                  <c:v>129</c:v>
                </c:pt>
                <c:pt idx="4">
                  <c:v>113</c:v>
                </c:pt>
                <c:pt idx="5">
                  <c:v>105.3</c:v>
                </c:pt>
                <c:pt idx="6">
                  <c:v>108.7</c:v>
                </c:pt>
                <c:pt idx="7">
                  <c:v>108.7</c:v>
                </c:pt>
                <c:pt idx="8">
                  <c:v>106</c:v>
                </c:pt>
                <c:pt idx="9">
                  <c:v>120</c:v>
                </c:pt>
                <c:pt idx="10">
                  <c:v>130.3</c:v>
                </c:pt>
                <c:pt idx="11">
                  <c:v>125.3</c:v>
                </c:pt>
                <c:pt idx="12">
                  <c:v>120.3</c:v>
                </c:pt>
                <c:pt idx="13">
                  <c:v>135</c:v>
                </c:pt>
                <c:pt idx="14">
                  <c:v>152.7</c:v>
                </c:pt>
                <c:pt idx="15">
                  <c:v>143</c:v>
                </c:pt>
                <c:pt idx="16">
                  <c:v>139</c:v>
                </c:pt>
                <c:pt idx="17">
                  <c:v>129.7</c:v>
                </c:pt>
                <c:pt idx="18">
                  <c:v>119</c:v>
                </c:pt>
                <c:pt idx="19">
                  <c:v>131</c:v>
                </c:pt>
                <c:pt idx="20">
                  <c:v>143</c:v>
                </c:pt>
                <c:pt idx="21">
                  <c:v>136.7</c:v>
                </c:pt>
                <c:pt idx="22">
                  <c:v>138</c:v>
                </c:pt>
                <c:pt idx="23">
                  <c:v>140.3</c:v>
                </c:pt>
                <c:pt idx="24">
                  <c:v>129</c:v>
                </c:pt>
              </c:numCache>
            </c:numRef>
          </c:val>
          <c:smooth val="0"/>
        </c:ser>
        <c:ser>
          <c:idx val="1"/>
          <c:order val="1"/>
          <c:tx>
            <c:strRef>
              <c:f>Sheet1!$C$1</c:f>
              <c:strCache>
                <c:ptCount val="1"/>
                <c:pt idx="0">
                  <c:v>スムージー摂取</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Sheet1!$C$2:$C$26</c:f>
              <c:numCache>
                <c:formatCode>General</c:formatCode>
                <c:ptCount val="25"/>
                <c:pt idx="0">
                  <c:v>159.3</c:v>
                </c:pt>
                <c:pt idx="1">
                  <c:v>163</c:v>
                </c:pt>
                <c:pt idx="2">
                  <c:v>182</c:v>
                </c:pt>
                <c:pt idx="3">
                  <c:v>202.7</c:v>
                </c:pt>
                <c:pt idx="4">
                  <c:v>193.7</c:v>
                </c:pt>
                <c:pt idx="5">
                  <c:v>163.7</c:v>
                </c:pt>
                <c:pt idx="6">
                  <c:v>149</c:v>
                </c:pt>
                <c:pt idx="7">
                  <c:v>148.7</c:v>
                </c:pt>
                <c:pt idx="8">
                  <c:v>154.7</c:v>
                </c:pt>
                <c:pt idx="9">
                  <c:v>179.3</c:v>
                </c:pt>
                <c:pt idx="10">
                  <c:v>194.3</c:v>
                </c:pt>
                <c:pt idx="11">
                  <c:v>226</c:v>
                </c:pt>
                <c:pt idx="12">
                  <c:v>226.3</c:v>
                </c:pt>
                <c:pt idx="13">
                  <c:v>223</c:v>
                </c:pt>
                <c:pt idx="14">
                  <c:v>239.7</c:v>
                </c:pt>
                <c:pt idx="15">
                  <c:v>244.3</c:v>
                </c:pt>
                <c:pt idx="16">
                  <c:v>213.7</c:v>
                </c:pt>
                <c:pt idx="17">
                  <c:v>225</c:v>
                </c:pt>
                <c:pt idx="18">
                  <c:v>218.3</c:v>
                </c:pt>
                <c:pt idx="19">
                  <c:v>218.7</c:v>
                </c:pt>
                <c:pt idx="20">
                  <c:v>224.7</c:v>
                </c:pt>
                <c:pt idx="21">
                  <c:v>207</c:v>
                </c:pt>
                <c:pt idx="22">
                  <c:v>212.3</c:v>
                </c:pt>
                <c:pt idx="23">
                  <c:v>222.7</c:v>
                </c:pt>
                <c:pt idx="24">
                  <c:v>211</c:v>
                </c:pt>
              </c:numCache>
            </c:numRef>
          </c:val>
          <c:smooth val="0"/>
        </c:ser>
        <c:ser>
          <c:idx val="2"/>
          <c:order val="2"/>
          <c:tx>
            <c:strRef>
              <c:f>Sheet1!$D$1</c:f>
              <c:strCache>
                <c:ptCount val="1"/>
                <c:pt idx="0">
                  <c:v>おにぎり＋スムージー</c:v>
                </c:pt>
              </c:strCache>
            </c:strRef>
          </c:tx>
          <c:spPr>
            <a:solidFill>
              <a:srgbClr val="1BAF7A"/>
            </a:solidFill>
            <a:ln w="31750" cap="flat">
              <a:solidFill>
                <a:srgbClr val="1BAF7A"/>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Sheet1!$D$2:$D$26</c:f>
              <c:numCache>
                <c:formatCode>General</c:formatCode>
                <c:ptCount val="25"/>
                <c:pt idx="0">
                  <c:v>164.3</c:v>
                </c:pt>
                <c:pt idx="1">
                  <c:v>169.3</c:v>
                </c:pt>
                <c:pt idx="2">
                  <c:v>208.7</c:v>
                </c:pt>
                <c:pt idx="3">
                  <c:v>235</c:v>
                </c:pt>
                <c:pt idx="4">
                  <c:v>225.7</c:v>
                </c:pt>
                <c:pt idx="5">
                  <c:v>219.3</c:v>
                </c:pt>
                <c:pt idx="6">
                  <c:v>207.3</c:v>
                </c:pt>
                <c:pt idx="7">
                  <c:v>212.3</c:v>
                </c:pt>
                <c:pt idx="8">
                  <c:v>207</c:v>
                </c:pt>
                <c:pt idx="9">
                  <c:v>191.3</c:v>
                </c:pt>
                <c:pt idx="10">
                  <c:v>188</c:v>
                </c:pt>
                <c:pt idx="11">
                  <c:v>185</c:v>
                </c:pt>
                <c:pt idx="12">
                  <c:v>182.7</c:v>
                </c:pt>
                <c:pt idx="13">
                  <c:v>193</c:v>
                </c:pt>
                <c:pt idx="14">
                  <c:v>208</c:v>
                </c:pt>
                <c:pt idx="15">
                  <c:v>226.3</c:v>
                </c:pt>
                <c:pt idx="16">
                  <c:v>229</c:v>
                </c:pt>
                <c:pt idx="17">
                  <c:v>227.3</c:v>
                </c:pt>
                <c:pt idx="18">
                  <c:v>231.3</c:v>
                </c:pt>
                <c:pt idx="19">
                  <c:v>242.3</c:v>
                </c:pt>
                <c:pt idx="20">
                  <c:v>236.7</c:v>
                </c:pt>
                <c:pt idx="21">
                  <c:v>224.7</c:v>
                </c:pt>
                <c:pt idx="22">
                  <c:v>219.3</c:v>
                </c:pt>
                <c:pt idx="23">
                  <c:v>218.7</c:v>
                </c:pt>
                <c:pt idx="24">
                  <c:v>222.3</c:v>
                </c:pt>
              </c:numCache>
            </c:numRef>
          </c:val>
          <c:smooth val="0"/>
        </c:ser>
        <c:ser>
          <c:idx val="3"/>
          <c:order val="3"/>
          <c:tx>
            <c:strRef>
              <c:f>Sheet1!$E$1</c:f>
              <c:strCache>
                <c:ptCount val="1"/>
                <c:pt idx="0">
                  <c:v>おにぎり＋糖質減</c:v>
                </c:pt>
              </c:strCache>
            </c:strRef>
          </c:tx>
          <c:spPr>
            <a:solidFill>
              <a:srgbClr val="EDA100"/>
            </a:solidFill>
            <a:ln w="31750" cap="flat">
              <a:solidFill>
                <a:srgbClr val="EDA100"/>
              </a:solidFill>
              <a:prstDash val="solid"/>
              <a:round/>
            </a:ln>
            <a:effectLst/>
          </c:spPr>
          <c:invertIfNegative val="0"/>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c:symbol val="none"/>
            <c:size val="6"/>
            <c:spPr>
              <a:solidFill>
                <a:srgbClr val="EDA100"/>
              </a:solidFill>
              <a:ln w="9525" cap="flat">
                <a:solidFill>
                  <a:srgbClr val="EDA100"/>
                </a:solidFill>
                <a:prstDash val="solid"/>
                <a:round/>
              </a:ln>
              <a:effectLst/>
            </c:spPr>
          </c:marker>
          <c:cat>
            <c:multiLvlStrRef>
              <c:f>Sheet1!$A$2:$A$26</c:f>
              <c:multiLvlStrCache>
                <c:ptCount val="25"/>
                <c:lvl>
                  <c:pt idx="0">
                    <c:v>08:00</c:v>
                  </c:pt>
                  <c:pt idx="1">
                    <c:v>08:15</c:v>
                  </c:pt>
                  <c:pt idx="2">
                    <c:v>08:30</c:v>
                  </c:pt>
                  <c:pt idx="3">
                    <c:v>08:45</c:v>
                  </c:pt>
                  <c:pt idx="4">
                    <c:v>09:00</c:v>
                  </c:pt>
                  <c:pt idx="5">
                    <c:v>09:15</c:v>
                  </c:pt>
                  <c:pt idx="6">
                    <c:v>09:30</c:v>
                  </c:pt>
                  <c:pt idx="7">
                    <c:v>09:45</c:v>
                  </c:pt>
                  <c:pt idx="8">
                    <c:v>10:00</c:v>
                  </c:pt>
                  <c:pt idx="9">
                    <c:v>10:15</c:v>
                  </c:pt>
                  <c:pt idx="10">
                    <c:v>10:30</c:v>
                  </c:pt>
                  <c:pt idx="11">
                    <c:v>10:45</c:v>
                  </c:pt>
                  <c:pt idx="12">
                    <c:v>11:00</c:v>
                  </c:pt>
                  <c:pt idx="13">
                    <c:v>11:15</c:v>
                  </c:pt>
                  <c:pt idx="14">
                    <c:v>11:30</c:v>
                  </c:pt>
                  <c:pt idx="15">
                    <c:v>11:45</c:v>
                  </c:pt>
                  <c:pt idx="16">
                    <c:v>12:00</c:v>
                  </c:pt>
                  <c:pt idx="17">
                    <c:v>12:15</c:v>
                  </c:pt>
                  <c:pt idx="18">
                    <c:v>12:30</c:v>
                  </c:pt>
                  <c:pt idx="19">
                    <c:v>12:45</c:v>
                  </c:pt>
                  <c:pt idx="20">
                    <c:v>13:00</c:v>
                  </c:pt>
                  <c:pt idx="21">
                    <c:v>13:15</c:v>
                  </c:pt>
                  <c:pt idx="22">
                    <c:v>13:30</c:v>
                  </c:pt>
                  <c:pt idx="23">
                    <c:v>13:45</c:v>
                  </c:pt>
                  <c:pt idx="24">
                    <c:v>14:00</c:v>
                  </c:pt>
                </c:lvl>
              </c:multiLvlStrCache>
            </c:multiLvlStrRef>
          </c:cat>
          <c:val>
            <c:numRef>
              <c:f>Sheet1!$E$2:$E$26</c:f>
              <c:numCache>
                <c:formatCode>General</c:formatCode>
                <c:ptCount val="25"/>
                <c:pt idx="0">
                  <c:v>166</c:v>
                </c:pt>
                <c:pt idx="1">
                  <c:v>183.7</c:v>
                </c:pt>
                <c:pt idx="2">
                  <c:v>217</c:v>
                </c:pt>
                <c:pt idx="3">
                  <c:v>197</c:v>
                </c:pt>
                <c:pt idx="4">
                  <c:v>193.7</c:v>
                </c:pt>
                <c:pt idx="5">
                  <c:v>193.7</c:v>
                </c:pt>
                <c:pt idx="6">
                  <c:v>198.7</c:v>
                </c:pt>
                <c:pt idx="7">
                  <c:v>185.3</c:v>
                </c:pt>
                <c:pt idx="8">
                  <c:v>174.3</c:v>
                </c:pt>
                <c:pt idx="9">
                  <c:v>172.3</c:v>
                </c:pt>
                <c:pt idx="10">
                  <c:v>199.7</c:v>
                </c:pt>
                <c:pt idx="11">
                  <c:v>217.7</c:v>
                </c:pt>
                <c:pt idx="12">
                  <c:v>211</c:v>
                </c:pt>
                <c:pt idx="13">
                  <c:v>195</c:v>
                </c:pt>
                <c:pt idx="14">
                  <c:v>218.3</c:v>
                </c:pt>
                <c:pt idx="15">
                  <c:v>235</c:v>
                </c:pt>
                <c:pt idx="16">
                  <c:v>237</c:v>
                </c:pt>
                <c:pt idx="17">
                  <c:v>225.7</c:v>
                </c:pt>
                <c:pt idx="18">
                  <c:v>226.7</c:v>
                </c:pt>
                <c:pt idx="19">
                  <c:v>241</c:v>
                </c:pt>
                <c:pt idx="20">
                  <c:v>245</c:v>
                </c:pt>
                <c:pt idx="21">
                  <c:v>242.3</c:v>
                </c:pt>
                <c:pt idx="22">
                  <c:v>250.3</c:v>
                </c:pt>
                <c:pt idx="23">
                  <c:v>241</c:v>
                </c:pt>
                <c:pt idx="24">
                  <c:v>213.7</c:v>
                </c:pt>
              </c:numCache>
            </c:numRef>
          </c:val>
          <c:smooth val="0"/>
        </c:ser>
        <c:dLbls>
          <c:numFmt formatCode="#,##0" sourceLinked="0"/>
          <c:txPr>
            <a:bodyPr/>
            <a:lstStyle/>
            <a:p>
              <a:pPr>
                <a:defRPr b="0" i="0" strike="noStrike" sz="1200" u="none">
                  <a:solidFill>
                    <a:srgbClr val="1A1A1A"/>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1000" b="0" i="0" u="none" strike="noStrike">
                <a:solidFill>
                  <a:srgbClr val="5C6570"/>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3E1DB"/>
              </a:solidFill>
              <a:prstDash val="solid"/>
              <a:round/>
            </a:ln>
          </c:spPr>
        </c:majorGridlines>
        <c:title>
          <c:tx>
            <c:rich>
              <a:bodyPr/>
              <a:lstStyle/>
              <a:p>
                <a:pPr>
                  <a:defRPr sz="1100" b="0" i="0" u="none" strike="noStrike">
                    <a:solidFill>
                      <a:srgbClr val="5C6570"/>
                    </a:solidFill>
                    <a:latin typeface="Arial"/>
                  </a:defRPr>
                </a:pPr>
                <a:r>
                  <a:rPr sz="1100" b="0" i="0" u="none" strike="noStrike">
                    <a:solidFill>
                      <a:srgbClr val="5C6570"/>
                    </a:solidFill>
                    <a:latin typeface="Arial"/>
                  </a:rPr>
                  <a:t>血糖値 (mg/dL)</a:t>
                </a:r>
              </a:p>
            </c:rich>
          </c:tx>
          <c:layout/>
          <c:overlay val="0"/>
        </c:title>
        <c:numFmt formatCode="General" sourceLinked="0"/>
        <c:majorTickMark val="out"/>
        <c:minorTickMark val="none"/>
        <c:tickLblPos val="nextTo"/>
        <c:spPr>
          <a:ln w="12700" cap="flat">
            <a:solidFill>
              <a:srgbClr val="E3E1DB"/>
            </a:solidFill>
            <a:prstDash val="solid"/>
            <a:round/>
          </a:ln>
        </c:spPr>
        <c:txPr>
          <a:bodyPr/>
          <a:lstStyle/>
          <a:p>
            <a:pPr>
              <a:defRPr sz="1000" b="0" i="0" u="none" strike="noStrike">
                <a:solidFill>
                  <a:srgbClr val="5C65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Δピーク血糖値 (mg/dL)</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53.7</c:v>
                </c:pt>
                <c:pt idx="1">
                  <c:v>85</c:v>
                </c:pt>
                <c:pt idx="2">
                  <c:v>78</c:v>
                </c:pt>
                <c:pt idx="3">
                  <c:v>84.3</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iAUC 2時間 (mg/dL・分)</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1807.5</c:v>
                </c:pt>
                <c:pt idx="1">
                  <c:v>1625</c:v>
                </c:pt>
                <c:pt idx="2">
                  <c:v>5230</c:v>
                </c:pt>
                <c:pt idx="3">
                  <c:v>3167.5</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変動係数 CV (%)</c:v>
                </c:pt>
              </c:strCache>
            </c:strRef>
          </c:tx>
          <c:spPr>
            <a:solidFill>
              <a:srgbClr val="2A78D6">
                <a:alpha val="100000"/>
              </a:srgbClr>
            </a:solidFill>
            <a:effectLst/>
          </c:spPr>
          <c:invertIfNegative val="0"/>
          <c:dLbls>
            <c:numFmt formatCode="0.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11.2</c:v>
                </c:pt>
                <c:pt idx="1">
                  <c:v>14.7</c:v>
                </c:pt>
                <c:pt idx="2">
                  <c:v>10.1</c:v>
                </c:pt>
                <c:pt idx="3">
                  <c:v>11.8</c:v>
                </c:pt>
              </c:numCache>
            </c:numRef>
          </c:val>
        </c:ser>
        <c:dLbls>
          <c:numFmt formatCode="0.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トレーニング時間帯(11:00-14:00)の平均血糖</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135.1</c:v>
                </c:pt>
                <c:pt idx="1">
                  <c:v>222.1</c:v>
                </c:pt>
                <c:pt idx="2">
                  <c:v>220.1</c:v>
                </c:pt>
                <c:pt idx="3">
                  <c:v>229.4</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ピーク後の最小値−ベースライン</c:v>
                </c:pt>
              </c:strCache>
            </c:strRef>
          </c:tx>
          <c:spPr>
            <a:solidFill>
              <a:srgbClr val="2A78D6">
                <a:alpha val="100000"/>
              </a:srgbClr>
            </a:solidFill>
            <a:effectLst/>
          </c:spPr>
          <c:invertIfNegative val="0"/>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20</c:v>
                </c:pt>
                <c:pt idx="1">
                  <c:v>47.7</c:v>
                </c:pt>
                <c:pt idx="2">
                  <c:v>18.3</c:v>
                </c:pt>
                <c:pt idx="3">
                  <c:v>47.7</c:v>
                </c:pt>
              </c:numCache>
            </c:numRef>
          </c:val>
        </c:ser>
        <c:dLbls>
          <c:numFmt formatCode="#,##0" sourceLinked="0"/>
          <c:txPr>
            <a:bodyPr/>
            <a:lstStyle/>
            <a:p>
              <a:pPr>
                <a:defRPr b="0" i="0" strike="noStrike" sz="10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Sheet1!$B$2:$B$6</c:f>
              <c:numCache>
                <c:formatCode>General</c:formatCode>
                <c:ptCount val="5"/>
                <c:pt idx="0">
                  <c:v>1.67</c:v>
                </c:pt>
                <c:pt idx="1">
                  <c:v>4</c:v>
                </c:pt>
                <c:pt idx="2">
                  <c:v>4</c:v>
                </c:pt>
                <c:pt idx="3">
                  <c:v>2</c:v>
                </c:pt>
                <c:pt idx="4">
                  <c:v>2</c:v>
                </c:pt>
              </c:numCache>
            </c:numRef>
          </c:val>
          <c:smooth val="0"/>
        </c:ser>
        <c:ser>
          <c:idx val="1"/>
          <c:order val="1"/>
          <c:tx>
            <c:strRef>
              <c:f>Sheet1!$C$1</c:f>
              <c:strCache>
                <c:ptCount val="1"/>
                <c:pt idx="0">
                  <c:v>スムージー</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Sheet1!$C$2:$C$6</c:f>
              <c:numCache>
                <c:formatCode>General</c:formatCode>
                <c:ptCount val="5"/>
                <c:pt idx="0">
                  <c:v>3.33</c:v>
                </c:pt>
                <c:pt idx="1">
                  <c:v>3.67</c:v>
                </c:pt>
                <c:pt idx="2">
                  <c:v>5</c:v>
                </c:pt>
                <c:pt idx="3">
                  <c:v>2</c:v>
                </c:pt>
                <c:pt idx="4">
                  <c:v>1.33</c:v>
                </c:pt>
              </c:numCache>
            </c:numRef>
          </c:val>
          <c:smooth val="0"/>
        </c:ser>
        <c:ser>
          <c:idx val="2"/>
          <c:order val="2"/>
          <c:tx>
            <c:strRef>
              <c:f>Sheet1!$D$1</c:f>
              <c:strCache>
                <c:ptCount val="1"/>
                <c:pt idx="0">
                  <c:v>おにぎり+スムージー</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Sheet1!$D$2:$D$6</c:f>
              <c:numCache>
                <c:formatCode>General</c:formatCode>
                <c:ptCount val="5"/>
                <c:pt idx="0">
                  <c:v>2.33</c:v>
                </c:pt>
                <c:pt idx="1">
                  <c:v>7.67</c:v>
                </c:pt>
                <c:pt idx="2">
                  <c:v>5.33</c:v>
                </c:pt>
                <c:pt idx="3">
                  <c:v>5.5</c:v>
                </c:pt>
                <c:pt idx="4">
                  <c:v>3.33</c:v>
                </c:pt>
              </c:numCache>
            </c:numRef>
          </c:val>
          <c:smooth val="0"/>
        </c:ser>
        <c:ser>
          <c:idx val="3"/>
          <c:order val="3"/>
          <c:tx>
            <c:strRef>
              <c:f>Sheet1!$E$1</c:f>
              <c:strCache>
                <c:ptCount val="1"/>
                <c:pt idx="0">
                  <c:v>おにぎり+糖質減</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Sheet1!$E$2:$E$6</c:f>
              <c:numCache>
                <c:formatCode>General</c:formatCode>
                <c:ptCount val="5"/>
                <c:pt idx="0">
                  <c:v>1.67</c:v>
                </c:pt>
                <c:pt idx="1">
                  <c:v>9</c:v>
                </c:pt>
                <c:pt idx="2">
                  <c:v>8</c:v>
                </c:pt>
                <c:pt idx="3">
                  <c:v>5.5</c:v>
                </c:pt>
                <c:pt idx="4">
                  <c:v>4.67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3E1DB"/>
              </a:solidFill>
              <a:prstDash val="solid"/>
              <a:round/>
            </a:ln>
          </c:spPr>
        </c:majorGridlines>
        <c:numFmt formatCode="General" sourceLinked="0"/>
        <c:majorTickMark val="out"/>
        <c:minorTickMark val="none"/>
        <c:tickLblPos val="nextTo"/>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固形</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Sheet1!$B$2:$B$6</c:f>
              <c:numCache>
                <c:formatCode>General</c:formatCode>
                <c:ptCount val="5"/>
                <c:pt idx="0">
                  <c:v>7.67</c:v>
                </c:pt>
                <c:pt idx="1">
                  <c:v>8</c:v>
                </c:pt>
                <c:pt idx="2">
                  <c:v>7</c:v>
                </c:pt>
                <c:pt idx="3">
                  <c:v>7.67</c:v>
                </c:pt>
                <c:pt idx="4">
                  <c:v>7.67</c:v>
                </c:pt>
              </c:numCache>
            </c:numRef>
          </c:val>
          <c:smooth val="0"/>
        </c:ser>
        <c:ser>
          <c:idx val="1"/>
          <c:order val="1"/>
          <c:tx>
            <c:strRef>
              <c:f>Sheet1!$C$1</c:f>
              <c:strCache>
                <c:ptCount val="1"/>
                <c:pt idx="0">
                  <c:v>スムージー</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Sheet1!$C$2:$C$6</c:f>
              <c:numCache>
                <c:formatCode>General</c:formatCode>
                <c:ptCount val="5"/>
                <c:pt idx="0">
                  <c:v>8.67</c:v>
                </c:pt>
                <c:pt idx="1">
                  <c:v>6.33</c:v>
                </c:pt>
                <c:pt idx="2">
                  <c:v>5.5</c:v>
                </c:pt>
                <c:pt idx="3">
                  <c:v>7.67</c:v>
                </c:pt>
                <c:pt idx="4">
                  <c:v>8.67</c:v>
                </c:pt>
              </c:numCache>
            </c:numRef>
          </c:val>
          <c:smooth val="0"/>
        </c:ser>
        <c:ser>
          <c:idx val="2"/>
          <c:order val="2"/>
          <c:tx>
            <c:strRef>
              <c:f>Sheet1!$D$1</c:f>
              <c:strCache>
                <c:ptCount val="1"/>
                <c:pt idx="0">
                  <c:v>おにぎり+スムージー</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Sheet1!$D$2:$D$6</c:f>
              <c:numCache>
                <c:formatCode>General</c:formatCode>
                <c:ptCount val="5"/>
                <c:pt idx="0">
                  <c:v>7</c:v>
                </c:pt>
                <c:pt idx="1">
                  <c:v>3.67</c:v>
                </c:pt>
                <c:pt idx="2">
                  <c:v>5.33</c:v>
                </c:pt>
                <c:pt idx="3">
                  <c:v>5.5</c:v>
                </c:pt>
                <c:pt idx="4">
                  <c:v>5.67</c:v>
                </c:pt>
              </c:numCache>
            </c:numRef>
          </c:val>
          <c:smooth val="0"/>
        </c:ser>
        <c:ser>
          <c:idx val="3"/>
          <c:order val="3"/>
          <c:tx>
            <c:strRef>
              <c:f>Sheet1!$E$1</c:f>
              <c:strCache>
                <c:ptCount val="1"/>
                <c:pt idx="0">
                  <c:v>おにぎり+糖質減</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Sheet1!$A$2:$A$6</c:f>
              <c:multiLvlStrCache>
                <c:ptCount val="5"/>
                <c:lvl>
                  <c:pt idx="0">
                    <c:v>8:00</c:v>
                  </c:pt>
                  <c:pt idx="1">
                    <c:v>8:30</c:v>
                  </c:pt>
                  <c:pt idx="2">
                    <c:v>9:00</c:v>
                  </c:pt>
                  <c:pt idx="3">
                    <c:v>9:30</c:v>
                  </c:pt>
                  <c:pt idx="4">
                    <c:v>10:00</c:v>
                  </c:pt>
                </c:lvl>
              </c:multiLvlStrCache>
            </c:multiLvlStrRef>
          </c:cat>
          <c:val>
            <c:numRef>
              <c:f>Sheet1!$E$2:$E$6</c:f>
              <c:numCache>
                <c:formatCode>General</c:formatCode>
                <c:ptCount val="5"/>
                <c:pt idx="0">
                  <c:v>9</c:v>
                </c:pt>
                <c:pt idx="1">
                  <c:v>3.33</c:v>
                </c:pt>
                <c:pt idx="2">
                  <c:v>3</c:v>
                </c:pt>
                <c:pt idx="3">
                  <c:v>4.5</c:v>
                </c:pt>
                <c:pt idx="4">
                  <c:v>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3E1DB"/>
              </a:solidFill>
              <a:prstDash val="solid"/>
              <a:round/>
            </a:ln>
          </c:spPr>
        </c:majorGridlines>
        <c:numFmt formatCode="General" sourceLinked="0"/>
        <c:majorTickMark val="out"/>
        <c:minorTickMark val="none"/>
        <c:tickLblPos val="nextTo"/>
        <c:spPr>
          <a:ln w="12700" cap="flat">
            <a:solidFill>
              <a:srgbClr val="E3E1DB"/>
            </a:solidFill>
            <a:prstDash val="solid"/>
            <a:round/>
          </a:ln>
        </c:spPr>
        <c:txPr>
          <a:bodyPr/>
          <a:lstStyle/>
          <a:p>
            <a:pPr>
              <a:defRPr sz="950" b="0" i="0" u="none" strike="noStrike">
                <a:solidFill>
                  <a:srgbClr val="5C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起床時コンディション</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2</c:v>
                </c:pt>
                <c:pt idx="1">
                  <c:v>2.33</c:v>
                </c:pt>
                <c:pt idx="2">
                  <c:v>2.33</c:v>
                </c:pt>
                <c:pt idx="3">
                  <c:v>2.67</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睡眠の質</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2</c:v>
                </c:pt>
                <c:pt idx="1">
                  <c:v>2</c:v>
                </c:pt>
                <c:pt idx="2">
                  <c:v>2</c:v>
                </c:pt>
                <c:pt idx="3">
                  <c:v>2.67</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持久力（自己評価）</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3</c:v>
                </c:pt>
                <c:pt idx="1">
                  <c:v>3.67</c:v>
                </c:pt>
                <c:pt idx="2">
                  <c:v>3.83</c:v>
                </c:pt>
                <c:pt idx="3">
                  <c:v>2.33</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爆発力（自己評価）</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4</c:v>
                </c:pt>
                <c:pt idx="1">
                  <c:v>3.67</c:v>
                </c:pt>
                <c:pt idx="2">
                  <c:v>3.5</c:v>
                </c:pt>
                <c:pt idx="3">
                  <c:v>3.33</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RPE（主観的運動強度）</c:v>
                </c:pt>
              </c:strCache>
            </c:strRef>
          </c:tx>
          <c:spPr>
            <a:solidFill>
              <a:srgbClr val="2A78D6">
                <a:alpha val="100000"/>
              </a:srgbClr>
            </a:solidFill>
            <a:effectLst/>
          </c:spPr>
          <c:invertIfNegative val="0"/>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6.67</c:v>
                </c:pt>
                <c:pt idx="1">
                  <c:v>5.67</c:v>
                </c:pt>
                <c:pt idx="2">
                  <c:v>5.5</c:v>
                </c:pt>
                <c:pt idx="3">
                  <c:v>6.33</c:v>
                </c:pt>
              </c:numCache>
            </c:numRef>
          </c:val>
        </c:ser>
        <c:dLbls>
          <c:numFmt formatCode="0.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練習時間 (分/日)</c:v>
                </c:pt>
              </c:strCache>
            </c:strRef>
          </c:tx>
          <c:spPr>
            <a:solidFill>
              <a:srgbClr val="2A78D6">
                <a:alpha val="100000"/>
              </a:srgbClr>
            </a:solidFill>
            <a:effectLst/>
          </c:spPr>
          <c:invertIfNegative val="0"/>
          <c:dLbls>
            <c:numFmt formatCode="#,##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固形</c:v>
                  </c:pt>
                  <c:pt idx="1">
                    <c:v>スムージー</c:v>
                  </c:pt>
                  <c:pt idx="2">
                    <c:v>おにぎり+スムージー</c:v>
                  </c:pt>
                  <c:pt idx="3">
                    <c:v>おにぎり+糖質減</c:v>
                  </c:pt>
                </c:lvl>
              </c:multiLvlStrCache>
            </c:multiLvlStrRef>
          </c:cat>
          <c:val>
            <c:numRef>
              <c:f>Sheet1!$B$2:$B$5</c:f>
              <c:numCache>
                <c:formatCode>General</c:formatCode>
                <c:ptCount val="4"/>
                <c:pt idx="0">
                  <c:v>140</c:v>
                </c:pt>
                <c:pt idx="1">
                  <c:v>60</c:v>
                </c:pt>
                <c:pt idx="2">
                  <c:v>80</c:v>
                </c:pt>
                <c:pt idx="3">
                  <c:v>100</c:v>
                </c:pt>
              </c:numCache>
            </c:numRef>
          </c:val>
        </c:ser>
        <c:dLbls>
          <c:numFmt formatCode="#,##0" sourceLinked="0"/>
          <c:txPr>
            <a:bodyPr/>
            <a:lstStyle/>
            <a:p>
              <a:pPr>
                <a:defRPr b="0" i="0" strike="noStrike" sz="950" u="none">
                  <a:solidFill>
                    <a:srgbClr val="1A1A1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3E1DB"/>
            </a:solidFill>
            <a:prstDash val="solid"/>
            <a:round/>
          </a:ln>
        </c:spPr>
        <c:txPr>
          <a:bodyPr rot="1200000"/>
          <a:lstStyle/>
          <a:p>
            <a:pPr>
              <a:defRPr sz="850" b="0" i="0" u="none" strike="noStrike">
                <a:solidFill>
                  <a:srgbClr val="5C657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E3E1DB"/>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chart" Target="/ppt/charts/chart11.xml"/><Relationship Id="rId4" Type="http://schemas.openxmlformats.org/officeDocument/2006/relationships/chart" Target="/ppt/charts/chart12.xml"/><Relationship Id="rId5" Type="http://schemas.openxmlformats.org/officeDocument/2006/relationships/chart" Target="/ppt/charts/chart13.xml"/><Relationship Id="rId6" Type="http://schemas.openxmlformats.org/officeDocument/2006/relationships/chart" Target="/ppt/charts/chart14.xml"/><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1295C"/>
          </a:solidFill>
          <a:ln/>
        </p:spPr>
      </p:sp>
      <p:sp>
        <p:nvSpPr>
          <p:cNvPr id="3" name="Shape 1"/>
          <p:cNvSpPr/>
          <p:nvPr/>
        </p:nvSpPr>
        <p:spPr>
          <a:xfrm>
            <a:off x="9692640" y="-1463040"/>
            <a:ext cx="5029200" cy="5029200"/>
          </a:xfrm>
          <a:prstGeom prst="oval">
            <a:avLst/>
          </a:prstGeom>
          <a:solidFill>
            <a:srgbClr val="065A82">
              <a:alpha val="45000"/>
            </a:srgbClr>
          </a:solidFill>
          <a:ln/>
        </p:spPr>
      </p:sp>
      <p:sp>
        <p:nvSpPr>
          <p:cNvPr id="4" name="Shape 2"/>
          <p:cNvSpPr/>
          <p:nvPr/>
        </p:nvSpPr>
        <p:spPr>
          <a:xfrm>
            <a:off x="-1828800" y="4206240"/>
            <a:ext cx="4206240" cy="4206240"/>
          </a:xfrm>
          <a:prstGeom prst="oval">
            <a:avLst/>
          </a:prstGeom>
          <a:solidFill>
            <a:srgbClr val="1C7293">
              <a:alpha val="40000"/>
            </a:srgbClr>
          </a:solidFill>
          <a:ln/>
        </p:spPr>
      </p:sp>
      <p:sp>
        <p:nvSpPr>
          <p:cNvPr id="5" name="Text 3"/>
          <p:cNvSpPr txBox="1"/>
          <p:nvPr/>
        </p:nvSpPr>
        <p:spPr>
          <a:xfrm>
            <a:off x="548640" y="1874520"/>
            <a:ext cx="9601200" cy="457200"/>
          </a:xfrm>
          <a:prstGeom prst="rect">
            <a:avLst/>
          </a:prstGeom>
          <a:noFill/>
          <a:ln/>
        </p:spPr>
        <p:txBody>
          <a:bodyPr wrap="square" rtlCol="0" anchor="ctr"/>
          <a:lstStyle/>
          <a:p>
            <a:pPr indent="0" marL="0">
              <a:buNone/>
            </a:pPr>
            <a:r>
              <a:rPr lang="en-US" sz="1500" b="1" spc="150" kern="0" dirty="0">
                <a:solidFill>
                  <a:srgbClr val="8FB7E0"/>
                </a:solidFill>
                <a:latin typeface="Calibri" pitchFamily="34" charset="0"/>
                <a:ea typeface="Calibri" pitchFamily="34" charset="-122"/>
                <a:cs typeface="Calibri" pitchFamily="34" charset="-120"/>
              </a:rPr>
              <a:t>SCI車いす選手 食事介入研究</a:t>
            </a:r>
            <a:endParaRPr lang="en-US" sz="1500" dirty="0"/>
          </a:p>
        </p:txBody>
      </p:sp>
      <p:sp>
        <p:nvSpPr>
          <p:cNvPr id="6" name="Text 4"/>
          <p:cNvSpPr txBox="1"/>
          <p:nvPr/>
        </p:nvSpPr>
        <p:spPr>
          <a:xfrm>
            <a:off x="548640" y="2331720"/>
            <a:ext cx="10515600" cy="118872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おにぎり × スムージー 部分的液状化研究</a:t>
            </a:r>
            <a:endParaRPr lang="en-US" sz="4000" dirty="0"/>
          </a:p>
        </p:txBody>
      </p:sp>
      <p:sp>
        <p:nvSpPr>
          <p:cNvPr id="7" name="Text 5"/>
          <p:cNvSpPr txBox="1"/>
          <p:nvPr/>
        </p:nvSpPr>
        <p:spPr>
          <a:xfrm>
            <a:off x="548640" y="3246120"/>
            <a:ext cx="105156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血糖値・コンディション比較分析</a:t>
            </a:r>
            <a:endParaRPr lang="en-US" sz="2000" dirty="0"/>
          </a:p>
        </p:txBody>
      </p:sp>
      <p:sp>
        <p:nvSpPr>
          <p:cNvPr id="8" name="Shape 6"/>
          <p:cNvSpPr/>
          <p:nvPr/>
        </p:nvSpPr>
        <p:spPr>
          <a:xfrm>
            <a:off x="548640" y="4114800"/>
            <a:ext cx="0" cy="0"/>
          </a:xfrm>
          <a:prstGeom prst="line">
            <a:avLst/>
          </a:prstGeom>
          <a:noFill/>
          <a:ln/>
        </p:spPr>
      </p:sp>
      <p:sp>
        <p:nvSpPr>
          <p:cNvPr id="9" name="Text 7"/>
          <p:cNvSpPr txBox="1"/>
          <p:nvPr/>
        </p:nvSpPr>
        <p:spPr>
          <a:xfrm>
            <a:off x="548640" y="4892040"/>
            <a:ext cx="146304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10" name="Text 8"/>
          <p:cNvSpPr txBox="1"/>
          <p:nvPr/>
        </p:nvSpPr>
        <p:spPr>
          <a:xfrm>
            <a:off x="548640" y="5532120"/>
            <a:ext cx="2377440" cy="365760"/>
          </a:xfrm>
          <a:prstGeom prst="rect">
            <a:avLst/>
          </a:prstGeom>
          <a:noFill/>
          <a:ln/>
        </p:spPr>
        <p:txBody>
          <a:bodyPr wrap="square" lIns="0" tIns="0" rIns="0" bIns="0" rtlCol="0" anchor="ctr"/>
          <a:lstStyle/>
          <a:p>
            <a:pPr indent="0" marL="0">
              <a:buNone/>
            </a:pPr>
            <a:r>
              <a:rPr lang="en-US" sz="1200" dirty="0">
                <a:solidFill>
                  <a:srgbClr val="9AA6C4"/>
                </a:solidFill>
                <a:latin typeface="Calibri" pitchFamily="34" charset="0"/>
                <a:ea typeface="Calibri" pitchFamily="34" charset="-122"/>
                <a:cs typeface="Calibri" pitchFamily="34" charset="-120"/>
              </a:rPr>
              <a:t>比較条件</a:t>
            </a:r>
            <a:endParaRPr lang="en-US" sz="1200" dirty="0"/>
          </a:p>
        </p:txBody>
      </p:sp>
      <p:sp>
        <p:nvSpPr>
          <p:cNvPr id="11" name="Text 9"/>
          <p:cNvSpPr txBox="1"/>
          <p:nvPr/>
        </p:nvSpPr>
        <p:spPr>
          <a:xfrm>
            <a:off x="2377440" y="4892040"/>
            <a:ext cx="146304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a:t>
            </a:r>
            <a:endParaRPr lang="en-US" sz="3400" dirty="0"/>
          </a:p>
        </p:txBody>
      </p:sp>
      <p:sp>
        <p:nvSpPr>
          <p:cNvPr id="12" name="Text 10"/>
          <p:cNvSpPr txBox="1"/>
          <p:nvPr/>
        </p:nvSpPr>
        <p:spPr>
          <a:xfrm>
            <a:off x="2377440" y="5532120"/>
            <a:ext cx="2377440" cy="365760"/>
          </a:xfrm>
          <a:prstGeom prst="rect">
            <a:avLst/>
          </a:prstGeom>
          <a:noFill/>
          <a:ln/>
        </p:spPr>
        <p:txBody>
          <a:bodyPr wrap="square" lIns="0" tIns="0" rIns="0" bIns="0" rtlCol="0" anchor="ctr"/>
          <a:lstStyle/>
          <a:p>
            <a:pPr indent="0" marL="0">
              <a:buNone/>
            </a:pPr>
            <a:r>
              <a:rPr lang="en-US" sz="1200" dirty="0">
                <a:solidFill>
                  <a:srgbClr val="9AA6C4"/>
                </a:solidFill>
                <a:latin typeface="Calibri" pitchFamily="34" charset="0"/>
                <a:ea typeface="Calibri" pitchFamily="34" charset="-122"/>
                <a:cs typeface="Calibri" pitchFamily="34" charset="-120"/>
              </a:rPr>
              <a:t>測定日数(DAY)</a:t>
            </a:r>
            <a:endParaRPr lang="en-US" sz="1200" dirty="0"/>
          </a:p>
        </p:txBody>
      </p:sp>
      <p:sp>
        <p:nvSpPr>
          <p:cNvPr id="13" name="Text 11"/>
          <p:cNvSpPr txBox="1"/>
          <p:nvPr/>
        </p:nvSpPr>
        <p:spPr>
          <a:xfrm>
            <a:off x="4206240" y="4892040"/>
            <a:ext cx="146304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25</a:t>
            </a:r>
            <a:endParaRPr lang="en-US" sz="3400" dirty="0"/>
          </a:p>
        </p:txBody>
      </p:sp>
      <p:sp>
        <p:nvSpPr>
          <p:cNvPr id="14" name="Text 12"/>
          <p:cNvSpPr txBox="1"/>
          <p:nvPr/>
        </p:nvSpPr>
        <p:spPr>
          <a:xfrm>
            <a:off x="4206240" y="5532120"/>
            <a:ext cx="2377440" cy="365760"/>
          </a:xfrm>
          <a:prstGeom prst="rect">
            <a:avLst/>
          </a:prstGeom>
          <a:noFill/>
          <a:ln/>
        </p:spPr>
        <p:txBody>
          <a:bodyPr wrap="square" lIns="0" tIns="0" rIns="0" bIns="0" rtlCol="0" anchor="ctr"/>
          <a:lstStyle/>
          <a:p>
            <a:pPr indent="0" marL="0">
              <a:buNone/>
            </a:pPr>
            <a:r>
              <a:rPr lang="en-US" sz="1200" dirty="0">
                <a:solidFill>
                  <a:srgbClr val="9AA6C4"/>
                </a:solidFill>
                <a:latin typeface="Calibri" pitchFamily="34" charset="0"/>
                <a:ea typeface="Calibri" pitchFamily="34" charset="-122"/>
                <a:cs typeface="Calibri" pitchFamily="34" charset="-120"/>
              </a:rPr>
              <a:t>血糖測定点/日</a:t>
            </a:r>
            <a:endParaRPr lang="en-US" sz="1200" dirty="0"/>
          </a:p>
        </p:txBody>
      </p:sp>
      <p:sp>
        <p:nvSpPr>
          <p:cNvPr id="15" name="Text 13"/>
          <p:cNvSpPr txBox="1"/>
          <p:nvPr/>
        </p:nvSpPr>
        <p:spPr>
          <a:xfrm>
            <a:off x="548640" y="6172200"/>
            <a:ext cx="8229600" cy="365760"/>
          </a:xfrm>
          <a:prstGeom prst="rect">
            <a:avLst/>
          </a:prstGeom>
          <a:noFill/>
          <a:ln/>
        </p:spPr>
        <p:txBody>
          <a:bodyPr wrap="square" rtlCol="0" anchor="ctr"/>
          <a:lstStyle/>
          <a:p>
            <a:pPr indent="0" marL="0">
              <a:buNone/>
            </a:pPr>
            <a:r>
              <a:rPr lang="en-US" sz="1100" i="1" dirty="0">
                <a:solidFill>
                  <a:srgbClr val="9AA6C4"/>
                </a:solidFill>
                <a:latin typeface="Calibri" pitchFamily="34" charset="0"/>
                <a:ea typeface="Calibri" pitchFamily="34" charset="-122"/>
                <a:cs typeface="Calibri" pitchFamily="34" charset="-120"/>
              </a:rPr>
              <a:t>高位脊髄損傷（SCI）車いす陸上選手 1名を対象とした反復測定</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BACKGROUND</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研究の背景と目的</a:t>
            </a:r>
            <a:endParaRPr lang="en-US" sz="2800" dirty="0"/>
          </a:p>
        </p:txBody>
      </p:sp>
      <p:sp>
        <p:nvSpPr>
          <p:cNvPr id="4" name="Shape 2"/>
          <p:cNvSpPr/>
          <p:nvPr/>
        </p:nvSpPr>
        <p:spPr>
          <a:xfrm>
            <a:off x="548640" y="1691640"/>
            <a:ext cx="502920" cy="502920"/>
          </a:xfrm>
          <a:prstGeom prst="oval">
            <a:avLst/>
          </a:prstGeom>
          <a:solidFill>
            <a:srgbClr val="065A82"/>
          </a:solidFill>
          <a:ln/>
        </p:spPr>
      </p:sp>
      <p:sp>
        <p:nvSpPr>
          <p:cNvPr id="5" name="Text 3"/>
          <p:cNvSpPr txBox="1"/>
          <p:nvPr/>
        </p:nvSpPr>
        <p:spPr>
          <a:xfrm>
            <a:off x="548640" y="16916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664208"/>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SCI選手の病態生理</a:t>
            </a:r>
            <a:endParaRPr lang="en-US" sz="1500" dirty="0"/>
          </a:p>
        </p:txBody>
      </p:sp>
      <p:sp>
        <p:nvSpPr>
          <p:cNvPr id="7" name="Text 5"/>
          <p:cNvSpPr txBox="1"/>
          <p:nvPr/>
        </p:nvSpPr>
        <p:spPr>
          <a:xfrm>
            <a:off x="1280160" y="1984248"/>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高位脊髄損傷者は交感神経の遠心路が遮断され、食後低血圧・血糖値スパイク／反応性低血糖を起こしやすい。</a:t>
            </a:r>
            <a:endParaRPr lang="en-US" sz="1250" dirty="0"/>
          </a:p>
        </p:txBody>
      </p:sp>
      <p:sp>
        <p:nvSpPr>
          <p:cNvPr id="8" name="Shape 6"/>
          <p:cNvSpPr/>
          <p:nvPr/>
        </p:nvSpPr>
        <p:spPr>
          <a:xfrm>
            <a:off x="548640" y="2862072"/>
            <a:ext cx="502920" cy="502920"/>
          </a:xfrm>
          <a:prstGeom prst="oval">
            <a:avLst/>
          </a:prstGeom>
          <a:solidFill>
            <a:srgbClr val="1C7293"/>
          </a:solidFill>
          <a:ln/>
        </p:spPr>
      </p:sp>
      <p:sp>
        <p:nvSpPr>
          <p:cNvPr id="9" name="Text 7"/>
          <p:cNvSpPr txBox="1"/>
          <p:nvPr/>
        </p:nvSpPr>
        <p:spPr>
          <a:xfrm>
            <a:off x="548640" y="286207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280160" y="2834640"/>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現場での気づき</a:t>
            </a:r>
            <a:endParaRPr lang="en-US" sz="1500" dirty="0"/>
          </a:p>
        </p:txBody>
      </p:sp>
      <p:sp>
        <p:nvSpPr>
          <p:cNvPr id="11" name="Text 9"/>
          <p:cNvSpPr txBox="1"/>
          <p:nvPr/>
        </p:nvSpPr>
        <p:spPr>
          <a:xfrm>
            <a:off x="1280160" y="3154680"/>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「おにぎり2個＋バナナ＆ヨーグルト」の副食をスムージー化したところ、練習時の出力が劇的に向上したとの報告。</a:t>
            </a:r>
            <a:endParaRPr lang="en-US" sz="1250" dirty="0"/>
          </a:p>
        </p:txBody>
      </p:sp>
      <p:sp>
        <p:nvSpPr>
          <p:cNvPr id="12" name="Shape 10"/>
          <p:cNvSpPr/>
          <p:nvPr/>
        </p:nvSpPr>
        <p:spPr>
          <a:xfrm>
            <a:off x="548640" y="4032504"/>
            <a:ext cx="502920" cy="502920"/>
          </a:xfrm>
          <a:prstGeom prst="oval">
            <a:avLst/>
          </a:prstGeom>
          <a:solidFill>
            <a:srgbClr val="1BAF7A"/>
          </a:solidFill>
          <a:ln/>
        </p:spPr>
      </p:sp>
      <p:sp>
        <p:nvSpPr>
          <p:cNvPr id="13" name="Text 11"/>
          <p:cNvSpPr txBox="1"/>
          <p:nvPr/>
        </p:nvSpPr>
        <p:spPr>
          <a:xfrm>
            <a:off x="548640" y="4032504"/>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280160" y="4005072"/>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作業仮説</a:t>
            </a:r>
            <a:endParaRPr lang="en-US" sz="1500" dirty="0"/>
          </a:p>
        </p:txBody>
      </p:sp>
      <p:sp>
        <p:nvSpPr>
          <p:cNvPr id="15" name="Text 13"/>
          <p:cNvSpPr txBox="1"/>
          <p:nvPr/>
        </p:nvSpPr>
        <p:spPr>
          <a:xfrm>
            <a:off x="1280160" y="4325112"/>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おにぎりの満足感は残しつつ副食を部分的に液状化し、総固形物量を減らすことで胃排泄を促し、血糖・消化ストレスを回避できるのでは。</a:t>
            </a:r>
            <a:endParaRPr lang="en-US" sz="1250" dirty="0"/>
          </a:p>
        </p:txBody>
      </p:sp>
      <p:sp>
        <p:nvSpPr>
          <p:cNvPr id="16" name="Shape 14"/>
          <p:cNvSpPr/>
          <p:nvPr/>
        </p:nvSpPr>
        <p:spPr>
          <a:xfrm>
            <a:off x="548640" y="5202936"/>
            <a:ext cx="502920" cy="502920"/>
          </a:xfrm>
          <a:prstGeom prst="oval">
            <a:avLst/>
          </a:prstGeom>
          <a:solidFill>
            <a:srgbClr val="21295C"/>
          </a:solidFill>
          <a:ln/>
        </p:spPr>
      </p:sp>
      <p:sp>
        <p:nvSpPr>
          <p:cNvPr id="17" name="Text 15"/>
          <p:cNvSpPr txBox="1"/>
          <p:nvPr/>
        </p:nvSpPr>
        <p:spPr>
          <a:xfrm>
            <a:off x="548640" y="5202936"/>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5175504"/>
            <a:ext cx="9875520" cy="320040"/>
          </a:xfrm>
          <a:prstGeom prst="rect">
            <a:avLst/>
          </a:prstGeom>
          <a:noFill/>
          <a:ln/>
        </p:spPr>
        <p:txBody>
          <a:bodyPr wrap="square" lIns="0" tIns="0" rIns="0" bIns="0" rtlCol="0" anchor="ctr"/>
          <a:lstStyle/>
          <a:p>
            <a:pPr indent="0" marL="0">
              <a:buNone/>
            </a:pPr>
            <a:r>
              <a:rPr lang="en-US" sz="1500" b="1" dirty="0">
                <a:solidFill>
                  <a:srgbClr val="21295C"/>
                </a:solidFill>
                <a:latin typeface="Calibri" pitchFamily="34" charset="0"/>
                <a:ea typeface="Calibri" pitchFamily="34" charset="-122"/>
                <a:cs typeface="Calibri" pitchFamily="34" charset="-120"/>
              </a:rPr>
              <a:t>本分析の目的</a:t>
            </a:r>
            <a:endParaRPr lang="en-US" sz="1500" dirty="0"/>
          </a:p>
        </p:txBody>
      </p:sp>
      <p:sp>
        <p:nvSpPr>
          <p:cNvPr id="19" name="Text 17"/>
          <p:cNvSpPr txBox="1"/>
          <p:nvPr/>
        </p:nvSpPr>
        <p:spPr>
          <a:xfrm>
            <a:off x="1280160" y="5495544"/>
            <a:ext cx="9966960" cy="54864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4条件（固形／スムージー／おにぎり＋スムージー／糖質減食）で血糖動態と自覚コンディションへの影響を比較検証する。</a:t>
            </a:r>
            <a:endParaRPr lang="en-US" sz="1250" dirty="0"/>
          </a:p>
        </p:txBody>
      </p:sp>
      <p:sp>
        <p:nvSpPr>
          <p:cNvPr id="20" name="Text 18"/>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研究の背景と意義（提供資料より要約）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METHOD</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4条件の摂取スケジュール</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286000"/>
        </p:xfrm>
        <a:graphic>
          <a:graphicData uri="http://schemas.openxmlformats.org/drawingml/2006/table">
            <a:tbl>
              <a:tblPr/>
              <a:tblGrid>
                <a:gridCol w="2377440"/>
                <a:gridCol w="1143000"/>
                <a:gridCol w="4754880"/>
                <a:gridCol w="2816352"/>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条件</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日程</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8:00の食事内容</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おにぎりのタイミング</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固形摂取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DAY1〜3</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果物ヨーグルト（固形）のみ</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約2.5〜3時間後</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スムージー摂取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DAY4〜6</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果物ヨーグルト（スムージー）のみ</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約2.5〜3時間後</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おにぎり＋スムージー</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DAY8〜10</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おにぎり＋スムージー（同時）</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8:00に同時摂取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21295C"/>
                          </a:solidFill>
                          <a:latin typeface="Calibri" pitchFamily="34" charset="0"/>
                          <a:ea typeface="Calibri" pitchFamily="34" charset="-122"/>
                          <a:cs typeface="Calibri" pitchFamily="34" charset="-120"/>
                        </a:rPr>
                        <a:t>おにぎり＋糖質減</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DAY11〜13</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おにぎり＋スムージー糖質減（同時）</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8:00に同時摂取</a:t>
                      </a:r>
                      <a:endParaRPr lang="en-US" sz="125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bl>
          </a:graphicData>
        </a:graphic>
      </p:graphicFrame>
      <p:sp>
        <p:nvSpPr>
          <p:cNvPr id="5" name="Shape 2"/>
          <p:cNvSpPr/>
          <p:nvPr/>
        </p:nvSpPr>
        <p:spPr>
          <a:xfrm>
            <a:off x="548640" y="4343400"/>
            <a:ext cx="11091672" cy="1691640"/>
          </a:xfrm>
          <a:prstGeom prst="roundRect">
            <a:avLst>
              <a:gd name="adj" fmla="val 6486"/>
            </a:avLst>
          </a:prstGeom>
          <a:solidFill>
            <a:srgbClr val="FDF3E2"/>
          </a:solidFill>
          <a:ln w="12700">
            <a:solidFill>
              <a:srgbClr val="EDA100"/>
            </a:solidFill>
            <a:prstDash val="solid"/>
          </a:ln>
        </p:spPr>
      </p:sp>
      <p:sp>
        <p:nvSpPr>
          <p:cNvPr id="6" name="Text 3"/>
          <p:cNvSpPr txBox="1"/>
          <p:nvPr/>
        </p:nvSpPr>
        <p:spPr>
          <a:xfrm>
            <a:off x="822960" y="4498848"/>
            <a:ext cx="5486400" cy="320040"/>
          </a:xfrm>
          <a:prstGeom prst="rect">
            <a:avLst/>
          </a:prstGeom>
          <a:noFill/>
          <a:ln/>
        </p:spPr>
        <p:txBody>
          <a:bodyPr wrap="square" lIns="0" tIns="0" rIns="0" bIns="0" rtlCol="0" anchor="ctr"/>
          <a:lstStyle/>
          <a:p>
            <a:pPr indent="0" marL="0">
              <a:buNone/>
            </a:pPr>
            <a:r>
              <a:rPr lang="en-US" sz="1300" b="1" dirty="0">
                <a:solidFill>
                  <a:srgbClr val="6B4B00"/>
                </a:solidFill>
                <a:latin typeface="Calibri" pitchFamily="34" charset="0"/>
                <a:ea typeface="Calibri" pitchFamily="34" charset="-122"/>
                <a:cs typeface="Calibri" pitchFamily="34" charset="-120"/>
              </a:rPr>
              <a:t>⚠ 重要な注意点</a:t>
            </a:r>
            <a:endParaRPr lang="en-US" sz="1300" dirty="0"/>
          </a:p>
        </p:txBody>
      </p:sp>
      <p:sp>
        <p:nvSpPr>
          <p:cNvPr id="7" name="Text 4"/>
          <p:cNvSpPr txBox="1"/>
          <p:nvPr/>
        </p:nvSpPr>
        <p:spPr>
          <a:xfrm>
            <a:off x="822960" y="4864608"/>
            <a:ext cx="10543032" cy="1097280"/>
          </a:xfrm>
          <a:prstGeom prst="rect">
            <a:avLst/>
          </a:prstGeom>
          <a:noFill/>
          <a:ln/>
        </p:spPr>
        <p:txBody>
          <a:bodyPr wrap="square" lIns="0" tIns="0" rIns="0" bIns="0" rtlCol="0" anchor="ctr"/>
          <a:lstStyle/>
          <a:p>
            <a:pPr indent="0" marL="0">
              <a:buNone/>
            </a:pPr>
            <a:r>
              <a:rPr lang="en-US" sz="1200" dirty="0">
                <a:solidFill>
                  <a:srgbClr val="6B4B00"/>
                </a:solidFill>
                <a:latin typeface="Calibri" pitchFamily="34" charset="0"/>
                <a:ea typeface="Calibri" pitchFamily="34" charset="-122"/>
                <a:cs typeface="Calibri" pitchFamily="34" charset="-120"/>
              </a:rPr>
              <a:t>固形・スムージー条件は「副食のみを先に食べ、おにぎりは約2.5〜3時間後」、おにぎり＋スムージー・糖質減条件は「おにぎりと副食を同時摂取」という異なるプロトコル。4条件は形態とタイミングが同時に変わるため、純粋な形態比較ができるのは「固形 vs スムージー（副食のみ）」に限られる。トレーニングはどの条件も11:00〜14:00の間に実施（1日60〜180分、条件ブロックにより変動）。</a:t>
            </a:r>
            <a:endParaRPr lang="en-US" sz="1200" dirty="0"/>
          </a:p>
        </p:txBody>
      </p:sp>
      <p:sp>
        <p:nvSpPr>
          <p:cNvPr id="8" name="Text 5"/>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n = 3日／条件（同一選手の反復測定）。12:00以降は自由摂取。</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METHOD</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実験デザイン（1日のタイムライン）</a:t>
            </a:r>
            <a:endParaRPr lang="en-US" sz="2800" dirty="0"/>
          </a:p>
        </p:txBody>
      </p:sp>
      <p:sp>
        <p:nvSpPr>
          <p:cNvPr id="4" name="Text 2"/>
          <p:cNvSpPr txBox="1"/>
          <p:nvPr/>
        </p:nvSpPr>
        <p:spPr>
          <a:xfrm>
            <a:off x="2697480" y="1572768"/>
            <a:ext cx="640080" cy="201168"/>
          </a:xfrm>
          <a:prstGeom prst="rect">
            <a:avLst/>
          </a:prstGeom>
          <a:noFill/>
          <a:ln/>
        </p:spPr>
        <p:txBody>
          <a:bodyPr wrap="square" lIns="0" tIns="0" rIns="0" bIns="0" rtlCol="0" anchor="ctr"/>
          <a:lstStyle/>
          <a:p>
            <a:pPr algn="l" indent="0" marL="0">
              <a:buNone/>
            </a:pPr>
            <a:r>
              <a:rPr lang="en-US" sz="900" dirty="0">
                <a:solidFill>
                  <a:srgbClr val="5C6570"/>
                </a:solidFill>
                <a:latin typeface="Calibri" pitchFamily="34" charset="0"/>
                <a:ea typeface="Calibri" pitchFamily="34" charset="-122"/>
                <a:cs typeface="Calibri" pitchFamily="34" charset="-120"/>
              </a:rPr>
              <a:t>8:00</a:t>
            </a:r>
            <a:endParaRPr lang="en-US" sz="900" dirty="0"/>
          </a:p>
        </p:txBody>
      </p:sp>
      <p:sp>
        <p:nvSpPr>
          <p:cNvPr id="5" name="Shape 3"/>
          <p:cNvSpPr/>
          <p:nvPr/>
        </p:nvSpPr>
        <p:spPr>
          <a:xfrm>
            <a:off x="2697480" y="1792224"/>
            <a:ext cx="0" cy="4160520"/>
          </a:xfrm>
          <a:prstGeom prst="line">
            <a:avLst/>
          </a:prstGeom>
          <a:noFill/>
          <a:ln w="9525">
            <a:solidFill>
              <a:srgbClr val="EDEBE4"/>
            </a:solidFill>
            <a:prstDash val="solid"/>
          </a:ln>
        </p:spPr>
      </p:sp>
      <p:sp>
        <p:nvSpPr>
          <p:cNvPr id="6" name="Text 4"/>
          <p:cNvSpPr txBox="1"/>
          <p:nvPr/>
        </p:nvSpPr>
        <p:spPr>
          <a:xfrm>
            <a:off x="3852672"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10:00</a:t>
            </a:r>
            <a:endParaRPr lang="en-US" sz="900" dirty="0"/>
          </a:p>
        </p:txBody>
      </p:sp>
      <p:sp>
        <p:nvSpPr>
          <p:cNvPr id="7" name="Shape 5"/>
          <p:cNvSpPr/>
          <p:nvPr/>
        </p:nvSpPr>
        <p:spPr>
          <a:xfrm>
            <a:off x="4172712" y="1792224"/>
            <a:ext cx="0" cy="4160520"/>
          </a:xfrm>
          <a:prstGeom prst="line">
            <a:avLst/>
          </a:prstGeom>
          <a:noFill/>
          <a:ln w="9525">
            <a:solidFill>
              <a:srgbClr val="EDEBE4"/>
            </a:solidFill>
            <a:prstDash val="solid"/>
          </a:ln>
        </p:spPr>
      </p:sp>
      <p:sp>
        <p:nvSpPr>
          <p:cNvPr id="8" name="Text 6"/>
          <p:cNvSpPr txBox="1"/>
          <p:nvPr/>
        </p:nvSpPr>
        <p:spPr>
          <a:xfrm>
            <a:off x="5327904"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12:00</a:t>
            </a:r>
            <a:endParaRPr lang="en-US" sz="900" dirty="0"/>
          </a:p>
        </p:txBody>
      </p:sp>
      <p:sp>
        <p:nvSpPr>
          <p:cNvPr id="9" name="Shape 7"/>
          <p:cNvSpPr/>
          <p:nvPr/>
        </p:nvSpPr>
        <p:spPr>
          <a:xfrm>
            <a:off x="5647944" y="1792224"/>
            <a:ext cx="0" cy="4160520"/>
          </a:xfrm>
          <a:prstGeom prst="line">
            <a:avLst/>
          </a:prstGeom>
          <a:noFill/>
          <a:ln w="9525">
            <a:solidFill>
              <a:srgbClr val="EDEBE4"/>
            </a:solidFill>
            <a:prstDash val="solid"/>
          </a:ln>
        </p:spPr>
      </p:sp>
      <p:sp>
        <p:nvSpPr>
          <p:cNvPr id="10" name="Text 8"/>
          <p:cNvSpPr txBox="1"/>
          <p:nvPr/>
        </p:nvSpPr>
        <p:spPr>
          <a:xfrm>
            <a:off x="6803136"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14:00</a:t>
            </a:r>
            <a:endParaRPr lang="en-US" sz="900" dirty="0"/>
          </a:p>
        </p:txBody>
      </p:sp>
      <p:sp>
        <p:nvSpPr>
          <p:cNvPr id="11" name="Shape 9"/>
          <p:cNvSpPr/>
          <p:nvPr/>
        </p:nvSpPr>
        <p:spPr>
          <a:xfrm>
            <a:off x="7123176" y="1792224"/>
            <a:ext cx="0" cy="4160520"/>
          </a:xfrm>
          <a:prstGeom prst="line">
            <a:avLst/>
          </a:prstGeom>
          <a:noFill/>
          <a:ln w="9525">
            <a:solidFill>
              <a:srgbClr val="EDEBE4"/>
            </a:solidFill>
            <a:prstDash val="solid"/>
          </a:ln>
        </p:spPr>
      </p:sp>
      <p:sp>
        <p:nvSpPr>
          <p:cNvPr id="12" name="Text 10"/>
          <p:cNvSpPr txBox="1"/>
          <p:nvPr/>
        </p:nvSpPr>
        <p:spPr>
          <a:xfrm>
            <a:off x="8278368"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16:00</a:t>
            </a:r>
            <a:endParaRPr lang="en-US" sz="900" dirty="0"/>
          </a:p>
        </p:txBody>
      </p:sp>
      <p:sp>
        <p:nvSpPr>
          <p:cNvPr id="13" name="Shape 11"/>
          <p:cNvSpPr/>
          <p:nvPr/>
        </p:nvSpPr>
        <p:spPr>
          <a:xfrm>
            <a:off x="8598408" y="1792224"/>
            <a:ext cx="0" cy="4160520"/>
          </a:xfrm>
          <a:prstGeom prst="line">
            <a:avLst/>
          </a:prstGeom>
          <a:noFill/>
          <a:ln w="9525">
            <a:solidFill>
              <a:srgbClr val="EDEBE4"/>
            </a:solidFill>
            <a:prstDash val="solid"/>
          </a:ln>
        </p:spPr>
      </p:sp>
      <p:sp>
        <p:nvSpPr>
          <p:cNvPr id="14" name="Text 12"/>
          <p:cNvSpPr txBox="1"/>
          <p:nvPr/>
        </p:nvSpPr>
        <p:spPr>
          <a:xfrm>
            <a:off x="9753600" y="1572768"/>
            <a:ext cx="640080" cy="201168"/>
          </a:xfrm>
          <a:prstGeom prst="rect">
            <a:avLst/>
          </a:prstGeom>
          <a:noFill/>
          <a:ln/>
        </p:spPr>
        <p:txBody>
          <a:bodyPr wrap="square" lIns="0" tIns="0" rIns="0" bIns="0" rtlCol="0" anchor="ctr"/>
          <a:lstStyle/>
          <a:p>
            <a:pPr algn="ctr" indent="0" marL="0">
              <a:buNone/>
            </a:pPr>
            <a:r>
              <a:rPr lang="en-US" sz="900" dirty="0">
                <a:solidFill>
                  <a:srgbClr val="5C6570"/>
                </a:solidFill>
                <a:latin typeface="Calibri" pitchFamily="34" charset="0"/>
                <a:ea typeface="Calibri" pitchFamily="34" charset="-122"/>
                <a:cs typeface="Calibri" pitchFamily="34" charset="-120"/>
              </a:rPr>
              <a:t>18:00</a:t>
            </a:r>
            <a:endParaRPr lang="en-US" sz="900" dirty="0"/>
          </a:p>
        </p:txBody>
      </p:sp>
      <p:sp>
        <p:nvSpPr>
          <p:cNvPr id="15" name="Shape 13"/>
          <p:cNvSpPr/>
          <p:nvPr/>
        </p:nvSpPr>
        <p:spPr>
          <a:xfrm>
            <a:off x="10073640" y="1792224"/>
            <a:ext cx="0" cy="4160520"/>
          </a:xfrm>
          <a:prstGeom prst="line">
            <a:avLst/>
          </a:prstGeom>
          <a:noFill/>
          <a:ln w="9525">
            <a:solidFill>
              <a:srgbClr val="EDEBE4"/>
            </a:solidFill>
            <a:prstDash val="solid"/>
          </a:ln>
        </p:spPr>
      </p:sp>
      <p:sp>
        <p:nvSpPr>
          <p:cNvPr id="16" name="Text 14"/>
          <p:cNvSpPr txBox="1"/>
          <p:nvPr/>
        </p:nvSpPr>
        <p:spPr>
          <a:xfrm>
            <a:off x="10908792" y="1572768"/>
            <a:ext cx="640080" cy="201168"/>
          </a:xfrm>
          <a:prstGeom prst="rect">
            <a:avLst/>
          </a:prstGeom>
          <a:noFill/>
          <a:ln/>
        </p:spPr>
        <p:txBody>
          <a:bodyPr wrap="square" lIns="0" tIns="0" rIns="0" bIns="0" rtlCol="0" anchor="ctr"/>
          <a:lstStyle/>
          <a:p>
            <a:pPr algn="r" indent="0" marL="0">
              <a:buNone/>
            </a:pPr>
            <a:r>
              <a:rPr lang="en-US" sz="900" dirty="0">
                <a:solidFill>
                  <a:srgbClr val="5C6570"/>
                </a:solidFill>
                <a:latin typeface="Calibri" pitchFamily="34" charset="0"/>
                <a:ea typeface="Calibri" pitchFamily="34" charset="-122"/>
                <a:cs typeface="Calibri" pitchFamily="34" charset="-120"/>
              </a:rPr>
              <a:t>20:00</a:t>
            </a:r>
            <a:endParaRPr lang="en-US" sz="900" dirty="0"/>
          </a:p>
        </p:txBody>
      </p:sp>
      <p:sp>
        <p:nvSpPr>
          <p:cNvPr id="17" name="Shape 15"/>
          <p:cNvSpPr/>
          <p:nvPr/>
        </p:nvSpPr>
        <p:spPr>
          <a:xfrm>
            <a:off x="11548872" y="1792224"/>
            <a:ext cx="0" cy="4160520"/>
          </a:xfrm>
          <a:prstGeom prst="line">
            <a:avLst/>
          </a:prstGeom>
          <a:noFill/>
          <a:ln w="9525">
            <a:solidFill>
              <a:srgbClr val="EDEBE4"/>
            </a:solidFill>
            <a:prstDash val="solid"/>
          </a:ln>
        </p:spPr>
      </p:sp>
      <p:sp>
        <p:nvSpPr>
          <p:cNvPr id="18" name="Text 16"/>
          <p:cNvSpPr txBox="1"/>
          <p:nvPr/>
        </p:nvSpPr>
        <p:spPr>
          <a:xfrm>
            <a:off x="548640" y="1929384"/>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固形摂取</a:t>
            </a:r>
            <a:endParaRPr lang="en-US" sz="1200" dirty="0"/>
          </a:p>
        </p:txBody>
      </p:sp>
      <p:sp>
        <p:nvSpPr>
          <p:cNvPr id="19" name="Text 17"/>
          <p:cNvSpPr txBox="1"/>
          <p:nvPr/>
        </p:nvSpPr>
        <p:spPr>
          <a:xfrm>
            <a:off x="548640" y="2203704"/>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DAY1〜3</a:t>
            </a:r>
            <a:endParaRPr lang="en-US" sz="950" dirty="0"/>
          </a:p>
        </p:txBody>
      </p:sp>
      <p:sp>
        <p:nvSpPr>
          <p:cNvPr id="20" name="Shape 18"/>
          <p:cNvSpPr/>
          <p:nvPr/>
        </p:nvSpPr>
        <p:spPr>
          <a:xfrm>
            <a:off x="2697480" y="2322576"/>
            <a:ext cx="8851392" cy="0"/>
          </a:xfrm>
          <a:prstGeom prst="line">
            <a:avLst/>
          </a:prstGeom>
          <a:noFill/>
          <a:ln w="12700">
            <a:solidFill>
              <a:srgbClr val="E3E1DB"/>
            </a:solidFill>
            <a:prstDash val="solid"/>
          </a:ln>
        </p:spPr>
      </p:sp>
      <p:sp>
        <p:nvSpPr>
          <p:cNvPr id="21" name="Shape 19"/>
          <p:cNvSpPr/>
          <p:nvPr/>
        </p:nvSpPr>
        <p:spPr>
          <a:xfrm>
            <a:off x="2697480" y="2167128"/>
            <a:ext cx="502920" cy="310896"/>
          </a:xfrm>
          <a:prstGeom prst="roundRect">
            <a:avLst>
              <a:gd name="adj" fmla="val 14706"/>
            </a:avLst>
          </a:prstGeom>
          <a:solidFill>
            <a:srgbClr val="2A78D6"/>
          </a:solidFill>
          <a:ln/>
        </p:spPr>
      </p:sp>
      <p:sp>
        <p:nvSpPr>
          <p:cNvPr id="22" name="Text 20"/>
          <p:cNvSpPr txBox="1"/>
          <p:nvPr/>
        </p:nvSpPr>
        <p:spPr>
          <a:xfrm>
            <a:off x="2606040" y="1911096"/>
            <a:ext cx="3108960" cy="237744"/>
          </a:xfrm>
          <a:prstGeom prst="rect">
            <a:avLst/>
          </a:prstGeom>
          <a:noFill/>
          <a:ln/>
        </p:spPr>
        <p:txBody>
          <a:bodyPr wrap="square" lIns="0" tIns="0" rIns="0" bIns="0" rtlCol="0" anchor="ctr"/>
          <a:lstStyle/>
          <a:p>
            <a:pPr indent="0" marL="0">
              <a:buNone/>
            </a:pPr>
            <a:r>
              <a:rPr lang="en-US" sz="850" b="1" dirty="0">
                <a:solidFill>
                  <a:srgbClr val="2A78D6"/>
                </a:solidFill>
                <a:latin typeface="Calibri" pitchFamily="34" charset="0"/>
                <a:ea typeface="Calibri" pitchFamily="34" charset="-122"/>
                <a:cs typeface="Calibri" pitchFamily="34" charset="-120"/>
              </a:rPr>
              <a:t>果物ヨーグルト（固形）</a:t>
            </a:r>
            <a:endParaRPr lang="en-US" sz="850" dirty="0"/>
          </a:p>
        </p:txBody>
      </p:sp>
      <p:sp>
        <p:nvSpPr>
          <p:cNvPr id="23" name="Shape 21"/>
          <p:cNvSpPr/>
          <p:nvPr/>
        </p:nvSpPr>
        <p:spPr>
          <a:xfrm>
            <a:off x="4486656" y="2267712"/>
            <a:ext cx="109728" cy="109728"/>
          </a:xfrm>
          <a:prstGeom prst="oval">
            <a:avLst/>
          </a:prstGeom>
          <a:solidFill>
            <a:srgbClr val="2A78D6"/>
          </a:solidFill>
          <a:ln w="12700">
            <a:solidFill>
              <a:srgbClr val="FFFFFF"/>
            </a:solidFill>
            <a:prstDash val="solid"/>
          </a:ln>
        </p:spPr>
      </p:sp>
      <p:sp>
        <p:nvSpPr>
          <p:cNvPr id="24" name="Text 22"/>
          <p:cNvSpPr txBox="1"/>
          <p:nvPr/>
        </p:nvSpPr>
        <p:spPr>
          <a:xfrm>
            <a:off x="4038600" y="2505456"/>
            <a:ext cx="1188720" cy="201168"/>
          </a:xfrm>
          <a:prstGeom prst="rect">
            <a:avLst/>
          </a:prstGeom>
          <a:noFill/>
          <a:ln/>
        </p:spPr>
        <p:txBody>
          <a:bodyPr wrap="square" lIns="0" tIns="0" rIns="0" bIns="0" rtlCol="0" anchor="ctr"/>
          <a:lstStyle/>
          <a:p>
            <a:pPr algn="ctr" indent="0" marL="0">
              <a:buNone/>
            </a:pPr>
            <a:r>
              <a:rPr lang="en-US" sz="800" dirty="0">
                <a:solidFill>
                  <a:srgbClr val="2A78D6"/>
                </a:solidFill>
                <a:latin typeface="Calibri" pitchFamily="34" charset="0"/>
                <a:ea typeface="Calibri" pitchFamily="34" charset="-122"/>
                <a:cs typeface="Calibri" pitchFamily="34" charset="-120"/>
              </a:rPr>
              <a:t>おにぎり摂取</a:t>
            </a:r>
            <a:endParaRPr lang="en-US" sz="800" dirty="0"/>
          </a:p>
        </p:txBody>
      </p:sp>
      <p:sp>
        <p:nvSpPr>
          <p:cNvPr id="25" name="Shape 23"/>
          <p:cNvSpPr/>
          <p:nvPr/>
        </p:nvSpPr>
        <p:spPr>
          <a:xfrm>
            <a:off x="4910328" y="2167128"/>
            <a:ext cx="2212848" cy="310896"/>
          </a:xfrm>
          <a:prstGeom prst="roundRect">
            <a:avLst>
              <a:gd name="adj" fmla="val 14706"/>
            </a:avLst>
          </a:prstGeom>
          <a:solidFill>
            <a:srgbClr val="21295C">
              <a:alpha val="75000"/>
            </a:srgbClr>
          </a:solidFill>
          <a:ln/>
        </p:spPr>
      </p:sp>
      <p:sp>
        <p:nvSpPr>
          <p:cNvPr id="26" name="Shape 24"/>
          <p:cNvSpPr/>
          <p:nvPr/>
        </p:nvSpPr>
        <p:spPr>
          <a:xfrm>
            <a:off x="11498580" y="2272284"/>
            <a:ext cx="100584" cy="100584"/>
          </a:xfrm>
          <a:prstGeom prst="oval">
            <a:avLst/>
          </a:prstGeom>
          <a:solidFill>
            <a:srgbClr val="5C6570"/>
          </a:solidFill>
          <a:ln/>
        </p:spPr>
      </p:sp>
      <p:sp>
        <p:nvSpPr>
          <p:cNvPr id="27" name="Text 25"/>
          <p:cNvSpPr txBox="1"/>
          <p:nvPr/>
        </p:nvSpPr>
        <p:spPr>
          <a:xfrm>
            <a:off x="548640" y="2862072"/>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スムージー摂取</a:t>
            </a:r>
            <a:endParaRPr lang="en-US" sz="1200" dirty="0"/>
          </a:p>
        </p:txBody>
      </p:sp>
      <p:sp>
        <p:nvSpPr>
          <p:cNvPr id="28" name="Text 26"/>
          <p:cNvSpPr txBox="1"/>
          <p:nvPr/>
        </p:nvSpPr>
        <p:spPr>
          <a:xfrm>
            <a:off x="548640" y="3136392"/>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DAY4〜6</a:t>
            </a:r>
            <a:endParaRPr lang="en-US" sz="950" dirty="0"/>
          </a:p>
        </p:txBody>
      </p:sp>
      <p:sp>
        <p:nvSpPr>
          <p:cNvPr id="29" name="Shape 27"/>
          <p:cNvSpPr/>
          <p:nvPr/>
        </p:nvSpPr>
        <p:spPr>
          <a:xfrm>
            <a:off x="2697480" y="3255264"/>
            <a:ext cx="8851392" cy="0"/>
          </a:xfrm>
          <a:prstGeom prst="line">
            <a:avLst/>
          </a:prstGeom>
          <a:noFill/>
          <a:ln w="12700">
            <a:solidFill>
              <a:srgbClr val="E3E1DB"/>
            </a:solidFill>
            <a:prstDash val="solid"/>
          </a:ln>
        </p:spPr>
      </p:sp>
      <p:sp>
        <p:nvSpPr>
          <p:cNvPr id="30" name="Shape 28"/>
          <p:cNvSpPr/>
          <p:nvPr/>
        </p:nvSpPr>
        <p:spPr>
          <a:xfrm>
            <a:off x="2697480" y="3099816"/>
            <a:ext cx="502920" cy="310896"/>
          </a:xfrm>
          <a:prstGeom prst="roundRect">
            <a:avLst>
              <a:gd name="adj" fmla="val 14706"/>
            </a:avLst>
          </a:prstGeom>
          <a:solidFill>
            <a:srgbClr val="EB6834"/>
          </a:solidFill>
          <a:ln/>
        </p:spPr>
      </p:sp>
      <p:sp>
        <p:nvSpPr>
          <p:cNvPr id="31" name="Text 29"/>
          <p:cNvSpPr txBox="1"/>
          <p:nvPr/>
        </p:nvSpPr>
        <p:spPr>
          <a:xfrm>
            <a:off x="2606040" y="2843784"/>
            <a:ext cx="3108960" cy="237744"/>
          </a:xfrm>
          <a:prstGeom prst="rect">
            <a:avLst/>
          </a:prstGeom>
          <a:noFill/>
          <a:ln/>
        </p:spPr>
        <p:txBody>
          <a:bodyPr wrap="square" lIns="0" tIns="0" rIns="0" bIns="0" rtlCol="0" anchor="ctr"/>
          <a:lstStyle/>
          <a:p>
            <a:pPr indent="0" marL="0">
              <a:buNone/>
            </a:pPr>
            <a:r>
              <a:rPr lang="en-US" sz="850" b="1" dirty="0">
                <a:solidFill>
                  <a:srgbClr val="EB6834"/>
                </a:solidFill>
                <a:latin typeface="Calibri" pitchFamily="34" charset="0"/>
                <a:ea typeface="Calibri" pitchFamily="34" charset="-122"/>
                <a:cs typeface="Calibri" pitchFamily="34" charset="-120"/>
              </a:rPr>
              <a:t>果物ヨーグルト（スムージー）</a:t>
            </a:r>
            <a:endParaRPr lang="en-US" sz="850" dirty="0"/>
          </a:p>
        </p:txBody>
      </p:sp>
      <p:sp>
        <p:nvSpPr>
          <p:cNvPr id="32" name="Shape 30"/>
          <p:cNvSpPr/>
          <p:nvPr/>
        </p:nvSpPr>
        <p:spPr>
          <a:xfrm>
            <a:off x="4486656" y="3200400"/>
            <a:ext cx="109728" cy="109728"/>
          </a:xfrm>
          <a:prstGeom prst="oval">
            <a:avLst/>
          </a:prstGeom>
          <a:solidFill>
            <a:srgbClr val="EB6834"/>
          </a:solidFill>
          <a:ln w="12700">
            <a:solidFill>
              <a:srgbClr val="FFFFFF"/>
            </a:solidFill>
            <a:prstDash val="solid"/>
          </a:ln>
        </p:spPr>
      </p:sp>
      <p:sp>
        <p:nvSpPr>
          <p:cNvPr id="33" name="Text 31"/>
          <p:cNvSpPr txBox="1"/>
          <p:nvPr/>
        </p:nvSpPr>
        <p:spPr>
          <a:xfrm>
            <a:off x="4038600" y="3438144"/>
            <a:ext cx="1188720" cy="201168"/>
          </a:xfrm>
          <a:prstGeom prst="rect">
            <a:avLst/>
          </a:prstGeom>
          <a:noFill/>
          <a:ln/>
        </p:spPr>
        <p:txBody>
          <a:bodyPr wrap="square" lIns="0" tIns="0" rIns="0" bIns="0" rtlCol="0" anchor="ctr"/>
          <a:lstStyle/>
          <a:p>
            <a:pPr algn="ctr" indent="0" marL="0">
              <a:buNone/>
            </a:pPr>
            <a:r>
              <a:rPr lang="en-US" sz="800" dirty="0">
                <a:solidFill>
                  <a:srgbClr val="EB6834"/>
                </a:solidFill>
                <a:latin typeface="Calibri" pitchFamily="34" charset="0"/>
                <a:ea typeface="Calibri" pitchFamily="34" charset="-122"/>
                <a:cs typeface="Calibri" pitchFamily="34" charset="-120"/>
              </a:rPr>
              <a:t>おにぎり摂取</a:t>
            </a:r>
            <a:endParaRPr lang="en-US" sz="800" dirty="0"/>
          </a:p>
        </p:txBody>
      </p:sp>
      <p:sp>
        <p:nvSpPr>
          <p:cNvPr id="34" name="Shape 32"/>
          <p:cNvSpPr/>
          <p:nvPr/>
        </p:nvSpPr>
        <p:spPr>
          <a:xfrm>
            <a:off x="4910328" y="3099816"/>
            <a:ext cx="2212848" cy="310896"/>
          </a:xfrm>
          <a:prstGeom prst="roundRect">
            <a:avLst>
              <a:gd name="adj" fmla="val 14706"/>
            </a:avLst>
          </a:prstGeom>
          <a:solidFill>
            <a:srgbClr val="21295C">
              <a:alpha val="75000"/>
            </a:srgbClr>
          </a:solidFill>
          <a:ln/>
        </p:spPr>
      </p:sp>
      <p:sp>
        <p:nvSpPr>
          <p:cNvPr id="35" name="Shape 33"/>
          <p:cNvSpPr/>
          <p:nvPr/>
        </p:nvSpPr>
        <p:spPr>
          <a:xfrm>
            <a:off x="11498580" y="3204972"/>
            <a:ext cx="100584" cy="100584"/>
          </a:xfrm>
          <a:prstGeom prst="oval">
            <a:avLst/>
          </a:prstGeom>
          <a:solidFill>
            <a:srgbClr val="5C6570"/>
          </a:solidFill>
          <a:ln/>
        </p:spPr>
      </p:sp>
      <p:sp>
        <p:nvSpPr>
          <p:cNvPr id="36" name="Text 34"/>
          <p:cNvSpPr txBox="1"/>
          <p:nvPr/>
        </p:nvSpPr>
        <p:spPr>
          <a:xfrm>
            <a:off x="548640" y="3794760"/>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おにぎり＋スムージー</a:t>
            </a:r>
            <a:endParaRPr lang="en-US" sz="1200" dirty="0"/>
          </a:p>
        </p:txBody>
      </p:sp>
      <p:sp>
        <p:nvSpPr>
          <p:cNvPr id="37" name="Text 35"/>
          <p:cNvSpPr txBox="1"/>
          <p:nvPr/>
        </p:nvSpPr>
        <p:spPr>
          <a:xfrm>
            <a:off x="548640" y="4069080"/>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DAY8〜10</a:t>
            </a:r>
            <a:endParaRPr lang="en-US" sz="950" dirty="0"/>
          </a:p>
        </p:txBody>
      </p:sp>
      <p:sp>
        <p:nvSpPr>
          <p:cNvPr id="38" name="Shape 36"/>
          <p:cNvSpPr/>
          <p:nvPr/>
        </p:nvSpPr>
        <p:spPr>
          <a:xfrm>
            <a:off x="2697480" y="4187952"/>
            <a:ext cx="8851392" cy="0"/>
          </a:xfrm>
          <a:prstGeom prst="line">
            <a:avLst/>
          </a:prstGeom>
          <a:noFill/>
          <a:ln w="12700">
            <a:solidFill>
              <a:srgbClr val="E3E1DB"/>
            </a:solidFill>
            <a:prstDash val="solid"/>
          </a:ln>
        </p:spPr>
      </p:sp>
      <p:sp>
        <p:nvSpPr>
          <p:cNvPr id="39" name="Shape 37"/>
          <p:cNvSpPr/>
          <p:nvPr/>
        </p:nvSpPr>
        <p:spPr>
          <a:xfrm>
            <a:off x="2697480" y="4032504"/>
            <a:ext cx="502920" cy="310896"/>
          </a:xfrm>
          <a:prstGeom prst="roundRect">
            <a:avLst>
              <a:gd name="adj" fmla="val 14706"/>
            </a:avLst>
          </a:prstGeom>
          <a:solidFill>
            <a:srgbClr val="1BAF7A"/>
          </a:solidFill>
          <a:ln/>
        </p:spPr>
      </p:sp>
      <p:sp>
        <p:nvSpPr>
          <p:cNvPr id="40" name="Text 38"/>
          <p:cNvSpPr txBox="1"/>
          <p:nvPr/>
        </p:nvSpPr>
        <p:spPr>
          <a:xfrm>
            <a:off x="2606040" y="3776472"/>
            <a:ext cx="3108960" cy="237744"/>
          </a:xfrm>
          <a:prstGeom prst="rect">
            <a:avLst/>
          </a:prstGeom>
          <a:noFill/>
          <a:ln/>
        </p:spPr>
        <p:txBody>
          <a:bodyPr wrap="square" lIns="0" tIns="0" rIns="0" bIns="0" rtlCol="0" anchor="ctr"/>
          <a:lstStyle/>
          <a:p>
            <a:pPr indent="0" marL="0">
              <a:buNone/>
            </a:pPr>
            <a:r>
              <a:rPr lang="en-US" sz="850" b="1" dirty="0">
                <a:solidFill>
                  <a:srgbClr val="1BAF7A"/>
                </a:solidFill>
                <a:latin typeface="Calibri" pitchFamily="34" charset="0"/>
                <a:ea typeface="Calibri" pitchFamily="34" charset="-122"/>
                <a:cs typeface="Calibri" pitchFamily="34" charset="-120"/>
              </a:rPr>
              <a:t>おにぎり＋スムージー（同時）</a:t>
            </a:r>
            <a:endParaRPr lang="en-US" sz="850" dirty="0"/>
          </a:p>
        </p:txBody>
      </p:sp>
      <p:sp>
        <p:nvSpPr>
          <p:cNvPr id="41" name="Shape 39"/>
          <p:cNvSpPr/>
          <p:nvPr/>
        </p:nvSpPr>
        <p:spPr>
          <a:xfrm>
            <a:off x="4910328" y="4032504"/>
            <a:ext cx="2212848" cy="310896"/>
          </a:xfrm>
          <a:prstGeom prst="roundRect">
            <a:avLst>
              <a:gd name="adj" fmla="val 14706"/>
            </a:avLst>
          </a:prstGeom>
          <a:solidFill>
            <a:srgbClr val="21295C">
              <a:alpha val="75000"/>
            </a:srgbClr>
          </a:solidFill>
          <a:ln/>
        </p:spPr>
      </p:sp>
      <p:sp>
        <p:nvSpPr>
          <p:cNvPr id="42" name="Shape 40"/>
          <p:cNvSpPr/>
          <p:nvPr/>
        </p:nvSpPr>
        <p:spPr>
          <a:xfrm>
            <a:off x="11498580" y="4137660"/>
            <a:ext cx="100584" cy="100584"/>
          </a:xfrm>
          <a:prstGeom prst="oval">
            <a:avLst/>
          </a:prstGeom>
          <a:solidFill>
            <a:srgbClr val="5C6570"/>
          </a:solidFill>
          <a:ln/>
        </p:spPr>
      </p:sp>
      <p:sp>
        <p:nvSpPr>
          <p:cNvPr id="43" name="Text 41"/>
          <p:cNvSpPr txBox="1"/>
          <p:nvPr/>
        </p:nvSpPr>
        <p:spPr>
          <a:xfrm>
            <a:off x="548640" y="4727448"/>
            <a:ext cx="1874520" cy="292608"/>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おにぎり＋糖質減</a:t>
            </a:r>
            <a:endParaRPr lang="en-US" sz="1200" dirty="0"/>
          </a:p>
        </p:txBody>
      </p:sp>
      <p:sp>
        <p:nvSpPr>
          <p:cNvPr id="44" name="Text 42"/>
          <p:cNvSpPr txBox="1"/>
          <p:nvPr/>
        </p:nvSpPr>
        <p:spPr>
          <a:xfrm>
            <a:off x="548640" y="5001768"/>
            <a:ext cx="1874520" cy="237744"/>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DAY11〜13</a:t>
            </a:r>
            <a:endParaRPr lang="en-US" sz="950" dirty="0"/>
          </a:p>
        </p:txBody>
      </p:sp>
      <p:sp>
        <p:nvSpPr>
          <p:cNvPr id="45" name="Shape 43"/>
          <p:cNvSpPr/>
          <p:nvPr/>
        </p:nvSpPr>
        <p:spPr>
          <a:xfrm>
            <a:off x="2697480" y="5120640"/>
            <a:ext cx="8851392" cy="0"/>
          </a:xfrm>
          <a:prstGeom prst="line">
            <a:avLst/>
          </a:prstGeom>
          <a:noFill/>
          <a:ln w="12700">
            <a:solidFill>
              <a:srgbClr val="E3E1DB"/>
            </a:solidFill>
            <a:prstDash val="solid"/>
          </a:ln>
        </p:spPr>
      </p:sp>
      <p:sp>
        <p:nvSpPr>
          <p:cNvPr id="46" name="Shape 44"/>
          <p:cNvSpPr/>
          <p:nvPr/>
        </p:nvSpPr>
        <p:spPr>
          <a:xfrm>
            <a:off x="2697480" y="4965192"/>
            <a:ext cx="502920" cy="310896"/>
          </a:xfrm>
          <a:prstGeom prst="roundRect">
            <a:avLst>
              <a:gd name="adj" fmla="val 14706"/>
            </a:avLst>
          </a:prstGeom>
          <a:solidFill>
            <a:srgbClr val="EDA100"/>
          </a:solidFill>
          <a:ln/>
        </p:spPr>
      </p:sp>
      <p:sp>
        <p:nvSpPr>
          <p:cNvPr id="47" name="Text 45"/>
          <p:cNvSpPr txBox="1"/>
          <p:nvPr/>
        </p:nvSpPr>
        <p:spPr>
          <a:xfrm>
            <a:off x="2606040" y="4709160"/>
            <a:ext cx="3108960" cy="237744"/>
          </a:xfrm>
          <a:prstGeom prst="rect">
            <a:avLst/>
          </a:prstGeom>
          <a:noFill/>
          <a:ln/>
        </p:spPr>
        <p:txBody>
          <a:bodyPr wrap="square" lIns="0" tIns="0" rIns="0" bIns="0" rtlCol="0" anchor="ctr"/>
          <a:lstStyle/>
          <a:p>
            <a:pPr indent="0" marL="0">
              <a:buNone/>
            </a:pPr>
            <a:r>
              <a:rPr lang="en-US" sz="850" b="1" dirty="0">
                <a:solidFill>
                  <a:srgbClr val="EDA100"/>
                </a:solidFill>
                <a:latin typeface="Calibri" pitchFamily="34" charset="0"/>
                <a:ea typeface="Calibri" pitchFamily="34" charset="-122"/>
                <a:cs typeface="Calibri" pitchFamily="34" charset="-120"/>
              </a:rPr>
              <a:t>おにぎり＋スムージー糖質減（同時）</a:t>
            </a:r>
            <a:endParaRPr lang="en-US" sz="850" dirty="0"/>
          </a:p>
        </p:txBody>
      </p:sp>
      <p:sp>
        <p:nvSpPr>
          <p:cNvPr id="48" name="Shape 46"/>
          <p:cNvSpPr/>
          <p:nvPr/>
        </p:nvSpPr>
        <p:spPr>
          <a:xfrm>
            <a:off x="4910328" y="4965192"/>
            <a:ext cx="2212848" cy="310896"/>
          </a:xfrm>
          <a:prstGeom prst="roundRect">
            <a:avLst>
              <a:gd name="adj" fmla="val 14706"/>
            </a:avLst>
          </a:prstGeom>
          <a:solidFill>
            <a:srgbClr val="21295C">
              <a:alpha val="75000"/>
            </a:srgbClr>
          </a:solidFill>
          <a:ln/>
        </p:spPr>
      </p:sp>
      <p:sp>
        <p:nvSpPr>
          <p:cNvPr id="49" name="Shape 47"/>
          <p:cNvSpPr/>
          <p:nvPr/>
        </p:nvSpPr>
        <p:spPr>
          <a:xfrm>
            <a:off x="11498580" y="5070348"/>
            <a:ext cx="100584" cy="100584"/>
          </a:xfrm>
          <a:prstGeom prst="oval">
            <a:avLst/>
          </a:prstGeom>
          <a:solidFill>
            <a:srgbClr val="5C6570"/>
          </a:solidFill>
          <a:ln/>
        </p:spPr>
      </p:sp>
      <p:sp>
        <p:nvSpPr>
          <p:cNvPr id="50" name="Shape 48"/>
          <p:cNvSpPr/>
          <p:nvPr/>
        </p:nvSpPr>
        <p:spPr>
          <a:xfrm>
            <a:off x="548640" y="5742432"/>
            <a:ext cx="274320" cy="146304"/>
          </a:xfrm>
          <a:prstGeom prst="roundRect">
            <a:avLst>
              <a:gd name="adj" fmla="val 25000"/>
            </a:avLst>
          </a:prstGeom>
          <a:solidFill>
            <a:srgbClr val="21295C">
              <a:alpha val="75000"/>
            </a:srgbClr>
          </a:solidFill>
          <a:ln/>
        </p:spPr>
      </p:sp>
      <p:sp>
        <p:nvSpPr>
          <p:cNvPr id="51" name="Text 49"/>
          <p:cNvSpPr txBox="1"/>
          <p:nvPr/>
        </p:nvSpPr>
        <p:spPr>
          <a:xfrm>
            <a:off x="896112" y="5660136"/>
            <a:ext cx="5029200" cy="29260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トレーニング（60〜180分、11:00〜14:00の間で実施）</a:t>
            </a:r>
            <a:endParaRPr lang="en-US" sz="1000" dirty="0"/>
          </a:p>
        </p:txBody>
      </p:sp>
      <p:sp>
        <p:nvSpPr>
          <p:cNvPr id="52" name="Shape 50"/>
          <p:cNvSpPr/>
          <p:nvPr/>
        </p:nvSpPr>
        <p:spPr>
          <a:xfrm>
            <a:off x="6309360" y="5769864"/>
            <a:ext cx="100584" cy="100584"/>
          </a:xfrm>
          <a:prstGeom prst="oval">
            <a:avLst/>
          </a:prstGeom>
          <a:solidFill>
            <a:srgbClr val="5C6570"/>
          </a:solidFill>
          <a:ln/>
        </p:spPr>
      </p:sp>
      <p:sp>
        <p:nvSpPr>
          <p:cNvPr id="53" name="Text 51"/>
          <p:cNvSpPr txBox="1"/>
          <p:nvPr/>
        </p:nvSpPr>
        <p:spPr>
          <a:xfrm>
            <a:off x="6537960" y="5660136"/>
            <a:ext cx="5029200" cy="29260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20:00 夕食＋夜のコンディション記録（毎日共通）</a:t>
            </a:r>
            <a:endParaRPr lang="en-US" sz="1000" dirty="0"/>
          </a:p>
        </p:txBody>
      </p:sp>
      <p:sp>
        <p:nvSpPr>
          <p:cNvPr id="54" name="Text 52"/>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色付きブロック＝朝の被験食摂取（8:00）。固形・スムージー条件はおにぎりを約2.5時間後に別途摂取。灰色帯＝全条件共通のトレーニング時間帯。</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RESULTS</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血糖値の推移（8:00〜14:00）</a:t>
            </a:r>
            <a:endParaRPr lang="en-US" sz="2800" dirty="0"/>
          </a:p>
        </p:txBody>
      </p:sp>
      <p:graphicFrame>
        <p:nvGraphicFramePr>
          <p:cNvPr id="4" name="Chart 0" descr=""/>
          <p:cNvGraphicFramePr/>
          <p:nvPr/>
        </p:nvGraphicFramePr>
        <p:xfrm>
          <a:off x="548640" y="1600200"/>
          <a:ext cx="11091672"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15分間隔・条件ごとの平均血糖値（各条件3日間平均）。</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RESULTS</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主要指標の比較</a:t>
            </a:r>
            <a:endParaRPr lang="en-US" sz="2800" dirty="0"/>
          </a:p>
        </p:txBody>
      </p:sp>
      <p:sp>
        <p:nvSpPr>
          <p:cNvPr id="4" name="Text 2"/>
          <p:cNvSpPr txBox="1"/>
          <p:nvPr/>
        </p:nvSpPr>
        <p:spPr>
          <a:xfrm>
            <a:off x="548640" y="1572768"/>
            <a:ext cx="342900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Δピーク血糖値 (mg/dL)</a:t>
            </a:r>
            <a:endParaRPr lang="en-US" sz="1300" dirty="0"/>
          </a:p>
        </p:txBody>
      </p:sp>
      <p:sp>
        <p:nvSpPr>
          <p:cNvPr id="5" name="Text 3"/>
          <p:cNvSpPr txBox="1"/>
          <p:nvPr/>
        </p:nvSpPr>
        <p:spPr>
          <a:xfrm>
            <a:off x="548640" y="1828800"/>
            <a:ext cx="3429000" cy="256032"/>
          </a:xfrm>
          <a:prstGeom prst="rect">
            <a:avLst/>
          </a:prstGeom>
          <a:noFill/>
          <a:ln/>
        </p:spPr>
        <p:txBody>
          <a:bodyPr wrap="square" lIns="0" tIns="0" rIns="0" bIns="0" rtlCol="0" anchor="ctr"/>
          <a:lstStyle/>
          <a:p>
            <a:pPr indent="0" marL="0">
              <a:buNone/>
            </a:pPr>
            <a:r>
              <a:rPr lang="en-US" sz="1050" dirty="0">
                <a:solidFill>
                  <a:srgbClr val="5C6570"/>
                </a:solidFill>
                <a:latin typeface="Calibri" pitchFamily="34" charset="0"/>
                <a:ea typeface="Calibri" pitchFamily="34" charset="-122"/>
                <a:cs typeface="Calibri" pitchFamily="34" charset="-120"/>
              </a:rPr>
              <a:t>最高値 − 摂取直前</a:t>
            </a:r>
            <a:endParaRPr lang="en-US" sz="1050" dirty="0"/>
          </a:p>
        </p:txBody>
      </p:sp>
      <p:graphicFrame>
        <p:nvGraphicFramePr>
          <p:cNvPr id="6" name="Chart 0" descr=""/>
          <p:cNvGraphicFramePr/>
          <p:nvPr/>
        </p:nvGraphicFramePr>
        <p:xfrm>
          <a:off x="548640" y="2148840"/>
          <a:ext cx="3429000" cy="33375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343400" y="1572768"/>
            <a:ext cx="342900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iAUC 2時間 (mg/dL・分)</a:t>
            </a:r>
            <a:endParaRPr lang="en-US" sz="1300" dirty="0"/>
          </a:p>
        </p:txBody>
      </p:sp>
      <p:sp>
        <p:nvSpPr>
          <p:cNvPr id="8" name="Text 5"/>
          <p:cNvSpPr txBox="1"/>
          <p:nvPr/>
        </p:nvSpPr>
        <p:spPr>
          <a:xfrm>
            <a:off x="4343400" y="1828800"/>
            <a:ext cx="3429000" cy="256032"/>
          </a:xfrm>
          <a:prstGeom prst="rect">
            <a:avLst/>
          </a:prstGeom>
          <a:noFill/>
          <a:ln/>
        </p:spPr>
        <p:txBody>
          <a:bodyPr wrap="square" lIns="0" tIns="0" rIns="0" bIns="0" rtlCol="0" anchor="ctr"/>
          <a:lstStyle/>
          <a:p>
            <a:pPr indent="0" marL="0">
              <a:buNone/>
            </a:pPr>
            <a:r>
              <a:rPr lang="en-US" sz="1050" dirty="0">
                <a:solidFill>
                  <a:srgbClr val="5C6570"/>
                </a:solidFill>
                <a:latin typeface="Calibri" pitchFamily="34" charset="0"/>
                <a:ea typeface="Calibri" pitchFamily="34" charset="-122"/>
                <a:cs typeface="Calibri" pitchFamily="34" charset="-120"/>
              </a:rPr>
              <a:t>ベースライン超過分の面積</a:t>
            </a:r>
            <a:endParaRPr lang="en-US" sz="1050" dirty="0"/>
          </a:p>
        </p:txBody>
      </p:sp>
      <p:graphicFrame>
        <p:nvGraphicFramePr>
          <p:cNvPr id="9" name="Chart 1" descr=""/>
          <p:cNvGraphicFramePr/>
          <p:nvPr/>
        </p:nvGraphicFramePr>
        <p:xfrm>
          <a:off x="4343400" y="2148840"/>
          <a:ext cx="3429000" cy="3337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8138160" y="1572768"/>
            <a:ext cx="342900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変動係数 CV (%)</a:t>
            </a:r>
            <a:endParaRPr lang="en-US" sz="1300" dirty="0"/>
          </a:p>
        </p:txBody>
      </p:sp>
      <p:sp>
        <p:nvSpPr>
          <p:cNvPr id="11" name="Text 7"/>
          <p:cNvSpPr txBox="1"/>
          <p:nvPr/>
        </p:nvSpPr>
        <p:spPr>
          <a:xfrm>
            <a:off x="8138160" y="1828800"/>
            <a:ext cx="3429000" cy="256032"/>
          </a:xfrm>
          <a:prstGeom prst="rect">
            <a:avLst/>
          </a:prstGeom>
          <a:noFill/>
          <a:ln/>
        </p:spPr>
        <p:txBody>
          <a:bodyPr wrap="square" lIns="0" tIns="0" rIns="0" bIns="0" rtlCol="0" anchor="ctr"/>
          <a:lstStyle/>
          <a:p>
            <a:pPr indent="0" marL="0">
              <a:buNone/>
            </a:pPr>
            <a:r>
              <a:rPr lang="en-US" sz="1050" dirty="0">
                <a:solidFill>
                  <a:srgbClr val="5C6570"/>
                </a:solidFill>
                <a:latin typeface="Calibri" pitchFamily="34" charset="0"/>
                <a:ea typeface="Calibri" pitchFamily="34" charset="-122"/>
                <a:cs typeface="Calibri" pitchFamily="34" charset="-120"/>
              </a:rPr>
              <a:t>6時間の値の乱高下</a:t>
            </a:r>
            <a:endParaRPr lang="en-US" sz="1050" dirty="0"/>
          </a:p>
        </p:txBody>
      </p:sp>
      <p:graphicFrame>
        <p:nvGraphicFramePr>
          <p:cNvPr id="12" name="Chart 2" descr=""/>
          <p:cNvGraphicFramePr/>
          <p:nvPr/>
        </p:nvGraphicFramePr>
        <p:xfrm>
          <a:off x="8138160" y="2148840"/>
          <a:ext cx="3429000" cy="333756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iAUC = incremental AUC（ベースライン超過分のみを積算した正味の食後上昇量）。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1</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スムージー vs 固形（副食のみ・純粋比較）</a:t>
            </a:r>
            <a:endParaRPr lang="en-US" sz="2800" dirty="0"/>
          </a:p>
        </p:txBody>
      </p:sp>
      <p:sp>
        <p:nvSpPr>
          <p:cNvPr id="4" name="Shape 2"/>
          <p:cNvSpPr/>
          <p:nvPr/>
        </p:nvSpPr>
        <p:spPr>
          <a:xfrm>
            <a:off x="548640" y="1691640"/>
            <a:ext cx="5362956" cy="2651760"/>
          </a:xfrm>
          <a:prstGeom prst="roundRect">
            <a:avLst>
              <a:gd name="adj" fmla="val 3448"/>
            </a:avLst>
          </a:prstGeom>
          <a:solidFill>
            <a:srgbClr val="F4F7F9"/>
          </a:solidFill>
          <a:ln/>
        </p:spPr>
      </p:sp>
      <p:sp>
        <p:nvSpPr>
          <p:cNvPr id="5" name="Shape 3"/>
          <p:cNvSpPr/>
          <p:nvPr/>
        </p:nvSpPr>
        <p:spPr>
          <a:xfrm>
            <a:off x="868680" y="1920240"/>
            <a:ext cx="146304" cy="457200"/>
          </a:xfrm>
          <a:prstGeom prst="rect">
            <a:avLst/>
          </a:prstGeom>
          <a:solidFill>
            <a:srgbClr val="2A78D6"/>
          </a:solidFill>
          <a:ln/>
        </p:spPr>
      </p:sp>
      <p:sp>
        <p:nvSpPr>
          <p:cNvPr id="6" name="Text 4"/>
          <p:cNvSpPr txBox="1"/>
          <p:nvPr/>
        </p:nvSpPr>
        <p:spPr>
          <a:xfrm>
            <a:off x="1143000"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固形摂取</a:t>
            </a:r>
            <a:endParaRPr lang="en-US" sz="1600" dirty="0"/>
          </a:p>
        </p:txBody>
      </p:sp>
      <p:sp>
        <p:nvSpPr>
          <p:cNvPr id="7" name="Text 5"/>
          <p:cNvSpPr txBox="1"/>
          <p:nvPr/>
        </p:nvSpPr>
        <p:spPr>
          <a:xfrm>
            <a:off x="868680" y="2560320"/>
            <a:ext cx="4722876" cy="50292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53.7 mg/dL</a:t>
            </a:r>
            <a:endParaRPr lang="en-US" sz="2600" dirty="0"/>
          </a:p>
        </p:txBody>
      </p:sp>
      <p:sp>
        <p:nvSpPr>
          <p:cNvPr id="8" name="Text 6"/>
          <p:cNvSpPr txBox="1"/>
          <p:nvPr/>
        </p:nvSpPr>
        <p:spPr>
          <a:xfrm>
            <a:off x="868680"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a:t>
            </a:r>
            <a:endParaRPr lang="en-US" sz="1100" dirty="0"/>
          </a:p>
        </p:txBody>
      </p:sp>
      <p:sp>
        <p:nvSpPr>
          <p:cNvPr id="9" name="Text 7"/>
          <p:cNvSpPr txBox="1"/>
          <p:nvPr/>
        </p:nvSpPr>
        <p:spPr>
          <a:xfrm>
            <a:off x="868680" y="3355848"/>
            <a:ext cx="4722876" cy="50292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11.2%</a:t>
            </a:r>
            <a:endParaRPr lang="en-US" sz="2600" dirty="0"/>
          </a:p>
        </p:txBody>
      </p:sp>
      <p:sp>
        <p:nvSpPr>
          <p:cNvPr id="10" name="Text 8"/>
          <p:cNvSpPr txBox="1"/>
          <p:nvPr/>
        </p:nvSpPr>
        <p:spPr>
          <a:xfrm>
            <a:off x="868680"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a:t>
            </a:r>
            <a:endParaRPr lang="en-US" sz="1100" dirty="0"/>
          </a:p>
        </p:txBody>
      </p:sp>
      <p:sp>
        <p:nvSpPr>
          <p:cNvPr id="11" name="Shape 9"/>
          <p:cNvSpPr/>
          <p:nvPr/>
        </p:nvSpPr>
        <p:spPr>
          <a:xfrm>
            <a:off x="6277356" y="1691640"/>
            <a:ext cx="5362956" cy="2651760"/>
          </a:xfrm>
          <a:prstGeom prst="roundRect">
            <a:avLst>
              <a:gd name="adj" fmla="val 3448"/>
            </a:avLst>
          </a:prstGeom>
          <a:solidFill>
            <a:srgbClr val="F4F7F9"/>
          </a:solidFill>
          <a:ln/>
        </p:spPr>
      </p:sp>
      <p:sp>
        <p:nvSpPr>
          <p:cNvPr id="12" name="Shape 10"/>
          <p:cNvSpPr/>
          <p:nvPr/>
        </p:nvSpPr>
        <p:spPr>
          <a:xfrm>
            <a:off x="6597396" y="1920240"/>
            <a:ext cx="146304" cy="457200"/>
          </a:xfrm>
          <a:prstGeom prst="rect">
            <a:avLst/>
          </a:prstGeom>
          <a:solidFill>
            <a:srgbClr val="EB6834"/>
          </a:solidFill>
          <a:ln/>
        </p:spPr>
      </p:sp>
      <p:sp>
        <p:nvSpPr>
          <p:cNvPr id="13" name="Text 11"/>
          <p:cNvSpPr txBox="1"/>
          <p:nvPr/>
        </p:nvSpPr>
        <p:spPr>
          <a:xfrm>
            <a:off x="6871716"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スムージー摂取</a:t>
            </a:r>
            <a:endParaRPr lang="en-US" sz="1600" dirty="0"/>
          </a:p>
        </p:txBody>
      </p:sp>
      <p:sp>
        <p:nvSpPr>
          <p:cNvPr id="14" name="Text 12"/>
          <p:cNvSpPr txBox="1"/>
          <p:nvPr/>
        </p:nvSpPr>
        <p:spPr>
          <a:xfrm>
            <a:off x="6597396" y="2560320"/>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85.0 mg/dL</a:t>
            </a:r>
            <a:endParaRPr lang="en-US" sz="2600" dirty="0"/>
          </a:p>
        </p:txBody>
      </p:sp>
      <p:sp>
        <p:nvSpPr>
          <p:cNvPr id="15" name="Text 13"/>
          <p:cNvSpPr txBox="1"/>
          <p:nvPr/>
        </p:nvSpPr>
        <p:spPr>
          <a:xfrm>
            <a:off x="6597396"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Δピーク血糖値（1.6倍）</a:t>
            </a:r>
            <a:endParaRPr lang="en-US" sz="1100" dirty="0"/>
          </a:p>
        </p:txBody>
      </p:sp>
      <p:sp>
        <p:nvSpPr>
          <p:cNvPr id="16" name="Text 14"/>
          <p:cNvSpPr txBox="1"/>
          <p:nvPr/>
        </p:nvSpPr>
        <p:spPr>
          <a:xfrm>
            <a:off x="6597396" y="3355848"/>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14.7%</a:t>
            </a:r>
            <a:endParaRPr lang="en-US" sz="2600" dirty="0"/>
          </a:p>
        </p:txBody>
      </p:sp>
      <p:sp>
        <p:nvSpPr>
          <p:cNvPr id="17" name="Text 15"/>
          <p:cNvSpPr txBox="1"/>
          <p:nvPr/>
        </p:nvSpPr>
        <p:spPr>
          <a:xfrm>
            <a:off x="6597396"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a:t>
            </a:r>
            <a:endParaRPr lang="en-US" sz="1100" dirty="0"/>
          </a:p>
        </p:txBody>
      </p:sp>
      <p:sp>
        <p:nvSpPr>
          <p:cNvPr id="18" name="Shape 16"/>
          <p:cNvSpPr/>
          <p:nvPr/>
        </p:nvSpPr>
        <p:spPr>
          <a:xfrm>
            <a:off x="548640" y="4572000"/>
            <a:ext cx="11091672" cy="1508760"/>
          </a:xfrm>
          <a:prstGeom prst="roundRect">
            <a:avLst>
              <a:gd name="adj" fmla="val 6061"/>
            </a:avLst>
          </a:prstGeom>
          <a:solidFill>
            <a:srgbClr val="EAF7F0"/>
          </a:solidFill>
          <a:ln/>
        </p:spPr>
      </p:sp>
      <p:sp>
        <p:nvSpPr>
          <p:cNvPr id="19" name="Text 17"/>
          <p:cNvSpPr txBox="1"/>
          <p:nvPr/>
        </p:nvSpPr>
        <p:spPr>
          <a:xfrm>
            <a:off x="822960" y="4709160"/>
            <a:ext cx="27432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考察</a:t>
            </a:r>
            <a:endParaRPr lang="en-US" sz="1200" dirty="0"/>
          </a:p>
        </p:txBody>
      </p:sp>
      <p:sp>
        <p:nvSpPr>
          <p:cNvPr id="20" name="Text 18"/>
          <p:cNvSpPr txBox="1"/>
          <p:nvPr/>
        </p:nvSpPr>
        <p:spPr>
          <a:xfrm>
            <a:off x="822960" y="5010912"/>
            <a:ext cx="10543032" cy="96012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副食を液状化するだけで血糖の上昇幅・乱高下は明確に増大。液状化は消化の負担感を下げる一方、血糖の安定には必ずしも寄与しない可能性がある。選手の「出力向上」の体感は、血糖の安定ではなく消化器系の負担軽減（内臓への血流集中の緩和）による可能性が高い。</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2</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スムージー vs おにぎり＋スムージー</a:t>
            </a:r>
            <a:endParaRPr lang="en-US" sz="2800" dirty="0"/>
          </a:p>
        </p:txBody>
      </p:sp>
      <p:sp>
        <p:nvSpPr>
          <p:cNvPr id="4" name="Shape 2"/>
          <p:cNvSpPr/>
          <p:nvPr/>
        </p:nvSpPr>
        <p:spPr>
          <a:xfrm>
            <a:off x="548640" y="1691640"/>
            <a:ext cx="5362956" cy="2651760"/>
          </a:xfrm>
          <a:prstGeom prst="roundRect">
            <a:avLst>
              <a:gd name="adj" fmla="val 3448"/>
            </a:avLst>
          </a:prstGeom>
          <a:solidFill>
            <a:srgbClr val="F4F7F9"/>
          </a:solidFill>
          <a:ln/>
        </p:spPr>
      </p:sp>
      <p:sp>
        <p:nvSpPr>
          <p:cNvPr id="5" name="Shape 3"/>
          <p:cNvSpPr/>
          <p:nvPr/>
        </p:nvSpPr>
        <p:spPr>
          <a:xfrm>
            <a:off x="868680" y="1920240"/>
            <a:ext cx="146304" cy="457200"/>
          </a:xfrm>
          <a:prstGeom prst="rect">
            <a:avLst/>
          </a:prstGeom>
          <a:solidFill>
            <a:srgbClr val="EB6834"/>
          </a:solidFill>
          <a:ln/>
        </p:spPr>
      </p:sp>
      <p:sp>
        <p:nvSpPr>
          <p:cNvPr id="6" name="Text 4"/>
          <p:cNvSpPr txBox="1"/>
          <p:nvPr/>
        </p:nvSpPr>
        <p:spPr>
          <a:xfrm>
            <a:off x="1143000"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スムージー摂取</a:t>
            </a:r>
            <a:endParaRPr lang="en-US" sz="1600" dirty="0"/>
          </a:p>
        </p:txBody>
      </p:sp>
      <p:sp>
        <p:nvSpPr>
          <p:cNvPr id="7" name="Text 5"/>
          <p:cNvSpPr txBox="1"/>
          <p:nvPr/>
        </p:nvSpPr>
        <p:spPr>
          <a:xfrm>
            <a:off x="868680" y="2560320"/>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85.0 mg/dL</a:t>
            </a:r>
            <a:endParaRPr lang="en-US" sz="2600" dirty="0"/>
          </a:p>
        </p:txBody>
      </p:sp>
      <p:sp>
        <p:nvSpPr>
          <p:cNvPr id="8" name="Text 6"/>
          <p:cNvSpPr txBox="1"/>
          <p:nvPr/>
        </p:nvSpPr>
        <p:spPr>
          <a:xfrm>
            <a:off x="868680"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a:t>
            </a:r>
            <a:endParaRPr lang="en-US" sz="1100" dirty="0"/>
          </a:p>
        </p:txBody>
      </p:sp>
      <p:sp>
        <p:nvSpPr>
          <p:cNvPr id="9" name="Text 7"/>
          <p:cNvSpPr txBox="1"/>
          <p:nvPr/>
        </p:nvSpPr>
        <p:spPr>
          <a:xfrm>
            <a:off x="868680" y="3355848"/>
            <a:ext cx="4722876" cy="502920"/>
          </a:xfrm>
          <a:prstGeom prst="rect">
            <a:avLst/>
          </a:prstGeom>
          <a:noFill/>
          <a:ln/>
        </p:spPr>
        <p:txBody>
          <a:bodyPr wrap="square" lIns="0" tIns="0" rIns="0" bIns="0" rtlCol="0" anchor="ctr"/>
          <a:lstStyle/>
          <a:p>
            <a:pPr indent="0" marL="0">
              <a:buNone/>
            </a:pPr>
            <a:r>
              <a:rPr lang="en-US" sz="2600" b="1" dirty="0">
                <a:solidFill>
                  <a:srgbClr val="EB6834"/>
                </a:solidFill>
                <a:latin typeface="Cambria" pitchFamily="34" charset="0"/>
                <a:ea typeface="Cambria" pitchFamily="34" charset="-122"/>
                <a:cs typeface="Cambria" pitchFamily="34" charset="-120"/>
              </a:rPr>
              <a:t>14.7%</a:t>
            </a:r>
            <a:endParaRPr lang="en-US" sz="2600" dirty="0"/>
          </a:p>
        </p:txBody>
      </p:sp>
      <p:sp>
        <p:nvSpPr>
          <p:cNvPr id="10" name="Text 8"/>
          <p:cNvSpPr txBox="1"/>
          <p:nvPr/>
        </p:nvSpPr>
        <p:spPr>
          <a:xfrm>
            <a:off x="868680"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a:t>
            </a:r>
            <a:endParaRPr lang="en-US" sz="1100" dirty="0"/>
          </a:p>
        </p:txBody>
      </p:sp>
      <p:sp>
        <p:nvSpPr>
          <p:cNvPr id="11" name="Shape 9"/>
          <p:cNvSpPr/>
          <p:nvPr/>
        </p:nvSpPr>
        <p:spPr>
          <a:xfrm>
            <a:off x="6277356" y="1691640"/>
            <a:ext cx="5362956" cy="2651760"/>
          </a:xfrm>
          <a:prstGeom prst="roundRect">
            <a:avLst>
              <a:gd name="adj" fmla="val 3448"/>
            </a:avLst>
          </a:prstGeom>
          <a:solidFill>
            <a:srgbClr val="F4F7F9"/>
          </a:solidFill>
          <a:ln/>
        </p:spPr>
      </p:sp>
      <p:sp>
        <p:nvSpPr>
          <p:cNvPr id="12" name="Shape 10"/>
          <p:cNvSpPr/>
          <p:nvPr/>
        </p:nvSpPr>
        <p:spPr>
          <a:xfrm>
            <a:off x="6597396" y="1920240"/>
            <a:ext cx="146304" cy="457200"/>
          </a:xfrm>
          <a:prstGeom prst="rect">
            <a:avLst/>
          </a:prstGeom>
          <a:solidFill>
            <a:srgbClr val="1BAF7A"/>
          </a:solidFill>
          <a:ln/>
        </p:spPr>
      </p:sp>
      <p:sp>
        <p:nvSpPr>
          <p:cNvPr id="13" name="Text 11"/>
          <p:cNvSpPr txBox="1"/>
          <p:nvPr/>
        </p:nvSpPr>
        <p:spPr>
          <a:xfrm>
            <a:off x="6871716"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おにぎり＋スムージー</a:t>
            </a:r>
            <a:endParaRPr lang="en-US" sz="1600" dirty="0"/>
          </a:p>
        </p:txBody>
      </p:sp>
      <p:sp>
        <p:nvSpPr>
          <p:cNvPr id="14" name="Text 12"/>
          <p:cNvSpPr txBox="1"/>
          <p:nvPr/>
        </p:nvSpPr>
        <p:spPr>
          <a:xfrm>
            <a:off x="6597396" y="2560320"/>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78.0 mg/dL</a:t>
            </a:r>
            <a:endParaRPr lang="en-US" sz="2600" dirty="0"/>
          </a:p>
        </p:txBody>
      </p:sp>
      <p:sp>
        <p:nvSpPr>
          <p:cNvPr id="15" name="Text 13"/>
          <p:cNvSpPr txBox="1"/>
          <p:nvPr/>
        </p:nvSpPr>
        <p:spPr>
          <a:xfrm>
            <a:off x="6597396"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Δピーク血糖値</a:t>
            </a:r>
            <a:endParaRPr lang="en-US" sz="1100" dirty="0"/>
          </a:p>
        </p:txBody>
      </p:sp>
      <p:sp>
        <p:nvSpPr>
          <p:cNvPr id="16" name="Text 14"/>
          <p:cNvSpPr txBox="1"/>
          <p:nvPr/>
        </p:nvSpPr>
        <p:spPr>
          <a:xfrm>
            <a:off x="6597396" y="3355848"/>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10.1%</a:t>
            </a:r>
            <a:endParaRPr lang="en-US" sz="2600" dirty="0"/>
          </a:p>
        </p:txBody>
      </p:sp>
      <p:sp>
        <p:nvSpPr>
          <p:cNvPr id="17" name="Text 15"/>
          <p:cNvSpPr txBox="1"/>
          <p:nvPr/>
        </p:nvSpPr>
        <p:spPr>
          <a:xfrm>
            <a:off x="6597396"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変動係数 CV（最小）</a:t>
            </a:r>
            <a:endParaRPr lang="en-US" sz="1100" dirty="0"/>
          </a:p>
        </p:txBody>
      </p:sp>
      <p:sp>
        <p:nvSpPr>
          <p:cNvPr id="18" name="Shape 16"/>
          <p:cNvSpPr/>
          <p:nvPr/>
        </p:nvSpPr>
        <p:spPr>
          <a:xfrm>
            <a:off x="548640" y="4572000"/>
            <a:ext cx="11091672" cy="1508760"/>
          </a:xfrm>
          <a:prstGeom prst="roundRect">
            <a:avLst>
              <a:gd name="adj" fmla="val 6061"/>
            </a:avLst>
          </a:prstGeom>
          <a:solidFill>
            <a:srgbClr val="EAF7F0"/>
          </a:solidFill>
          <a:ln/>
        </p:spPr>
      </p:sp>
      <p:sp>
        <p:nvSpPr>
          <p:cNvPr id="19" name="Text 17"/>
          <p:cNvSpPr txBox="1"/>
          <p:nvPr/>
        </p:nvSpPr>
        <p:spPr>
          <a:xfrm>
            <a:off x="822960" y="4709160"/>
            <a:ext cx="27432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考察</a:t>
            </a:r>
            <a:endParaRPr lang="en-US" sz="1200" dirty="0"/>
          </a:p>
        </p:txBody>
      </p:sp>
      <p:sp>
        <p:nvSpPr>
          <p:cNvPr id="20" name="Text 18"/>
          <p:cNvSpPr txBox="1"/>
          <p:nvPr/>
        </p:nvSpPr>
        <p:spPr>
          <a:xfrm>
            <a:off x="822960" y="5010912"/>
            <a:ext cx="10543032" cy="96012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おにぎりを同時摂取した方がΔピーク・CVともに小さい。おにぎり（固形デンプン）が副食の急激な糖吸収を緩衝し、波形がなだらかになっている可能性がある。総摂取糖質量は増えるが（iAUC絶対値は上昇）、研究背景の「総固形物量の調整による血糖・消化ストレス緩和」仮説を支持する結果。</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3</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おにぎり＋スムージー vs おにぎり＋糖質減</a:t>
            </a:r>
            <a:endParaRPr lang="en-US" sz="2800" dirty="0"/>
          </a:p>
        </p:txBody>
      </p:sp>
      <p:sp>
        <p:nvSpPr>
          <p:cNvPr id="4" name="Shape 2"/>
          <p:cNvSpPr/>
          <p:nvPr/>
        </p:nvSpPr>
        <p:spPr>
          <a:xfrm>
            <a:off x="548640" y="1691640"/>
            <a:ext cx="5362956" cy="2651760"/>
          </a:xfrm>
          <a:prstGeom prst="roundRect">
            <a:avLst>
              <a:gd name="adj" fmla="val 3448"/>
            </a:avLst>
          </a:prstGeom>
          <a:solidFill>
            <a:srgbClr val="F4F7F9"/>
          </a:solidFill>
          <a:ln/>
        </p:spPr>
      </p:sp>
      <p:sp>
        <p:nvSpPr>
          <p:cNvPr id="5" name="Shape 3"/>
          <p:cNvSpPr/>
          <p:nvPr/>
        </p:nvSpPr>
        <p:spPr>
          <a:xfrm>
            <a:off x="868680" y="1920240"/>
            <a:ext cx="146304" cy="457200"/>
          </a:xfrm>
          <a:prstGeom prst="rect">
            <a:avLst/>
          </a:prstGeom>
          <a:solidFill>
            <a:srgbClr val="1BAF7A"/>
          </a:solidFill>
          <a:ln/>
        </p:spPr>
      </p:sp>
      <p:sp>
        <p:nvSpPr>
          <p:cNvPr id="6" name="Text 4"/>
          <p:cNvSpPr txBox="1"/>
          <p:nvPr/>
        </p:nvSpPr>
        <p:spPr>
          <a:xfrm>
            <a:off x="1143000"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おにぎり＋スムージー</a:t>
            </a:r>
            <a:endParaRPr lang="en-US" sz="1600" dirty="0"/>
          </a:p>
        </p:txBody>
      </p:sp>
      <p:sp>
        <p:nvSpPr>
          <p:cNvPr id="7" name="Text 5"/>
          <p:cNvSpPr txBox="1"/>
          <p:nvPr/>
        </p:nvSpPr>
        <p:spPr>
          <a:xfrm>
            <a:off x="868680" y="2560320"/>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5,230</a:t>
            </a:r>
            <a:endParaRPr lang="en-US" sz="2600" dirty="0"/>
          </a:p>
        </p:txBody>
      </p:sp>
      <p:sp>
        <p:nvSpPr>
          <p:cNvPr id="8" name="Text 6"/>
          <p:cNvSpPr txBox="1"/>
          <p:nvPr/>
        </p:nvSpPr>
        <p:spPr>
          <a:xfrm>
            <a:off x="868680"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iAUC 2h (mg/dL・分)</a:t>
            </a:r>
            <a:endParaRPr lang="en-US" sz="1100" dirty="0"/>
          </a:p>
        </p:txBody>
      </p:sp>
      <p:sp>
        <p:nvSpPr>
          <p:cNvPr id="9" name="Text 7"/>
          <p:cNvSpPr txBox="1"/>
          <p:nvPr/>
        </p:nvSpPr>
        <p:spPr>
          <a:xfrm>
            <a:off x="868680" y="3355848"/>
            <a:ext cx="4722876" cy="502920"/>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242.3 mg/dL</a:t>
            </a:r>
            <a:endParaRPr lang="en-US" sz="2600" dirty="0"/>
          </a:p>
        </p:txBody>
      </p:sp>
      <p:sp>
        <p:nvSpPr>
          <p:cNvPr id="10" name="Text 8"/>
          <p:cNvSpPr txBox="1"/>
          <p:nvPr/>
        </p:nvSpPr>
        <p:spPr>
          <a:xfrm>
            <a:off x="868680"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ピーク血糖値</a:t>
            </a:r>
            <a:endParaRPr lang="en-US" sz="1100" dirty="0"/>
          </a:p>
        </p:txBody>
      </p:sp>
      <p:sp>
        <p:nvSpPr>
          <p:cNvPr id="11" name="Shape 9"/>
          <p:cNvSpPr/>
          <p:nvPr/>
        </p:nvSpPr>
        <p:spPr>
          <a:xfrm>
            <a:off x="6277356" y="1691640"/>
            <a:ext cx="5362956" cy="2651760"/>
          </a:xfrm>
          <a:prstGeom prst="roundRect">
            <a:avLst>
              <a:gd name="adj" fmla="val 3448"/>
            </a:avLst>
          </a:prstGeom>
          <a:solidFill>
            <a:srgbClr val="F4F7F9"/>
          </a:solidFill>
          <a:ln/>
        </p:spPr>
      </p:sp>
      <p:sp>
        <p:nvSpPr>
          <p:cNvPr id="12" name="Shape 10"/>
          <p:cNvSpPr/>
          <p:nvPr/>
        </p:nvSpPr>
        <p:spPr>
          <a:xfrm>
            <a:off x="6597396" y="1920240"/>
            <a:ext cx="146304" cy="457200"/>
          </a:xfrm>
          <a:prstGeom prst="rect">
            <a:avLst/>
          </a:prstGeom>
          <a:solidFill>
            <a:srgbClr val="EDA100"/>
          </a:solidFill>
          <a:ln/>
        </p:spPr>
      </p:sp>
      <p:sp>
        <p:nvSpPr>
          <p:cNvPr id="13" name="Text 11"/>
          <p:cNvSpPr txBox="1"/>
          <p:nvPr/>
        </p:nvSpPr>
        <p:spPr>
          <a:xfrm>
            <a:off x="6871716" y="1874520"/>
            <a:ext cx="4448556" cy="502920"/>
          </a:xfrm>
          <a:prstGeom prst="rect">
            <a:avLst/>
          </a:prstGeom>
          <a:noFill/>
          <a:ln/>
        </p:spPr>
        <p:txBody>
          <a:bodyPr wrap="square" lIns="0" tIns="0" rIns="0" bIns="0" rtlCol="0" anchor="ctr"/>
          <a:lstStyle/>
          <a:p>
            <a:pPr indent="0" marL="0">
              <a:buNone/>
            </a:pPr>
            <a:r>
              <a:rPr lang="en-US" sz="1600" b="1" dirty="0">
                <a:solidFill>
                  <a:srgbClr val="21295C"/>
                </a:solidFill>
                <a:latin typeface="Calibri" pitchFamily="34" charset="0"/>
                <a:ea typeface="Calibri" pitchFamily="34" charset="-122"/>
                <a:cs typeface="Calibri" pitchFamily="34" charset="-120"/>
              </a:rPr>
              <a:t>おにぎり＋糖質減</a:t>
            </a:r>
            <a:endParaRPr lang="en-US" sz="1600" dirty="0"/>
          </a:p>
        </p:txBody>
      </p:sp>
      <p:sp>
        <p:nvSpPr>
          <p:cNvPr id="14" name="Text 12"/>
          <p:cNvSpPr txBox="1"/>
          <p:nvPr/>
        </p:nvSpPr>
        <p:spPr>
          <a:xfrm>
            <a:off x="6597396" y="2560320"/>
            <a:ext cx="4722876" cy="502920"/>
          </a:xfrm>
          <a:prstGeom prst="rect">
            <a:avLst/>
          </a:prstGeom>
          <a:noFill/>
          <a:ln/>
        </p:spPr>
        <p:txBody>
          <a:bodyPr wrap="square" lIns="0" tIns="0" rIns="0" bIns="0" rtlCol="0" anchor="ctr"/>
          <a:lstStyle/>
          <a:p>
            <a:pPr indent="0" marL="0">
              <a:buNone/>
            </a:pPr>
            <a:r>
              <a:rPr lang="en-US" sz="2600" b="1" dirty="0">
                <a:solidFill>
                  <a:srgbClr val="EDA100"/>
                </a:solidFill>
                <a:latin typeface="Cambria" pitchFamily="34" charset="0"/>
                <a:ea typeface="Cambria" pitchFamily="34" charset="-122"/>
                <a:cs typeface="Cambria" pitchFamily="34" charset="-120"/>
              </a:rPr>
              <a:t>3,168 (▼39%)</a:t>
            </a:r>
            <a:endParaRPr lang="en-US" sz="2600" dirty="0"/>
          </a:p>
        </p:txBody>
      </p:sp>
      <p:sp>
        <p:nvSpPr>
          <p:cNvPr id="15" name="Text 13"/>
          <p:cNvSpPr txBox="1"/>
          <p:nvPr/>
        </p:nvSpPr>
        <p:spPr>
          <a:xfrm>
            <a:off x="6597396" y="3017520"/>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iAUC 2h (mg/dL・分)</a:t>
            </a:r>
            <a:endParaRPr lang="en-US" sz="1100" dirty="0"/>
          </a:p>
        </p:txBody>
      </p:sp>
      <p:sp>
        <p:nvSpPr>
          <p:cNvPr id="16" name="Text 14"/>
          <p:cNvSpPr txBox="1"/>
          <p:nvPr/>
        </p:nvSpPr>
        <p:spPr>
          <a:xfrm>
            <a:off x="6597396" y="3355848"/>
            <a:ext cx="4722876" cy="502920"/>
          </a:xfrm>
          <a:prstGeom prst="rect">
            <a:avLst/>
          </a:prstGeom>
          <a:noFill/>
          <a:ln/>
        </p:spPr>
        <p:txBody>
          <a:bodyPr wrap="square" lIns="0" tIns="0" rIns="0" bIns="0" rtlCol="0" anchor="ctr"/>
          <a:lstStyle/>
          <a:p>
            <a:pPr indent="0" marL="0">
              <a:buNone/>
            </a:pPr>
            <a:r>
              <a:rPr lang="en-US" sz="2600" b="1" dirty="0">
                <a:solidFill>
                  <a:srgbClr val="EDA100"/>
                </a:solidFill>
                <a:latin typeface="Cambria" pitchFamily="34" charset="0"/>
                <a:ea typeface="Cambria" pitchFamily="34" charset="-122"/>
                <a:cs typeface="Cambria" pitchFamily="34" charset="-120"/>
              </a:rPr>
              <a:t>250.3 mg/dL</a:t>
            </a:r>
            <a:endParaRPr lang="en-US" sz="2600" dirty="0"/>
          </a:p>
        </p:txBody>
      </p:sp>
      <p:sp>
        <p:nvSpPr>
          <p:cNvPr id="17" name="Text 15"/>
          <p:cNvSpPr txBox="1"/>
          <p:nvPr/>
        </p:nvSpPr>
        <p:spPr>
          <a:xfrm>
            <a:off x="6597396" y="3813048"/>
            <a:ext cx="4722876" cy="32004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ピーク血糖値（同水準）</a:t>
            </a:r>
            <a:endParaRPr lang="en-US" sz="1100" dirty="0"/>
          </a:p>
        </p:txBody>
      </p:sp>
      <p:sp>
        <p:nvSpPr>
          <p:cNvPr id="18" name="Shape 16"/>
          <p:cNvSpPr/>
          <p:nvPr/>
        </p:nvSpPr>
        <p:spPr>
          <a:xfrm>
            <a:off x="548640" y="4572000"/>
            <a:ext cx="11091672" cy="1508760"/>
          </a:xfrm>
          <a:prstGeom prst="roundRect">
            <a:avLst>
              <a:gd name="adj" fmla="val 6061"/>
            </a:avLst>
          </a:prstGeom>
          <a:solidFill>
            <a:srgbClr val="EAF7F0"/>
          </a:solidFill>
          <a:ln/>
        </p:spPr>
      </p:sp>
      <p:sp>
        <p:nvSpPr>
          <p:cNvPr id="19" name="Text 17"/>
          <p:cNvSpPr txBox="1"/>
          <p:nvPr/>
        </p:nvSpPr>
        <p:spPr>
          <a:xfrm>
            <a:off x="822960" y="4709160"/>
            <a:ext cx="2743200" cy="274320"/>
          </a:xfrm>
          <a:prstGeom prst="rect">
            <a:avLst/>
          </a:prstGeom>
          <a:noFill/>
          <a:ln/>
        </p:spPr>
        <p:txBody>
          <a:bodyPr wrap="square" lIns="0" tIns="0" rIns="0" bIns="0" rtlCol="0" anchor="ctr"/>
          <a:lstStyle/>
          <a:p>
            <a:pPr indent="0" marL="0">
              <a:buNone/>
            </a:pPr>
            <a:r>
              <a:rPr lang="en-US" sz="1200" b="1" dirty="0">
                <a:solidFill>
                  <a:srgbClr val="0F5C3D"/>
                </a:solidFill>
                <a:latin typeface="Calibri" pitchFamily="34" charset="0"/>
                <a:ea typeface="Calibri" pitchFamily="34" charset="-122"/>
                <a:cs typeface="Calibri" pitchFamily="34" charset="-120"/>
              </a:rPr>
              <a:t>考察</a:t>
            </a:r>
            <a:endParaRPr lang="en-US" sz="1200" dirty="0"/>
          </a:p>
        </p:txBody>
      </p:sp>
      <p:sp>
        <p:nvSpPr>
          <p:cNvPr id="20" name="Text 18"/>
          <p:cNvSpPr txBox="1"/>
          <p:nvPr/>
        </p:nvSpPr>
        <p:spPr>
          <a:xfrm>
            <a:off x="822960" y="5010912"/>
            <a:ext cx="10543032" cy="960120"/>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研究目的に最も近い比較。糖質を減らすことで食後2時間の正味の血糖上昇（iAUC）が約39%減少。ピーク自体の高さはほぼ同水準だが、上昇の「持続・面積」＝体への負荷は明確に小さい。おにぎりの満足感を保ちながら総糖質量を最適化する方針はデータ上も支持される。</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COMPARISON 5</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タイミングの効果：同時摂取 vs 分割摂取（同エネルギー条件下）</a:t>
            </a:r>
            <a:endParaRPr lang="en-US" sz="2800" dirty="0"/>
          </a:p>
        </p:txBody>
      </p:sp>
      <p:sp>
        <p:nvSpPr>
          <p:cNvPr id="4" name="Text 2"/>
          <p:cNvSpPr txBox="1"/>
          <p:nvPr/>
        </p:nvSpPr>
        <p:spPr>
          <a:xfrm>
            <a:off x="548640" y="1463040"/>
            <a:ext cx="11091672" cy="457200"/>
          </a:xfrm>
          <a:prstGeom prst="rect">
            <a:avLst/>
          </a:prstGeom>
          <a:noFill/>
          <a:ln/>
        </p:spPr>
        <p:txBody>
          <a:bodyPr wrap="square" lIns="0" tIns="0" rIns="0" bIns="0" rtlCol="0" anchor="ctr"/>
          <a:lstStyle/>
          <a:p>
            <a:pPr indent="0" marL="0">
              <a:buNone/>
            </a:pPr>
            <a:r>
              <a:rPr lang="en-US" sz="1250" dirty="0">
                <a:solidFill>
                  <a:srgbClr val="5C6570"/>
                </a:solidFill>
                <a:latin typeface="Calibri" pitchFamily="34" charset="0"/>
                <a:ea typeface="Calibri" pitchFamily="34" charset="-122"/>
                <a:cs typeface="Calibri" pitchFamily="34" charset="-120"/>
              </a:rPr>
              <a:t>4条件とも14:00までの総エネルギーはほぼ同じ。「おにぎりを8:00に同時に食べるか、10:00〜11:00に分けて食べるか」の純粋な効果を、自由摂取前（8:00〜11:30）に絞って比較。</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1828800"/>
        </p:xfrm>
        <a:graphic>
          <a:graphicData uri="http://schemas.openxmlformats.org/drawingml/2006/table">
            <a:tbl>
              <a:tblPr/>
              <a:tblGrid>
                <a:gridCol w="4023360"/>
                <a:gridCol w="2743200"/>
                <a:gridCol w="2194560"/>
                <a:gridCol w="2130552"/>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条件</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平均血糖(8:00-11:30)</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Δピーク</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21295C"/>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固形（分割・全て固形）</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119.9</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53.7</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スムージー（分割）</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187.0</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おにぎり＋スムージー（同時）</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199.8</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70.7</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21295C"/>
                          </a:solidFill>
                          <a:latin typeface="Calibri" pitchFamily="34" charset="0"/>
                          <a:ea typeface="Calibri" pitchFamily="34" charset="-122"/>
                          <a:cs typeface="Calibri" pitchFamily="34" charset="-120"/>
                        </a:rPr>
                        <a:t>おにぎり＋糖質減（同時）</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194.9</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8.5%</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52.3</a:t>
                      </a:r>
                      <a:endParaRPr lang="en-US" sz="1300" dirty="0">
                        <a:latin typeface="Calibri" charset="0"/>
                        <a:ea typeface="Calibri" charset="0"/>
                        <a:cs typeface="Calibri" charset="0"/>
                      </a:endParaRPr>
                    </a:p>
                  </a:txBody>
                  <a:tcPr marL="91440" marR="91440" marT="45720" marB="45720" anchor="ctr">
                    <a:lnL w="9525" cap="flat" cmpd="sng" algn="ctr">
                      <a:solidFill>
                        <a:srgbClr val="E3E1DB"/>
                      </a:solidFill>
                      <a:prstDash val="solid"/>
                      <a:round/>
                      <a:headEnd type="none" w="med" len="med"/>
                      <a:tailEnd type="none" w="med" len="med"/>
                    </a:lnL>
                    <a:lnR w="9525" cap="flat" cmpd="sng" algn="ctr">
                      <a:solidFill>
                        <a:srgbClr val="E3E1DB"/>
                      </a:solidFill>
                      <a:prstDash val="solid"/>
                      <a:round/>
                      <a:headEnd type="none" w="med" len="med"/>
                      <a:tailEnd type="none" w="med" len="med"/>
                    </a:lnR>
                    <a:lnT w="9525" cap="flat" cmpd="sng" algn="ctr">
                      <a:solidFill>
                        <a:srgbClr val="E3E1DB"/>
                      </a:solidFill>
                      <a:prstDash val="solid"/>
                      <a:round/>
                      <a:headEnd type="none" w="med" len="med"/>
                      <a:tailEnd type="none" w="med" len="med"/>
                    </a:lnT>
                    <a:lnB w="9525" cap="flat" cmpd="sng" algn="ctr">
                      <a:solidFill>
                        <a:srgbClr val="E3E1DB"/>
                      </a:solidFill>
                      <a:prstDash val="solid"/>
                      <a:round/>
                      <a:headEnd type="none" w="med" len="med"/>
                      <a:tailEnd type="none" w="med" len="med"/>
                    </a:lnB>
                    <a:solidFill>
                      <a:srgbClr val="F4F7F9"/>
                    </a:solidFill>
                  </a:tcPr>
                </a:tc>
              </a:tr>
            </a:tbl>
          </a:graphicData>
        </a:graphic>
      </p:graphicFrame>
      <p:sp>
        <p:nvSpPr>
          <p:cNvPr id="6" name="Shape 3"/>
          <p:cNvSpPr/>
          <p:nvPr/>
        </p:nvSpPr>
        <p:spPr>
          <a:xfrm>
            <a:off x="548640" y="4114800"/>
            <a:ext cx="11091672" cy="2103120"/>
          </a:xfrm>
          <a:prstGeom prst="roundRect">
            <a:avLst>
              <a:gd name="adj" fmla="val 4348"/>
            </a:avLst>
          </a:prstGeom>
          <a:solidFill>
            <a:srgbClr val="EAF7F0"/>
          </a:solidFill>
          <a:ln/>
        </p:spPr>
      </p:sp>
      <p:sp>
        <p:nvSpPr>
          <p:cNvPr id="7" name="Text 4"/>
          <p:cNvSpPr txBox="1"/>
          <p:nvPr/>
        </p:nvSpPr>
        <p:spPr>
          <a:xfrm>
            <a:off x="822960" y="4279392"/>
            <a:ext cx="10543032" cy="320040"/>
          </a:xfrm>
          <a:prstGeom prst="rect">
            <a:avLst/>
          </a:prstGeom>
          <a:noFill/>
          <a:ln/>
        </p:spPr>
        <p:txBody>
          <a:bodyPr wrap="square" lIns="0" tIns="0" rIns="0" bIns="0" rtlCol="0" anchor="ctr"/>
          <a:lstStyle/>
          <a:p>
            <a:pPr indent="0" marL="0">
              <a:buNone/>
            </a:pPr>
            <a:r>
              <a:rPr lang="en-US" sz="1350" b="1" dirty="0">
                <a:solidFill>
                  <a:srgbClr val="0F5C3D"/>
                </a:solidFill>
                <a:latin typeface="Calibri" pitchFamily="34" charset="0"/>
                <a:ea typeface="Calibri" pitchFamily="34" charset="-122"/>
                <a:cs typeface="Calibri" pitchFamily="34" charset="-120"/>
              </a:rPr>
              <a:t>✓ 同時摂取にすると平均血糖は少し上がるが、乱高下は明確に小さくなる</a:t>
            </a:r>
            <a:endParaRPr lang="en-US" sz="1350" dirty="0"/>
          </a:p>
        </p:txBody>
      </p:sp>
      <p:sp>
        <p:nvSpPr>
          <p:cNvPr id="8" name="Text 5"/>
          <p:cNvSpPr txBox="1"/>
          <p:nvPr/>
        </p:nvSpPr>
        <p:spPr>
          <a:xfrm>
            <a:off x="822960" y="4645152"/>
            <a:ext cx="10543032" cy="146304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副食とおにぎりを2.5〜3時間ずらして食べると、それぞれが独立した急峻な山を作るのに対し、同時に食べるとおにぎり（ゆっくり吸収されるデンプン）が副食の急な糖吸収を緩衝し、1つのなだらかな波にまとまると解釈できる。糖質減はこの「なだらかさ」に加えてΔピークも固形並み（52.3 vs 53.7）まで抑えられている。絶対値が最も低いのは固形で、これは「同時摂取か否か」ではなく「副食が固形かスムージーか」という形態の効果。</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PERSPECTIVE</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アスリート視点：血糖値は「リスク」か「燃料」か</a:t>
            </a:r>
            <a:endParaRPr lang="en-US" sz="2800" dirty="0"/>
          </a:p>
        </p:txBody>
      </p:sp>
      <p:sp>
        <p:nvSpPr>
          <p:cNvPr id="4" name="Text 2"/>
          <p:cNvSpPr txBox="1"/>
          <p:nvPr/>
        </p:nvSpPr>
        <p:spPr>
          <a:xfrm>
            <a:off x="548640" y="1463040"/>
            <a:ext cx="11091672" cy="457200"/>
          </a:xfrm>
          <a:prstGeom prst="rect">
            <a:avLst/>
          </a:prstGeom>
          <a:noFill/>
          <a:ln/>
        </p:spPr>
        <p:txBody>
          <a:bodyPr wrap="square" lIns="0" tIns="0" rIns="0" bIns="0" rtlCol="0" anchor="ctr"/>
          <a:lstStyle/>
          <a:p>
            <a:pPr indent="0" marL="0">
              <a:buNone/>
            </a:pPr>
            <a:r>
              <a:rPr lang="en-US" sz="1200" dirty="0">
                <a:solidFill>
                  <a:srgbClr val="5C6570"/>
                </a:solidFill>
                <a:latin typeface="Calibri" pitchFamily="34" charset="0"/>
                <a:ea typeface="Calibri" pitchFamily="34" charset="-122"/>
                <a:cs typeface="Calibri" pitchFamily="34" charset="-120"/>
              </a:rPr>
              <a:t>問題は「血糖が高いこと」自体ではなく①食後低血圧②血糖スパイク＋反応性低血糖という急激な変化。乱高下なく高い水準を維持できるなら、それは燃料が豊富な望ましい状態とも言える。</a:t>
            </a:r>
            <a:endParaRPr lang="en-US" sz="1200" dirty="0"/>
          </a:p>
        </p:txBody>
      </p:sp>
      <p:sp>
        <p:nvSpPr>
          <p:cNvPr id="5" name="Text 3"/>
          <p:cNvSpPr txBox="1"/>
          <p:nvPr/>
        </p:nvSpPr>
        <p:spPr>
          <a:xfrm>
            <a:off x="548640" y="1965960"/>
            <a:ext cx="530352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トレーニング時間帯(11:00-14:00)の平均血糖</a:t>
            </a:r>
            <a:endParaRPr lang="en-US" sz="1250" dirty="0"/>
          </a:p>
        </p:txBody>
      </p:sp>
      <p:sp>
        <p:nvSpPr>
          <p:cNvPr id="6" name="Text 4"/>
          <p:cNvSpPr txBox="1"/>
          <p:nvPr/>
        </p:nvSpPr>
        <p:spPr>
          <a:xfrm>
            <a:off x="548640" y="2221992"/>
            <a:ext cx="5303520" cy="219456"/>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＝燃料供給 (mg/dL)</a:t>
            </a:r>
            <a:endParaRPr lang="en-US" sz="1000" dirty="0"/>
          </a:p>
        </p:txBody>
      </p:sp>
      <p:graphicFrame>
        <p:nvGraphicFramePr>
          <p:cNvPr id="7" name="Chart 0" descr=""/>
          <p:cNvGraphicFramePr/>
          <p:nvPr/>
        </p:nvGraphicFramePr>
        <p:xfrm>
          <a:off x="548640" y="2487168"/>
          <a:ext cx="5303520" cy="1965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336792" y="1965960"/>
            <a:ext cx="530352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ピーク後の最小値−ベースライン</a:t>
            </a:r>
            <a:endParaRPr lang="en-US" sz="1250" dirty="0"/>
          </a:p>
        </p:txBody>
      </p:sp>
      <p:sp>
        <p:nvSpPr>
          <p:cNvPr id="9" name="Text 6"/>
          <p:cNvSpPr txBox="1"/>
          <p:nvPr/>
        </p:nvSpPr>
        <p:spPr>
          <a:xfrm>
            <a:off x="6336792" y="2221992"/>
            <a:ext cx="5303520" cy="219456"/>
          </a:xfrm>
          <a:prstGeom prst="rect">
            <a:avLst/>
          </a:prstGeom>
          <a:noFill/>
          <a:ln/>
        </p:spPr>
        <p:txBody>
          <a:bodyPr wrap="square" lIns="0" tIns="0" rIns="0" bIns="0" rtlCol="0" anchor="ctr"/>
          <a:lstStyle/>
          <a:p>
            <a:pPr indent="0" marL="0">
              <a:buNone/>
            </a:pPr>
            <a:r>
              <a:rPr lang="en-US" sz="1000" dirty="0">
                <a:solidFill>
                  <a:srgbClr val="5C6570"/>
                </a:solidFill>
                <a:latin typeface="Calibri" pitchFamily="34" charset="0"/>
                <a:ea typeface="Calibri" pitchFamily="34" charset="-122"/>
                <a:cs typeface="Calibri" pitchFamily="34" charset="-120"/>
              </a:rPr>
              <a:t>クラッシュ（反応性低血糖）の有無 (mg/dL)</a:t>
            </a:r>
            <a:endParaRPr lang="en-US" sz="1000" dirty="0"/>
          </a:p>
        </p:txBody>
      </p:sp>
      <p:graphicFrame>
        <p:nvGraphicFramePr>
          <p:cNvPr id="10" name="Chart 1" descr=""/>
          <p:cNvGraphicFramePr/>
          <p:nvPr/>
        </p:nvGraphicFramePr>
        <p:xfrm>
          <a:off x="6336792" y="2487168"/>
          <a:ext cx="5303520" cy="196596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48640" y="4709160"/>
            <a:ext cx="11091672" cy="1508760"/>
          </a:xfrm>
          <a:prstGeom prst="roundRect">
            <a:avLst>
              <a:gd name="adj" fmla="val 6061"/>
            </a:avLst>
          </a:prstGeom>
          <a:solidFill>
            <a:srgbClr val="EAF7F0"/>
          </a:solidFill>
          <a:ln/>
        </p:spPr>
      </p:sp>
      <p:sp>
        <p:nvSpPr>
          <p:cNvPr id="12" name="Text 8"/>
          <p:cNvSpPr txBox="1"/>
          <p:nvPr/>
        </p:nvSpPr>
        <p:spPr>
          <a:xfrm>
            <a:off x="822960" y="4864608"/>
            <a:ext cx="10543032" cy="41148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  クラッシュ（反応性低血糖）は4条件とも起きていない：ピーク後の最小値はベースラインを+18〜48上回る</a:t>
            </a:r>
            <a:endParaRPr lang="en-US" sz="1200" dirty="0"/>
          </a:p>
        </p:txBody>
      </p:sp>
      <p:sp>
        <p:nvSpPr>
          <p:cNvPr id="13" name="Text 9"/>
          <p:cNvSpPr txBox="1"/>
          <p:nvPr/>
        </p:nvSpPr>
        <p:spPr>
          <a:xfrm>
            <a:off x="822960" y="5303520"/>
            <a:ext cx="10543032" cy="41148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  固形は候補から外れる：練習中の血糖が他条件の約6割（135 vs 220〜229）＝燃料不足の可能性</a:t>
            </a:r>
            <a:endParaRPr lang="en-US" sz="1200" dirty="0"/>
          </a:p>
        </p:txBody>
      </p:sp>
      <p:sp>
        <p:nvSpPr>
          <p:cNvPr id="14" name="Text 10"/>
          <p:cNvSpPr txBox="1"/>
          <p:nvPr/>
        </p:nvSpPr>
        <p:spPr>
          <a:xfrm>
            <a:off x="822960" y="5742432"/>
            <a:ext cx="10543032" cy="411480"/>
          </a:xfrm>
          <a:prstGeom prst="rect">
            <a:avLst/>
          </a:prstGeom>
          <a:noFill/>
          <a:ln/>
        </p:spPr>
        <p:txBody>
          <a:bodyPr wrap="square" lIns="0" tIns="0" rIns="0" bIns="0" rtlCol="0" anchor="ctr"/>
          <a:lstStyle/>
          <a:p>
            <a:pPr indent="0" marL="0">
              <a:buNone/>
            </a:pPr>
            <a:r>
              <a:rPr lang="en-US" sz="1200" dirty="0">
                <a:solidFill>
                  <a:srgbClr val="0F5C3D"/>
                </a:solidFill>
                <a:latin typeface="Calibri" pitchFamily="34" charset="0"/>
                <a:ea typeface="Calibri" pitchFamily="34" charset="-122"/>
                <a:cs typeface="Calibri" pitchFamily="34" charset="-120"/>
              </a:rPr>
              <a:t>•  糖質減は練習中の血糖がむしろ4条件中最高。ただし持久力・爆発力の自己評価は最低という矛盾があり要検証</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CONDITION</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自覚コンディション（4条件比較）</a:t>
            </a:r>
            <a:endParaRPr lang="en-US" sz="2800" dirty="0"/>
          </a:p>
        </p:txBody>
      </p:sp>
      <p:sp>
        <p:nvSpPr>
          <p:cNvPr id="4" name="Text 2"/>
          <p:cNvSpPr txBox="1"/>
          <p:nvPr/>
        </p:nvSpPr>
        <p:spPr>
          <a:xfrm>
            <a:off x="548640" y="1600200"/>
            <a:ext cx="630936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満腹感の推移 (0=空腹〜10=満腹)</a:t>
            </a:r>
            <a:endParaRPr lang="en-US" sz="1250" dirty="0"/>
          </a:p>
        </p:txBody>
      </p:sp>
      <p:graphicFrame>
        <p:nvGraphicFramePr>
          <p:cNvPr id="5" name="Chart 0" descr=""/>
          <p:cNvGraphicFramePr/>
          <p:nvPr/>
        </p:nvGraphicFramePr>
        <p:xfrm>
          <a:off x="548640" y="1874520"/>
          <a:ext cx="6309360" cy="1691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3703320"/>
            <a:ext cx="6309360" cy="256032"/>
          </a:xfrm>
          <a:prstGeom prst="rect">
            <a:avLst/>
          </a:prstGeom>
          <a:noFill/>
          <a:ln/>
        </p:spPr>
        <p:txBody>
          <a:bodyPr wrap="square" lIns="0" tIns="0" rIns="0" bIns="0" rtlCol="0" anchor="ctr"/>
          <a:lstStyle/>
          <a:p>
            <a:pPr indent="0" marL="0">
              <a:buNone/>
            </a:pPr>
            <a:r>
              <a:rPr lang="en-US" sz="1250" b="1" dirty="0">
                <a:solidFill>
                  <a:srgbClr val="21295C"/>
                </a:solidFill>
                <a:latin typeface="Calibri" pitchFamily="34" charset="0"/>
                <a:ea typeface="Calibri" pitchFamily="34" charset="-122"/>
                <a:cs typeface="Calibri" pitchFamily="34" charset="-120"/>
              </a:rPr>
              <a:t>食欲(摂食可能感)の推移 (0=食べられない〜10=まだ食べられる)</a:t>
            </a:r>
            <a:endParaRPr lang="en-US" sz="1250" dirty="0"/>
          </a:p>
        </p:txBody>
      </p:sp>
      <p:graphicFrame>
        <p:nvGraphicFramePr>
          <p:cNvPr id="7" name="Chart 1" descr=""/>
          <p:cNvGraphicFramePr/>
          <p:nvPr/>
        </p:nvGraphicFramePr>
        <p:xfrm>
          <a:off x="548640" y="3977640"/>
          <a:ext cx="6309360" cy="169164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5870448"/>
            <a:ext cx="146304" cy="118872"/>
          </a:xfrm>
          <a:prstGeom prst="rect">
            <a:avLst/>
          </a:prstGeom>
          <a:solidFill>
            <a:srgbClr val="2A78D6"/>
          </a:solidFill>
          <a:ln/>
        </p:spPr>
      </p:sp>
      <p:sp>
        <p:nvSpPr>
          <p:cNvPr id="9" name="Text 5"/>
          <p:cNvSpPr txBox="1"/>
          <p:nvPr/>
        </p:nvSpPr>
        <p:spPr>
          <a:xfrm>
            <a:off x="749808"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固形</a:t>
            </a:r>
            <a:endParaRPr lang="en-US" sz="950" dirty="0"/>
          </a:p>
        </p:txBody>
      </p:sp>
      <p:sp>
        <p:nvSpPr>
          <p:cNvPr id="10" name="Shape 6"/>
          <p:cNvSpPr/>
          <p:nvPr/>
        </p:nvSpPr>
        <p:spPr>
          <a:xfrm>
            <a:off x="2176272" y="5870448"/>
            <a:ext cx="146304" cy="118872"/>
          </a:xfrm>
          <a:prstGeom prst="rect">
            <a:avLst/>
          </a:prstGeom>
          <a:solidFill>
            <a:srgbClr val="EB6834"/>
          </a:solidFill>
          <a:ln/>
        </p:spPr>
      </p:sp>
      <p:sp>
        <p:nvSpPr>
          <p:cNvPr id="11" name="Text 7"/>
          <p:cNvSpPr txBox="1"/>
          <p:nvPr/>
        </p:nvSpPr>
        <p:spPr>
          <a:xfrm>
            <a:off x="2377440"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スムージー</a:t>
            </a:r>
            <a:endParaRPr lang="en-US" sz="950" dirty="0"/>
          </a:p>
        </p:txBody>
      </p:sp>
      <p:sp>
        <p:nvSpPr>
          <p:cNvPr id="12" name="Shape 8"/>
          <p:cNvSpPr/>
          <p:nvPr/>
        </p:nvSpPr>
        <p:spPr>
          <a:xfrm>
            <a:off x="3803904" y="5870448"/>
            <a:ext cx="146304" cy="118872"/>
          </a:xfrm>
          <a:prstGeom prst="rect">
            <a:avLst/>
          </a:prstGeom>
          <a:solidFill>
            <a:srgbClr val="1BAF7A"/>
          </a:solidFill>
          <a:ln/>
        </p:spPr>
      </p:sp>
      <p:sp>
        <p:nvSpPr>
          <p:cNvPr id="13" name="Text 9"/>
          <p:cNvSpPr txBox="1"/>
          <p:nvPr/>
        </p:nvSpPr>
        <p:spPr>
          <a:xfrm>
            <a:off x="4005072"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おにぎり+スムージー</a:t>
            </a:r>
            <a:endParaRPr lang="en-US" sz="950" dirty="0"/>
          </a:p>
        </p:txBody>
      </p:sp>
      <p:sp>
        <p:nvSpPr>
          <p:cNvPr id="14" name="Shape 10"/>
          <p:cNvSpPr/>
          <p:nvPr/>
        </p:nvSpPr>
        <p:spPr>
          <a:xfrm>
            <a:off x="5431536" y="5870448"/>
            <a:ext cx="146304" cy="118872"/>
          </a:xfrm>
          <a:prstGeom prst="rect">
            <a:avLst/>
          </a:prstGeom>
          <a:solidFill>
            <a:srgbClr val="EDA100"/>
          </a:solidFill>
          <a:ln/>
        </p:spPr>
      </p:sp>
      <p:sp>
        <p:nvSpPr>
          <p:cNvPr id="15" name="Text 11"/>
          <p:cNvSpPr txBox="1"/>
          <p:nvPr/>
        </p:nvSpPr>
        <p:spPr>
          <a:xfrm>
            <a:off x="5632704" y="5760720"/>
            <a:ext cx="1554480" cy="274320"/>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おにぎり+糖質減</a:t>
            </a:r>
            <a:endParaRPr lang="en-US" sz="950" dirty="0"/>
          </a:p>
        </p:txBody>
      </p:sp>
      <p:sp>
        <p:nvSpPr>
          <p:cNvPr id="16" name="Shape 12"/>
          <p:cNvSpPr/>
          <p:nvPr/>
        </p:nvSpPr>
        <p:spPr>
          <a:xfrm>
            <a:off x="7635240" y="1600200"/>
            <a:ext cx="4005072" cy="4434840"/>
          </a:xfrm>
          <a:prstGeom prst="roundRect">
            <a:avLst>
              <a:gd name="adj" fmla="val 2283"/>
            </a:avLst>
          </a:prstGeom>
          <a:solidFill>
            <a:srgbClr val="EAF7F0"/>
          </a:solidFill>
          <a:ln/>
        </p:spPr>
      </p:sp>
      <p:sp>
        <p:nvSpPr>
          <p:cNvPr id="17" name="Text 13"/>
          <p:cNvSpPr txBox="1"/>
          <p:nvPr/>
        </p:nvSpPr>
        <p:spPr>
          <a:xfrm>
            <a:off x="7909560" y="1828800"/>
            <a:ext cx="3566160" cy="365760"/>
          </a:xfrm>
          <a:prstGeom prst="rect">
            <a:avLst/>
          </a:prstGeom>
          <a:noFill/>
          <a:ln/>
        </p:spPr>
        <p:txBody>
          <a:bodyPr wrap="square" lIns="0" tIns="0" rIns="0" bIns="0" rtlCol="0" anchor="ctr"/>
          <a:lstStyle/>
          <a:p>
            <a:pPr indent="0" marL="0">
              <a:buNone/>
            </a:pPr>
            <a:r>
              <a:rPr lang="en-US" sz="1350" b="1" dirty="0">
                <a:solidFill>
                  <a:srgbClr val="0F5C3D"/>
                </a:solidFill>
                <a:latin typeface="Calibri" pitchFamily="34" charset="0"/>
                <a:ea typeface="Calibri" pitchFamily="34" charset="-122"/>
                <a:cs typeface="Calibri" pitchFamily="34" charset="-120"/>
              </a:rPr>
              <a:t>✓ 消化器症状は4条件とも良好</a:t>
            </a:r>
            <a:endParaRPr lang="en-US" sz="1350" dirty="0"/>
          </a:p>
        </p:txBody>
      </p:sp>
      <p:sp>
        <p:nvSpPr>
          <p:cNvPr id="18" name="Text 14"/>
          <p:cNvSpPr txBox="1"/>
          <p:nvPr/>
        </p:nvSpPr>
        <p:spPr>
          <a:xfrm>
            <a:off x="7909560" y="2331720"/>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頭痛：4条件すべて全測定点で最小値(1)、変化なし</a:t>
            </a:r>
            <a:endParaRPr lang="en-US" sz="1100" dirty="0"/>
          </a:p>
        </p:txBody>
      </p:sp>
      <p:sp>
        <p:nvSpPr>
          <p:cNvPr id="19" name="Text 15"/>
          <p:cNvSpPr txBox="1"/>
          <p:nvPr/>
        </p:nvSpPr>
        <p:spPr>
          <a:xfrm>
            <a:off x="7909560" y="3264408"/>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吐き気：4条件すべてほぼ1（おにぎり+スムージーのDAY10 9:30のみ一時的に2）</a:t>
            </a:r>
            <a:endParaRPr lang="en-US" sz="1100" dirty="0"/>
          </a:p>
        </p:txBody>
      </p:sp>
      <p:sp>
        <p:nvSpPr>
          <p:cNvPr id="20" name="Text 16"/>
          <p:cNvSpPr txBox="1"/>
          <p:nvPr/>
        </p:nvSpPr>
        <p:spPr>
          <a:xfrm>
            <a:off x="7909560" y="4197096"/>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血糖値が高めに推移するおにぎり同時摂取条件でも、消化器症状は悪化していない</a:t>
            </a:r>
            <a:endParaRPr lang="en-US" sz="1100" dirty="0"/>
          </a:p>
        </p:txBody>
      </p:sp>
      <p:sp>
        <p:nvSpPr>
          <p:cNvPr id="21" name="Text 17"/>
          <p:cNvSpPr txBox="1"/>
          <p:nvPr/>
        </p:nvSpPr>
        <p:spPr>
          <a:xfrm>
            <a:off x="7909560" y="5129784"/>
            <a:ext cx="3520440" cy="86868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満腹感・食欲の差は「おにぎりを同時に食べたか」による食事量の違いを反映しており、副食の形態（固形/液状）そのものの効果ではない</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PERFORMANCE</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毎晩のコンディション・トレーニング指標（4条件比較）</a:t>
            </a:r>
            <a:endParaRPr lang="en-US" sz="2800" dirty="0"/>
          </a:p>
        </p:txBody>
      </p:sp>
      <p:sp>
        <p:nvSpPr>
          <p:cNvPr id="4" name="Text 2"/>
          <p:cNvSpPr txBox="1"/>
          <p:nvPr/>
        </p:nvSpPr>
        <p:spPr>
          <a:xfrm>
            <a:off x="548640" y="157276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起床時コンディション</a:t>
            </a:r>
            <a:endParaRPr lang="en-US" sz="1200" dirty="0"/>
          </a:p>
        </p:txBody>
      </p:sp>
      <p:sp>
        <p:nvSpPr>
          <p:cNvPr id="5" name="Text 3"/>
          <p:cNvSpPr txBox="1"/>
          <p:nvPr/>
        </p:nvSpPr>
        <p:spPr>
          <a:xfrm>
            <a:off x="548640" y="181965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6" name="Chart 0" descr=""/>
          <p:cNvGraphicFramePr/>
          <p:nvPr/>
        </p:nvGraphicFramePr>
        <p:xfrm>
          <a:off x="548640" y="2103120"/>
          <a:ext cx="3429000" cy="1691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343400" y="157276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睡眠の質</a:t>
            </a:r>
            <a:endParaRPr lang="en-US" sz="1200" dirty="0"/>
          </a:p>
        </p:txBody>
      </p:sp>
      <p:sp>
        <p:nvSpPr>
          <p:cNvPr id="8" name="Text 5"/>
          <p:cNvSpPr txBox="1"/>
          <p:nvPr/>
        </p:nvSpPr>
        <p:spPr>
          <a:xfrm>
            <a:off x="4343400" y="181965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9" name="Chart 1" descr=""/>
          <p:cNvGraphicFramePr/>
          <p:nvPr/>
        </p:nvGraphicFramePr>
        <p:xfrm>
          <a:off x="4343400" y="2103120"/>
          <a:ext cx="3429000" cy="16916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8138160" y="157276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持久力（自己評価）</a:t>
            </a:r>
            <a:endParaRPr lang="en-US" sz="1200" dirty="0"/>
          </a:p>
        </p:txBody>
      </p:sp>
      <p:sp>
        <p:nvSpPr>
          <p:cNvPr id="11" name="Text 7"/>
          <p:cNvSpPr txBox="1"/>
          <p:nvPr/>
        </p:nvSpPr>
        <p:spPr>
          <a:xfrm>
            <a:off x="8138160" y="181965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12" name="Chart 2" descr=""/>
          <p:cNvGraphicFramePr/>
          <p:nvPr/>
        </p:nvGraphicFramePr>
        <p:xfrm>
          <a:off x="8138160" y="2103120"/>
          <a:ext cx="3429000" cy="169164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48640" y="390448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爆発力（自己評価）</a:t>
            </a:r>
            <a:endParaRPr lang="en-US" sz="1200" dirty="0"/>
          </a:p>
        </p:txBody>
      </p:sp>
      <p:sp>
        <p:nvSpPr>
          <p:cNvPr id="14" name="Text 9"/>
          <p:cNvSpPr txBox="1"/>
          <p:nvPr/>
        </p:nvSpPr>
        <p:spPr>
          <a:xfrm>
            <a:off x="548640" y="415137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高いほど良好</a:t>
            </a:r>
            <a:endParaRPr lang="en-US" sz="950" dirty="0"/>
          </a:p>
        </p:txBody>
      </p:sp>
      <p:graphicFrame>
        <p:nvGraphicFramePr>
          <p:cNvPr id="15" name="Chart 3" descr=""/>
          <p:cNvGraphicFramePr/>
          <p:nvPr/>
        </p:nvGraphicFramePr>
        <p:xfrm>
          <a:off x="548640" y="4434840"/>
          <a:ext cx="3429000" cy="1691640"/>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4343400" y="390448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RPE（主観的運動強度）</a:t>
            </a:r>
            <a:endParaRPr lang="en-US" sz="1200" dirty="0"/>
          </a:p>
        </p:txBody>
      </p:sp>
      <p:sp>
        <p:nvSpPr>
          <p:cNvPr id="17" name="Text 11"/>
          <p:cNvSpPr txBox="1"/>
          <p:nvPr/>
        </p:nvSpPr>
        <p:spPr>
          <a:xfrm>
            <a:off x="4343400" y="415137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高いほどきつい</a:t>
            </a:r>
            <a:endParaRPr lang="en-US" sz="950" dirty="0"/>
          </a:p>
        </p:txBody>
      </p:sp>
      <p:graphicFrame>
        <p:nvGraphicFramePr>
          <p:cNvPr id="18" name="Chart 4" descr=""/>
          <p:cNvGraphicFramePr/>
          <p:nvPr/>
        </p:nvGraphicFramePr>
        <p:xfrm>
          <a:off x="4343400" y="4434840"/>
          <a:ext cx="3429000" cy="1691640"/>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8138160" y="3904488"/>
            <a:ext cx="3429000" cy="256032"/>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練習時間 (分/日)</a:t>
            </a:r>
            <a:endParaRPr lang="en-US" sz="1200" dirty="0"/>
          </a:p>
        </p:txBody>
      </p:sp>
      <p:sp>
        <p:nvSpPr>
          <p:cNvPr id="20" name="Text 13"/>
          <p:cNvSpPr txBox="1"/>
          <p:nvPr/>
        </p:nvSpPr>
        <p:spPr>
          <a:xfrm>
            <a:off x="8138160" y="4151376"/>
            <a:ext cx="3429000" cy="219456"/>
          </a:xfrm>
          <a:prstGeom prst="rect">
            <a:avLst/>
          </a:prstGeom>
          <a:noFill/>
          <a:ln/>
        </p:spPr>
        <p:txBody>
          <a:bodyPr wrap="square" lIns="0" tIns="0" rIns="0" bIns="0" rtlCol="0" anchor="ctr"/>
          <a:lstStyle/>
          <a:p>
            <a:pPr indent="0" marL="0">
              <a:buNone/>
            </a:pPr>
            <a:r>
              <a:rPr lang="en-US" sz="950" dirty="0">
                <a:solidFill>
                  <a:srgbClr val="5C6570"/>
                </a:solidFill>
                <a:latin typeface="Calibri" pitchFamily="34" charset="0"/>
                <a:ea typeface="Calibri" pitchFamily="34" charset="-122"/>
                <a:cs typeface="Calibri" pitchFamily="34" charset="-120"/>
              </a:rPr>
              <a:t>条件ブロックにより変動</a:t>
            </a:r>
            <a:endParaRPr lang="en-US" sz="950" dirty="0"/>
          </a:p>
        </p:txBody>
      </p:sp>
      <p:graphicFrame>
        <p:nvGraphicFramePr>
          <p:cNvPr id="21" name="Chart 5" descr=""/>
          <p:cNvGraphicFramePr/>
          <p:nvPr/>
        </p:nvGraphicFramePr>
        <p:xfrm>
          <a:off x="8138160" y="4434840"/>
          <a:ext cx="3429000" cy="1691640"/>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5C6570"/>
                </a:solidFill>
                <a:latin typeface="Calibri" pitchFamily="34" charset="0"/>
                <a:ea typeface="Calibri" pitchFamily="34" charset="-122"/>
                <a:cs typeface="Calibri" pitchFamily="34" charset="-120"/>
              </a:rPr>
              <a:t>各条件3日間平均。起床時コンディション・睡眠の質・持久力・爆発力は高いほど良好、運動後疲労・RPEは高いほど負荷が大きいと仮定（原データに尺度定義なし）。</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1C7293"/>
                </a:solidFill>
                <a:latin typeface="Calibri" pitchFamily="34" charset="0"/>
                <a:ea typeface="Calibri" pitchFamily="34" charset="-122"/>
                <a:cs typeface="Calibri" pitchFamily="34" charset="-120"/>
              </a:rPr>
              <a:t>SYNTHESIS</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総合考察：食事 × トレーニング × 血糖</a:t>
            </a:r>
            <a:endParaRPr lang="en-US" sz="2800" dirty="0"/>
          </a:p>
        </p:txBody>
      </p:sp>
      <p:sp>
        <p:nvSpPr>
          <p:cNvPr id="4" name="Shape 2"/>
          <p:cNvSpPr/>
          <p:nvPr/>
        </p:nvSpPr>
        <p:spPr>
          <a:xfrm>
            <a:off x="548640" y="1600200"/>
            <a:ext cx="11091672" cy="1417320"/>
          </a:xfrm>
          <a:prstGeom prst="roundRect">
            <a:avLst>
              <a:gd name="adj" fmla="val 7742"/>
            </a:avLst>
          </a:prstGeom>
          <a:solidFill>
            <a:srgbClr val="FDF3E2"/>
          </a:solidFill>
          <a:ln w="12700">
            <a:solidFill>
              <a:srgbClr val="EDA100"/>
            </a:solidFill>
            <a:prstDash val="solid"/>
          </a:ln>
        </p:spPr>
      </p:sp>
      <p:sp>
        <p:nvSpPr>
          <p:cNvPr id="5" name="Text 3"/>
          <p:cNvSpPr txBox="1"/>
          <p:nvPr/>
        </p:nvSpPr>
        <p:spPr>
          <a:xfrm>
            <a:off x="822960" y="1737360"/>
            <a:ext cx="10543032" cy="274320"/>
          </a:xfrm>
          <a:prstGeom prst="rect">
            <a:avLst/>
          </a:prstGeom>
          <a:noFill/>
          <a:ln/>
        </p:spPr>
        <p:txBody>
          <a:bodyPr wrap="square" lIns="0" tIns="0" rIns="0" bIns="0" rtlCol="0" anchor="ctr"/>
          <a:lstStyle/>
          <a:p>
            <a:pPr indent="0" marL="0">
              <a:buNone/>
            </a:pPr>
            <a:r>
              <a:rPr lang="en-US" sz="1300" b="1" dirty="0">
                <a:solidFill>
                  <a:srgbClr val="6B4B00"/>
                </a:solidFill>
                <a:latin typeface="Calibri" pitchFamily="34" charset="0"/>
                <a:ea typeface="Calibri" pitchFamily="34" charset="-122"/>
                <a:cs typeface="Calibri" pitchFamily="34" charset="-120"/>
              </a:rPr>
              <a:t>⚠ 重要な交絡：練習時間が条件ブロックごとに大きく異なる</a:t>
            </a:r>
            <a:endParaRPr lang="en-US" sz="1300" dirty="0"/>
          </a:p>
        </p:txBody>
      </p:sp>
      <p:sp>
        <p:nvSpPr>
          <p:cNvPr id="6" name="Text 4"/>
          <p:cNvSpPr txBox="1"/>
          <p:nvPr/>
        </p:nvSpPr>
        <p:spPr>
          <a:xfrm>
            <a:off x="822960" y="2048256"/>
            <a:ext cx="10543032" cy="914400"/>
          </a:xfrm>
          <a:prstGeom prst="rect">
            <a:avLst/>
          </a:prstGeom>
          <a:noFill/>
          <a:ln/>
        </p:spPr>
        <p:txBody>
          <a:bodyPr wrap="square" lIns="0" tIns="0" rIns="0" bIns="0" rtlCol="0" anchor="ctr"/>
          <a:lstStyle/>
          <a:p>
            <a:pPr indent="0" marL="0">
              <a:buNone/>
            </a:pPr>
            <a:r>
              <a:rPr lang="en-US" sz="1150" dirty="0">
                <a:solidFill>
                  <a:srgbClr val="6B4B00"/>
                </a:solidFill>
                <a:latin typeface="Calibri" pitchFamily="34" charset="0"/>
                <a:ea typeface="Calibri" pitchFamily="34" charset="-122"/>
                <a:cs typeface="Calibri" pitchFamily="34" charset="-120"/>
              </a:rPr>
              <a:t>固形の3日間は平均140分（180/120/120分）と突出して長く、スムージーの3日間は毎日60分で最短。RPE・爆発力・持久力・運動後疲労は運動量そのものにも左右されるため、固形のRPE・爆発力の高さは「食事」よりも「練習量が多かったこと」を反映している可能性がある。トレーニングはどの条件も11:00〜14:00の間に実施。</a:t>
            </a:r>
            <a:endParaRPr lang="en-US" sz="1150" dirty="0"/>
          </a:p>
        </p:txBody>
      </p:sp>
      <p:sp>
        <p:nvSpPr>
          <p:cNvPr id="7" name="Shape 5"/>
          <p:cNvSpPr/>
          <p:nvPr/>
        </p:nvSpPr>
        <p:spPr>
          <a:xfrm>
            <a:off x="548640" y="3200400"/>
            <a:ext cx="5362956" cy="1828800"/>
          </a:xfrm>
          <a:prstGeom prst="roundRect">
            <a:avLst>
              <a:gd name="adj" fmla="val 5000"/>
            </a:avLst>
          </a:prstGeom>
          <a:solidFill>
            <a:srgbClr val="F4F7F9"/>
          </a:solidFill>
          <a:ln/>
        </p:spPr>
      </p:sp>
      <p:sp>
        <p:nvSpPr>
          <p:cNvPr id="8" name="Shape 6"/>
          <p:cNvSpPr/>
          <p:nvPr/>
        </p:nvSpPr>
        <p:spPr>
          <a:xfrm>
            <a:off x="822960" y="3337560"/>
            <a:ext cx="146304" cy="347472"/>
          </a:xfrm>
          <a:prstGeom prst="rect">
            <a:avLst/>
          </a:prstGeom>
          <a:solidFill>
            <a:srgbClr val="1BAF7A"/>
          </a:solidFill>
          <a:ln/>
        </p:spPr>
      </p:sp>
      <p:sp>
        <p:nvSpPr>
          <p:cNvPr id="9" name="Text 7"/>
          <p:cNvSpPr txBox="1"/>
          <p:nvPr/>
        </p:nvSpPr>
        <p:spPr>
          <a:xfrm>
            <a:off x="1078992" y="3300984"/>
            <a:ext cx="4539996" cy="420624"/>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おにぎり＋スムージー（糖質ノーマル）</a:t>
            </a:r>
            <a:endParaRPr lang="en-US" sz="1400" dirty="0"/>
          </a:p>
        </p:txBody>
      </p:sp>
      <p:sp>
        <p:nvSpPr>
          <p:cNvPr id="10" name="Text 8"/>
          <p:cNvSpPr txBox="1"/>
          <p:nvPr/>
        </p:nvSpPr>
        <p:spPr>
          <a:xfrm>
            <a:off x="822960" y="3794760"/>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血糖の乱高下（CV）が4条件中最小、練習中の燃料供給も十分（220）</a:t>
            </a:r>
            <a:endParaRPr lang="en-US" sz="1100" dirty="0"/>
          </a:p>
        </p:txBody>
      </p:sp>
      <p:sp>
        <p:nvSpPr>
          <p:cNvPr id="11" name="Text 9"/>
          <p:cNvSpPr txBox="1"/>
          <p:nvPr/>
        </p:nvSpPr>
        <p:spPr>
          <a:xfrm>
            <a:off x="822960" y="4178808"/>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持久力の自己評価が4条件中最高（3.83）</a:t>
            </a:r>
            <a:endParaRPr lang="en-US" sz="1100" dirty="0"/>
          </a:p>
        </p:txBody>
      </p:sp>
      <p:sp>
        <p:nvSpPr>
          <p:cNvPr id="12" name="Text 10"/>
          <p:cNvSpPr txBox="1"/>
          <p:nvPr/>
        </p:nvSpPr>
        <p:spPr>
          <a:xfrm>
            <a:off x="822960" y="4562856"/>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消化器症状も軽微</a:t>
            </a:r>
            <a:endParaRPr lang="en-US" sz="1100" dirty="0"/>
          </a:p>
        </p:txBody>
      </p:sp>
      <p:sp>
        <p:nvSpPr>
          <p:cNvPr id="13" name="Shape 11"/>
          <p:cNvSpPr/>
          <p:nvPr/>
        </p:nvSpPr>
        <p:spPr>
          <a:xfrm>
            <a:off x="6277356" y="3200400"/>
            <a:ext cx="5362956" cy="1828800"/>
          </a:xfrm>
          <a:prstGeom prst="roundRect">
            <a:avLst>
              <a:gd name="adj" fmla="val 5000"/>
            </a:avLst>
          </a:prstGeom>
          <a:solidFill>
            <a:srgbClr val="F4F7F9"/>
          </a:solidFill>
          <a:ln/>
        </p:spPr>
      </p:sp>
      <p:sp>
        <p:nvSpPr>
          <p:cNvPr id="14" name="Shape 12"/>
          <p:cNvSpPr/>
          <p:nvPr/>
        </p:nvSpPr>
        <p:spPr>
          <a:xfrm>
            <a:off x="6551676" y="3337560"/>
            <a:ext cx="146304" cy="347472"/>
          </a:xfrm>
          <a:prstGeom prst="rect">
            <a:avLst/>
          </a:prstGeom>
          <a:solidFill>
            <a:srgbClr val="EDA100"/>
          </a:solidFill>
          <a:ln/>
        </p:spPr>
      </p:sp>
      <p:sp>
        <p:nvSpPr>
          <p:cNvPr id="15" name="Text 13"/>
          <p:cNvSpPr txBox="1"/>
          <p:nvPr/>
        </p:nvSpPr>
        <p:spPr>
          <a:xfrm>
            <a:off x="6807708" y="3300984"/>
            <a:ext cx="4539996" cy="420624"/>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おにぎり＋糖質減</a:t>
            </a:r>
            <a:endParaRPr lang="en-US" sz="1400" dirty="0"/>
          </a:p>
        </p:txBody>
      </p:sp>
      <p:sp>
        <p:nvSpPr>
          <p:cNvPr id="16" name="Text 14"/>
          <p:cNvSpPr txBox="1"/>
          <p:nvPr/>
        </p:nvSpPr>
        <p:spPr>
          <a:xfrm>
            <a:off x="6551676" y="3794760"/>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波形が最もなだらか、練習中の燃料供給はむしろ4条件中最高（229）</a:t>
            </a:r>
            <a:endParaRPr lang="en-US" sz="1100" dirty="0"/>
          </a:p>
        </p:txBody>
      </p:sp>
      <p:sp>
        <p:nvSpPr>
          <p:cNvPr id="17" name="Text 15"/>
          <p:cNvSpPr txBox="1"/>
          <p:nvPr/>
        </p:nvSpPr>
        <p:spPr>
          <a:xfrm>
            <a:off x="6551676" y="4178808"/>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起床時コンディション・睡眠の質が4条件中最高</a:t>
            </a:r>
            <a:endParaRPr lang="en-US" sz="1100" dirty="0"/>
          </a:p>
        </p:txBody>
      </p:sp>
      <p:sp>
        <p:nvSpPr>
          <p:cNvPr id="18" name="Text 16"/>
          <p:cNvSpPr txBox="1"/>
          <p:nvPr/>
        </p:nvSpPr>
        <p:spPr>
          <a:xfrm>
            <a:off x="6551676" y="4562856"/>
            <a:ext cx="4814316" cy="347472"/>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  一方で持久力・爆発力の自己評価は4条件中最低（要検証の矛盾）</a:t>
            </a:r>
            <a:endParaRPr lang="en-US" sz="1100" dirty="0"/>
          </a:p>
        </p:txBody>
      </p:sp>
      <p:sp>
        <p:nvSpPr>
          <p:cNvPr id="19" name="Shape 17"/>
          <p:cNvSpPr/>
          <p:nvPr/>
        </p:nvSpPr>
        <p:spPr>
          <a:xfrm>
            <a:off x="548640" y="5212080"/>
            <a:ext cx="11091672" cy="1188720"/>
          </a:xfrm>
          <a:prstGeom prst="roundRect">
            <a:avLst>
              <a:gd name="adj" fmla="val 7692"/>
            </a:avLst>
          </a:prstGeom>
          <a:solidFill>
            <a:srgbClr val="EAF7F0"/>
          </a:solidFill>
          <a:ln/>
        </p:spPr>
      </p:sp>
      <p:sp>
        <p:nvSpPr>
          <p:cNvPr id="20" name="Text 18"/>
          <p:cNvSpPr txBox="1"/>
          <p:nvPr/>
        </p:nvSpPr>
        <p:spPr>
          <a:xfrm>
            <a:off x="822960" y="5394960"/>
            <a:ext cx="10543032" cy="868680"/>
          </a:xfrm>
          <a:prstGeom prst="rect">
            <a:avLst/>
          </a:prstGeom>
          <a:noFill/>
          <a:ln/>
        </p:spPr>
        <p:txBody>
          <a:bodyPr wrap="square" lIns="0" tIns="0" rIns="0" bIns="0" rtlCol="0" anchor="ctr"/>
          <a:lstStyle/>
          <a:p>
            <a:pPr indent="0" marL="0">
              <a:buNone/>
            </a:pPr>
            <a:r>
              <a:rPr lang="en-US" sz="1250" b="1" dirty="0">
                <a:solidFill>
                  <a:srgbClr val="0F5C3D"/>
                </a:solidFill>
                <a:latin typeface="Calibri" pitchFamily="34" charset="0"/>
                <a:ea typeface="Calibri" pitchFamily="34" charset="-122"/>
                <a:cs typeface="Calibri" pitchFamily="34" charset="-120"/>
              </a:rPr>
              <a:t>✓ 総合評価：現時点のデータでは「おにぎり＋スムージー（糖質ノーマル、同時摂取）」が最もバランスの良い候補。「おにぎり＋糖質減」は血糖面（なだらかさ・燃料供給とも）ではむしろ優れており、体感（持久力低下）との矛盾を解消できれば第一候補に上がる可能性もある。</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65760"/>
          </a:xfrm>
          <a:prstGeom prst="rect">
            <a:avLst/>
          </a:prstGeom>
          <a:noFill/>
          <a:ln/>
        </p:spPr>
        <p:txBody>
          <a:bodyPr wrap="square" rtlCol="0" anchor="ctr"/>
          <a:lstStyle/>
          <a:p>
            <a:pPr indent="0" marL="0">
              <a:buNone/>
            </a:pPr>
            <a:r>
              <a:rPr lang="en-US" sz="1300" b="1" spc="100" kern="0" dirty="0">
                <a:solidFill>
                  <a:srgbClr val="8FB7E0"/>
                </a:solidFill>
                <a:latin typeface="Calibri" pitchFamily="34" charset="0"/>
                <a:ea typeface="Calibri" pitchFamily="34" charset="-122"/>
                <a:cs typeface="Calibri" pitchFamily="34" charset="-120"/>
              </a:rPr>
              <a:t>CONCLUSION</a:t>
            </a:r>
            <a:endParaRPr lang="en-US" sz="1300" dirty="0"/>
          </a:p>
        </p:txBody>
      </p:sp>
      <p:sp>
        <p:nvSpPr>
          <p:cNvPr id="3" name="Text 1"/>
          <p:cNvSpPr txBox="1"/>
          <p:nvPr/>
        </p:nvSpPr>
        <p:spPr>
          <a:xfrm>
            <a:off x="548640" y="786384"/>
            <a:ext cx="11091672"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結論と次のステップ</a:t>
            </a:r>
            <a:endParaRPr lang="en-US" sz="2800" dirty="0"/>
          </a:p>
        </p:txBody>
      </p:sp>
      <p:sp>
        <p:nvSpPr>
          <p:cNvPr id="4" name="Shape 2"/>
          <p:cNvSpPr/>
          <p:nvPr/>
        </p:nvSpPr>
        <p:spPr>
          <a:xfrm>
            <a:off x="548640" y="1737360"/>
            <a:ext cx="384048" cy="384048"/>
          </a:xfrm>
          <a:prstGeom prst="oval">
            <a:avLst/>
          </a:prstGeom>
          <a:solidFill>
            <a:srgbClr val="1C7293"/>
          </a:solidFill>
          <a:ln/>
        </p:spPr>
      </p:sp>
      <p:sp>
        <p:nvSpPr>
          <p:cNvPr id="5" name="Text 3"/>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43000" y="1719072"/>
            <a:ext cx="10332720" cy="54864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おにぎりを崩さず副食と同時に食べる方針は血糖の観点から一貫して支持される：乱高下を抑えつつ、練習中の燃料供給も確保できる</a:t>
            </a:r>
            <a:endParaRPr lang="en-US" sz="1400" dirty="0"/>
          </a:p>
        </p:txBody>
      </p:sp>
      <p:sp>
        <p:nvSpPr>
          <p:cNvPr id="7" name="Shape 5"/>
          <p:cNvSpPr/>
          <p:nvPr/>
        </p:nvSpPr>
        <p:spPr>
          <a:xfrm>
            <a:off x="548640" y="2514600"/>
            <a:ext cx="384048" cy="384048"/>
          </a:xfrm>
          <a:prstGeom prst="oval">
            <a:avLst/>
          </a:prstGeom>
          <a:solidFill>
            <a:srgbClr val="1C7293"/>
          </a:solidFill>
          <a:ln/>
        </p:spPr>
      </p:sp>
      <p:sp>
        <p:nvSpPr>
          <p:cNvPr id="8" name="Text 6"/>
          <p:cNvSpPr txBox="1"/>
          <p:nvPr/>
        </p:nvSpPr>
        <p:spPr>
          <a:xfrm>
            <a:off x="54864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143000" y="2496312"/>
            <a:ext cx="10332720" cy="54864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固形は「血糖が安定」ではなく「練習中の燃料不足」（練習中平均135、他条件の約6割）と解釈すべき</a:t>
            </a:r>
            <a:endParaRPr lang="en-US" sz="1400" dirty="0"/>
          </a:p>
        </p:txBody>
      </p:sp>
      <p:sp>
        <p:nvSpPr>
          <p:cNvPr id="10" name="Shape 8"/>
          <p:cNvSpPr/>
          <p:nvPr/>
        </p:nvSpPr>
        <p:spPr>
          <a:xfrm>
            <a:off x="548640" y="3291840"/>
            <a:ext cx="384048" cy="384048"/>
          </a:xfrm>
          <a:prstGeom prst="oval">
            <a:avLst/>
          </a:prstGeom>
          <a:solidFill>
            <a:srgbClr val="1C7293"/>
          </a:solidFill>
          <a:ln/>
        </p:spPr>
      </p:sp>
      <p:sp>
        <p:nvSpPr>
          <p:cNvPr id="11" name="Text 9"/>
          <p:cNvSpPr txBox="1"/>
          <p:nvPr/>
        </p:nvSpPr>
        <p:spPr>
          <a:xfrm>
            <a:off x="548640" y="3291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143000" y="3273552"/>
            <a:ext cx="10332720" cy="54864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総合評価：現時点では「おにぎり＋スムージー（糖質ノーマル、同時摂取）」が最もバランスの良い候補</a:t>
            </a:r>
            <a:endParaRPr lang="en-US" sz="1400" dirty="0"/>
          </a:p>
        </p:txBody>
      </p:sp>
      <p:sp>
        <p:nvSpPr>
          <p:cNvPr id="13" name="Shape 11"/>
          <p:cNvSpPr/>
          <p:nvPr/>
        </p:nvSpPr>
        <p:spPr>
          <a:xfrm>
            <a:off x="548640" y="4160520"/>
            <a:ext cx="11091672" cy="2011680"/>
          </a:xfrm>
          <a:prstGeom prst="roundRect">
            <a:avLst>
              <a:gd name="adj" fmla="val 4545"/>
            </a:avLst>
          </a:prstGeom>
          <a:solidFill>
            <a:srgbClr val="1A2350"/>
          </a:solidFill>
          <a:ln/>
        </p:spPr>
      </p:sp>
      <p:sp>
        <p:nvSpPr>
          <p:cNvPr id="14" name="Text 12"/>
          <p:cNvSpPr txBox="1"/>
          <p:nvPr/>
        </p:nvSpPr>
        <p:spPr>
          <a:xfrm>
            <a:off x="868680" y="4343400"/>
            <a:ext cx="5486400" cy="320040"/>
          </a:xfrm>
          <a:prstGeom prst="rect">
            <a:avLst/>
          </a:prstGeom>
          <a:noFill/>
          <a:ln/>
        </p:spPr>
        <p:txBody>
          <a:bodyPr wrap="square" lIns="0" tIns="0" rIns="0" bIns="0" rtlCol="0" anchor="ctr"/>
          <a:lstStyle/>
          <a:p>
            <a:pPr indent="0" marL="0">
              <a:buNone/>
            </a:pPr>
            <a:r>
              <a:rPr lang="en-US" sz="1400" b="1" dirty="0">
                <a:solidFill>
                  <a:srgbClr val="8FB7E0"/>
                </a:solidFill>
                <a:latin typeface="Calibri" pitchFamily="34" charset="0"/>
                <a:ea typeface="Calibri" pitchFamily="34" charset="-122"/>
                <a:cs typeface="Calibri" pitchFamily="34" charset="-120"/>
              </a:rPr>
              <a:t>次のステップ</a:t>
            </a:r>
            <a:endParaRPr lang="en-US" sz="1400" dirty="0"/>
          </a:p>
        </p:txBody>
      </p:sp>
      <p:sp>
        <p:nvSpPr>
          <p:cNvPr id="15" name="Text 13"/>
          <p:cNvSpPr txBox="1"/>
          <p:nvPr/>
        </p:nvSpPr>
        <p:spPr>
          <a:xfrm>
            <a:off x="868680" y="4754880"/>
            <a:ext cx="10451592"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  8:00ベースライン血糖の条件間差（60〜70 mg/dL）の要因確認（前日運動量・睡眠・センサー校正）</a:t>
            </a:r>
            <a:endParaRPr lang="en-US" sz="1250" dirty="0"/>
          </a:p>
        </p:txBody>
      </p:sp>
      <p:sp>
        <p:nvSpPr>
          <p:cNvPr id="16" name="Text 14"/>
          <p:cNvSpPr txBox="1"/>
          <p:nvPr/>
        </p:nvSpPr>
        <p:spPr>
          <a:xfrm>
            <a:off x="868680" y="5193792"/>
            <a:ext cx="10451592"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  練習時間が条件ブロックごとに大きく異なる（60〜180分）ため、今後は練習内容・時間を揃えて再検証すると食事の純粋な効果を評価しやすくなる</a:t>
            </a:r>
            <a:endParaRPr lang="en-US" sz="1250" dirty="0"/>
          </a:p>
        </p:txBody>
      </p:sp>
      <p:sp>
        <p:nvSpPr>
          <p:cNvPr id="17" name="Text 15"/>
          <p:cNvSpPr txBox="1"/>
          <p:nvPr/>
        </p:nvSpPr>
        <p:spPr>
          <a:xfrm>
            <a:off x="868680" y="5632704"/>
            <a:ext cx="10451592"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  満腹感・食欲の条件差は「おにぎり同時摂取による食事量の違い」であり、形態そのものの効果ではない点に留意</a:t>
            </a:r>
            <a:endParaRPr lang="en-US" sz="1250" dirty="0"/>
          </a:p>
        </p:txBody>
      </p:sp>
      <p:sp>
        <p:nvSpPr>
          <p:cNvPr id="18" name="Text 16"/>
          <p:cNvSpPr/>
          <p:nvPr/>
        </p:nvSpPr>
        <p:spPr>
          <a:xfrm>
            <a:off x="548640" y="6473952"/>
            <a:ext cx="11091672" cy="274320"/>
          </a:xfrm>
          <a:prstGeom prst="rect">
            <a:avLst/>
          </a:prstGeom>
          <a:noFill/>
          <a:ln/>
        </p:spPr>
        <p:txBody>
          <a:bodyPr wrap="square" rtlCol="0" anchor="ctr"/>
          <a:lstStyle/>
          <a:p>
            <a:pPr algn="l" indent="0" marL="0">
              <a:buNone/>
            </a:pPr>
            <a:r>
              <a:rPr lang="en-US" sz="1000" dirty="0">
                <a:solidFill>
                  <a:srgbClr val="9AA6C4"/>
                </a:solidFill>
                <a:latin typeface="Calibri" pitchFamily="34" charset="0"/>
                <a:ea typeface="Calibri" pitchFamily="34" charset="-122"/>
                <a:cs typeface="Calibri" pitchFamily="34" charset="-120"/>
              </a:rPr>
              <a:t>データ出典：for_AI_.xlsx／0824スケジュール.xlsx／condition_app_2026-08-25_2026-09-07.xlsx</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2026-09-14T23:53:07Z</dcterms:created>
  <dcterms:modified xsi:type="dcterms:W3CDTF">2026-09-14T23:53:07Z</dcterms:modified>
</cp:coreProperties>
</file>