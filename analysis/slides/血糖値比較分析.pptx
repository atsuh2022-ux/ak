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終日平均血糖</c:v>
                </c:pt>
              </c:strCache>
            </c:strRef>
          </c:tx>
          <c:spPr>
            <a:solidFill>
              <a:srgbClr val="EB6834"/>
            </a:solidFill>
            <a:ln w="31750"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B6834"/>
              </a:solidFill>
              <a:ln w="9525" cap="flat">
                <a:solidFill>
                  <a:srgbClr val="EB6834"/>
                </a:solidFill>
                <a:prstDash val="solid"/>
                <a:round/>
              </a:ln>
              <a:effectLst/>
            </c:spPr>
          </c:marker>
          <c:cat>
            <c:multiLvlStrRef>
              <c:f>Sheet1!$A$2:$A$16</c:f>
              <c:multiLvlStrCache>
                <c:ptCount val="15"/>
                <c:lvl>
                  <c:pt idx="0">
                    <c:v>準備</c:v>
                  </c:pt>
                  <c:pt idx="1">
                    <c:v>DAY1</c:v>
                  </c:pt>
                  <c:pt idx="2">
                    <c:v>DAY2</c:v>
                  </c:pt>
                  <c:pt idx="3">
                    <c:v>DAY3</c:v>
                  </c:pt>
                  <c:pt idx="4">
                    <c:v>DAY4</c:v>
                  </c:pt>
                  <c:pt idx="5">
                    <c:v>DAY5</c:v>
                  </c:pt>
                  <c:pt idx="6">
                    <c:v>DAY6</c:v>
                  </c:pt>
                  <c:pt idx="7">
                    <c:v>DAY7</c:v>
                  </c:pt>
                  <c:pt idx="8">
                    <c:v>DAY8</c:v>
                  </c:pt>
                  <c:pt idx="9">
                    <c:v>DAY9</c:v>
                  </c:pt>
                  <c:pt idx="10">
                    <c:v>DAY10</c:v>
                  </c:pt>
                  <c:pt idx="11">
                    <c:v>DAY11</c:v>
                  </c:pt>
                  <c:pt idx="12">
                    <c:v>DAY12</c:v>
                  </c:pt>
                  <c:pt idx="13">
                    <c:v>DAY13</c:v>
                  </c:pt>
                  <c:pt idx="14">
                    <c:v>DAY14</c:v>
                  </c:pt>
                </c:lvl>
              </c:multiLvlStrCache>
            </c:multiLvlStrRef>
          </c:cat>
          <c:val>
            <c:numRef>
              <c:f>Sheet1!$B$2:$B$16</c:f>
              <c:numCache>
                <c:formatCode>General</c:formatCode>
                <c:ptCount val="15"/>
                <c:pt idx="0">
                  <c:v>141.2</c:v>
                </c:pt>
                <c:pt idx="1">
                  <c:v>126.7</c:v>
                </c:pt>
                <c:pt idx="2">
                  <c:v>117.6</c:v>
                </c:pt>
                <c:pt idx="3">
                  <c:v>119</c:v>
                </c:pt>
                <c:pt idx="4">
                  <c:v>126</c:v>
                </c:pt>
                <c:pt idx="5">
                  <c:v>160.7</c:v>
                </c:pt>
                <c:pt idx="6">
                  <c:v>208.9</c:v>
                </c:pt>
                <c:pt idx="7">
                  <c:v>210.8</c:v>
                </c:pt>
                <c:pt idx="8">
                  <c:v>196</c:v>
                </c:pt>
                <c:pt idx="9">
                  <c:v>189.1</c:v>
                </c:pt>
                <c:pt idx="10">
                  <c:v>191</c:v>
                </c:pt>
                <c:pt idx="11">
                  <c:v>204.5</c:v>
                </c:pt>
                <c:pt idx="12">
                  <c:v>187.3</c:v>
                </c:pt>
                <c:pt idx="13">
                  <c:v>174.2</c:v>
                </c:pt>
                <c:pt idx="14">
                  <c:v>184.2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a:lstStyle/>
          <a:p>
            <a:pPr>
              <a:defRPr sz="9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1DB"/>
              </a:solidFill>
              <a:prstDash val="solid"/>
              <a:round/>
            </a:ln>
          </c:spPr>
        </c:majorGridlines>
        <c:title>
          <c:tx>
            <c:rich>
              <a:bodyPr/>
              <a:lstStyle/>
              <a:p>
                <a:pPr>
                  <a:defRPr sz="1000" b="0" i="0" u="none" strike="noStrike">
                    <a:solidFill>
                      <a:srgbClr val="5C6570"/>
                    </a:solidFill>
                    <a:latin typeface="Arial"/>
                  </a:defRPr>
                </a:pPr>
                <a:r>
                  <a:rPr sz="1000" b="0" i="0" u="none" strike="noStrike">
                    <a:solidFill>
                      <a:srgbClr val="5C6570"/>
                    </a:solidFill>
                    <a:latin typeface="Arial"/>
                  </a:rPr>
                  <a:t>終日平均血糖 (mg/dL)</a:t>
                </a:r>
              </a:p>
            </c:rich>
          </c:tx>
          <c:layout/>
          <c:overlay val="0"/>
        </c:title>
        <c:numFmt formatCode="General" sourceLinked="0"/>
        <c:majorTickMark val="out"/>
        <c:minorTickMark val="none"/>
        <c:tickLblPos val="nextTo"/>
        <c:spPr>
          <a:ln w="12700" cap="flat">
            <a:solidFill>
              <a:srgbClr val="E3E1DB"/>
            </a:solidFill>
            <a:prstDash val="solid"/>
            <a:round/>
          </a:ln>
        </c:spPr>
        <c:txPr>
          <a:bodyPr/>
          <a:lstStyle/>
          <a:p>
            <a:pPr>
              <a:defRPr sz="950" b="0" i="0" u="none" strike="noStrike">
                <a:solidFill>
                  <a:srgbClr val="5C65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固形摂取</c:v>
                </c:pt>
              </c:strCache>
            </c:strRef>
          </c:tx>
          <c:spPr>
            <a:solidFill>
              <a:srgbClr val="2A78D6"/>
            </a:solidFill>
            <a:ln w="31750" cap="flat">
              <a:solidFill>
                <a:srgbClr val="2A78D6"/>
              </a:solidFill>
              <a:prstDash val="solid"/>
              <a:round/>
            </a:ln>
            <a:effectLst/>
          </c:spPr>
          <c:invertIfNegative val="0"/>
          <c:dLbls>
            <c:numFmt formatCode="#,##0" sourceLinked="0"/>
            <c:txPr>
              <a:bodyPr/>
              <a:lstStyle/>
              <a:p>
                <a:pPr>
                  <a:defRPr b="0" i="0" strike="noStrike" sz="1200" u="none">
                    <a:solidFill>
                      <a:srgbClr val="1A1A1A"/>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Sheet1!$A$2:$A$26</c:f>
              <c:multiLvlStrCache>
                <c:ptCount val="25"/>
                <c:lvl>
                  <c:pt idx="0">
                    <c:v>08:00</c:v>
                  </c:pt>
                  <c:pt idx="1">
                    <c:v>08:15</c:v>
                  </c:pt>
                  <c:pt idx="2">
                    <c:v>08:30</c:v>
                  </c:pt>
                  <c:pt idx="3">
                    <c:v>08:45</c:v>
                  </c:pt>
                  <c:pt idx="4">
                    <c:v>09:00</c:v>
                  </c:pt>
                  <c:pt idx="5">
                    <c:v>09:15</c:v>
                  </c:pt>
                  <c:pt idx="6">
                    <c:v>09:30</c:v>
                  </c:pt>
                  <c:pt idx="7">
                    <c:v>09:45</c:v>
                  </c:pt>
                  <c:pt idx="8">
                    <c:v>10:00</c:v>
                  </c:pt>
                  <c:pt idx="9">
                    <c:v>10:15</c:v>
                  </c:pt>
                  <c:pt idx="10">
                    <c:v>10:30</c:v>
                  </c:pt>
                  <c:pt idx="11">
                    <c:v>10:45</c:v>
                  </c:pt>
                  <c:pt idx="12">
                    <c:v>11:00</c:v>
                  </c:pt>
                  <c:pt idx="13">
                    <c:v>11:15</c:v>
                  </c:pt>
                  <c:pt idx="14">
                    <c:v>11:30</c:v>
                  </c:pt>
                  <c:pt idx="15">
                    <c:v>11:45</c:v>
                  </c:pt>
                  <c:pt idx="16">
                    <c:v>12:00</c:v>
                  </c:pt>
                  <c:pt idx="17">
                    <c:v>12:15</c:v>
                  </c:pt>
                  <c:pt idx="18">
                    <c:v>12:30</c:v>
                  </c:pt>
                  <c:pt idx="19">
                    <c:v>12:45</c:v>
                  </c:pt>
                  <c:pt idx="20">
                    <c:v>13:00</c:v>
                  </c:pt>
                  <c:pt idx="21">
                    <c:v>13:15</c:v>
                  </c:pt>
                  <c:pt idx="22">
                    <c:v>13:30</c:v>
                  </c:pt>
                  <c:pt idx="23">
                    <c:v>13:45</c:v>
                  </c:pt>
                  <c:pt idx="24">
                    <c:v>14:00</c:v>
                  </c:pt>
                </c:lvl>
              </c:multiLvlStrCache>
            </c:multiLvlStrRef>
          </c:cat>
          <c:val>
            <c:numRef>
              <c:f>Sheet1!$B$2:$B$26</c:f>
              <c:numCache>
                <c:formatCode>General</c:formatCode>
                <c:ptCount val="25"/>
                <c:pt idx="0">
                  <c:v>99</c:v>
                </c:pt>
                <c:pt idx="1">
                  <c:v>112</c:v>
                </c:pt>
                <c:pt idx="2">
                  <c:v>133.3</c:v>
                </c:pt>
                <c:pt idx="3">
                  <c:v>129</c:v>
                </c:pt>
                <c:pt idx="4">
                  <c:v>113</c:v>
                </c:pt>
                <c:pt idx="5">
                  <c:v>105.3</c:v>
                </c:pt>
                <c:pt idx="6">
                  <c:v>108.7</c:v>
                </c:pt>
                <c:pt idx="7">
                  <c:v>108.7</c:v>
                </c:pt>
                <c:pt idx="8">
                  <c:v>106</c:v>
                </c:pt>
                <c:pt idx="9">
                  <c:v>120</c:v>
                </c:pt>
                <c:pt idx="10">
                  <c:v>130.3</c:v>
                </c:pt>
                <c:pt idx="11">
                  <c:v>125.3</c:v>
                </c:pt>
                <c:pt idx="12">
                  <c:v>120.3</c:v>
                </c:pt>
                <c:pt idx="13">
                  <c:v>135</c:v>
                </c:pt>
                <c:pt idx="14">
                  <c:v>152.7</c:v>
                </c:pt>
                <c:pt idx="15">
                  <c:v>143</c:v>
                </c:pt>
                <c:pt idx="16">
                  <c:v>139</c:v>
                </c:pt>
                <c:pt idx="17">
                  <c:v>129.7</c:v>
                </c:pt>
                <c:pt idx="18">
                  <c:v>119</c:v>
                </c:pt>
                <c:pt idx="19">
                  <c:v>131</c:v>
                </c:pt>
                <c:pt idx="20">
                  <c:v>143</c:v>
                </c:pt>
                <c:pt idx="21">
                  <c:v>136.7</c:v>
                </c:pt>
                <c:pt idx="22">
                  <c:v>138</c:v>
                </c:pt>
                <c:pt idx="23">
                  <c:v>140.3</c:v>
                </c:pt>
                <c:pt idx="24">
                  <c:v>129</c:v>
                </c:pt>
              </c:numCache>
            </c:numRef>
          </c:val>
          <c:smooth val="0"/>
        </c:ser>
        <c:ser>
          <c:idx val="1"/>
          <c:order val="1"/>
          <c:tx>
            <c:strRef>
              <c:f>Sheet1!$C$1</c:f>
              <c:strCache>
                <c:ptCount val="1"/>
                <c:pt idx="0">
                  <c:v>スムージー摂取</c:v>
                </c:pt>
              </c:strCache>
            </c:strRef>
          </c:tx>
          <c:spPr>
            <a:solidFill>
              <a:srgbClr val="EB6834"/>
            </a:solidFill>
            <a:ln w="31750" cap="flat">
              <a:solidFill>
                <a:srgbClr val="EB6834"/>
              </a:solidFill>
              <a:prstDash val="solid"/>
              <a:round/>
            </a:ln>
            <a:effectLst/>
          </c:spPr>
          <c:invertIfNegative val="0"/>
          <c:dLbls>
            <c:numFmt formatCode="#,##0" sourceLinked="0"/>
            <c:txPr>
              <a:bodyPr/>
              <a:lstStyle/>
              <a:p>
                <a:pPr>
                  <a:defRPr b="0" i="0" strike="noStrike" sz="1200" u="none">
                    <a:solidFill>
                      <a:srgbClr val="1A1A1A"/>
                    </a:solidFill>
                    <a:latin typeface="Arial"/>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Sheet1!$A$2:$A$26</c:f>
              <c:multiLvlStrCache>
                <c:ptCount val="25"/>
                <c:lvl>
                  <c:pt idx="0">
                    <c:v>08:00</c:v>
                  </c:pt>
                  <c:pt idx="1">
                    <c:v>08:15</c:v>
                  </c:pt>
                  <c:pt idx="2">
                    <c:v>08:30</c:v>
                  </c:pt>
                  <c:pt idx="3">
                    <c:v>08:45</c:v>
                  </c:pt>
                  <c:pt idx="4">
                    <c:v>09:00</c:v>
                  </c:pt>
                  <c:pt idx="5">
                    <c:v>09:15</c:v>
                  </c:pt>
                  <c:pt idx="6">
                    <c:v>09:30</c:v>
                  </c:pt>
                  <c:pt idx="7">
                    <c:v>09:45</c:v>
                  </c:pt>
                  <c:pt idx="8">
                    <c:v>10:00</c:v>
                  </c:pt>
                  <c:pt idx="9">
                    <c:v>10:15</c:v>
                  </c:pt>
                  <c:pt idx="10">
                    <c:v>10:30</c:v>
                  </c:pt>
                  <c:pt idx="11">
                    <c:v>10:45</c:v>
                  </c:pt>
                  <c:pt idx="12">
                    <c:v>11:00</c:v>
                  </c:pt>
                  <c:pt idx="13">
                    <c:v>11:15</c:v>
                  </c:pt>
                  <c:pt idx="14">
                    <c:v>11:30</c:v>
                  </c:pt>
                  <c:pt idx="15">
                    <c:v>11:45</c:v>
                  </c:pt>
                  <c:pt idx="16">
                    <c:v>12:00</c:v>
                  </c:pt>
                  <c:pt idx="17">
                    <c:v>12:15</c:v>
                  </c:pt>
                  <c:pt idx="18">
                    <c:v>12:30</c:v>
                  </c:pt>
                  <c:pt idx="19">
                    <c:v>12:45</c:v>
                  </c:pt>
                  <c:pt idx="20">
                    <c:v>13:00</c:v>
                  </c:pt>
                  <c:pt idx="21">
                    <c:v>13:15</c:v>
                  </c:pt>
                  <c:pt idx="22">
                    <c:v>13:30</c:v>
                  </c:pt>
                  <c:pt idx="23">
                    <c:v>13:45</c:v>
                  </c:pt>
                  <c:pt idx="24">
                    <c:v>14:00</c:v>
                  </c:pt>
                </c:lvl>
              </c:multiLvlStrCache>
            </c:multiLvlStrRef>
          </c:cat>
          <c:val>
            <c:numRef>
              <c:f>Sheet1!$C$2:$C$26</c:f>
              <c:numCache>
                <c:formatCode>General</c:formatCode>
                <c:ptCount val="25"/>
                <c:pt idx="0">
                  <c:v>159.3</c:v>
                </c:pt>
                <c:pt idx="1">
                  <c:v>163</c:v>
                </c:pt>
                <c:pt idx="2">
                  <c:v>182</c:v>
                </c:pt>
                <c:pt idx="3">
                  <c:v>202.7</c:v>
                </c:pt>
                <c:pt idx="4">
                  <c:v>193.7</c:v>
                </c:pt>
                <c:pt idx="5">
                  <c:v>163.7</c:v>
                </c:pt>
                <c:pt idx="6">
                  <c:v>149</c:v>
                </c:pt>
                <c:pt idx="7">
                  <c:v>148.7</c:v>
                </c:pt>
                <c:pt idx="8">
                  <c:v>154.7</c:v>
                </c:pt>
                <c:pt idx="9">
                  <c:v>179.3</c:v>
                </c:pt>
                <c:pt idx="10">
                  <c:v>194.3</c:v>
                </c:pt>
                <c:pt idx="11">
                  <c:v>226</c:v>
                </c:pt>
                <c:pt idx="12">
                  <c:v>226.3</c:v>
                </c:pt>
                <c:pt idx="13">
                  <c:v>223</c:v>
                </c:pt>
                <c:pt idx="14">
                  <c:v>239.7</c:v>
                </c:pt>
                <c:pt idx="15">
                  <c:v>244.3</c:v>
                </c:pt>
                <c:pt idx="16">
                  <c:v>213.7</c:v>
                </c:pt>
                <c:pt idx="17">
                  <c:v>225</c:v>
                </c:pt>
                <c:pt idx="18">
                  <c:v>218.3</c:v>
                </c:pt>
                <c:pt idx="19">
                  <c:v>218.7</c:v>
                </c:pt>
                <c:pt idx="20">
                  <c:v>224.7</c:v>
                </c:pt>
                <c:pt idx="21">
                  <c:v>207</c:v>
                </c:pt>
                <c:pt idx="22">
                  <c:v>212.3</c:v>
                </c:pt>
                <c:pt idx="23">
                  <c:v>222.7</c:v>
                </c:pt>
                <c:pt idx="24">
                  <c:v>211</c:v>
                </c:pt>
              </c:numCache>
            </c:numRef>
          </c:val>
          <c:smooth val="0"/>
        </c:ser>
        <c:ser>
          <c:idx val="2"/>
          <c:order val="2"/>
          <c:tx>
            <c:strRef>
              <c:f>Sheet1!$D$1</c:f>
              <c:strCache>
                <c:ptCount val="1"/>
                <c:pt idx="0">
                  <c:v>おにぎり＋スムージー</c:v>
                </c:pt>
              </c:strCache>
            </c:strRef>
          </c:tx>
          <c:spPr>
            <a:solidFill>
              <a:srgbClr val="1BAF7A"/>
            </a:solidFill>
            <a:ln w="31750" cap="flat">
              <a:solidFill>
                <a:srgbClr val="1BAF7A"/>
              </a:solidFill>
              <a:prstDash val="solid"/>
              <a:round/>
            </a:ln>
            <a:effectLst/>
          </c:spPr>
          <c:invertIfNegative val="0"/>
          <c:dLbls>
            <c:numFmt formatCode="#,##0" sourceLinked="0"/>
            <c:txPr>
              <a:bodyPr/>
              <a:lstStyle/>
              <a:p>
                <a:pPr>
                  <a:defRPr b="0" i="0" strike="noStrike" sz="1200" u="none">
                    <a:solidFill>
                      <a:srgbClr val="1A1A1A"/>
                    </a:solidFill>
                    <a:latin typeface="Arial"/>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Sheet1!$A$2:$A$26</c:f>
              <c:multiLvlStrCache>
                <c:ptCount val="25"/>
                <c:lvl>
                  <c:pt idx="0">
                    <c:v>08:00</c:v>
                  </c:pt>
                  <c:pt idx="1">
                    <c:v>08:15</c:v>
                  </c:pt>
                  <c:pt idx="2">
                    <c:v>08:30</c:v>
                  </c:pt>
                  <c:pt idx="3">
                    <c:v>08:45</c:v>
                  </c:pt>
                  <c:pt idx="4">
                    <c:v>09:00</c:v>
                  </c:pt>
                  <c:pt idx="5">
                    <c:v>09:15</c:v>
                  </c:pt>
                  <c:pt idx="6">
                    <c:v>09:30</c:v>
                  </c:pt>
                  <c:pt idx="7">
                    <c:v>09:45</c:v>
                  </c:pt>
                  <c:pt idx="8">
                    <c:v>10:00</c:v>
                  </c:pt>
                  <c:pt idx="9">
                    <c:v>10:15</c:v>
                  </c:pt>
                  <c:pt idx="10">
                    <c:v>10:30</c:v>
                  </c:pt>
                  <c:pt idx="11">
                    <c:v>10:45</c:v>
                  </c:pt>
                  <c:pt idx="12">
                    <c:v>11:00</c:v>
                  </c:pt>
                  <c:pt idx="13">
                    <c:v>11:15</c:v>
                  </c:pt>
                  <c:pt idx="14">
                    <c:v>11:30</c:v>
                  </c:pt>
                  <c:pt idx="15">
                    <c:v>11:45</c:v>
                  </c:pt>
                  <c:pt idx="16">
                    <c:v>12:00</c:v>
                  </c:pt>
                  <c:pt idx="17">
                    <c:v>12:15</c:v>
                  </c:pt>
                  <c:pt idx="18">
                    <c:v>12:30</c:v>
                  </c:pt>
                  <c:pt idx="19">
                    <c:v>12:45</c:v>
                  </c:pt>
                  <c:pt idx="20">
                    <c:v>13:00</c:v>
                  </c:pt>
                  <c:pt idx="21">
                    <c:v>13:15</c:v>
                  </c:pt>
                  <c:pt idx="22">
                    <c:v>13:30</c:v>
                  </c:pt>
                  <c:pt idx="23">
                    <c:v>13:45</c:v>
                  </c:pt>
                  <c:pt idx="24">
                    <c:v>14:00</c:v>
                  </c:pt>
                </c:lvl>
              </c:multiLvlStrCache>
            </c:multiLvlStrRef>
          </c:cat>
          <c:val>
            <c:numRef>
              <c:f>Sheet1!$D$2:$D$26</c:f>
              <c:numCache>
                <c:formatCode>General</c:formatCode>
                <c:ptCount val="25"/>
                <c:pt idx="0">
                  <c:v>164.3</c:v>
                </c:pt>
                <c:pt idx="1">
                  <c:v>169.3</c:v>
                </c:pt>
                <c:pt idx="2">
                  <c:v>208.7</c:v>
                </c:pt>
                <c:pt idx="3">
                  <c:v>235</c:v>
                </c:pt>
                <c:pt idx="4">
                  <c:v>225.7</c:v>
                </c:pt>
                <c:pt idx="5">
                  <c:v>219.3</c:v>
                </c:pt>
                <c:pt idx="6">
                  <c:v>207.3</c:v>
                </c:pt>
                <c:pt idx="7">
                  <c:v>212.3</c:v>
                </c:pt>
                <c:pt idx="8">
                  <c:v>207</c:v>
                </c:pt>
                <c:pt idx="9">
                  <c:v>191.3</c:v>
                </c:pt>
                <c:pt idx="10">
                  <c:v>188</c:v>
                </c:pt>
                <c:pt idx="11">
                  <c:v>185</c:v>
                </c:pt>
                <c:pt idx="12">
                  <c:v>182.7</c:v>
                </c:pt>
                <c:pt idx="13">
                  <c:v>193</c:v>
                </c:pt>
                <c:pt idx="14">
                  <c:v>208</c:v>
                </c:pt>
                <c:pt idx="15">
                  <c:v>226.3</c:v>
                </c:pt>
                <c:pt idx="16">
                  <c:v>229</c:v>
                </c:pt>
                <c:pt idx="17">
                  <c:v>227.3</c:v>
                </c:pt>
                <c:pt idx="18">
                  <c:v>231.3</c:v>
                </c:pt>
                <c:pt idx="19">
                  <c:v>242.3</c:v>
                </c:pt>
                <c:pt idx="20">
                  <c:v>236.7</c:v>
                </c:pt>
                <c:pt idx="21">
                  <c:v>224.7</c:v>
                </c:pt>
                <c:pt idx="22">
                  <c:v>219.3</c:v>
                </c:pt>
                <c:pt idx="23">
                  <c:v>218.7</c:v>
                </c:pt>
                <c:pt idx="24">
                  <c:v>222.3</c:v>
                </c:pt>
              </c:numCache>
            </c:numRef>
          </c:val>
          <c:smooth val="0"/>
        </c:ser>
        <c:ser>
          <c:idx val="3"/>
          <c:order val="3"/>
          <c:tx>
            <c:strRef>
              <c:f>Sheet1!$E$1</c:f>
              <c:strCache>
                <c:ptCount val="1"/>
                <c:pt idx="0">
                  <c:v>おにぎり＋糖質減</c:v>
                </c:pt>
              </c:strCache>
            </c:strRef>
          </c:tx>
          <c:spPr>
            <a:solidFill>
              <a:srgbClr val="EDA100"/>
            </a:solidFill>
            <a:ln w="31750" cap="flat">
              <a:solidFill>
                <a:srgbClr val="EDA100"/>
              </a:solidFill>
              <a:prstDash val="solid"/>
              <a:round/>
            </a:ln>
            <a:effectLst/>
          </c:spPr>
          <c:invertIfNegative val="0"/>
          <c:dLbls>
            <c:numFmt formatCode="#,##0" sourceLinked="0"/>
            <c:txPr>
              <a:bodyPr/>
              <a:lstStyle/>
              <a:p>
                <a:pPr>
                  <a:defRPr b="0" i="0" strike="noStrike" sz="1200" u="none">
                    <a:solidFill>
                      <a:srgbClr val="1A1A1A"/>
                    </a:solidFill>
                    <a:latin typeface="Arial"/>
                  </a:defRPr>
                </a:pPr>
              </a:p>
            </c:txPr>
            <c:showLegendKey val="0"/>
            <c:showVal val="0"/>
            <c:showCatName val="0"/>
            <c:showSerName val="0"/>
            <c:showPercent val="0"/>
            <c:showBubbleSize val="0"/>
            <c:showLeaderLines val="0"/>
          </c:dLbls>
          <c:marker>
            <c:symbol val="none"/>
            <c:size val="6"/>
            <c:spPr>
              <a:solidFill>
                <a:srgbClr val="EDA100"/>
              </a:solidFill>
              <a:ln w="9525" cap="flat">
                <a:solidFill>
                  <a:srgbClr val="EDA100"/>
                </a:solidFill>
                <a:prstDash val="solid"/>
                <a:round/>
              </a:ln>
              <a:effectLst/>
            </c:spPr>
          </c:marker>
          <c:cat>
            <c:multiLvlStrRef>
              <c:f>Sheet1!$A$2:$A$26</c:f>
              <c:multiLvlStrCache>
                <c:ptCount val="25"/>
                <c:lvl>
                  <c:pt idx="0">
                    <c:v>08:00</c:v>
                  </c:pt>
                  <c:pt idx="1">
                    <c:v>08:15</c:v>
                  </c:pt>
                  <c:pt idx="2">
                    <c:v>08:30</c:v>
                  </c:pt>
                  <c:pt idx="3">
                    <c:v>08:45</c:v>
                  </c:pt>
                  <c:pt idx="4">
                    <c:v>09:00</c:v>
                  </c:pt>
                  <c:pt idx="5">
                    <c:v>09:15</c:v>
                  </c:pt>
                  <c:pt idx="6">
                    <c:v>09:30</c:v>
                  </c:pt>
                  <c:pt idx="7">
                    <c:v>09:45</c:v>
                  </c:pt>
                  <c:pt idx="8">
                    <c:v>10:00</c:v>
                  </c:pt>
                  <c:pt idx="9">
                    <c:v>10:15</c:v>
                  </c:pt>
                  <c:pt idx="10">
                    <c:v>10:30</c:v>
                  </c:pt>
                  <c:pt idx="11">
                    <c:v>10:45</c:v>
                  </c:pt>
                  <c:pt idx="12">
                    <c:v>11:00</c:v>
                  </c:pt>
                  <c:pt idx="13">
                    <c:v>11:15</c:v>
                  </c:pt>
                  <c:pt idx="14">
                    <c:v>11:30</c:v>
                  </c:pt>
                  <c:pt idx="15">
                    <c:v>11:45</c:v>
                  </c:pt>
                  <c:pt idx="16">
                    <c:v>12:00</c:v>
                  </c:pt>
                  <c:pt idx="17">
                    <c:v>12:15</c:v>
                  </c:pt>
                  <c:pt idx="18">
                    <c:v>12:30</c:v>
                  </c:pt>
                  <c:pt idx="19">
                    <c:v>12:45</c:v>
                  </c:pt>
                  <c:pt idx="20">
                    <c:v>13:00</c:v>
                  </c:pt>
                  <c:pt idx="21">
                    <c:v>13:15</c:v>
                  </c:pt>
                  <c:pt idx="22">
                    <c:v>13:30</c:v>
                  </c:pt>
                  <c:pt idx="23">
                    <c:v>13:45</c:v>
                  </c:pt>
                  <c:pt idx="24">
                    <c:v>14:00</c:v>
                  </c:pt>
                </c:lvl>
              </c:multiLvlStrCache>
            </c:multiLvlStrRef>
          </c:cat>
          <c:val>
            <c:numRef>
              <c:f>Sheet1!$E$2:$E$26</c:f>
              <c:numCache>
                <c:formatCode>General</c:formatCode>
                <c:ptCount val="25"/>
                <c:pt idx="0">
                  <c:v>166</c:v>
                </c:pt>
                <c:pt idx="1">
                  <c:v>183.7</c:v>
                </c:pt>
                <c:pt idx="2">
                  <c:v>217</c:v>
                </c:pt>
                <c:pt idx="3">
                  <c:v>197</c:v>
                </c:pt>
                <c:pt idx="4">
                  <c:v>193.7</c:v>
                </c:pt>
                <c:pt idx="5">
                  <c:v>193.7</c:v>
                </c:pt>
                <c:pt idx="6">
                  <c:v>198.7</c:v>
                </c:pt>
                <c:pt idx="7">
                  <c:v>185.3</c:v>
                </c:pt>
                <c:pt idx="8">
                  <c:v>174.3</c:v>
                </c:pt>
                <c:pt idx="9">
                  <c:v>172.3</c:v>
                </c:pt>
                <c:pt idx="10">
                  <c:v>199.7</c:v>
                </c:pt>
                <c:pt idx="11">
                  <c:v>217.7</c:v>
                </c:pt>
                <c:pt idx="12">
                  <c:v>211</c:v>
                </c:pt>
                <c:pt idx="13">
                  <c:v>195</c:v>
                </c:pt>
                <c:pt idx="14">
                  <c:v>218.3</c:v>
                </c:pt>
                <c:pt idx="15">
                  <c:v>235</c:v>
                </c:pt>
                <c:pt idx="16">
                  <c:v>237</c:v>
                </c:pt>
                <c:pt idx="17">
                  <c:v>225.7</c:v>
                </c:pt>
                <c:pt idx="18">
                  <c:v>226.7</c:v>
                </c:pt>
                <c:pt idx="19">
                  <c:v>241</c:v>
                </c:pt>
                <c:pt idx="20">
                  <c:v>245</c:v>
                </c:pt>
                <c:pt idx="21">
                  <c:v>242.3</c:v>
                </c:pt>
                <c:pt idx="22">
                  <c:v>250.3</c:v>
                </c:pt>
                <c:pt idx="23">
                  <c:v>241</c:v>
                </c:pt>
                <c:pt idx="24">
                  <c:v>213.7</c:v>
                </c:pt>
              </c:numCache>
            </c:numRef>
          </c:val>
          <c:smooth val="0"/>
        </c:ser>
        <c:dLbls>
          <c:numFmt formatCode="#,##0" sourceLinked="0"/>
          <c:txPr>
            <a:bodyPr/>
            <a:lstStyle/>
            <a:p>
              <a:pPr>
                <a:defRPr b="0" i="0" strike="noStrike" sz="1200" u="none">
                  <a:solidFill>
                    <a:srgbClr val="1A1A1A"/>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a:lstStyle/>
          <a:p>
            <a:pPr>
              <a:defRPr sz="1000" b="0" i="0" u="none" strike="noStrike">
                <a:solidFill>
                  <a:srgbClr val="5C6570"/>
                </a:solidFill>
                <a:latin typeface="Arial"/>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E3E1DB"/>
              </a:solidFill>
              <a:prstDash val="solid"/>
              <a:round/>
            </a:ln>
          </c:spPr>
        </c:majorGridlines>
        <c:title>
          <c:tx>
            <c:rich>
              <a:bodyPr/>
              <a:lstStyle/>
              <a:p>
                <a:pPr>
                  <a:defRPr sz="1100" b="0" i="0" u="none" strike="noStrike">
                    <a:solidFill>
                      <a:srgbClr val="5C6570"/>
                    </a:solidFill>
                    <a:latin typeface="Arial"/>
                  </a:defRPr>
                </a:pPr>
                <a:r>
                  <a:rPr sz="1100" b="0" i="0" u="none" strike="noStrike">
                    <a:solidFill>
                      <a:srgbClr val="5C6570"/>
                    </a:solidFill>
                    <a:latin typeface="Arial"/>
                  </a:rPr>
                  <a:t>血糖値 (mg/dL)</a:t>
                </a:r>
              </a:p>
            </c:rich>
          </c:tx>
          <c:layout/>
          <c:overlay val="0"/>
        </c:title>
        <c:numFmt formatCode="General" sourceLinked="0"/>
        <c:majorTickMark val="out"/>
        <c:minorTickMark val="none"/>
        <c:tickLblPos val="nextTo"/>
        <c:spPr>
          <a:ln w="12700" cap="flat">
            <a:solidFill>
              <a:srgbClr val="E3E1DB"/>
            </a:solidFill>
            <a:prstDash val="solid"/>
            <a:round/>
          </a:ln>
        </c:spPr>
        <c:txPr>
          <a:bodyPr/>
          <a:lstStyle/>
          <a:p>
            <a:pPr>
              <a:defRPr sz="1000" b="0" i="0" u="none" strike="noStrike">
                <a:solidFill>
                  <a:srgbClr val="5C657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A1A1A"/>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Δピーク血糖値 (mg/dL)</c:v>
                </c:pt>
              </c:strCache>
            </c:strRef>
          </c:tx>
          <c:spPr>
            <a:solidFill>
              <a:srgbClr val="2A78D6">
                <a:alpha val="100000"/>
              </a:srgbClr>
            </a:solidFill>
            <a:effectLst/>
          </c:spPr>
          <c:invertIfNegative val="0"/>
          <c:dLbls>
            <c:numFmt formatCode="#,##0" sourceLinked="0"/>
            <c:txPr>
              <a:bodyPr/>
              <a:lstStyle/>
              <a:p>
                <a:pPr>
                  <a:defRPr b="0" i="0" strike="noStrike" sz="10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53.7</c:v>
                </c:pt>
                <c:pt idx="1">
                  <c:v>85</c:v>
                </c:pt>
                <c:pt idx="2">
                  <c:v>78</c:v>
                </c:pt>
                <c:pt idx="3">
                  <c:v>84.3</c:v>
                </c:pt>
              </c:numCache>
            </c:numRef>
          </c:val>
        </c:ser>
        <c:dLbls>
          <c:numFmt formatCode="#,##0" sourceLinked="0"/>
          <c:txPr>
            <a:bodyPr/>
            <a:lstStyle/>
            <a:p>
              <a:pPr>
                <a:defRPr b="0" i="0" strike="noStrike" sz="1050" u="none">
                  <a:solidFill>
                    <a:srgbClr val="1A1A1A"/>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9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iAUC 2時間 (mg/dL・分)</c:v>
                </c:pt>
              </c:strCache>
            </c:strRef>
          </c:tx>
          <c:spPr>
            <a:solidFill>
              <a:srgbClr val="2A78D6">
                <a:alpha val="100000"/>
              </a:srgbClr>
            </a:solidFill>
            <a:effectLst/>
          </c:spPr>
          <c:invertIfNegative val="0"/>
          <c:dLbls>
            <c:numFmt formatCode="#,##0" sourceLinked="0"/>
            <c:txPr>
              <a:bodyPr/>
              <a:lstStyle/>
              <a:p>
                <a:pPr>
                  <a:defRPr b="0" i="0" strike="noStrike" sz="10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1807.5</c:v>
                </c:pt>
                <c:pt idx="1">
                  <c:v>1625</c:v>
                </c:pt>
                <c:pt idx="2">
                  <c:v>5230</c:v>
                </c:pt>
                <c:pt idx="3">
                  <c:v>3167.5</c:v>
                </c:pt>
              </c:numCache>
            </c:numRef>
          </c:val>
        </c:ser>
        <c:dLbls>
          <c:numFmt formatCode="#,##0" sourceLinked="0"/>
          <c:txPr>
            <a:bodyPr/>
            <a:lstStyle/>
            <a:p>
              <a:pPr>
                <a:defRPr b="0" i="0" strike="noStrike" sz="1050" u="none">
                  <a:solidFill>
                    <a:srgbClr val="1A1A1A"/>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9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変動係数 CV (%)</c:v>
                </c:pt>
              </c:strCache>
            </c:strRef>
          </c:tx>
          <c:spPr>
            <a:solidFill>
              <a:srgbClr val="2A78D6">
                <a:alpha val="100000"/>
              </a:srgbClr>
            </a:solidFill>
            <a:effectLst/>
          </c:spPr>
          <c:invertIfNegative val="0"/>
          <c:dLbls>
            <c:numFmt formatCode="0.0" sourceLinked="0"/>
            <c:txPr>
              <a:bodyPr/>
              <a:lstStyle/>
              <a:p>
                <a:pPr>
                  <a:defRPr b="0" i="0" strike="noStrike" sz="10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11.2</c:v>
                </c:pt>
                <c:pt idx="1">
                  <c:v>14.7</c:v>
                </c:pt>
                <c:pt idx="2">
                  <c:v>10.1</c:v>
                </c:pt>
                <c:pt idx="3">
                  <c:v>11.8</c:v>
                </c:pt>
              </c:numCache>
            </c:numRef>
          </c:val>
        </c:ser>
        <c:dLbls>
          <c:numFmt formatCode="0.0" sourceLinked="0"/>
          <c:txPr>
            <a:bodyPr/>
            <a:lstStyle/>
            <a:p>
              <a:pPr>
                <a:defRPr b="0" i="0" strike="noStrike" sz="1050" u="none">
                  <a:solidFill>
                    <a:srgbClr val="1A1A1A"/>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9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トレーニング時間帯(11:00-14:00)の平均血糖</c:v>
                </c:pt>
              </c:strCache>
            </c:strRef>
          </c:tx>
          <c:spPr>
            <a:solidFill>
              <a:srgbClr val="2A78D6">
                <a:alpha val="100000"/>
              </a:srgbClr>
            </a:solidFill>
            <a:effectLst/>
          </c:spPr>
          <c:invertIfNegative val="0"/>
          <c:dLbls>
            <c:numFmt formatCode="#,##0" sourceLinked="0"/>
            <c:txPr>
              <a:bodyPr/>
              <a:lstStyle/>
              <a:p>
                <a:pPr>
                  <a:defRPr b="0" i="0" strike="noStrike" sz="10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135.1</c:v>
                </c:pt>
                <c:pt idx="1">
                  <c:v>222.1</c:v>
                </c:pt>
                <c:pt idx="2">
                  <c:v>220.1</c:v>
                </c:pt>
                <c:pt idx="3">
                  <c:v>229.4</c:v>
                </c:pt>
              </c:numCache>
            </c:numRef>
          </c:val>
        </c:ser>
        <c:dLbls>
          <c:numFmt formatCode="#,##0" sourceLinked="0"/>
          <c:txPr>
            <a:bodyPr/>
            <a:lstStyle/>
            <a:p>
              <a:pPr>
                <a:defRPr b="0" i="0" strike="noStrike" sz="1050" u="none">
                  <a:solidFill>
                    <a:srgbClr val="1A1A1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9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ピーク後の最小値−ベースライン</c:v>
                </c:pt>
              </c:strCache>
            </c:strRef>
          </c:tx>
          <c:spPr>
            <a:solidFill>
              <a:srgbClr val="2A78D6">
                <a:alpha val="100000"/>
              </a:srgbClr>
            </a:solidFill>
            <a:effectLst/>
          </c:spPr>
          <c:invertIfNegative val="0"/>
          <c:dLbls>
            <c:numFmt formatCode="#,##0" sourceLinked="0"/>
            <c:txPr>
              <a:bodyPr/>
              <a:lstStyle/>
              <a:p>
                <a:pPr>
                  <a:defRPr b="0" i="0" strike="noStrike" sz="10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20</c:v>
                </c:pt>
                <c:pt idx="1">
                  <c:v>47.7</c:v>
                </c:pt>
                <c:pt idx="2">
                  <c:v>18.3</c:v>
                </c:pt>
                <c:pt idx="3">
                  <c:v>47.7</c:v>
                </c:pt>
              </c:numCache>
            </c:numRef>
          </c:val>
        </c:ser>
        <c:dLbls>
          <c:numFmt formatCode="#,##0" sourceLinked="0"/>
          <c:txPr>
            <a:bodyPr/>
            <a:lstStyle/>
            <a:p>
              <a:pPr>
                <a:defRPr b="0" i="0" strike="noStrike" sz="1050" u="none">
                  <a:solidFill>
                    <a:srgbClr val="1A1A1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9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固形</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cat>
            <c:multiLvlStrRef>
              <c:f>Sheet1!$A$2:$A$6</c:f>
              <c:multiLvlStrCache>
                <c:ptCount val="5"/>
                <c:lvl>
                  <c:pt idx="0">
                    <c:v>8:00</c:v>
                  </c:pt>
                  <c:pt idx="1">
                    <c:v>8:30</c:v>
                  </c:pt>
                  <c:pt idx="2">
                    <c:v>9:00</c:v>
                  </c:pt>
                  <c:pt idx="3">
                    <c:v>9:30</c:v>
                  </c:pt>
                  <c:pt idx="4">
                    <c:v>10:00</c:v>
                  </c:pt>
                </c:lvl>
              </c:multiLvlStrCache>
            </c:multiLvlStrRef>
          </c:cat>
          <c:val>
            <c:numRef>
              <c:f>Sheet1!$B$2:$B$6</c:f>
              <c:numCache>
                <c:formatCode>General</c:formatCode>
                <c:ptCount val="5"/>
                <c:pt idx="0">
                  <c:v>1.67</c:v>
                </c:pt>
                <c:pt idx="1">
                  <c:v>4</c:v>
                </c:pt>
                <c:pt idx="2">
                  <c:v>4</c:v>
                </c:pt>
                <c:pt idx="3">
                  <c:v>2</c:v>
                </c:pt>
                <c:pt idx="4">
                  <c:v>2</c:v>
                </c:pt>
              </c:numCache>
            </c:numRef>
          </c:val>
          <c:smooth val="0"/>
        </c:ser>
        <c:ser>
          <c:idx val="1"/>
          <c:order val="1"/>
          <c:tx>
            <c:strRef>
              <c:f>Sheet1!$C$1</c:f>
              <c:strCache>
                <c:ptCount val="1"/>
                <c:pt idx="0">
                  <c:v>スムージー</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B6834"/>
              </a:solidFill>
              <a:ln w="9525" cap="flat">
                <a:solidFill>
                  <a:srgbClr val="EB6834"/>
                </a:solidFill>
                <a:prstDash val="solid"/>
                <a:round/>
              </a:ln>
              <a:effectLst/>
            </c:spPr>
          </c:marker>
          <c:cat>
            <c:multiLvlStrRef>
              <c:f>Sheet1!$A$2:$A$6</c:f>
              <c:multiLvlStrCache>
                <c:ptCount val="5"/>
                <c:lvl>
                  <c:pt idx="0">
                    <c:v>8:00</c:v>
                  </c:pt>
                  <c:pt idx="1">
                    <c:v>8:30</c:v>
                  </c:pt>
                  <c:pt idx="2">
                    <c:v>9:00</c:v>
                  </c:pt>
                  <c:pt idx="3">
                    <c:v>9:30</c:v>
                  </c:pt>
                  <c:pt idx="4">
                    <c:v>10:00</c:v>
                  </c:pt>
                </c:lvl>
              </c:multiLvlStrCache>
            </c:multiLvlStrRef>
          </c:cat>
          <c:val>
            <c:numRef>
              <c:f>Sheet1!$C$2:$C$6</c:f>
              <c:numCache>
                <c:formatCode>General</c:formatCode>
                <c:ptCount val="5"/>
                <c:pt idx="0">
                  <c:v>3.33</c:v>
                </c:pt>
                <c:pt idx="1">
                  <c:v>3.67</c:v>
                </c:pt>
                <c:pt idx="2">
                  <c:v>5</c:v>
                </c:pt>
                <c:pt idx="3">
                  <c:v>2</c:v>
                </c:pt>
                <c:pt idx="4">
                  <c:v>1.33</c:v>
                </c:pt>
              </c:numCache>
            </c:numRef>
          </c:val>
          <c:smooth val="0"/>
        </c:ser>
        <c:ser>
          <c:idx val="2"/>
          <c:order val="2"/>
          <c:tx>
            <c:strRef>
              <c:f>Sheet1!$D$1</c:f>
              <c:strCache>
                <c:ptCount val="1"/>
                <c:pt idx="0">
                  <c:v>おにぎり+スムージー</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AF7A"/>
              </a:solidFill>
              <a:ln w="9525" cap="flat">
                <a:solidFill>
                  <a:srgbClr val="1BAF7A"/>
                </a:solidFill>
                <a:prstDash val="solid"/>
                <a:round/>
              </a:ln>
              <a:effectLst/>
            </c:spPr>
          </c:marker>
          <c:cat>
            <c:multiLvlStrRef>
              <c:f>Sheet1!$A$2:$A$6</c:f>
              <c:multiLvlStrCache>
                <c:ptCount val="5"/>
                <c:lvl>
                  <c:pt idx="0">
                    <c:v>8:00</c:v>
                  </c:pt>
                  <c:pt idx="1">
                    <c:v>8:30</c:v>
                  </c:pt>
                  <c:pt idx="2">
                    <c:v>9:00</c:v>
                  </c:pt>
                  <c:pt idx="3">
                    <c:v>9:30</c:v>
                  </c:pt>
                  <c:pt idx="4">
                    <c:v>10:00</c:v>
                  </c:pt>
                </c:lvl>
              </c:multiLvlStrCache>
            </c:multiLvlStrRef>
          </c:cat>
          <c:val>
            <c:numRef>
              <c:f>Sheet1!$D$2:$D$6</c:f>
              <c:numCache>
                <c:formatCode>General</c:formatCode>
                <c:ptCount val="5"/>
                <c:pt idx="0">
                  <c:v>2.33</c:v>
                </c:pt>
                <c:pt idx="1">
                  <c:v>7.67</c:v>
                </c:pt>
                <c:pt idx="2">
                  <c:v>5.33</c:v>
                </c:pt>
                <c:pt idx="3">
                  <c:v>5.5</c:v>
                </c:pt>
                <c:pt idx="4">
                  <c:v>3.33</c:v>
                </c:pt>
              </c:numCache>
            </c:numRef>
          </c:val>
          <c:smooth val="0"/>
        </c:ser>
        <c:ser>
          <c:idx val="3"/>
          <c:order val="3"/>
          <c:tx>
            <c:strRef>
              <c:f>Sheet1!$E$1</c:f>
              <c:strCache>
                <c:ptCount val="1"/>
                <c:pt idx="0">
                  <c:v>おにぎり+糖質減</c:v>
                </c:pt>
              </c:strCache>
            </c:strRef>
          </c:tx>
          <c:spPr>
            <a:solidFill>
              <a:srgbClr val="EDA100"/>
            </a:solidFill>
            <a:ln w="25400" cap="flat">
              <a:solidFill>
                <a:srgbClr val="EDA1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DA100"/>
              </a:solidFill>
              <a:ln w="9525" cap="flat">
                <a:solidFill>
                  <a:srgbClr val="EDA100"/>
                </a:solidFill>
                <a:prstDash val="solid"/>
                <a:round/>
              </a:ln>
              <a:effectLst/>
            </c:spPr>
          </c:marker>
          <c:cat>
            <c:multiLvlStrRef>
              <c:f>Sheet1!$A$2:$A$6</c:f>
              <c:multiLvlStrCache>
                <c:ptCount val="5"/>
                <c:lvl>
                  <c:pt idx="0">
                    <c:v>8:00</c:v>
                  </c:pt>
                  <c:pt idx="1">
                    <c:v>8:30</c:v>
                  </c:pt>
                  <c:pt idx="2">
                    <c:v>9:00</c:v>
                  </c:pt>
                  <c:pt idx="3">
                    <c:v>9:30</c:v>
                  </c:pt>
                  <c:pt idx="4">
                    <c:v>10:00</c:v>
                  </c:pt>
                </c:lvl>
              </c:multiLvlStrCache>
            </c:multiLvlStrRef>
          </c:cat>
          <c:val>
            <c:numRef>
              <c:f>Sheet1!$E$2:$E$6</c:f>
              <c:numCache>
                <c:formatCode>General</c:formatCode>
                <c:ptCount val="5"/>
                <c:pt idx="0">
                  <c:v>1.67</c:v>
                </c:pt>
                <c:pt idx="1">
                  <c:v>9</c:v>
                </c:pt>
                <c:pt idx="2">
                  <c:v>8</c:v>
                </c:pt>
                <c:pt idx="3">
                  <c:v>5.5</c:v>
                </c:pt>
                <c:pt idx="4">
                  <c:v>4.67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a:lstStyle/>
          <a:p>
            <a:pPr>
              <a:defRPr sz="9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3E1DB"/>
              </a:solidFill>
              <a:prstDash val="solid"/>
              <a:round/>
            </a:ln>
          </c:spPr>
        </c:majorGridlines>
        <c:numFmt formatCode="General" sourceLinked="0"/>
        <c:majorTickMark val="out"/>
        <c:minorTickMark val="none"/>
        <c:tickLblPos val="nextTo"/>
        <c:spPr>
          <a:ln w="12700" cap="flat">
            <a:solidFill>
              <a:srgbClr val="E3E1DB"/>
            </a:solidFill>
            <a:prstDash val="solid"/>
            <a:round/>
          </a:ln>
        </c:spPr>
        <c:txPr>
          <a:bodyPr/>
          <a:lstStyle/>
          <a:p>
            <a:pPr>
              <a:defRPr sz="950" b="0" i="0" u="none" strike="noStrike">
                <a:solidFill>
                  <a:srgbClr val="5C65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固形</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cat>
            <c:multiLvlStrRef>
              <c:f>Sheet1!$A$2:$A$6</c:f>
              <c:multiLvlStrCache>
                <c:ptCount val="5"/>
                <c:lvl>
                  <c:pt idx="0">
                    <c:v>8:00</c:v>
                  </c:pt>
                  <c:pt idx="1">
                    <c:v>8:30</c:v>
                  </c:pt>
                  <c:pt idx="2">
                    <c:v>9:00</c:v>
                  </c:pt>
                  <c:pt idx="3">
                    <c:v>9:30</c:v>
                  </c:pt>
                  <c:pt idx="4">
                    <c:v>10:00</c:v>
                  </c:pt>
                </c:lvl>
              </c:multiLvlStrCache>
            </c:multiLvlStrRef>
          </c:cat>
          <c:val>
            <c:numRef>
              <c:f>Sheet1!$B$2:$B$6</c:f>
              <c:numCache>
                <c:formatCode>General</c:formatCode>
                <c:ptCount val="5"/>
                <c:pt idx="0">
                  <c:v>7.67</c:v>
                </c:pt>
                <c:pt idx="1">
                  <c:v>8</c:v>
                </c:pt>
                <c:pt idx="2">
                  <c:v>7</c:v>
                </c:pt>
                <c:pt idx="3">
                  <c:v>7.67</c:v>
                </c:pt>
                <c:pt idx="4">
                  <c:v>7.67</c:v>
                </c:pt>
              </c:numCache>
            </c:numRef>
          </c:val>
          <c:smooth val="0"/>
        </c:ser>
        <c:ser>
          <c:idx val="1"/>
          <c:order val="1"/>
          <c:tx>
            <c:strRef>
              <c:f>Sheet1!$C$1</c:f>
              <c:strCache>
                <c:ptCount val="1"/>
                <c:pt idx="0">
                  <c:v>スムージー</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B6834"/>
              </a:solidFill>
              <a:ln w="9525" cap="flat">
                <a:solidFill>
                  <a:srgbClr val="EB6834"/>
                </a:solidFill>
                <a:prstDash val="solid"/>
                <a:round/>
              </a:ln>
              <a:effectLst/>
            </c:spPr>
          </c:marker>
          <c:cat>
            <c:multiLvlStrRef>
              <c:f>Sheet1!$A$2:$A$6</c:f>
              <c:multiLvlStrCache>
                <c:ptCount val="5"/>
                <c:lvl>
                  <c:pt idx="0">
                    <c:v>8:00</c:v>
                  </c:pt>
                  <c:pt idx="1">
                    <c:v>8:30</c:v>
                  </c:pt>
                  <c:pt idx="2">
                    <c:v>9:00</c:v>
                  </c:pt>
                  <c:pt idx="3">
                    <c:v>9:30</c:v>
                  </c:pt>
                  <c:pt idx="4">
                    <c:v>10:00</c:v>
                  </c:pt>
                </c:lvl>
              </c:multiLvlStrCache>
            </c:multiLvlStrRef>
          </c:cat>
          <c:val>
            <c:numRef>
              <c:f>Sheet1!$C$2:$C$6</c:f>
              <c:numCache>
                <c:formatCode>General</c:formatCode>
                <c:ptCount val="5"/>
                <c:pt idx="0">
                  <c:v>8.67</c:v>
                </c:pt>
                <c:pt idx="1">
                  <c:v>6.33</c:v>
                </c:pt>
                <c:pt idx="2">
                  <c:v>5.5</c:v>
                </c:pt>
                <c:pt idx="3">
                  <c:v>7.67</c:v>
                </c:pt>
                <c:pt idx="4">
                  <c:v>8.67</c:v>
                </c:pt>
              </c:numCache>
            </c:numRef>
          </c:val>
          <c:smooth val="0"/>
        </c:ser>
        <c:ser>
          <c:idx val="2"/>
          <c:order val="2"/>
          <c:tx>
            <c:strRef>
              <c:f>Sheet1!$D$1</c:f>
              <c:strCache>
                <c:ptCount val="1"/>
                <c:pt idx="0">
                  <c:v>おにぎり+スムージー</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AF7A"/>
              </a:solidFill>
              <a:ln w="9525" cap="flat">
                <a:solidFill>
                  <a:srgbClr val="1BAF7A"/>
                </a:solidFill>
                <a:prstDash val="solid"/>
                <a:round/>
              </a:ln>
              <a:effectLst/>
            </c:spPr>
          </c:marker>
          <c:cat>
            <c:multiLvlStrRef>
              <c:f>Sheet1!$A$2:$A$6</c:f>
              <c:multiLvlStrCache>
                <c:ptCount val="5"/>
                <c:lvl>
                  <c:pt idx="0">
                    <c:v>8:00</c:v>
                  </c:pt>
                  <c:pt idx="1">
                    <c:v>8:30</c:v>
                  </c:pt>
                  <c:pt idx="2">
                    <c:v>9:00</c:v>
                  </c:pt>
                  <c:pt idx="3">
                    <c:v>9:30</c:v>
                  </c:pt>
                  <c:pt idx="4">
                    <c:v>10:00</c:v>
                  </c:pt>
                </c:lvl>
              </c:multiLvlStrCache>
            </c:multiLvlStrRef>
          </c:cat>
          <c:val>
            <c:numRef>
              <c:f>Sheet1!$D$2:$D$6</c:f>
              <c:numCache>
                <c:formatCode>General</c:formatCode>
                <c:ptCount val="5"/>
                <c:pt idx="0">
                  <c:v>7</c:v>
                </c:pt>
                <c:pt idx="1">
                  <c:v>3.67</c:v>
                </c:pt>
                <c:pt idx="2">
                  <c:v>5.33</c:v>
                </c:pt>
                <c:pt idx="3">
                  <c:v>5.5</c:v>
                </c:pt>
                <c:pt idx="4">
                  <c:v>5.67</c:v>
                </c:pt>
              </c:numCache>
            </c:numRef>
          </c:val>
          <c:smooth val="0"/>
        </c:ser>
        <c:ser>
          <c:idx val="3"/>
          <c:order val="3"/>
          <c:tx>
            <c:strRef>
              <c:f>Sheet1!$E$1</c:f>
              <c:strCache>
                <c:ptCount val="1"/>
                <c:pt idx="0">
                  <c:v>おにぎり+糖質減</c:v>
                </c:pt>
              </c:strCache>
            </c:strRef>
          </c:tx>
          <c:spPr>
            <a:solidFill>
              <a:srgbClr val="EDA100"/>
            </a:solidFill>
            <a:ln w="25400" cap="flat">
              <a:solidFill>
                <a:srgbClr val="EDA1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DA100"/>
              </a:solidFill>
              <a:ln w="9525" cap="flat">
                <a:solidFill>
                  <a:srgbClr val="EDA100"/>
                </a:solidFill>
                <a:prstDash val="solid"/>
                <a:round/>
              </a:ln>
              <a:effectLst/>
            </c:spPr>
          </c:marker>
          <c:cat>
            <c:multiLvlStrRef>
              <c:f>Sheet1!$A$2:$A$6</c:f>
              <c:multiLvlStrCache>
                <c:ptCount val="5"/>
                <c:lvl>
                  <c:pt idx="0">
                    <c:v>8:00</c:v>
                  </c:pt>
                  <c:pt idx="1">
                    <c:v>8:30</c:v>
                  </c:pt>
                  <c:pt idx="2">
                    <c:v>9:00</c:v>
                  </c:pt>
                  <c:pt idx="3">
                    <c:v>9:30</c:v>
                  </c:pt>
                  <c:pt idx="4">
                    <c:v>10:00</c:v>
                  </c:pt>
                </c:lvl>
              </c:multiLvlStrCache>
            </c:multiLvlStrRef>
          </c:cat>
          <c:val>
            <c:numRef>
              <c:f>Sheet1!$E$2:$E$6</c:f>
              <c:numCache>
                <c:formatCode>General</c:formatCode>
                <c:ptCount val="5"/>
                <c:pt idx="0">
                  <c:v>9</c:v>
                </c:pt>
                <c:pt idx="1">
                  <c:v>3.33</c:v>
                </c:pt>
                <c:pt idx="2">
                  <c:v>3</c:v>
                </c:pt>
                <c:pt idx="3">
                  <c:v>4.5</c:v>
                </c:pt>
                <c:pt idx="4">
                  <c:v>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a:lstStyle/>
          <a:p>
            <a:pPr>
              <a:defRPr sz="9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3E1DB"/>
              </a:solidFill>
              <a:prstDash val="solid"/>
              <a:round/>
            </a:ln>
          </c:spPr>
        </c:majorGridlines>
        <c:numFmt formatCode="General" sourceLinked="0"/>
        <c:majorTickMark val="out"/>
        <c:minorTickMark val="none"/>
        <c:tickLblPos val="nextTo"/>
        <c:spPr>
          <a:ln w="12700" cap="flat">
            <a:solidFill>
              <a:srgbClr val="E3E1DB"/>
            </a:solidFill>
            <a:prstDash val="solid"/>
            <a:round/>
          </a:ln>
        </c:spPr>
        <c:txPr>
          <a:bodyPr/>
          <a:lstStyle/>
          <a:p>
            <a:pPr>
              <a:defRPr sz="950" b="0" i="0" u="none" strike="noStrike">
                <a:solidFill>
                  <a:srgbClr val="5C65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起床時コンディション</c:v>
                </c:pt>
              </c:strCache>
            </c:strRef>
          </c:tx>
          <c:spPr>
            <a:solidFill>
              <a:srgbClr val="2A78D6">
                <a:alpha val="100000"/>
              </a:srgbClr>
            </a:solidFill>
            <a:effectLst/>
          </c:spPr>
          <c:invertIfNegative val="0"/>
          <c:dLbls>
            <c:numFmt formatCode="0.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2</c:v>
                </c:pt>
                <c:pt idx="1">
                  <c:v>2.33</c:v>
                </c:pt>
                <c:pt idx="2">
                  <c:v>2.33</c:v>
                </c:pt>
                <c:pt idx="3">
                  <c:v>2.67</c:v>
                </c:pt>
              </c:numCache>
            </c:numRef>
          </c:val>
        </c:ser>
        <c:dLbls>
          <c:numFmt formatCode="0.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8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睡眠の質</c:v>
                </c:pt>
              </c:strCache>
            </c:strRef>
          </c:tx>
          <c:spPr>
            <a:solidFill>
              <a:srgbClr val="2A78D6">
                <a:alpha val="100000"/>
              </a:srgbClr>
            </a:solidFill>
            <a:effectLst/>
          </c:spPr>
          <c:invertIfNegative val="0"/>
          <c:dLbls>
            <c:numFmt formatCode="0.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2</c:v>
                </c:pt>
                <c:pt idx="1">
                  <c:v>2</c:v>
                </c:pt>
                <c:pt idx="2">
                  <c:v>2</c:v>
                </c:pt>
                <c:pt idx="3">
                  <c:v>2.67</c:v>
                </c:pt>
              </c:numCache>
            </c:numRef>
          </c:val>
        </c:ser>
        <c:dLbls>
          <c:numFmt formatCode="0.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8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持久力（自己評価）</c:v>
                </c:pt>
              </c:strCache>
            </c:strRef>
          </c:tx>
          <c:spPr>
            <a:solidFill>
              <a:srgbClr val="2A78D6">
                <a:alpha val="100000"/>
              </a:srgbClr>
            </a:solidFill>
            <a:effectLst/>
          </c:spPr>
          <c:invertIfNegative val="0"/>
          <c:dLbls>
            <c:numFmt formatCode="0.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3</c:v>
                </c:pt>
                <c:pt idx="1">
                  <c:v>3.67</c:v>
                </c:pt>
                <c:pt idx="2">
                  <c:v>3.83</c:v>
                </c:pt>
                <c:pt idx="3">
                  <c:v>2.33</c:v>
                </c:pt>
              </c:numCache>
            </c:numRef>
          </c:val>
        </c:ser>
        <c:dLbls>
          <c:numFmt formatCode="0.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8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爆発力（自己評価）</c:v>
                </c:pt>
              </c:strCache>
            </c:strRef>
          </c:tx>
          <c:spPr>
            <a:solidFill>
              <a:srgbClr val="2A78D6">
                <a:alpha val="100000"/>
              </a:srgbClr>
            </a:solidFill>
            <a:effectLst/>
          </c:spPr>
          <c:invertIfNegative val="0"/>
          <c:dLbls>
            <c:numFmt formatCode="0.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4</c:v>
                </c:pt>
                <c:pt idx="1">
                  <c:v>3.67</c:v>
                </c:pt>
                <c:pt idx="2">
                  <c:v>3.5</c:v>
                </c:pt>
                <c:pt idx="3">
                  <c:v>3.33</c:v>
                </c:pt>
              </c:numCache>
            </c:numRef>
          </c:val>
        </c:ser>
        <c:dLbls>
          <c:numFmt formatCode="0.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8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RPE（主観的運動強度）</c:v>
                </c:pt>
              </c:strCache>
            </c:strRef>
          </c:tx>
          <c:spPr>
            <a:solidFill>
              <a:srgbClr val="2A78D6">
                <a:alpha val="100000"/>
              </a:srgbClr>
            </a:solidFill>
            <a:effectLst/>
          </c:spPr>
          <c:invertIfNegative val="0"/>
          <c:dLbls>
            <c:numFmt formatCode="0.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6.67</c:v>
                </c:pt>
                <c:pt idx="1">
                  <c:v>5.67</c:v>
                </c:pt>
                <c:pt idx="2">
                  <c:v>5.5</c:v>
                </c:pt>
                <c:pt idx="3">
                  <c:v>6.33</c:v>
                </c:pt>
              </c:numCache>
            </c:numRef>
          </c:val>
        </c:ser>
        <c:dLbls>
          <c:numFmt formatCode="0.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8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練習時間 (分/日)</c:v>
                </c:pt>
              </c:strCache>
            </c:strRef>
          </c:tx>
          <c:spPr>
            <a:solidFill>
              <a:srgbClr val="2A78D6">
                <a:alpha val="100000"/>
              </a:srgbClr>
            </a:solidFill>
            <a:effectLst/>
          </c:spPr>
          <c:invertIfNegative val="0"/>
          <c:dLbls>
            <c:numFmt formatCode="#,##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140</c:v>
                </c:pt>
                <c:pt idx="1">
                  <c:v>60</c:v>
                </c:pt>
                <c:pt idx="2">
                  <c:v>80</c:v>
                </c:pt>
                <c:pt idx="3">
                  <c:v>100</c:v>
                </c:pt>
              </c:numCache>
            </c:numRef>
          </c:val>
        </c:ser>
        <c:dLbls>
          <c:numFmt formatCode="#,##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8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chart" Target="/ppt/charts/chart13.xml"/><Relationship Id="rId5" Type="http://schemas.openxmlformats.org/officeDocument/2006/relationships/chart" Target="/ppt/charts/chart14.xml"/><Relationship Id="rId6" Type="http://schemas.openxmlformats.org/officeDocument/2006/relationships/chart" Target="/ppt/charts/chart15.xml"/><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1295C"/>
          </a:solidFill>
          <a:ln/>
        </p:spPr>
      </p:sp>
      <p:sp>
        <p:nvSpPr>
          <p:cNvPr id="3" name="Shape 1"/>
          <p:cNvSpPr/>
          <p:nvPr/>
        </p:nvSpPr>
        <p:spPr>
          <a:xfrm>
            <a:off x="9692640" y="-1463040"/>
            <a:ext cx="5029200" cy="5029200"/>
          </a:xfrm>
          <a:prstGeom prst="oval">
            <a:avLst/>
          </a:prstGeom>
          <a:solidFill>
            <a:srgbClr val="065A82">
              <a:alpha val="45000"/>
            </a:srgbClr>
          </a:solidFill>
          <a:ln/>
        </p:spPr>
      </p:sp>
      <p:sp>
        <p:nvSpPr>
          <p:cNvPr id="4" name="Shape 2"/>
          <p:cNvSpPr/>
          <p:nvPr/>
        </p:nvSpPr>
        <p:spPr>
          <a:xfrm>
            <a:off x="-1828800" y="4206240"/>
            <a:ext cx="4206240" cy="4206240"/>
          </a:xfrm>
          <a:prstGeom prst="oval">
            <a:avLst/>
          </a:prstGeom>
          <a:solidFill>
            <a:srgbClr val="1C7293">
              <a:alpha val="40000"/>
            </a:srgbClr>
          </a:solidFill>
          <a:ln/>
        </p:spPr>
      </p:sp>
      <p:sp>
        <p:nvSpPr>
          <p:cNvPr id="5" name="Text 3"/>
          <p:cNvSpPr txBox="1"/>
          <p:nvPr/>
        </p:nvSpPr>
        <p:spPr>
          <a:xfrm>
            <a:off x="548640" y="1874520"/>
            <a:ext cx="9601200" cy="457200"/>
          </a:xfrm>
          <a:prstGeom prst="rect">
            <a:avLst/>
          </a:prstGeom>
          <a:noFill/>
          <a:ln/>
        </p:spPr>
        <p:txBody>
          <a:bodyPr wrap="square" rtlCol="0" anchor="ctr"/>
          <a:lstStyle/>
          <a:p>
            <a:pPr indent="0" marL="0">
              <a:buNone/>
            </a:pPr>
            <a:r>
              <a:rPr lang="en-US" sz="1500" b="1" spc="150" kern="0" dirty="0">
                <a:solidFill>
                  <a:srgbClr val="8FB7E0"/>
                </a:solidFill>
                <a:latin typeface="Calibri" pitchFamily="34" charset="0"/>
                <a:ea typeface="Calibri" pitchFamily="34" charset="-122"/>
                <a:cs typeface="Calibri" pitchFamily="34" charset="-120"/>
              </a:rPr>
              <a:t>SCI車いす選手 食事介入研究</a:t>
            </a:r>
            <a:endParaRPr lang="en-US" sz="1500" dirty="0"/>
          </a:p>
        </p:txBody>
      </p:sp>
      <p:sp>
        <p:nvSpPr>
          <p:cNvPr id="6" name="Text 4"/>
          <p:cNvSpPr txBox="1"/>
          <p:nvPr/>
        </p:nvSpPr>
        <p:spPr>
          <a:xfrm>
            <a:off x="548640" y="2331720"/>
            <a:ext cx="10515600" cy="118872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おにぎり × スムージー 部分的液状化研究</a:t>
            </a:r>
            <a:endParaRPr lang="en-US" sz="4000" dirty="0"/>
          </a:p>
        </p:txBody>
      </p:sp>
      <p:sp>
        <p:nvSpPr>
          <p:cNvPr id="7" name="Text 5"/>
          <p:cNvSpPr txBox="1"/>
          <p:nvPr/>
        </p:nvSpPr>
        <p:spPr>
          <a:xfrm>
            <a:off x="548640" y="3246120"/>
            <a:ext cx="10515600" cy="548640"/>
          </a:xfrm>
          <a:prstGeom prst="rect">
            <a:avLst/>
          </a:prstGeom>
          <a:noFill/>
          <a:ln/>
        </p:spPr>
        <p:txBody>
          <a:bodyPr wrap="square" rtlCol="0" anchor="ctr"/>
          <a:lstStyle/>
          <a:p>
            <a:pPr indent="0" marL="0">
              <a:buNone/>
            </a:pPr>
            <a:r>
              <a:rPr lang="en-US" sz="2000" dirty="0">
                <a:solidFill>
                  <a:srgbClr val="CADCFC"/>
                </a:solidFill>
                <a:latin typeface="Calibri" pitchFamily="34" charset="0"/>
                <a:ea typeface="Calibri" pitchFamily="34" charset="-122"/>
                <a:cs typeface="Calibri" pitchFamily="34" charset="-120"/>
              </a:rPr>
              <a:t>血糖値・コンディション比較分析</a:t>
            </a:r>
            <a:endParaRPr lang="en-US" sz="2000" dirty="0"/>
          </a:p>
        </p:txBody>
      </p:sp>
      <p:sp>
        <p:nvSpPr>
          <p:cNvPr id="8" name="Shape 6"/>
          <p:cNvSpPr/>
          <p:nvPr/>
        </p:nvSpPr>
        <p:spPr>
          <a:xfrm>
            <a:off x="548640" y="4114800"/>
            <a:ext cx="0" cy="0"/>
          </a:xfrm>
          <a:prstGeom prst="line">
            <a:avLst/>
          </a:prstGeom>
          <a:noFill/>
          <a:ln/>
        </p:spPr>
      </p:sp>
      <p:sp>
        <p:nvSpPr>
          <p:cNvPr id="9" name="Text 7"/>
          <p:cNvSpPr txBox="1"/>
          <p:nvPr/>
        </p:nvSpPr>
        <p:spPr>
          <a:xfrm>
            <a:off x="548640" y="4892040"/>
            <a:ext cx="146304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4</a:t>
            </a:r>
            <a:endParaRPr lang="en-US" sz="3400" dirty="0"/>
          </a:p>
        </p:txBody>
      </p:sp>
      <p:sp>
        <p:nvSpPr>
          <p:cNvPr id="10" name="Text 8"/>
          <p:cNvSpPr txBox="1"/>
          <p:nvPr/>
        </p:nvSpPr>
        <p:spPr>
          <a:xfrm>
            <a:off x="548640" y="5532120"/>
            <a:ext cx="2377440" cy="365760"/>
          </a:xfrm>
          <a:prstGeom prst="rect">
            <a:avLst/>
          </a:prstGeom>
          <a:noFill/>
          <a:ln/>
        </p:spPr>
        <p:txBody>
          <a:bodyPr wrap="square" lIns="0" tIns="0" rIns="0" bIns="0" rtlCol="0" anchor="ctr"/>
          <a:lstStyle/>
          <a:p>
            <a:pPr indent="0" marL="0">
              <a:buNone/>
            </a:pPr>
            <a:r>
              <a:rPr lang="en-US" sz="1200" dirty="0">
                <a:solidFill>
                  <a:srgbClr val="9AA6C4"/>
                </a:solidFill>
                <a:latin typeface="Calibri" pitchFamily="34" charset="0"/>
                <a:ea typeface="Calibri" pitchFamily="34" charset="-122"/>
                <a:cs typeface="Calibri" pitchFamily="34" charset="-120"/>
              </a:rPr>
              <a:t>比較条件</a:t>
            </a:r>
            <a:endParaRPr lang="en-US" sz="1200" dirty="0"/>
          </a:p>
        </p:txBody>
      </p:sp>
      <p:sp>
        <p:nvSpPr>
          <p:cNvPr id="11" name="Text 9"/>
          <p:cNvSpPr txBox="1"/>
          <p:nvPr/>
        </p:nvSpPr>
        <p:spPr>
          <a:xfrm>
            <a:off x="2377440" y="4892040"/>
            <a:ext cx="146304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14</a:t>
            </a:r>
            <a:endParaRPr lang="en-US" sz="3400" dirty="0"/>
          </a:p>
        </p:txBody>
      </p:sp>
      <p:sp>
        <p:nvSpPr>
          <p:cNvPr id="12" name="Text 10"/>
          <p:cNvSpPr txBox="1"/>
          <p:nvPr/>
        </p:nvSpPr>
        <p:spPr>
          <a:xfrm>
            <a:off x="2377440" y="5532120"/>
            <a:ext cx="2377440" cy="365760"/>
          </a:xfrm>
          <a:prstGeom prst="rect">
            <a:avLst/>
          </a:prstGeom>
          <a:noFill/>
          <a:ln/>
        </p:spPr>
        <p:txBody>
          <a:bodyPr wrap="square" lIns="0" tIns="0" rIns="0" bIns="0" rtlCol="0" anchor="ctr"/>
          <a:lstStyle/>
          <a:p>
            <a:pPr indent="0" marL="0">
              <a:buNone/>
            </a:pPr>
            <a:r>
              <a:rPr lang="en-US" sz="1200" dirty="0">
                <a:solidFill>
                  <a:srgbClr val="9AA6C4"/>
                </a:solidFill>
                <a:latin typeface="Calibri" pitchFamily="34" charset="0"/>
                <a:ea typeface="Calibri" pitchFamily="34" charset="-122"/>
                <a:cs typeface="Calibri" pitchFamily="34" charset="-120"/>
              </a:rPr>
              <a:t>測定日数(DAY)</a:t>
            </a:r>
            <a:endParaRPr lang="en-US" sz="1200" dirty="0"/>
          </a:p>
        </p:txBody>
      </p:sp>
      <p:sp>
        <p:nvSpPr>
          <p:cNvPr id="13" name="Text 11"/>
          <p:cNvSpPr txBox="1"/>
          <p:nvPr/>
        </p:nvSpPr>
        <p:spPr>
          <a:xfrm>
            <a:off x="4206240" y="4892040"/>
            <a:ext cx="146304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25</a:t>
            </a:r>
            <a:endParaRPr lang="en-US" sz="3400" dirty="0"/>
          </a:p>
        </p:txBody>
      </p:sp>
      <p:sp>
        <p:nvSpPr>
          <p:cNvPr id="14" name="Text 12"/>
          <p:cNvSpPr txBox="1"/>
          <p:nvPr/>
        </p:nvSpPr>
        <p:spPr>
          <a:xfrm>
            <a:off x="4206240" y="5532120"/>
            <a:ext cx="2377440" cy="365760"/>
          </a:xfrm>
          <a:prstGeom prst="rect">
            <a:avLst/>
          </a:prstGeom>
          <a:noFill/>
          <a:ln/>
        </p:spPr>
        <p:txBody>
          <a:bodyPr wrap="square" lIns="0" tIns="0" rIns="0" bIns="0" rtlCol="0" anchor="ctr"/>
          <a:lstStyle/>
          <a:p>
            <a:pPr indent="0" marL="0">
              <a:buNone/>
            </a:pPr>
            <a:r>
              <a:rPr lang="en-US" sz="1200" dirty="0">
                <a:solidFill>
                  <a:srgbClr val="9AA6C4"/>
                </a:solidFill>
                <a:latin typeface="Calibri" pitchFamily="34" charset="0"/>
                <a:ea typeface="Calibri" pitchFamily="34" charset="-122"/>
                <a:cs typeface="Calibri" pitchFamily="34" charset="-120"/>
              </a:rPr>
              <a:t>血糖測定点/日</a:t>
            </a:r>
            <a:endParaRPr lang="en-US" sz="1200" dirty="0"/>
          </a:p>
        </p:txBody>
      </p:sp>
      <p:sp>
        <p:nvSpPr>
          <p:cNvPr id="15" name="Text 13"/>
          <p:cNvSpPr txBox="1"/>
          <p:nvPr/>
        </p:nvSpPr>
        <p:spPr>
          <a:xfrm>
            <a:off x="548640" y="6172200"/>
            <a:ext cx="8229600" cy="365760"/>
          </a:xfrm>
          <a:prstGeom prst="rect">
            <a:avLst/>
          </a:prstGeom>
          <a:noFill/>
          <a:ln/>
        </p:spPr>
        <p:txBody>
          <a:bodyPr wrap="square" rtlCol="0" anchor="ctr"/>
          <a:lstStyle/>
          <a:p>
            <a:pPr indent="0" marL="0">
              <a:buNone/>
            </a:pPr>
            <a:r>
              <a:rPr lang="en-US" sz="1100" i="1" dirty="0">
                <a:solidFill>
                  <a:srgbClr val="9AA6C4"/>
                </a:solidFill>
                <a:latin typeface="Calibri" pitchFamily="34" charset="0"/>
                <a:ea typeface="Calibri" pitchFamily="34" charset="-122"/>
                <a:cs typeface="Calibri" pitchFamily="34" charset="-120"/>
              </a:rPr>
              <a:t>高位脊髄損傷（SCI）車いす陸上選手 1名を対象とした反復測定</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BACKGROUND</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研究の背景と目的</a:t>
            </a:r>
            <a:endParaRPr lang="en-US" sz="2800" dirty="0"/>
          </a:p>
        </p:txBody>
      </p:sp>
      <p:sp>
        <p:nvSpPr>
          <p:cNvPr id="4" name="Shape 2"/>
          <p:cNvSpPr/>
          <p:nvPr/>
        </p:nvSpPr>
        <p:spPr>
          <a:xfrm>
            <a:off x="548640" y="1691640"/>
            <a:ext cx="502920" cy="502920"/>
          </a:xfrm>
          <a:prstGeom prst="oval">
            <a:avLst/>
          </a:prstGeom>
          <a:solidFill>
            <a:srgbClr val="065A82"/>
          </a:solidFill>
          <a:ln/>
        </p:spPr>
      </p:sp>
      <p:sp>
        <p:nvSpPr>
          <p:cNvPr id="5" name="Text 3"/>
          <p:cNvSpPr txBox="1"/>
          <p:nvPr/>
        </p:nvSpPr>
        <p:spPr>
          <a:xfrm>
            <a:off x="548640" y="16916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664208"/>
            <a:ext cx="9875520" cy="320040"/>
          </a:xfrm>
          <a:prstGeom prst="rect">
            <a:avLst/>
          </a:prstGeom>
          <a:noFill/>
          <a:ln/>
        </p:spPr>
        <p:txBody>
          <a:bodyPr wrap="square" lIns="0" tIns="0" rIns="0" bIns="0"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SCI選手の病態生理</a:t>
            </a:r>
            <a:endParaRPr lang="en-US" sz="1500" dirty="0"/>
          </a:p>
        </p:txBody>
      </p:sp>
      <p:sp>
        <p:nvSpPr>
          <p:cNvPr id="7" name="Text 5"/>
          <p:cNvSpPr txBox="1"/>
          <p:nvPr/>
        </p:nvSpPr>
        <p:spPr>
          <a:xfrm>
            <a:off x="1280160" y="1984248"/>
            <a:ext cx="9966960" cy="548640"/>
          </a:xfrm>
          <a:prstGeom prst="rect">
            <a:avLst/>
          </a:prstGeom>
          <a:noFill/>
          <a:ln/>
        </p:spPr>
        <p:txBody>
          <a:bodyPr wrap="square" lIns="0" tIns="0" rIns="0" bIns="0" rtlCol="0" anchor="ctr"/>
          <a:lstStyle/>
          <a:p>
            <a:pPr indent="0" marL="0">
              <a:buNone/>
            </a:pPr>
            <a:r>
              <a:rPr lang="en-US" sz="1250" dirty="0">
                <a:solidFill>
                  <a:srgbClr val="5C6570"/>
                </a:solidFill>
                <a:latin typeface="Calibri" pitchFamily="34" charset="0"/>
                <a:ea typeface="Calibri" pitchFamily="34" charset="-122"/>
                <a:cs typeface="Calibri" pitchFamily="34" charset="-120"/>
              </a:rPr>
              <a:t>高位脊髄損傷者は交感神経の遠心路が遮断され、食後低血圧・血糖値スパイク／反応性低血糖を起こしやすい。</a:t>
            </a:r>
            <a:endParaRPr lang="en-US" sz="1250" dirty="0"/>
          </a:p>
        </p:txBody>
      </p:sp>
      <p:sp>
        <p:nvSpPr>
          <p:cNvPr id="8" name="Shape 6"/>
          <p:cNvSpPr/>
          <p:nvPr/>
        </p:nvSpPr>
        <p:spPr>
          <a:xfrm>
            <a:off x="548640" y="2862072"/>
            <a:ext cx="502920" cy="502920"/>
          </a:xfrm>
          <a:prstGeom prst="oval">
            <a:avLst/>
          </a:prstGeom>
          <a:solidFill>
            <a:srgbClr val="1C7293"/>
          </a:solidFill>
          <a:ln/>
        </p:spPr>
      </p:sp>
      <p:sp>
        <p:nvSpPr>
          <p:cNvPr id="9" name="Text 7"/>
          <p:cNvSpPr txBox="1"/>
          <p:nvPr/>
        </p:nvSpPr>
        <p:spPr>
          <a:xfrm>
            <a:off x="548640" y="2862072"/>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1280160" y="2834640"/>
            <a:ext cx="9875520" cy="320040"/>
          </a:xfrm>
          <a:prstGeom prst="rect">
            <a:avLst/>
          </a:prstGeom>
          <a:noFill/>
          <a:ln/>
        </p:spPr>
        <p:txBody>
          <a:bodyPr wrap="square" lIns="0" tIns="0" rIns="0" bIns="0"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現場での気づき</a:t>
            </a:r>
            <a:endParaRPr lang="en-US" sz="1500" dirty="0"/>
          </a:p>
        </p:txBody>
      </p:sp>
      <p:sp>
        <p:nvSpPr>
          <p:cNvPr id="11" name="Text 9"/>
          <p:cNvSpPr txBox="1"/>
          <p:nvPr/>
        </p:nvSpPr>
        <p:spPr>
          <a:xfrm>
            <a:off x="1280160" y="3154680"/>
            <a:ext cx="9966960" cy="548640"/>
          </a:xfrm>
          <a:prstGeom prst="rect">
            <a:avLst/>
          </a:prstGeom>
          <a:noFill/>
          <a:ln/>
        </p:spPr>
        <p:txBody>
          <a:bodyPr wrap="square" lIns="0" tIns="0" rIns="0" bIns="0" rtlCol="0" anchor="ctr"/>
          <a:lstStyle/>
          <a:p>
            <a:pPr indent="0" marL="0">
              <a:buNone/>
            </a:pPr>
            <a:r>
              <a:rPr lang="en-US" sz="1250" dirty="0">
                <a:solidFill>
                  <a:srgbClr val="5C6570"/>
                </a:solidFill>
                <a:latin typeface="Calibri" pitchFamily="34" charset="0"/>
                <a:ea typeface="Calibri" pitchFamily="34" charset="-122"/>
                <a:cs typeface="Calibri" pitchFamily="34" charset="-120"/>
              </a:rPr>
              <a:t>「おにぎり2個＋バナナ＆ヨーグルト」の副食をスムージー化したところ、練習時の出力が劇的に向上したとの報告。</a:t>
            </a:r>
            <a:endParaRPr lang="en-US" sz="1250" dirty="0"/>
          </a:p>
        </p:txBody>
      </p:sp>
      <p:sp>
        <p:nvSpPr>
          <p:cNvPr id="12" name="Shape 10"/>
          <p:cNvSpPr/>
          <p:nvPr/>
        </p:nvSpPr>
        <p:spPr>
          <a:xfrm>
            <a:off x="548640" y="4032504"/>
            <a:ext cx="502920" cy="502920"/>
          </a:xfrm>
          <a:prstGeom prst="oval">
            <a:avLst/>
          </a:prstGeom>
          <a:solidFill>
            <a:srgbClr val="1BAF7A"/>
          </a:solidFill>
          <a:ln/>
        </p:spPr>
      </p:sp>
      <p:sp>
        <p:nvSpPr>
          <p:cNvPr id="13" name="Text 11"/>
          <p:cNvSpPr txBox="1"/>
          <p:nvPr/>
        </p:nvSpPr>
        <p:spPr>
          <a:xfrm>
            <a:off x="548640" y="4032504"/>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1280160" y="4005072"/>
            <a:ext cx="9875520" cy="320040"/>
          </a:xfrm>
          <a:prstGeom prst="rect">
            <a:avLst/>
          </a:prstGeom>
          <a:noFill/>
          <a:ln/>
        </p:spPr>
        <p:txBody>
          <a:bodyPr wrap="square" lIns="0" tIns="0" rIns="0" bIns="0"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作業仮説</a:t>
            </a:r>
            <a:endParaRPr lang="en-US" sz="1500" dirty="0"/>
          </a:p>
        </p:txBody>
      </p:sp>
      <p:sp>
        <p:nvSpPr>
          <p:cNvPr id="15" name="Text 13"/>
          <p:cNvSpPr txBox="1"/>
          <p:nvPr/>
        </p:nvSpPr>
        <p:spPr>
          <a:xfrm>
            <a:off x="1280160" y="4325112"/>
            <a:ext cx="9966960" cy="548640"/>
          </a:xfrm>
          <a:prstGeom prst="rect">
            <a:avLst/>
          </a:prstGeom>
          <a:noFill/>
          <a:ln/>
        </p:spPr>
        <p:txBody>
          <a:bodyPr wrap="square" lIns="0" tIns="0" rIns="0" bIns="0" rtlCol="0" anchor="ctr"/>
          <a:lstStyle/>
          <a:p>
            <a:pPr indent="0" marL="0">
              <a:buNone/>
            </a:pPr>
            <a:r>
              <a:rPr lang="en-US" sz="1250" dirty="0">
                <a:solidFill>
                  <a:srgbClr val="5C6570"/>
                </a:solidFill>
                <a:latin typeface="Calibri" pitchFamily="34" charset="0"/>
                <a:ea typeface="Calibri" pitchFamily="34" charset="-122"/>
                <a:cs typeface="Calibri" pitchFamily="34" charset="-120"/>
              </a:rPr>
              <a:t>おにぎりの満足感は残しつつ副食を部分的に液状化し、総固形物量を減らすことで胃排泄を促し、血糖・消化ストレスを回避できるのでは。</a:t>
            </a:r>
            <a:endParaRPr lang="en-US" sz="1250" dirty="0"/>
          </a:p>
        </p:txBody>
      </p:sp>
      <p:sp>
        <p:nvSpPr>
          <p:cNvPr id="16" name="Shape 14"/>
          <p:cNvSpPr/>
          <p:nvPr/>
        </p:nvSpPr>
        <p:spPr>
          <a:xfrm>
            <a:off x="548640" y="5202936"/>
            <a:ext cx="502920" cy="502920"/>
          </a:xfrm>
          <a:prstGeom prst="oval">
            <a:avLst/>
          </a:prstGeom>
          <a:solidFill>
            <a:srgbClr val="21295C"/>
          </a:solidFill>
          <a:ln/>
        </p:spPr>
      </p:sp>
      <p:sp>
        <p:nvSpPr>
          <p:cNvPr id="17" name="Text 15"/>
          <p:cNvSpPr txBox="1"/>
          <p:nvPr/>
        </p:nvSpPr>
        <p:spPr>
          <a:xfrm>
            <a:off x="548640" y="5202936"/>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280160" y="5175504"/>
            <a:ext cx="9875520" cy="320040"/>
          </a:xfrm>
          <a:prstGeom prst="rect">
            <a:avLst/>
          </a:prstGeom>
          <a:noFill/>
          <a:ln/>
        </p:spPr>
        <p:txBody>
          <a:bodyPr wrap="square" lIns="0" tIns="0" rIns="0" bIns="0"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本分析の目的</a:t>
            </a:r>
            <a:endParaRPr lang="en-US" sz="1500" dirty="0"/>
          </a:p>
        </p:txBody>
      </p:sp>
      <p:sp>
        <p:nvSpPr>
          <p:cNvPr id="19" name="Text 17"/>
          <p:cNvSpPr txBox="1"/>
          <p:nvPr/>
        </p:nvSpPr>
        <p:spPr>
          <a:xfrm>
            <a:off x="1280160" y="5495544"/>
            <a:ext cx="9966960" cy="548640"/>
          </a:xfrm>
          <a:prstGeom prst="rect">
            <a:avLst/>
          </a:prstGeom>
          <a:noFill/>
          <a:ln/>
        </p:spPr>
        <p:txBody>
          <a:bodyPr wrap="square" lIns="0" tIns="0" rIns="0" bIns="0" rtlCol="0" anchor="ctr"/>
          <a:lstStyle/>
          <a:p>
            <a:pPr indent="0" marL="0">
              <a:buNone/>
            </a:pPr>
            <a:r>
              <a:rPr lang="en-US" sz="1250" dirty="0">
                <a:solidFill>
                  <a:srgbClr val="5C6570"/>
                </a:solidFill>
                <a:latin typeface="Calibri" pitchFamily="34" charset="0"/>
                <a:ea typeface="Calibri" pitchFamily="34" charset="-122"/>
                <a:cs typeface="Calibri" pitchFamily="34" charset="-120"/>
              </a:rPr>
              <a:t>4条件（固形／スムージー／おにぎり＋スムージー／糖質減食）で血糖動態と自覚コンディションへの影響を比較検証する。</a:t>
            </a:r>
            <a:endParaRPr lang="en-US" sz="1250" dirty="0"/>
          </a:p>
        </p:txBody>
      </p:sp>
      <p:sp>
        <p:nvSpPr>
          <p:cNvPr id="20" name="Text 18"/>
          <p:cNvSpPr/>
          <p:nvPr/>
        </p:nvSpPr>
        <p:spPr>
          <a:xfrm>
            <a:off x="548640" y="6473952"/>
            <a:ext cx="11091672" cy="274320"/>
          </a:xfrm>
          <a:prstGeom prst="rect">
            <a:avLst/>
          </a:prstGeom>
          <a:noFill/>
          <a:ln/>
        </p:spPr>
        <p:txBody>
          <a:bodyPr wrap="square" rtlCol="0" anchor="ctr"/>
          <a:lstStyle/>
          <a:p>
            <a:pPr algn="l" indent="0" marL="0">
              <a:buNone/>
            </a:pPr>
            <a:r>
              <a:rPr lang="en-US" sz="1000" dirty="0">
                <a:solidFill>
                  <a:srgbClr val="5C6570"/>
                </a:solidFill>
                <a:latin typeface="Calibri" pitchFamily="34" charset="0"/>
                <a:ea typeface="Calibri" pitchFamily="34" charset="-122"/>
                <a:cs typeface="Calibri" pitchFamily="34" charset="-120"/>
              </a:rPr>
              <a:t>研究の背景と意義（提供資料より要約）</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METHOD</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4条件の摂取スケジュール</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2286000"/>
        </p:xfrm>
        <a:graphic>
          <a:graphicData uri="http://schemas.openxmlformats.org/drawingml/2006/table">
            <a:tbl>
              <a:tblPr/>
              <a:tblGrid>
                <a:gridCol w="2377440"/>
                <a:gridCol w="1143000"/>
                <a:gridCol w="4754880"/>
                <a:gridCol w="2816352"/>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条件</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日程</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8:00の食事内容</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おにぎりのタイミング</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r>
              <a:tr h="457200">
                <a:tc>
                  <a:txBody>
                    <a:bodyPr/>
                    <a:lstStyle/>
                    <a:p>
                      <a:pPr indent="0" marL="0">
                        <a:buNone/>
                      </a:pPr>
                      <a:r>
                        <a:rPr lang="en-US" sz="1250" b="1" dirty="0">
                          <a:solidFill>
                            <a:srgbClr val="21295C"/>
                          </a:solidFill>
                          <a:latin typeface="Calibri" pitchFamily="34" charset="0"/>
                          <a:ea typeface="Calibri" pitchFamily="34" charset="-122"/>
                          <a:cs typeface="Calibri" pitchFamily="34" charset="-120"/>
                        </a:rPr>
                        <a:t>固形摂取</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DAY1〜3</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果物ヨーグルト（固形）のみ</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約2.5〜3時間後</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21295C"/>
                          </a:solidFill>
                          <a:latin typeface="Calibri" pitchFamily="34" charset="0"/>
                          <a:ea typeface="Calibri" pitchFamily="34" charset="-122"/>
                          <a:cs typeface="Calibri" pitchFamily="34" charset="-120"/>
                        </a:rPr>
                        <a:t>スムージー摂取</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DAY4〜6</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果物ヨーグルト（スムージー）のみ</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約2.5〜3時間後</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r>
              <a:tr h="457200">
                <a:tc>
                  <a:txBody>
                    <a:bodyPr/>
                    <a:lstStyle/>
                    <a:p>
                      <a:pPr indent="0" marL="0">
                        <a:buNone/>
                      </a:pPr>
                      <a:r>
                        <a:rPr lang="en-US" sz="1250" b="1" dirty="0">
                          <a:solidFill>
                            <a:srgbClr val="21295C"/>
                          </a:solidFill>
                          <a:latin typeface="Calibri" pitchFamily="34" charset="0"/>
                          <a:ea typeface="Calibri" pitchFamily="34" charset="-122"/>
                          <a:cs typeface="Calibri" pitchFamily="34" charset="-120"/>
                        </a:rPr>
                        <a:t>おにぎり＋スムージー</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DAY8〜10</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おにぎり＋スムージー（同時）</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8:00に同時摂取</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21295C"/>
                          </a:solidFill>
                          <a:latin typeface="Calibri" pitchFamily="34" charset="0"/>
                          <a:ea typeface="Calibri" pitchFamily="34" charset="-122"/>
                          <a:cs typeface="Calibri" pitchFamily="34" charset="-120"/>
                        </a:rPr>
                        <a:t>おにぎり＋糖質減</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DAY11〜13</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おにぎり＋スムージー糖質減（同時）</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8:00に同時摂取</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r>
            </a:tbl>
          </a:graphicData>
        </a:graphic>
      </p:graphicFrame>
      <p:sp>
        <p:nvSpPr>
          <p:cNvPr id="5" name="Shape 2"/>
          <p:cNvSpPr/>
          <p:nvPr/>
        </p:nvSpPr>
        <p:spPr>
          <a:xfrm>
            <a:off x="548640" y="4343400"/>
            <a:ext cx="11091672" cy="1691640"/>
          </a:xfrm>
          <a:prstGeom prst="roundRect">
            <a:avLst>
              <a:gd name="adj" fmla="val 6486"/>
            </a:avLst>
          </a:prstGeom>
          <a:solidFill>
            <a:srgbClr val="FDF3E2"/>
          </a:solidFill>
          <a:ln w="12700">
            <a:solidFill>
              <a:srgbClr val="EDA100"/>
            </a:solidFill>
            <a:prstDash val="solid"/>
          </a:ln>
        </p:spPr>
      </p:sp>
      <p:sp>
        <p:nvSpPr>
          <p:cNvPr id="6" name="Text 3"/>
          <p:cNvSpPr txBox="1"/>
          <p:nvPr/>
        </p:nvSpPr>
        <p:spPr>
          <a:xfrm>
            <a:off x="822960" y="4498848"/>
            <a:ext cx="5486400" cy="320040"/>
          </a:xfrm>
          <a:prstGeom prst="rect">
            <a:avLst/>
          </a:prstGeom>
          <a:noFill/>
          <a:ln/>
        </p:spPr>
        <p:txBody>
          <a:bodyPr wrap="square" lIns="0" tIns="0" rIns="0" bIns="0" rtlCol="0" anchor="ctr"/>
          <a:lstStyle/>
          <a:p>
            <a:pPr indent="0" marL="0">
              <a:buNone/>
            </a:pPr>
            <a:r>
              <a:rPr lang="en-US" sz="1300" b="1" dirty="0">
                <a:solidFill>
                  <a:srgbClr val="6B4B00"/>
                </a:solidFill>
                <a:latin typeface="Calibri" pitchFamily="34" charset="0"/>
                <a:ea typeface="Calibri" pitchFamily="34" charset="-122"/>
                <a:cs typeface="Calibri" pitchFamily="34" charset="-120"/>
              </a:rPr>
              <a:t>⚠ 重要な注意点</a:t>
            </a:r>
            <a:endParaRPr lang="en-US" sz="1300" dirty="0"/>
          </a:p>
        </p:txBody>
      </p:sp>
      <p:sp>
        <p:nvSpPr>
          <p:cNvPr id="7" name="Text 4"/>
          <p:cNvSpPr txBox="1"/>
          <p:nvPr/>
        </p:nvSpPr>
        <p:spPr>
          <a:xfrm>
            <a:off x="822960" y="4864608"/>
            <a:ext cx="10543032" cy="1097280"/>
          </a:xfrm>
          <a:prstGeom prst="rect">
            <a:avLst/>
          </a:prstGeom>
          <a:noFill/>
          <a:ln/>
        </p:spPr>
        <p:txBody>
          <a:bodyPr wrap="square" lIns="0" tIns="0" rIns="0" bIns="0" rtlCol="0" anchor="ctr"/>
          <a:lstStyle/>
          <a:p>
            <a:pPr indent="0" marL="0">
              <a:buNone/>
            </a:pPr>
            <a:r>
              <a:rPr lang="en-US" sz="1200" dirty="0">
                <a:solidFill>
                  <a:srgbClr val="6B4B00"/>
                </a:solidFill>
                <a:latin typeface="Calibri" pitchFamily="34" charset="0"/>
                <a:ea typeface="Calibri" pitchFamily="34" charset="-122"/>
                <a:cs typeface="Calibri" pitchFamily="34" charset="-120"/>
              </a:rPr>
              <a:t>固形・スムージー条件は「副食のみを先に食べ、おにぎりは約2.5〜3時間後」、おにぎり＋スムージー・糖質減条件は「おにぎりと副食を同時摂取」という異なるプロトコル。4条件は形態とタイミングが同時に変わるため、純粋な形態比較ができるのは「固形 vs スムージー（副食のみ）」に限られる。トレーニングはどの条件も11:00〜14:00の間に実施（1日60〜180分、条件ブロックにより変動）。</a:t>
            </a:r>
            <a:endParaRPr lang="en-US" sz="1200" dirty="0"/>
          </a:p>
        </p:txBody>
      </p:sp>
      <p:sp>
        <p:nvSpPr>
          <p:cNvPr id="8" name="Text 5"/>
          <p:cNvSpPr/>
          <p:nvPr/>
        </p:nvSpPr>
        <p:spPr>
          <a:xfrm>
            <a:off x="548640" y="6473952"/>
            <a:ext cx="11091672" cy="274320"/>
          </a:xfrm>
          <a:prstGeom prst="rect">
            <a:avLst/>
          </a:prstGeom>
          <a:noFill/>
          <a:ln/>
        </p:spPr>
        <p:txBody>
          <a:bodyPr wrap="square" rtlCol="0" anchor="ctr"/>
          <a:lstStyle/>
          <a:p>
            <a:pPr algn="l" indent="0" marL="0">
              <a:buNone/>
            </a:pPr>
            <a:r>
              <a:rPr lang="en-US" sz="1000" dirty="0">
                <a:solidFill>
                  <a:srgbClr val="5C6570"/>
                </a:solidFill>
                <a:latin typeface="Calibri" pitchFamily="34" charset="0"/>
                <a:ea typeface="Calibri" pitchFamily="34" charset="-122"/>
                <a:cs typeface="Calibri" pitchFamily="34" charset="-120"/>
              </a:rPr>
              <a:t>n = 3日／条件（同一選手の反復測定）。12:00以降は自由摂取。</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METHOD</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実験デザイン（1日のタイムライン）</a:t>
            </a:r>
            <a:endParaRPr lang="en-US" sz="2800" dirty="0"/>
          </a:p>
        </p:txBody>
      </p:sp>
      <p:sp>
        <p:nvSpPr>
          <p:cNvPr id="4" name="Text 2"/>
          <p:cNvSpPr txBox="1"/>
          <p:nvPr/>
        </p:nvSpPr>
        <p:spPr>
          <a:xfrm>
            <a:off x="2697480" y="1572768"/>
            <a:ext cx="640080" cy="201168"/>
          </a:xfrm>
          <a:prstGeom prst="rect">
            <a:avLst/>
          </a:prstGeom>
          <a:noFill/>
          <a:ln/>
        </p:spPr>
        <p:txBody>
          <a:bodyPr wrap="square" lIns="0" tIns="0" rIns="0" bIns="0" rtlCol="0" anchor="ctr"/>
          <a:lstStyle/>
          <a:p>
            <a:pPr algn="l" indent="0" marL="0">
              <a:buNone/>
            </a:pPr>
            <a:r>
              <a:rPr lang="en-US" sz="900" dirty="0">
                <a:solidFill>
                  <a:srgbClr val="5C6570"/>
                </a:solidFill>
                <a:latin typeface="Calibri" pitchFamily="34" charset="0"/>
                <a:ea typeface="Calibri" pitchFamily="34" charset="-122"/>
                <a:cs typeface="Calibri" pitchFamily="34" charset="-120"/>
              </a:rPr>
              <a:t>8:00</a:t>
            </a:r>
            <a:endParaRPr lang="en-US" sz="900" dirty="0"/>
          </a:p>
        </p:txBody>
      </p:sp>
      <p:sp>
        <p:nvSpPr>
          <p:cNvPr id="5" name="Shape 3"/>
          <p:cNvSpPr/>
          <p:nvPr/>
        </p:nvSpPr>
        <p:spPr>
          <a:xfrm>
            <a:off x="2697480" y="1792224"/>
            <a:ext cx="0" cy="4160520"/>
          </a:xfrm>
          <a:prstGeom prst="line">
            <a:avLst/>
          </a:prstGeom>
          <a:noFill/>
          <a:ln w="9525">
            <a:solidFill>
              <a:srgbClr val="EDEBE4"/>
            </a:solidFill>
            <a:prstDash val="solid"/>
          </a:ln>
        </p:spPr>
      </p:sp>
      <p:sp>
        <p:nvSpPr>
          <p:cNvPr id="6" name="Text 4"/>
          <p:cNvSpPr txBox="1"/>
          <p:nvPr/>
        </p:nvSpPr>
        <p:spPr>
          <a:xfrm>
            <a:off x="3852672" y="1572768"/>
            <a:ext cx="640080" cy="201168"/>
          </a:xfrm>
          <a:prstGeom prst="rect">
            <a:avLst/>
          </a:prstGeom>
          <a:noFill/>
          <a:ln/>
        </p:spPr>
        <p:txBody>
          <a:bodyPr wrap="square" lIns="0" tIns="0" rIns="0" bIns="0" rtlCol="0" anchor="ctr"/>
          <a:lstStyle/>
          <a:p>
            <a:pPr algn="ctr" indent="0" marL="0">
              <a:buNone/>
            </a:pPr>
            <a:r>
              <a:rPr lang="en-US" sz="900" dirty="0">
                <a:solidFill>
                  <a:srgbClr val="5C6570"/>
                </a:solidFill>
                <a:latin typeface="Calibri" pitchFamily="34" charset="0"/>
                <a:ea typeface="Calibri" pitchFamily="34" charset="-122"/>
                <a:cs typeface="Calibri" pitchFamily="34" charset="-120"/>
              </a:rPr>
              <a:t>10:00</a:t>
            </a:r>
            <a:endParaRPr lang="en-US" sz="900" dirty="0"/>
          </a:p>
        </p:txBody>
      </p:sp>
      <p:sp>
        <p:nvSpPr>
          <p:cNvPr id="7" name="Shape 5"/>
          <p:cNvSpPr/>
          <p:nvPr/>
        </p:nvSpPr>
        <p:spPr>
          <a:xfrm>
            <a:off x="4172712" y="1792224"/>
            <a:ext cx="0" cy="4160520"/>
          </a:xfrm>
          <a:prstGeom prst="line">
            <a:avLst/>
          </a:prstGeom>
          <a:noFill/>
          <a:ln w="9525">
            <a:solidFill>
              <a:srgbClr val="EDEBE4"/>
            </a:solidFill>
            <a:prstDash val="solid"/>
          </a:ln>
        </p:spPr>
      </p:sp>
      <p:sp>
        <p:nvSpPr>
          <p:cNvPr id="8" name="Text 6"/>
          <p:cNvSpPr txBox="1"/>
          <p:nvPr/>
        </p:nvSpPr>
        <p:spPr>
          <a:xfrm>
            <a:off x="5327904" y="1572768"/>
            <a:ext cx="640080" cy="201168"/>
          </a:xfrm>
          <a:prstGeom prst="rect">
            <a:avLst/>
          </a:prstGeom>
          <a:noFill/>
          <a:ln/>
        </p:spPr>
        <p:txBody>
          <a:bodyPr wrap="square" lIns="0" tIns="0" rIns="0" bIns="0" rtlCol="0" anchor="ctr"/>
          <a:lstStyle/>
          <a:p>
            <a:pPr algn="ctr" indent="0" marL="0">
              <a:buNone/>
            </a:pPr>
            <a:r>
              <a:rPr lang="en-US" sz="900" dirty="0">
                <a:solidFill>
                  <a:srgbClr val="5C6570"/>
                </a:solidFill>
                <a:latin typeface="Calibri" pitchFamily="34" charset="0"/>
                <a:ea typeface="Calibri" pitchFamily="34" charset="-122"/>
                <a:cs typeface="Calibri" pitchFamily="34" charset="-120"/>
              </a:rPr>
              <a:t>12:00</a:t>
            </a:r>
            <a:endParaRPr lang="en-US" sz="900" dirty="0"/>
          </a:p>
        </p:txBody>
      </p:sp>
      <p:sp>
        <p:nvSpPr>
          <p:cNvPr id="9" name="Shape 7"/>
          <p:cNvSpPr/>
          <p:nvPr/>
        </p:nvSpPr>
        <p:spPr>
          <a:xfrm>
            <a:off x="5647944" y="1792224"/>
            <a:ext cx="0" cy="4160520"/>
          </a:xfrm>
          <a:prstGeom prst="line">
            <a:avLst/>
          </a:prstGeom>
          <a:noFill/>
          <a:ln w="9525">
            <a:solidFill>
              <a:srgbClr val="EDEBE4"/>
            </a:solidFill>
            <a:prstDash val="solid"/>
          </a:ln>
        </p:spPr>
      </p:sp>
      <p:sp>
        <p:nvSpPr>
          <p:cNvPr id="10" name="Text 8"/>
          <p:cNvSpPr txBox="1"/>
          <p:nvPr/>
        </p:nvSpPr>
        <p:spPr>
          <a:xfrm>
            <a:off x="6803136" y="1572768"/>
            <a:ext cx="640080" cy="201168"/>
          </a:xfrm>
          <a:prstGeom prst="rect">
            <a:avLst/>
          </a:prstGeom>
          <a:noFill/>
          <a:ln/>
        </p:spPr>
        <p:txBody>
          <a:bodyPr wrap="square" lIns="0" tIns="0" rIns="0" bIns="0" rtlCol="0" anchor="ctr"/>
          <a:lstStyle/>
          <a:p>
            <a:pPr algn="ctr" indent="0" marL="0">
              <a:buNone/>
            </a:pPr>
            <a:r>
              <a:rPr lang="en-US" sz="900" dirty="0">
                <a:solidFill>
                  <a:srgbClr val="5C6570"/>
                </a:solidFill>
                <a:latin typeface="Calibri" pitchFamily="34" charset="0"/>
                <a:ea typeface="Calibri" pitchFamily="34" charset="-122"/>
                <a:cs typeface="Calibri" pitchFamily="34" charset="-120"/>
              </a:rPr>
              <a:t>14:00</a:t>
            </a:r>
            <a:endParaRPr lang="en-US" sz="900" dirty="0"/>
          </a:p>
        </p:txBody>
      </p:sp>
      <p:sp>
        <p:nvSpPr>
          <p:cNvPr id="11" name="Shape 9"/>
          <p:cNvSpPr/>
          <p:nvPr/>
        </p:nvSpPr>
        <p:spPr>
          <a:xfrm>
            <a:off x="7123176" y="1792224"/>
            <a:ext cx="0" cy="4160520"/>
          </a:xfrm>
          <a:prstGeom prst="line">
            <a:avLst/>
          </a:prstGeom>
          <a:noFill/>
          <a:ln w="9525">
            <a:solidFill>
              <a:srgbClr val="EDEBE4"/>
            </a:solidFill>
            <a:prstDash val="solid"/>
          </a:ln>
        </p:spPr>
      </p:sp>
      <p:sp>
        <p:nvSpPr>
          <p:cNvPr id="12" name="Text 10"/>
          <p:cNvSpPr txBox="1"/>
          <p:nvPr/>
        </p:nvSpPr>
        <p:spPr>
          <a:xfrm>
            <a:off x="8278368" y="1572768"/>
            <a:ext cx="640080" cy="201168"/>
          </a:xfrm>
          <a:prstGeom prst="rect">
            <a:avLst/>
          </a:prstGeom>
          <a:noFill/>
          <a:ln/>
        </p:spPr>
        <p:txBody>
          <a:bodyPr wrap="square" lIns="0" tIns="0" rIns="0" bIns="0" rtlCol="0" anchor="ctr"/>
          <a:lstStyle/>
          <a:p>
            <a:pPr algn="ctr" indent="0" marL="0">
              <a:buNone/>
            </a:pPr>
            <a:r>
              <a:rPr lang="en-US" sz="900" dirty="0">
                <a:solidFill>
                  <a:srgbClr val="5C6570"/>
                </a:solidFill>
                <a:latin typeface="Calibri" pitchFamily="34" charset="0"/>
                <a:ea typeface="Calibri" pitchFamily="34" charset="-122"/>
                <a:cs typeface="Calibri" pitchFamily="34" charset="-120"/>
              </a:rPr>
              <a:t>16:00</a:t>
            </a:r>
            <a:endParaRPr lang="en-US" sz="900" dirty="0"/>
          </a:p>
        </p:txBody>
      </p:sp>
      <p:sp>
        <p:nvSpPr>
          <p:cNvPr id="13" name="Shape 11"/>
          <p:cNvSpPr/>
          <p:nvPr/>
        </p:nvSpPr>
        <p:spPr>
          <a:xfrm>
            <a:off x="8598408" y="1792224"/>
            <a:ext cx="0" cy="4160520"/>
          </a:xfrm>
          <a:prstGeom prst="line">
            <a:avLst/>
          </a:prstGeom>
          <a:noFill/>
          <a:ln w="9525">
            <a:solidFill>
              <a:srgbClr val="EDEBE4"/>
            </a:solidFill>
            <a:prstDash val="solid"/>
          </a:ln>
        </p:spPr>
      </p:sp>
      <p:sp>
        <p:nvSpPr>
          <p:cNvPr id="14" name="Text 12"/>
          <p:cNvSpPr txBox="1"/>
          <p:nvPr/>
        </p:nvSpPr>
        <p:spPr>
          <a:xfrm>
            <a:off x="9753600" y="1572768"/>
            <a:ext cx="640080" cy="201168"/>
          </a:xfrm>
          <a:prstGeom prst="rect">
            <a:avLst/>
          </a:prstGeom>
          <a:noFill/>
          <a:ln/>
        </p:spPr>
        <p:txBody>
          <a:bodyPr wrap="square" lIns="0" tIns="0" rIns="0" bIns="0" rtlCol="0" anchor="ctr"/>
          <a:lstStyle/>
          <a:p>
            <a:pPr algn="ctr" indent="0" marL="0">
              <a:buNone/>
            </a:pPr>
            <a:r>
              <a:rPr lang="en-US" sz="900" dirty="0">
                <a:solidFill>
                  <a:srgbClr val="5C6570"/>
                </a:solidFill>
                <a:latin typeface="Calibri" pitchFamily="34" charset="0"/>
                <a:ea typeface="Calibri" pitchFamily="34" charset="-122"/>
                <a:cs typeface="Calibri" pitchFamily="34" charset="-120"/>
              </a:rPr>
              <a:t>18:00</a:t>
            </a:r>
            <a:endParaRPr lang="en-US" sz="900" dirty="0"/>
          </a:p>
        </p:txBody>
      </p:sp>
      <p:sp>
        <p:nvSpPr>
          <p:cNvPr id="15" name="Shape 13"/>
          <p:cNvSpPr/>
          <p:nvPr/>
        </p:nvSpPr>
        <p:spPr>
          <a:xfrm>
            <a:off x="10073640" y="1792224"/>
            <a:ext cx="0" cy="4160520"/>
          </a:xfrm>
          <a:prstGeom prst="line">
            <a:avLst/>
          </a:prstGeom>
          <a:noFill/>
          <a:ln w="9525">
            <a:solidFill>
              <a:srgbClr val="EDEBE4"/>
            </a:solidFill>
            <a:prstDash val="solid"/>
          </a:ln>
        </p:spPr>
      </p:sp>
      <p:sp>
        <p:nvSpPr>
          <p:cNvPr id="16" name="Text 14"/>
          <p:cNvSpPr txBox="1"/>
          <p:nvPr/>
        </p:nvSpPr>
        <p:spPr>
          <a:xfrm>
            <a:off x="10908792" y="1572768"/>
            <a:ext cx="640080" cy="201168"/>
          </a:xfrm>
          <a:prstGeom prst="rect">
            <a:avLst/>
          </a:prstGeom>
          <a:noFill/>
          <a:ln/>
        </p:spPr>
        <p:txBody>
          <a:bodyPr wrap="square" lIns="0" tIns="0" rIns="0" bIns="0" rtlCol="0" anchor="ctr"/>
          <a:lstStyle/>
          <a:p>
            <a:pPr algn="r" indent="0" marL="0">
              <a:buNone/>
            </a:pPr>
            <a:r>
              <a:rPr lang="en-US" sz="900" dirty="0">
                <a:solidFill>
                  <a:srgbClr val="5C6570"/>
                </a:solidFill>
                <a:latin typeface="Calibri" pitchFamily="34" charset="0"/>
                <a:ea typeface="Calibri" pitchFamily="34" charset="-122"/>
                <a:cs typeface="Calibri" pitchFamily="34" charset="-120"/>
              </a:rPr>
              <a:t>20:00</a:t>
            </a:r>
            <a:endParaRPr lang="en-US" sz="900" dirty="0"/>
          </a:p>
        </p:txBody>
      </p:sp>
      <p:sp>
        <p:nvSpPr>
          <p:cNvPr id="17" name="Shape 15"/>
          <p:cNvSpPr/>
          <p:nvPr/>
        </p:nvSpPr>
        <p:spPr>
          <a:xfrm>
            <a:off x="11548872" y="1792224"/>
            <a:ext cx="0" cy="4160520"/>
          </a:xfrm>
          <a:prstGeom prst="line">
            <a:avLst/>
          </a:prstGeom>
          <a:noFill/>
          <a:ln w="9525">
            <a:solidFill>
              <a:srgbClr val="EDEBE4"/>
            </a:solidFill>
            <a:prstDash val="solid"/>
          </a:ln>
        </p:spPr>
      </p:sp>
      <p:sp>
        <p:nvSpPr>
          <p:cNvPr id="18" name="Text 16"/>
          <p:cNvSpPr txBox="1"/>
          <p:nvPr/>
        </p:nvSpPr>
        <p:spPr>
          <a:xfrm>
            <a:off x="548640" y="1929384"/>
            <a:ext cx="1874520" cy="292608"/>
          </a:xfrm>
          <a:prstGeom prst="rect">
            <a:avLst/>
          </a:prstGeom>
          <a:noFill/>
          <a:ln/>
        </p:spPr>
        <p:txBody>
          <a:bodyPr wrap="square" lIns="0" tIns="0" rIns="0" bIns="0" rtlCol="0" anchor="ctr"/>
          <a:lstStyle/>
          <a:p>
            <a:pPr indent="0" marL="0">
              <a:buNone/>
            </a:pPr>
            <a:r>
              <a:rPr lang="en-US" sz="1200" b="1" dirty="0">
                <a:solidFill>
                  <a:srgbClr val="21295C"/>
                </a:solidFill>
                <a:latin typeface="Calibri" pitchFamily="34" charset="0"/>
                <a:ea typeface="Calibri" pitchFamily="34" charset="-122"/>
                <a:cs typeface="Calibri" pitchFamily="34" charset="-120"/>
              </a:rPr>
              <a:t>固形摂取</a:t>
            </a:r>
            <a:endParaRPr lang="en-US" sz="1200" dirty="0"/>
          </a:p>
        </p:txBody>
      </p:sp>
      <p:sp>
        <p:nvSpPr>
          <p:cNvPr id="19" name="Text 17"/>
          <p:cNvSpPr txBox="1"/>
          <p:nvPr/>
        </p:nvSpPr>
        <p:spPr>
          <a:xfrm>
            <a:off x="548640" y="2203704"/>
            <a:ext cx="1874520" cy="237744"/>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DAY1〜3</a:t>
            </a:r>
            <a:endParaRPr lang="en-US" sz="950" dirty="0"/>
          </a:p>
        </p:txBody>
      </p:sp>
      <p:sp>
        <p:nvSpPr>
          <p:cNvPr id="20" name="Shape 18"/>
          <p:cNvSpPr/>
          <p:nvPr/>
        </p:nvSpPr>
        <p:spPr>
          <a:xfrm>
            <a:off x="2697480" y="2322576"/>
            <a:ext cx="8851392" cy="0"/>
          </a:xfrm>
          <a:prstGeom prst="line">
            <a:avLst/>
          </a:prstGeom>
          <a:noFill/>
          <a:ln w="12700">
            <a:solidFill>
              <a:srgbClr val="E3E1DB"/>
            </a:solidFill>
            <a:prstDash val="solid"/>
          </a:ln>
        </p:spPr>
      </p:sp>
      <p:sp>
        <p:nvSpPr>
          <p:cNvPr id="21" name="Shape 19"/>
          <p:cNvSpPr/>
          <p:nvPr/>
        </p:nvSpPr>
        <p:spPr>
          <a:xfrm>
            <a:off x="2697480" y="2167128"/>
            <a:ext cx="502920" cy="310896"/>
          </a:xfrm>
          <a:prstGeom prst="roundRect">
            <a:avLst>
              <a:gd name="adj" fmla="val 14706"/>
            </a:avLst>
          </a:prstGeom>
          <a:solidFill>
            <a:srgbClr val="2A78D6"/>
          </a:solidFill>
          <a:ln/>
        </p:spPr>
      </p:sp>
      <p:sp>
        <p:nvSpPr>
          <p:cNvPr id="22" name="Text 20"/>
          <p:cNvSpPr txBox="1"/>
          <p:nvPr/>
        </p:nvSpPr>
        <p:spPr>
          <a:xfrm>
            <a:off x="2606040" y="1911096"/>
            <a:ext cx="3108960" cy="237744"/>
          </a:xfrm>
          <a:prstGeom prst="rect">
            <a:avLst/>
          </a:prstGeom>
          <a:noFill/>
          <a:ln/>
        </p:spPr>
        <p:txBody>
          <a:bodyPr wrap="square" lIns="0" tIns="0" rIns="0" bIns="0" rtlCol="0" anchor="ctr"/>
          <a:lstStyle/>
          <a:p>
            <a:pPr indent="0" marL="0">
              <a:buNone/>
            </a:pPr>
            <a:r>
              <a:rPr lang="en-US" sz="850" b="1" dirty="0">
                <a:solidFill>
                  <a:srgbClr val="2A78D6"/>
                </a:solidFill>
                <a:latin typeface="Calibri" pitchFamily="34" charset="0"/>
                <a:ea typeface="Calibri" pitchFamily="34" charset="-122"/>
                <a:cs typeface="Calibri" pitchFamily="34" charset="-120"/>
              </a:rPr>
              <a:t>果物ヨーグルト（固形）</a:t>
            </a:r>
            <a:endParaRPr lang="en-US" sz="850" dirty="0"/>
          </a:p>
        </p:txBody>
      </p:sp>
      <p:sp>
        <p:nvSpPr>
          <p:cNvPr id="23" name="Shape 21"/>
          <p:cNvSpPr/>
          <p:nvPr/>
        </p:nvSpPr>
        <p:spPr>
          <a:xfrm>
            <a:off x="4486656" y="2267712"/>
            <a:ext cx="109728" cy="109728"/>
          </a:xfrm>
          <a:prstGeom prst="oval">
            <a:avLst/>
          </a:prstGeom>
          <a:solidFill>
            <a:srgbClr val="2A78D6"/>
          </a:solidFill>
          <a:ln w="12700">
            <a:solidFill>
              <a:srgbClr val="FFFFFF"/>
            </a:solidFill>
            <a:prstDash val="solid"/>
          </a:ln>
        </p:spPr>
      </p:sp>
      <p:sp>
        <p:nvSpPr>
          <p:cNvPr id="24" name="Text 22"/>
          <p:cNvSpPr txBox="1"/>
          <p:nvPr/>
        </p:nvSpPr>
        <p:spPr>
          <a:xfrm>
            <a:off x="4038600" y="2505456"/>
            <a:ext cx="1188720" cy="201168"/>
          </a:xfrm>
          <a:prstGeom prst="rect">
            <a:avLst/>
          </a:prstGeom>
          <a:noFill/>
          <a:ln/>
        </p:spPr>
        <p:txBody>
          <a:bodyPr wrap="square" lIns="0" tIns="0" rIns="0" bIns="0" rtlCol="0" anchor="ctr"/>
          <a:lstStyle/>
          <a:p>
            <a:pPr algn="ctr" indent="0" marL="0">
              <a:buNone/>
            </a:pPr>
            <a:r>
              <a:rPr lang="en-US" sz="800" dirty="0">
                <a:solidFill>
                  <a:srgbClr val="2A78D6"/>
                </a:solidFill>
                <a:latin typeface="Calibri" pitchFamily="34" charset="0"/>
                <a:ea typeface="Calibri" pitchFamily="34" charset="-122"/>
                <a:cs typeface="Calibri" pitchFamily="34" charset="-120"/>
              </a:rPr>
              <a:t>おにぎり摂取</a:t>
            </a:r>
            <a:endParaRPr lang="en-US" sz="800" dirty="0"/>
          </a:p>
        </p:txBody>
      </p:sp>
      <p:sp>
        <p:nvSpPr>
          <p:cNvPr id="25" name="Shape 23"/>
          <p:cNvSpPr/>
          <p:nvPr/>
        </p:nvSpPr>
        <p:spPr>
          <a:xfrm>
            <a:off x="4910328" y="2167128"/>
            <a:ext cx="2212848" cy="310896"/>
          </a:xfrm>
          <a:prstGeom prst="roundRect">
            <a:avLst>
              <a:gd name="adj" fmla="val 14706"/>
            </a:avLst>
          </a:prstGeom>
          <a:solidFill>
            <a:srgbClr val="21295C">
              <a:alpha val="75000"/>
            </a:srgbClr>
          </a:solidFill>
          <a:ln/>
        </p:spPr>
      </p:sp>
      <p:sp>
        <p:nvSpPr>
          <p:cNvPr id="26" name="Shape 24"/>
          <p:cNvSpPr/>
          <p:nvPr/>
        </p:nvSpPr>
        <p:spPr>
          <a:xfrm>
            <a:off x="11498580" y="2272284"/>
            <a:ext cx="100584" cy="100584"/>
          </a:xfrm>
          <a:prstGeom prst="oval">
            <a:avLst/>
          </a:prstGeom>
          <a:solidFill>
            <a:srgbClr val="5C6570"/>
          </a:solidFill>
          <a:ln/>
        </p:spPr>
      </p:sp>
      <p:sp>
        <p:nvSpPr>
          <p:cNvPr id="27" name="Text 25"/>
          <p:cNvSpPr txBox="1"/>
          <p:nvPr/>
        </p:nvSpPr>
        <p:spPr>
          <a:xfrm>
            <a:off x="548640" y="2862072"/>
            <a:ext cx="1874520" cy="292608"/>
          </a:xfrm>
          <a:prstGeom prst="rect">
            <a:avLst/>
          </a:prstGeom>
          <a:noFill/>
          <a:ln/>
        </p:spPr>
        <p:txBody>
          <a:bodyPr wrap="square" lIns="0" tIns="0" rIns="0" bIns="0" rtlCol="0" anchor="ctr"/>
          <a:lstStyle/>
          <a:p>
            <a:pPr indent="0" marL="0">
              <a:buNone/>
            </a:pPr>
            <a:r>
              <a:rPr lang="en-US" sz="1200" b="1" dirty="0">
                <a:solidFill>
                  <a:srgbClr val="21295C"/>
                </a:solidFill>
                <a:latin typeface="Calibri" pitchFamily="34" charset="0"/>
                <a:ea typeface="Calibri" pitchFamily="34" charset="-122"/>
                <a:cs typeface="Calibri" pitchFamily="34" charset="-120"/>
              </a:rPr>
              <a:t>スムージー摂取</a:t>
            </a:r>
            <a:endParaRPr lang="en-US" sz="1200" dirty="0"/>
          </a:p>
        </p:txBody>
      </p:sp>
      <p:sp>
        <p:nvSpPr>
          <p:cNvPr id="28" name="Text 26"/>
          <p:cNvSpPr txBox="1"/>
          <p:nvPr/>
        </p:nvSpPr>
        <p:spPr>
          <a:xfrm>
            <a:off x="548640" y="3136392"/>
            <a:ext cx="1874520" cy="237744"/>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DAY4〜6</a:t>
            </a:r>
            <a:endParaRPr lang="en-US" sz="950" dirty="0"/>
          </a:p>
        </p:txBody>
      </p:sp>
      <p:sp>
        <p:nvSpPr>
          <p:cNvPr id="29" name="Shape 27"/>
          <p:cNvSpPr/>
          <p:nvPr/>
        </p:nvSpPr>
        <p:spPr>
          <a:xfrm>
            <a:off x="2697480" y="3255264"/>
            <a:ext cx="8851392" cy="0"/>
          </a:xfrm>
          <a:prstGeom prst="line">
            <a:avLst/>
          </a:prstGeom>
          <a:noFill/>
          <a:ln w="12700">
            <a:solidFill>
              <a:srgbClr val="E3E1DB"/>
            </a:solidFill>
            <a:prstDash val="solid"/>
          </a:ln>
        </p:spPr>
      </p:sp>
      <p:sp>
        <p:nvSpPr>
          <p:cNvPr id="30" name="Shape 28"/>
          <p:cNvSpPr/>
          <p:nvPr/>
        </p:nvSpPr>
        <p:spPr>
          <a:xfrm>
            <a:off x="2697480" y="3099816"/>
            <a:ext cx="502920" cy="310896"/>
          </a:xfrm>
          <a:prstGeom prst="roundRect">
            <a:avLst>
              <a:gd name="adj" fmla="val 14706"/>
            </a:avLst>
          </a:prstGeom>
          <a:solidFill>
            <a:srgbClr val="EB6834"/>
          </a:solidFill>
          <a:ln/>
        </p:spPr>
      </p:sp>
      <p:sp>
        <p:nvSpPr>
          <p:cNvPr id="31" name="Text 29"/>
          <p:cNvSpPr txBox="1"/>
          <p:nvPr/>
        </p:nvSpPr>
        <p:spPr>
          <a:xfrm>
            <a:off x="2606040" y="2843784"/>
            <a:ext cx="3108960" cy="237744"/>
          </a:xfrm>
          <a:prstGeom prst="rect">
            <a:avLst/>
          </a:prstGeom>
          <a:noFill/>
          <a:ln/>
        </p:spPr>
        <p:txBody>
          <a:bodyPr wrap="square" lIns="0" tIns="0" rIns="0" bIns="0" rtlCol="0" anchor="ctr"/>
          <a:lstStyle/>
          <a:p>
            <a:pPr indent="0" marL="0">
              <a:buNone/>
            </a:pPr>
            <a:r>
              <a:rPr lang="en-US" sz="850" b="1" dirty="0">
                <a:solidFill>
                  <a:srgbClr val="EB6834"/>
                </a:solidFill>
                <a:latin typeface="Calibri" pitchFamily="34" charset="0"/>
                <a:ea typeface="Calibri" pitchFamily="34" charset="-122"/>
                <a:cs typeface="Calibri" pitchFamily="34" charset="-120"/>
              </a:rPr>
              <a:t>果物ヨーグルト（スムージー）</a:t>
            </a:r>
            <a:endParaRPr lang="en-US" sz="850" dirty="0"/>
          </a:p>
        </p:txBody>
      </p:sp>
      <p:sp>
        <p:nvSpPr>
          <p:cNvPr id="32" name="Shape 30"/>
          <p:cNvSpPr/>
          <p:nvPr/>
        </p:nvSpPr>
        <p:spPr>
          <a:xfrm>
            <a:off x="4486656" y="3200400"/>
            <a:ext cx="109728" cy="109728"/>
          </a:xfrm>
          <a:prstGeom prst="oval">
            <a:avLst/>
          </a:prstGeom>
          <a:solidFill>
            <a:srgbClr val="EB6834"/>
          </a:solidFill>
          <a:ln w="12700">
            <a:solidFill>
              <a:srgbClr val="FFFFFF"/>
            </a:solidFill>
            <a:prstDash val="solid"/>
          </a:ln>
        </p:spPr>
      </p:sp>
      <p:sp>
        <p:nvSpPr>
          <p:cNvPr id="33" name="Text 31"/>
          <p:cNvSpPr txBox="1"/>
          <p:nvPr/>
        </p:nvSpPr>
        <p:spPr>
          <a:xfrm>
            <a:off x="4038600" y="3438144"/>
            <a:ext cx="1188720" cy="201168"/>
          </a:xfrm>
          <a:prstGeom prst="rect">
            <a:avLst/>
          </a:prstGeom>
          <a:noFill/>
          <a:ln/>
        </p:spPr>
        <p:txBody>
          <a:bodyPr wrap="square" lIns="0" tIns="0" rIns="0" bIns="0" rtlCol="0" anchor="ctr"/>
          <a:lstStyle/>
          <a:p>
            <a:pPr algn="ctr" indent="0" marL="0">
              <a:buNone/>
            </a:pPr>
            <a:r>
              <a:rPr lang="en-US" sz="800" dirty="0">
                <a:solidFill>
                  <a:srgbClr val="EB6834"/>
                </a:solidFill>
                <a:latin typeface="Calibri" pitchFamily="34" charset="0"/>
                <a:ea typeface="Calibri" pitchFamily="34" charset="-122"/>
                <a:cs typeface="Calibri" pitchFamily="34" charset="-120"/>
              </a:rPr>
              <a:t>おにぎり摂取</a:t>
            </a:r>
            <a:endParaRPr lang="en-US" sz="800" dirty="0"/>
          </a:p>
        </p:txBody>
      </p:sp>
      <p:sp>
        <p:nvSpPr>
          <p:cNvPr id="34" name="Shape 32"/>
          <p:cNvSpPr/>
          <p:nvPr/>
        </p:nvSpPr>
        <p:spPr>
          <a:xfrm>
            <a:off x="4910328" y="3099816"/>
            <a:ext cx="2212848" cy="310896"/>
          </a:xfrm>
          <a:prstGeom prst="roundRect">
            <a:avLst>
              <a:gd name="adj" fmla="val 14706"/>
            </a:avLst>
          </a:prstGeom>
          <a:solidFill>
            <a:srgbClr val="21295C">
              <a:alpha val="75000"/>
            </a:srgbClr>
          </a:solidFill>
          <a:ln/>
        </p:spPr>
      </p:sp>
      <p:sp>
        <p:nvSpPr>
          <p:cNvPr id="35" name="Shape 33"/>
          <p:cNvSpPr/>
          <p:nvPr/>
        </p:nvSpPr>
        <p:spPr>
          <a:xfrm>
            <a:off x="11498580" y="3204972"/>
            <a:ext cx="100584" cy="100584"/>
          </a:xfrm>
          <a:prstGeom prst="oval">
            <a:avLst/>
          </a:prstGeom>
          <a:solidFill>
            <a:srgbClr val="5C6570"/>
          </a:solidFill>
          <a:ln/>
        </p:spPr>
      </p:sp>
      <p:sp>
        <p:nvSpPr>
          <p:cNvPr id="36" name="Text 34"/>
          <p:cNvSpPr txBox="1"/>
          <p:nvPr/>
        </p:nvSpPr>
        <p:spPr>
          <a:xfrm>
            <a:off x="548640" y="3794760"/>
            <a:ext cx="1874520" cy="292608"/>
          </a:xfrm>
          <a:prstGeom prst="rect">
            <a:avLst/>
          </a:prstGeom>
          <a:noFill/>
          <a:ln/>
        </p:spPr>
        <p:txBody>
          <a:bodyPr wrap="square" lIns="0" tIns="0" rIns="0" bIns="0" rtlCol="0" anchor="ctr"/>
          <a:lstStyle/>
          <a:p>
            <a:pPr indent="0" marL="0">
              <a:buNone/>
            </a:pPr>
            <a:r>
              <a:rPr lang="en-US" sz="1200" b="1" dirty="0">
                <a:solidFill>
                  <a:srgbClr val="21295C"/>
                </a:solidFill>
                <a:latin typeface="Calibri" pitchFamily="34" charset="0"/>
                <a:ea typeface="Calibri" pitchFamily="34" charset="-122"/>
                <a:cs typeface="Calibri" pitchFamily="34" charset="-120"/>
              </a:rPr>
              <a:t>おにぎり＋スムージー</a:t>
            </a:r>
            <a:endParaRPr lang="en-US" sz="1200" dirty="0"/>
          </a:p>
        </p:txBody>
      </p:sp>
      <p:sp>
        <p:nvSpPr>
          <p:cNvPr id="37" name="Text 35"/>
          <p:cNvSpPr txBox="1"/>
          <p:nvPr/>
        </p:nvSpPr>
        <p:spPr>
          <a:xfrm>
            <a:off x="548640" y="4069080"/>
            <a:ext cx="1874520" cy="237744"/>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DAY8〜10</a:t>
            </a:r>
            <a:endParaRPr lang="en-US" sz="950" dirty="0"/>
          </a:p>
        </p:txBody>
      </p:sp>
      <p:sp>
        <p:nvSpPr>
          <p:cNvPr id="38" name="Shape 36"/>
          <p:cNvSpPr/>
          <p:nvPr/>
        </p:nvSpPr>
        <p:spPr>
          <a:xfrm>
            <a:off x="2697480" y="4187952"/>
            <a:ext cx="8851392" cy="0"/>
          </a:xfrm>
          <a:prstGeom prst="line">
            <a:avLst/>
          </a:prstGeom>
          <a:noFill/>
          <a:ln w="12700">
            <a:solidFill>
              <a:srgbClr val="E3E1DB"/>
            </a:solidFill>
            <a:prstDash val="solid"/>
          </a:ln>
        </p:spPr>
      </p:sp>
      <p:sp>
        <p:nvSpPr>
          <p:cNvPr id="39" name="Shape 37"/>
          <p:cNvSpPr/>
          <p:nvPr/>
        </p:nvSpPr>
        <p:spPr>
          <a:xfrm>
            <a:off x="2697480" y="4032504"/>
            <a:ext cx="502920" cy="310896"/>
          </a:xfrm>
          <a:prstGeom prst="roundRect">
            <a:avLst>
              <a:gd name="adj" fmla="val 14706"/>
            </a:avLst>
          </a:prstGeom>
          <a:solidFill>
            <a:srgbClr val="1BAF7A"/>
          </a:solidFill>
          <a:ln/>
        </p:spPr>
      </p:sp>
      <p:sp>
        <p:nvSpPr>
          <p:cNvPr id="40" name="Text 38"/>
          <p:cNvSpPr txBox="1"/>
          <p:nvPr/>
        </p:nvSpPr>
        <p:spPr>
          <a:xfrm>
            <a:off x="2606040" y="3776472"/>
            <a:ext cx="3108960" cy="237744"/>
          </a:xfrm>
          <a:prstGeom prst="rect">
            <a:avLst/>
          </a:prstGeom>
          <a:noFill/>
          <a:ln/>
        </p:spPr>
        <p:txBody>
          <a:bodyPr wrap="square" lIns="0" tIns="0" rIns="0" bIns="0" rtlCol="0" anchor="ctr"/>
          <a:lstStyle/>
          <a:p>
            <a:pPr indent="0" marL="0">
              <a:buNone/>
            </a:pPr>
            <a:r>
              <a:rPr lang="en-US" sz="850" b="1" dirty="0">
                <a:solidFill>
                  <a:srgbClr val="1BAF7A"/>
                </a:solidFill>
                <a:latin typeface="Calibri" pitchFamily="34" charset="0"/>
                <a:ea typeface="Calibri" pitchFamily="34" charset="-122"/>
                <a:cs typeface="Calibri" pitchFamily="34" charset="-120"/>
              </a:rPr>
              <a:t>おにぎり＋スムージー（同時）</a:t>
            </a:r>
            <a:endParaRPr lang="en-US" sz="850" dirty="0"/>
          </a:p>
        </p:txBody>
      </p:sp>
      <p:sp>
        <p:nvSpPr>
          <p:cNvPr id="41" name="Shape 39"/>
          <p:cNvSpPr/>
          <p:nvPr/>
        </p:nvSpPr>
        <p:spPr>
          <a:xfrm>
            <a:off x="4910328" y="4032504"/>
            <a:ext cx="2212848" cy="310896"/>
          </a:xfrm>
          <a:prstGeom prst="roundRect">
            <a:avLst>
              <a:gd name="adj" fmla="val 14706"/>
            </a:avLst>
          </a:prstGeom>
          <a:solidFill>
            <a:srgbClr val="21295C">
              <a:alpha val="75000"/>
            </a:srgbClr>
          </a:solidFill>
          <a:ln/>
        </p:spPr>
      </p:sp>
      <p:sp>
        <p:nvSpPr>
          <p:cNvPr id="42" name="Shape 40"/>
          <p:cNvSpPr/>
          <p:nvPr/>
        </p:nvSpPr>
        <p:spPr>
          <a:xfrm>
            <a:off x="11498580" y="4137660"/>
            <a:ext cx="100584" cy="100584"/>
          </a:xfrm>
          <a:prstGeom prst="oval">
            <a:avLst/>
          </a:prstGeom>
          <a:solidFill>
            <a:srgbClr val="5C6570"/>
          </a:solidFill>
          <a:ln/>
        </p:spPr>
      </p:sp>
      <p:sp>
        <p:nvSpPr>
          <p:cNvPr id="43" name="Text 41"/>
          <p:cNvSpPr txBox="1"/>
          <p:nvPr/>
        </p:nvSpPr>
        <p:spPr>
          <a:xfrm>
            <a:off x="548640" y="4727448"/>
            <a:ext cx="1874520" cy="292608"/>
          </a:xfrm>
          <a:prstGeom prst="rect">
            <a:avLst/>
          </a:prstGeom>
          <a:noFill/>
          <a:ln/>
        </p:spPr>
        <p:txBody>
          <a:bodyPr wrap="square" lIns="0" tIns="0" rIns="0" bIns="0" rtlCol="0" anchor="ctr"/>
          <a:lstStyle/>
          <a:p>
            <a:pPr indent="0" marL="0">
              <a:buNone/>
            </a:pPr>
            <a:r>
              <a:rPr lang="en-US" sz="1200" b="1" dirty="0">
                <a:solidFill>
                  <a:srgbClr val="21295C"/>
                </a:solidFill>
                <a:latin typeface="Calibri" pitchFamily="34" charset="0"/>
                <a:ea typeface="Calibri" pitchFamily="34" charset="-122"/>
                <a:cs typeface="Calibri" pitchFamily="34" charset="-120"/>
              </a:rPr>
              <a:t>おにぎり＋糖質減</a:t>
            </a:r>
            <a:endParaRPr lang="en-US" sz="1200" dirty="0"/>
          </a:p>
        </p:txBody>
      </p:sp>
      <p:sp>
        <p:nvSpPr>
          <p:cNvPr id="44" name="Text 42"/>
          <p:cNvSpPr txBox="1"/>
          <p:nvPr/>
        </p:nvSpPr>
        <p:spPr>
          <a:xfrm>
            <a:off x="548640" y="5001768"/>
            <a:ext cx="1874520" cy="237744"/>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DAY11〜13</a:t>
            </a:r>
            <a:endParaRPr lang="en-US" sz="950" dirty="0"/>
          </a:p>
        </p:txBody>
      </p:sp>
      <p:sp>
        <p:nvSpPr>
          <p:cNvPr id="45" name="Shape 43"/>
          <p:cNvSpPr/>
          <p:nvPr/>
        </p:nvSpPr>
        <p:spPr>
          <a:xfrm>
            <a:off x="2697480" y="5120640"/>
            <a:ext cx="8851392" cy="0"/>
          </a:xfrm>
          <a:prstGeom prst="line">
            <a:avLst/>
          </a:prstGeom>
          <a:noFill/>
          <a:ln w="12700">
            <a:solidFill>
              <a:srgbClr val="E3E1DB"/>
            </a:solidFill>
            <a:prstDash val="solid"/>
          </a:ln>
        </p:spPr>
      </p:sp>
      <p:sp>
        <p:nvSpPr>
          <p:cNvPr id="46" name="Shape 44"/>
          <p:cNvSpPr/>
          <p:nvPr/>
        </p:nvSpPr>
        <p:spPr>
          <a:xfrm>
            <a:off x="2697480" y="4965192"/>
            <a:ext cx="502920" cy="310896"/>
          </a:xfrm>
          <a:prstGeom prst="roundRect">
            <a:avLst>
              <a:gd name="adj" fmla="val 14706"/>
            </a:avLst>
          </a:prstGeom>
          <a:solidFill>
            <a:srgbClr val="EDA100"/>
          </a:solidFill>
          <a:ln/>
        </p:spPr>
      </p:sp>
      <p:sp>
        <p:nvSpPr>
          <p:cNvPr id="47" name="Text 45"/>
          <p:cNvSpPr txBox="1"/>
          <p:nvPr/>
        </p:nvSpPr>
        <p:spPr>
          <a:xfrm>
            <a:off x="2606040" y="4709160"/>
            <a:ext cx="3108960" cy="237744"/>
          </a:xfrm>
          <a:prstGeom prst="rect">
            <a:avLst/>
          </a:prstGeom>
          <a:noFill/>
          <a:ln/>
        </p:spPr>
        <p:txBody>
          <a:bodyPr wrap="square" lIns="0" tIns="0" rIns="0" bIns="0" rtlCol="0" anchor="ctr"/>
          <a:lstStyle/>
          <a:p>
            <a:pPr indent="0" marL="0">
              <a:buNone/>
            </a:pPr>
            <a:r>
              <a:rPr lang="en-US" sz="850" b="1" dirty="0">
                <a:solidFill>
                  <a:srgbClr val="EDA100"/>
                </a:solidFill>
                <a:latin typeface="Calibri" pitchFamily="34" charset="0"/>
                <a:ea typeface="Calibri" pitchFamily="34" charset="-122"/>
                <a:cs typeface="Calibri" pitchFamily="34" charset="-120"/>
              </a:rPr>
              <a:t>おにぎり＋スムージー糖質減（同時）</a:t>
            </a:r>
            <a:endParaRPr lang="en-US" sz="850" dirty="0"/>
          </a:p>
        </p:txBody>
      </p:sp>
      <p:sp>
        <p:nvSpPr>
          <p:cNvPr id="48" name="Shape 46"/>
          <p:cNvSpPr/>
          <p:nvPr/>
        </p:nvSpPr>
        <p:spPr>
          <a:xfrm>
            <a:off x="4910328" y="4965192"/>
            <a:ext cx="2212848" cy="310896"/>
          </a:xfrm>
          <a:prstGeom prst="roundRect">
            <a:avLst>
              <a:gd name="adj" fmla="val 14706"/>
            </a:avLst>
          </a:prstGeom>
          <a:solidFill>
            <a:srgbClr val="21295C">
              <a:alpha val="75000"/>
            </a:srgbClr>
          </a:solidFill>
          <a:ln/>
        </p:spPr>
      </p:sp>
      <p:sp>
        <p:nvSpPr>
          <p:cNvPr id="49" name="Shape 47"/>
          <p:cNvSpPr/>
          <p:nvPr/>
        </p:nvSpPr>
        <p:spPr>
          <a:xfrm>
            <a:off x="11498580" y="5070348"/>
            <a:ext cx="100584" cy="100584"/>
          </a:xfrm>
          <a:prstGeom prst="oval">
            <a:avLst/>
          </a:prstGeom>
          <a:solidFill>
            <a:srgbClr val="5C6570"/>
          </a:solidFill>
          <a:ln/>
        </p:spPr>
      </p:sp>
      <p:sp>
        <p:nvSpPr>
          <p:cNvPr id="50" name="Shape 48"/>
          <p:cNvSpPr/>
          <p:nvPr/>
        </p:nvSpPr>
        <p:spPr>
          <a:xfrm>
            <a:off x="548640" y="5742432"/>
            <a:ext cx="274320" cy="146304"/>
          </a:xfrm>
          <a:prstGeom prst="roundRect">
            <a:avLst>
              <a:gd name="adj" fmla="val 25000"/>
            </a:avLst>
          </a:prstGeom>
          <a:solidFill>
            <a:srgbClr val="21295C">
              <a:alpha val="75000"/>
            </a:srgbClr>
          </a:solidFill>
          <a:ln/>
        </p:spPr>
      </p:sp>
      <p:sp>
        <p:nvSpPr>
          <p:cNvPr id="51" name="Text 49"/>
          <p:cNvSpPr txBox="1"/>
          <p:nvPr/>
        </p:nvSpPr>
        <p:spPr>
          <a:xfrm>
            <a:off x="896112" y="5660136"/>
            <a:ext cx="5029200" cy="292608"/>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トレーニング（60〜180分、11:00〜14:00の間で実施）</a:t>
            </a:r>
            <a:endParaRPr lang="en-US" sz="1000" dirty="0"/>
          </a:p>
        </p:txBody>
      </p:sp>
      <p:sp>
        <p:nvSpPr>
          <p:cNvPr id="52" name="Shape 50"/>
          <p:cNvSpPr/>
          <p:nvPr/>
        </p:nvSpPr>
        <p:spPr>
          <a:xfrm>
            <a:off x="6309360" y="5769864"/>
            <a:ext cx="100584" cy="100584"/>
          </a:xfrm>
          <a:prstGeom prst="oval">
            <a:avLst/>
          </a:prstGeom>
          <a:solidFill>
            <a:srgbClr val="5C6570"/>
          </a:solidFill>
          <a:ln/>
        </p:spPr>
      </p:sp>
      <p:sp>
        <p:nvSpPr>
          <p:cNvPr id="53" name="Text 51"/>
          <p:cNvSpPr txBox="1"/>
          <p:nvPr/>
        </p:nvSpPr>
        <p:spPr>
          <a:xfrm>
            <a:off x="6537960" y="5660136"/>
            <a:ext cx="5029200" cy="292608"/>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20:00 夕食＋夜のコンディション記録（毎日共通）</a:t>
            </a:r>
            <a:endParaRPr lang="en-US" sz="1000" dirty="0"/>
          </a:p>
        </p:txBody>
      </p:sp>
      <p:sp>
        <p:nvSpPr>
          <p:cNvPr id="54" name="Text 52"/>
          <p:cNvSpPr/>
          <p:nvPr/>
        </p:nvSpPr>
        <p:spPr>
          <a:xfrm>
            <a:off x="548640" y="6473952"/>
            <a:ext cx="11091672" cy="274320"/>
          </a:xfrm>
          <a:prstGeom prst="rect">
            <a:avLst/>
          </a:prstGeom>
          <a:noFill/>
          <a:ln/>
        </p:spPr>
        <p:txBody>
          <a:bodyPr wrap="square" rtlCol="0" anchor="ctr"/>
          <a:lstStyle/>
          <a:p>
            <a:pPr algn="l" indent="0" marL="0">
              <a:buNone/>
            </a:pPr>
            <a:r>
              <a:rPr lang="en-US" sz="1000" dirty="0">
                <a:solidFill>
                  <a:srgbClr val="5C6570"/>
                </a:solidFill>
                <a:latin typeface="Calibri" pitchFamily="34" charset="0"/>
                <a:ea typeface="Calibri" pitchFamily="34" charset="-122"/>
                <a:cs typeface="Calibri" pitchFamily="34" charset="-120"/>
              </a:rPr>
              <a:t>色付きブロック＝朝の被験食摂取（8:00）。固形・スムージー条件はおにぎりを約2.5時間後に別途摂取。灰色帯＝全条件共通のトレーニング時間帯。</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NEW FINDING</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新知見：血糖ベースラインの持続的シフト</a:t>
            </a:r>
            <a:endParaRPr lang="en-US" sz="2800" dirty="0"/>
          </a:p>
        </p:txBody>
      </p:sp>
      <p:sp>
        <p:nvSpPr>
          <p:cNvPr id="4" name="Text 2"/>
          <p:cNvSpPr txBox="1"/>
          <p:nvPr/>
        </p:nvSpPr>
        <p:spPr>
          <a:xfrm>
            <a:off x="548640" y="1463040"/>
            <a:ext cx="11091672" cy="411480"/>
          </a:xfrm>
          <a:prstGeom prst="rect">
            <a:avLst/>
          </a:prstGeom>
          <a:noFill/>
          <a:ln/>
        </p:spPr>
        <p:txBody>
          <a:bodyPr wrap="square" lIns="0" tIns="0" rIns="0" bIns="0" rtlCol="0" anchor="ctr"/>
          <a:lstStyle/>
          <a:p>
            <a:pPr indent="0" marL="0">
              <a:buNone/>
            </a:pPr>
            <a:r>
              <a:rPr lang="en-US" sz="1200" dirty="0">
                <a:solidFill>
                  <a:srgbClr val="5C6570"/>
                </a:solidFill>
                <a:latin typeface="Calibri" pitchFamily="34" charset="0"/>
                <a:ea typeface="Calibri" pitchFamily="34" charset="-122"/>
                <a:cs typeface="Calibri" pitchFamily="34" charset="-120"/>
              </a:rPr>
              <a:t>14日間の連続CGMデータ（FreeStyleリブレ実測）を分析したところ、DAY5午後に血糖が急上昇し、以後一度も元の水準に戻っていないことが判明した。</a:t>
            </a:r>
            <a:endParaRPr lang="en-US" sz="1200" dirty="0"/>
          </a:p>
        </p:txBody>
      </p:sp>
      <p:graphicFrame>
        <p:nvGraphicFramePr>
          <p:cNvPr id="5" name="Chart 0" descr=""/>
          <p:cNvGraphicFramePr/>
          <p:nvPr/>
        </p:nvGraphicFramePr>
        <p:xfrm>
          <a:off x="548640" y="1920240"/>
          <a:ext cx="11091672" cy="31089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48640" y="5166360"/>
            <a:ext cx="11091672" cy="1051560"/>
          </a:xfrm>
          <a:prstGeom prst="roundRect">
            <a:avLst>
              <a:gd name="adj" fmla="val 8696"/>
            </a:avLst>
          </a:prstGeom>
          <a:solidFill>
            <a:srgbClr val="FDF3E2"/>
          </a:solidFill>
          <a:ln w="12700">
            <a:solidFill>
              <a:srgbClr val="EDA100"/>
            </a:solidFill>
            <a:prstDash val="solid"/>
          </a:ln>
        </p:spPr>
      </p:sp>
      <p:sp>
        <p:nvSpPr>
          <p:cNvPr id="7" name="Text 4"/>
          <p:cNvSpPr txBox="1"/>
          <p:nvPr/>
        </p:nvSpPr>
        <p:spPr>
          <a:xfrm>
            <a:off x="777240" y="5257800"/>
            <a:ext cx="10634472" cy="822960"/>
          </a:xfrm>
          <a:prstGeom prst="rect">
            <a:avLst/>
          </a:prstGeom>
          <a:noFill/>
          <a:ln/>
        </p:spPr>
        <p:txBody>
          <a:bodyPr wrap="square" lIns="0" tIns="0" rIns="0" bIns="0" rtlCol="0" anchor="ctr"/>
          <a:lstStyle/>
          <a:p>
            <a:pPr indent="0" marL="0">
              <a:buNone/>
            </a:pPr>
            <a:r>
              <a:rPr lang="en-US" sz="1150" b="1" dirty="0">
                <a:solidFill>
                  <a:srgbClr val="6B4B00"/>
                </a:solidFill>
                <a:latin typeface="Calibri" pitchFamily="34" charset="0"/>
                <a:ea typeface="Calibri" pitchFamily="34" charset="-122"/>
                <a:cs typeface="Calibri" pitchFamily="34" charset="-120"/>
              </a:rPr>
              <a:t>⚠ DAY5(8/29)14:50頃〜：夜間平均血糖が93〜107→130〜177 mg/dLへ持続的に上昇（原因不明）</a:t>
            </a:r>
            <a:endParaRPr lang="en-US" sz="1150" dirty="0"/>
          </a:p>
        </p:txBody>
      </p:sp>
      <p:sp>
        <p:nvSpPr>
          <p:cNvPr id="8" name="Text 5"/>
          <p:cNvSpPr/>
          <p:nvPr/>
        </p:nvSpPr>
        <p:spPr>
          <a:xfrm>
            <a:off x="548640" y="6473952"/>
            <a:ext cx="11091672" cy="274320"/>
          </a:xfrm>
          <a:prstGeom prst="rect">
            <a:avLst/>
          </a:prstGeom>
          <a:noFill/>
          <a:ln/>
        </p:spPr>
        <p:txBody>
          <a:bodyPr wrap="square" rtlCol="0" anchor="ctr"/>
          <a:lstStyle/>
          <a:p>
            <a:pPr algn="l" indent="0" marL="0">
              <a:buNone/>
            </a:pPr>
            <a:r>
              <a:rPr lang="en-US" sz="1000" dirty="0">
                <a:solidFill>
                  <a:srgbClr val="5C6570"/>
                </a:solidFill>
                <a:latin typeface="Calibri" pitchFamily="34" charset="0"/>
                <a:ea typeface="Calibri" pitchFamily="34" charset="-122"/>
                <a:cs typeface="Calibri" pitchFamily="34" charset="-120"/>
              </a:rPr>
              <a:t>14日間を通じ低血糖(70mg/dL未満)は一度も検出されず。詳細は次スライド。</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NEW FINDING</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この4条件比較への影響：比較ごとに信頼度が異なる</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2194560"/>
        </p:xfrm>
        <a:graphic>
          <a:graphicData uri="http://schemas.openxmlformats.org/drawingml/2006/table">
            <a:tbl>
              <a:tblPr/>
              <a:tblGrid>
                <a:gridCol w="3017520"/>
                <a:gridCol w="5971032"/>
                <a:gridCol w="2103120"/>
              </a:tblGrid>
              <a:tr h="5486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比較</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シフトとの関係</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信頼度</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r>
              <a:tr h="548640">
                <a:tc>
                  <a:txBody>
                    <a:bodyPr/>
                    <a:lstStyle/>
                    <a:p>
                      <a:pPr indent="0" marL="0">
                        <a:buNone/>
                      </a:pPr>
                      <a:r>
                        <a:rPr lang="en-US" sz="1200" b="1" dirty="0">
                          <a:solidFill>
                            <a:srgbClr val="21295C"/>
                          </a:solidFill>
                          <a:latin typeface="Calibri" pitchFamily="34" charset="0"/>
                          <a:ea typeface="Calibri" pitchFamily="34" charset="-122"/>
                          <a:cs typeface="Calibri" pitchFamily="34" charset="-120"/>
                        </a:rPr>
                        <a:t>① 固形 vs スムージー</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スムージー(DAY4〜6)はDAY4・5がシフト前、DAY6のみシフト後。3日平均がDAY6の異常値に引っ張られている可能性</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00" b="1" dirty="0">
                          <a:solidFill>
                            <a:srgbClr val="6B4B00"/>
                          </a:solidFill>
                          <a:latin typeface="Calibri" pitchFamily="34" charset="0"/>
                          <a:ea typeface="Calibri" pitchFamily="34" charset="-122"/>
                          <a:cs typeface="Calibri" pitchFamily="34" charset="-120"/>
                        </a:rPr>
                        <a:t>⚠ 要注意</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21295C"/>
                          </a:solidFill>
                          <a:latin typeface="Calibri" pitchFamily="34" charset="0"/>
                          <a:ea typeface="Calibri" pitchFamily="34" charset="-122"/>
                          <a:cs typeface="Calibri" pitchFamily="34" charset="-120"/>
                        </a:rPr>
                        <a:t>② スムージー vs おにぎり＋スムージー</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スムージー側はシフト前後が混在。おにぎり＋スムージー(DAY8〜10)は完全にシフト後</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00" b="1" dirty="0">
                          <a:solidFill>
                            <a:srgbClr val="6B4B00"/>
                          </a:solidFill>
                          <a:latin typeface="Calibri" pitchFamily="34" charset="0"/>
                          <a:ea typeface="Calibri" pitchFamily="34" charset="-122"/>
                          <a:cs typeface="Calibri" pitchFamily="34" charset="-120"/>
                        </a:rPr>
                        <a:t>⚠ 要注意</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r>
              <a:tr h="548640">
                <a:tc>
                  <a:txBody>
                    <a:bodyPr/>
                    <a:lstStyle/>
                    <a:p>
                      <a:pPr indent="0" marL="0">
                        <a:buNone/>
                      </a:pPr>
                      <a:r>
                        <a:rPr lang="en-US" sz="1200" b="1" dirty="0">
                          <a:solidFill>
                            <a:srgbClr val="21295C"/>
                          </a:solidFill>
                          <a:latin typeface="Calibri" pitchFamily="34" charset="0"/>
                          <a:ea typeface="Calibri" pitchFamily="34" charset="-122"/>
                          <a:cs typeface="Calibri" pitchFamily="34" charset="-120"/>
                        </a:rPr>
                        <a:t>③ おにぎり＋スムージー vs 糖質減</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両条件(DAY8〜13)とも完全にシフト後で条件が揃っている</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00" b="1" dirty="0">
                          <a:solidFill>
                            <a:srgbClr val="0F5C3D"/>
                          </a:solidFill>
                          <a:latin typeface="Calibri" pitchFamily="34" charset="0"/>
                          <a:ea typeface="Calibri" pitchFamily="34" charset="-122"/>
                          <a:cs typeface="Calibri" pitchFamily="34" charset="-120"/>
                        </a:rPr>
                        <a:t>✓ 信頼できる</a:t>
                      </a:r>
                      <a:endParaRPr lang="en-US" sz="12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4114800"/>
            <a:ext cx="11091672" cy="2148840"/>
          </a:xfrm>
          <a:prstGeom prst="roundRect">
            <a:avLst>
              <a:gd name="adj" fmla="val 4255"/>
            </a:avLst>
          </a:prstGeom>
          <a:solidFill>
            <a:srgbClr val="EAF7F0"/>
          </a:solidFill>
          <a:ln/>
        </p:spPr>
      </p:sp>
      <p:sp>
        <p:nvSpPr>
          <p:cNvPr id="6" name="Text 3"/>
          <p:cNvSpPr txBox="1"/>
          <p:nvPr/>
        </p:nvSpPr>
        <p:spPr>
          <a:xfrm>
            <a:off x="822960" y="4261104"/>
            <a:ext cx="10543032" cy="292608"/>
          </a:xfrm>
          <a:prstGeom prst="rect">
            <a:avLst/>
          </a:prstGeom>
          <a:noFill/>
          <a:ln/>
        </p:spPr>
        <p:txBody>
          <a:bodyPr wrap="square" lIns="0" tIns="0" rIns="0" bIns="0" rtlCol="0" anchor="ctr"/>
          <a:lstStyle/>
          <a:p>
            <a:pPr indent="0" marL="0">
              <a:buNone/>
            </a:pPr>
            <a:r>
              <a:rPr lang="en-US" sz="1300" b="1" dirty="0">
                <a:solidFill>
                  <a:srgbClr val="0F5C3D"/>
                </a:solidFill>
                <a:latin typeface="Calibri" pitchFamily="34" charset="0"/>
                <a:ea typeface="Calibri" pitchFamily="34" charset="-122"/>
                <a:cs typeface="Calibri" pitchFamily="34" charset="-120"/>
              </a:rPr>
              <a:t>✓ ③（糖質量の比較）は結論を維持できる</a:t>
            </a:r>
            <a:endParaRPr lang="en-US" sz="1300" dirty="0"/>
          </a:p>
        </p:txBody>
      </p:sp>
      <p:sp>
        <p:nvSpPr>
          <p:cNvPr id="7" name="Text 4"/>
          <p:cNvSpPr txBox="1"/>
          <p:nvPr/>
        </p:nvSpPr>
        <p:spPr>
          <a:xfrm>
            <a:off x="822960" y="4572000"/>
            <a:ext cx="10543032" cy="1600200"/>
          </a:xfrm>
          <a:prstGeom prst="rect">
            <a:avLst/>
          </a:prstGeom>
          <a:noFill/>
          <a:ln/>
        </p:spPr>
        <p:txBody>
          <a:bodyPr wrap="square" lIns="0" tIns="0" rIns="0" bIns="0" rtlCol="0" anchor="ctr"/>
          <a:lstStyle/>
          <a:p>
            <a:pPr indent="0" marL="0">
              <a:buNone/>
            </a:pPr>
            <a:r>
              <a:rPr lang="en-US" sz="1200" dirty="0">
                <a:solidFill>
                  <a:srgbClr val="0F5C3D"/>
                </a:solidFill>
                <a:latin typeface="Calibri" pitchFamily="34" charset="0"/>
                <a:ea typeface="Calibri" pitchFamily="34" charset="-122"/>
                <a:cs typeface="Calibri" pitchFamily="34" charset="-120"/>
              </a:rPr>
              <a:t>iAUC 39%減という最も重要な結果はシフトの影響を受けていない。一方①・②で見られた「固形の方が安定」「スムージー単独は乱高下が大きい」という結果は、一部がタイミング（シフト前後の混在）による見かけ上のものである可能性があり、割り引いて解釈する必要がある。選手・スタッフに8/29 14:30〜15:30頃の状況（補食・体調・ストレス）を確認することを推奨する。</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RESULTS</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血糖値の推移（8:00〜14:00）</a:t>
            </a:r>
            <a:endParaRPr lang="en-US" sz="2800" dirty="0"/>
          </a:p>
        </p:txBody>
      </p:sp>
      <p:graphicFrame>
        <p:nvGraphicFramePr>
          <p:cNvPr id="4" name="Chart 0" descr=""/>
          <p:cNvGraphicFramePr/>
          <p:nvPr/>
        </p:nvGraphicFramePr>
        <p:xfrm>
          <a:off x="548640" y="1600200"/>
          <a:ext cx="11091672" cy="4160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6473952"/>
            <a:ext cx="11091672" cy="274320"/>
          </a:xfrm>
          <a:prstGeom prst="rect">
            <a:avLst/>
          </a:prstGeom>
          <a:noFill/>
          <a:ln/>
        </p:spPr>
        <p:txBody>
          <a:bodyPr wrap="square" rtlCol="0" anchor="ctr"/>
          <a:lstStyle/>
          <a:p>
            <a:pPr algn="l" indent="0" marL="0">
              <a:buNone/>
            </a:pPr>
            <a:r>
              <a:rPr lang="en-US" sz="1000" dirty="0">
                <a:solidFill>
                  <a:srgbClr val="5C6570"/>
                </a:solidFill>
                <a:latin typeface="Calibri" pitchFamily="34" charset="0"/>
                <a:ea typeface="Calibri" pitchFamily="34" charset="-122"/>
                <a:cs typeface="Calibri" pitchFamily="34" charset="-120"/>
              </a:rPr>
              <a:t>15分間隔・条件ごとの平均血糖値（各条件3日間平均）。</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RESULTS</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主要指標の比較</a:t>
            </a:r>
            <a:endParaRPr lang="en-US" sz="2800" dirty="0"/>
          </a:p>
        </p:txBody>
      </p:sp>
      <p:sp>
        <p:nvSpPr>
          <p:cNvPr id="4" name="Text 2"/>
          <p:cNvSpPr txBox="1"/>
          <p:nvPr/>
        </p:nvSpPr>
        <p:spPr>
          <a:xfrm>
            <a:off x="548640" y="1572768"/>
            <a:ext cx="3429000" cy="274320"/>
          </a:xfrm>
          <a:prstGeom prst="rect">
            <a:avLst/>
          </a:prstGeom>
          <a:noFill/>
          <a:ln/>
        </p:spPr>
        <p:txBody>
          <a:bodyPr wrap="square" lIns="0" tIns="0" rIns="0" bIns="0" rtlCol="0" anchor="ctr"/>
          <a:lstStyle/>
          <a:p>
            <a:pPr indent="0" marL="0">
              <a:buNone/>
            </a:pPr>
            <a:r>
              <a:rPr lang="en-US" sz="1300" b="1" dirty="0">
                <a:solidFill>
                  <a:srgbClr val="21295C"/>
                </a:solidFill>
                <a:latin typeface="Calibri" pitchFamily="34" charset="0"/>
                <a:ea typeface="Calibri" pitchFamily="34" charset="-122"/>
                <a:cs typeface="Calibri" pitchFamily="34" charset="-120"/>
              </a:rPr>
              <a:t>Δピーク血糖値 (mg/dL)</a:t>
            </a:r>
            <a:endParaRPr lang="en-US" sz="1300" dirty="0"/>
          </a:p>
        </p:txBody>
      </p:sp>
      <p:sp>
        <p:nvSpPr>
          <p:cNvPr id="5" name="Text 3"/>
          <p:cNvSpPr txBox="1"/>
          <p:nvPr/>
        </p:nvSpPr>
        <p:spPr>
          <a:xfrm>
            <a:off x="548640" y="1828800"/>
            <a:ext cx="3429000" cy="256032"/>
          </a:xfrm>
          <a:prstGeom prst="rect">
            <a:avLst/>
          </a:prstGeom>
          <a:noFill/>
          <a:ln/>
        </p:spPr>
        <p:txBody>
          <a:bodyPr wrap="square" lIns="0" tIns="0" rIns="0" bIns="0" rtlCol="0" anchor="ctr"/>
          <a:lstStyle/>
          <a:p>
            <a:pPr indent="0" marL="0">
              <a:buNone/>
            </a:pPr>
            <a:r>
              <a:rPr lang="en-US" sz="1050" dirty="0">
                <a:solidFill>
                  <a:srgbClr val="5C6570"/>
                </a:solidFill>
                <a:latin typeface="Calibri" pitchFamily="34" charset="0"/>
                <a:ea typeface="Calibri" pitchFamily="34" charset="-122"/>
                <a:cs typeface="Calibri" pitchFamily="34" charset="-120"/>
              </a:rPr>
              <a:t>最高値 − 摂取直前</a:t>
            </a:r>
            <a:endParaRPr lang="en-US" sz="1050" dirty="0"/>
          </a:p>
        </p:txBody>
      </p:sp>
      <p:graphicFrame>
        <p:nvGraphicFramePr>
          <p:cNvPr id="6" name="Chart 0" descr=""/>
          <p:cNvGraphicFramePr/>
          <p:nvPr/>
        </p:nvGraphicFramePr>
        <p:xfrm>
          <a:off x="548640" y="2148840"/>
          <a:ext cx="3429000" cy="33375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4343400" y="1572768"/>
            <a:ext cx="3429000" cy="274320"/>
          </a:xfrm>
          <a:prstGeom prst="rect">
            <a:avLst/>
          </a:prstGeom>
          <a:noFill/>
          <a:ln/>
        </p:spPr>
        <p:txBody>
          <a:bodyPr wrap="square" lIns="0" tIns="0" rIns="0" bIns="0" rtlCol="0" anchor="ctr"/>
          <a:lstStyle/>
          <a:p>
            <a:pPr indent="0" marL="0">
              <a:buNone/>
            </a:pPr>
            <a:r>
              <a:rPr lang="en-US" sz="1300" b="1" dirty="0">
                <a:solidFill>
                  <a:srgbClr val="21295C"/>
                </a:solidFill>
                <a:latin typeface="Calibri" pitchFamily="34" charset="0"/>
                <a:ea typeface="Calibri" pitchFamily="34" charset="-122"/>
                <a:cs typeface="Calibri" pitchFamily="34" charset="-120"/>
              </a:rPr>
              <a:t>iAUC 2時間 (mg/dL・分)</a:t>
            </a:r>
            <a:endParaRPr lang="en-US" sz="1300" dirty="0"/>
          </a:p>
        </p:txBody>
      </p:sp>
      <p:sp>
        <p:nvSpPr>
          <p:cNvPr id="8" name="Text 5"/>
          <p:cNvSpPr txBox="1"/>
          <p:nvPr/>
        </p:nvSpPr>
        <p:spPr>
          <a:xfrm>
            <a:off x="4343400" y="1828800"/>
            <a:ext cx="3429000" cy="256032"/>
          </a:xfrm>
          <a:prstGeom prst="rect">
            <a:avLst/>
          </a:prstGeom>
          <a:noFill/>
          <a:ln/>
        </p:spPr>
        <p:txBody>
          <a:bodyPr wrap="square" lIns="0" tIns="0" rIns="0" bIns="0" rtlCol="0" anchor="ctr"/>
          <a:lstStyle/>
          <a:p>
            <a:pPr indent="0" marL="0">
              <a:buNone/>
            </a:pPr>
            <a:r>
              <a:rPr lang="en-US" sz="1050" dirty="0">
                <a:solidFill>
                  <a:srgbClr val="5C6570"/>
                </a:solidFill>
                <a:latin typeface="Calibri" pitchFamily="34" charset="0"/>
                <a:ea typeface="Calibri" pitchFamily="34" charset="-122"/>
                <a:cs typeface="Calibri" pitchFamily="34" charset="-120"/>
              </a:rPr>
              <a:t>ベースライン超過分の面積</a:t>
            </a:r>
            <a:endParaRPr lang="en-US" sz="1050" dirty="0"/>
          </a:p>
        </p:txBody>
      </p:sp>
      <p:graphicFrame>
        <p:nvGraphicFramePr>
          <p:cNvPr id="9" name="Chart 1" descr=""/>
          <p:cNvGraphicFramePr/>
          <p:nvPr/>
        </p:nvGraphicFramePr>
        <p:xfrm>
          <a:off x="4343400" y="2148840"/>
          <a:ext cx="3429000" cy="333756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8138160" y="1572768"/>
            <a:ext cx="3429000" cy="274320"/>
          </a:xfrm>
          <a:prstGeom prst="rect">
            <a:avLst/>
          </a:prstGeom>
          <a:noFill/>
          <a:ln/>
        </p:spPr>
        <p:txBody>
          <a:bodyPr wrap="square" lIns="0" tIns="0" rIns="0" bIns="0" rtlCol="0" anchor="ctr"/>
          <a:lstStyle/>
          <a:p>
            <a:pPr indent="0" marL="0">
              <a:buNone/>
            </a:pPr>
            <a:r>
              <a:rPr lang="en-US" sz="1300" b="1" dirty="0">
                <a:solidFill>
                  <a:srgbClr val="21295C"/>
                </a:solidFill>
                <a:latin typeface="Calibri" pitchFamily="34" charset="0"/>
                <a:ea typeface="Calibri" pitchFamily="34" charset="-122"/>
                <a:cs typeface="Calibri" pitchFamily="34" charset="-120"/>
              </a:rPr>
              <a:t>変動係数 CV (%)</a:t>
            </a:r>
            <a:endParaRPr lang="en-US" sz="1300" dirty="0"/>
          </a:p>
        </p:txBody>
      </p:sp>
      <p:sp>
        <p:nvSpPr>
          <p:cNvPr id="11" name="Text 7"/>
          <p:cNvSpPr txBox="1"/>
          <p:nvPr/>
        </p:nvSpPr>
        <p:spPr>
          <a:xfrm>
            <a:off x="8138160" y="1828800"/>
            <a:ext cx="3429000" cy="256032"/>
          </a:xfrm>
          <a:prstGeom prst="rect">
            <a:avLst/>
          </a:prstGeom>
          <a:noFill/>
          <a:ln/>
        </p:spPr>
        <p:txBody>
          <a:bodyPr wrap="square" lIns="0" tIns="0" rIns="0" bIns="0" rtlCol="0" anchor="ctr"/>
          <a:lstStyle/>
          <a:p>
            <a:pPr indent="0" marL="0">
              <a:buNone/>
            </a:pPr>
            <a:r>
              <a:rPr lang="en-US" sz="1050" dirty="0">
                <a:solidFill>
                  <a:srgbClr val="5C6570"/>
                </a:solidFill>
                <a:latin typeface="Calibri" pitchFamily="34" charset="0"/>
                <a:ea typeface="Calibri" pitchFamily="34" charset="-122"/>
                <a:cs typeface="Calibri" pitchFamily="34" charset="-120"/>
              </a:rPr>
              <a:t>6時間の値の乱高下</a:t>
            </a:r>
            <a:endParaRPr lang="en-US" sz="1050" dirty="0"/>
          </a:p>
        </p:txBody>
      </p:sp>
      <p:graphicFrame>
        <p:nvGraphicFramePr>
          <p:cNvPr id="12" name="Chart 2" descr=""/>
          <p:cNvGraphicFramePr/>
          <p:nvPr/>
        </p:nvGraphicFramePr>
        <p:xfrm>
          <a:off x="8138160" y="2148840"/>
          <a:ext cx="3429000" cy="3337560"/>
        </p:xfrm>
        <a:graphic xmlns:a="http://schemas.openxmlformats.org/drawingml/2006/main">
          <a:graphicData uri="http://schemas.openxmlformats.org/drawingml/2006/chart">
            <c:chart xmlns:c="http://schemas.openxmlformats.org/drawingml/2006/chart" r:id="rId3"/>
          </a:graphicData>
        </a:graphic>
      </p:graphicFrame>
      <p:sp>
        <p:nvSpPr>
          <p:cNvPr id="13" name="Text 8"/>
          <p:cNvSpPr/>
          <p:nvPr/>
        </p:nvSpPr>
        <p:spPr>
          <a:xfrm>
            <a:off x="548640" y="6473952"/>
            <a:ext cx="11091672" cy="274320"/>
          </a:xfrm>
          <a:prstGeom prst="rect">
            <a:avLst/>
          </a:prstGeom>
          <a:noFill/>
          <a:ln/>
        </p:spPr>
        <p:txBody>
          <a:bodyPr wrap="square" rtlCol="0" anchor="ctr"/>
          <a:lstStyle/>
          <a:p>
            <a:pPr algn="l" indent="0" marL="0">
              <a:buNone/>
            </a:pPr>
            <a:r>
              <a:rPr lang="en-US" sz="1000" dirty="0">
                <a:solidFill>
                  <a:srgbClr val="5C6570"/>
                </a:solidFill>
                <a:latin typeface="Calibri" pitchFamily="34" charset="0"/>
                <a:ea typeface="Calibri" pitchFamily="34" charset="-122"/>
                <a:cs typeface="Calibri" pitchFamily="34" charset="-120"/>
              </a:rPr>
              <a:t>iAUC = incremental AUC（ベースライン超過分のみを積算した正味の食後上昇量）。</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COMPARISON 1</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スムージー vs 固形（副食のみ・純粋比較）</a:t>
            </a:r>
            <a:endParaRPr lang="en-US" sz="2800" dirty="0"/>
          </a:p>
        </p:txBody>
      </p:sp>
      <p:sp>
        <p:nvSpPr>
          <p:cNvPr id="4" name="Shape 2"/>
          <p:cNvSpPr/>
          <p:nvPr/>
        </p:nvSpPr>
        <p:spPr>
          <a:xfrm>
            <a:off x="7799832" y="438912"/>
            <a:ext cx="3840480" cy="365760"/>
          </a:xfrm>
          <a:prstGeom prst="roundRect">
            <a:avLst>
              <a:gd name="adj" fmla="val 20000"/>
            </a:avLst>
          </a:prstGeom>
          <a:solidFill>
            <a:srgbClr val="FDF3E2"/>
          </a:solidFill>
          <a:ln w="9525">
            <a:solidFill>
              <a:srgbClr val="6B4B00"/>
            </a:solidFill>
            <a:prstDash val="solid"/>
          </a:ln>
        </p:spPr>
      </p:sp>
      <p:sp>
        <p:nvSpPr>
          <p:cNvPr id="5" name="Text 3"/>
          <p:cNvSpPr txBox="1"/>
          <p:nvPr/>
        </p:nvSpPr>
        <p:spPr>
          <a:xfrm>
            <a:off x="7891272" y="438912"/>
            <a:ext cx="3657600" cy="365760"/>
          </a:xfrm>
          <a:prstGeom prst="rect">
            <a:avLst/>
          </a:prstGeom>
          <a:noFill/>
          <a:ln/>
        </p:spPr>
        <p:txBody>
          <a:bodyPr wrap="square" lIns="0" tIns="0" rIns="0" bIns="0" rtlCol="0" anchor="ctr"/>
          <a:lstStyle/>
          <a:p>
            <a:pPr algn="ctr" indent="0" marL="0">
              <a:buNone/>
            </a:pPr>
            <a:r>
              <a:rPr lang="en-US" sz="1050" b="1" dirty="0">
                <a:solidFill>
                  <a:srgbClr val="6B4B00"/>
                </a:solidFill>
                <a:latin typeface="Calibri" pitchFamily="34" charset="0"/>
                <a:ea typeface="Calibri" pitchFamily="34" charset="-122"/>
                <a:cs typeface="Calibri" pitchFamily="34" charset="-120"/>
              </a:rPr>
              <a:t>⚠ 血糖シフトの影響を受けている可能性</a:t>
            </a:r>
            <a:endParaRPr lang="en-US" sz="1050" dirty="0"/>
          </a:p>
        </p:txBody>
      </p:sp>
      <p:sp>
        <p:nvSpPr>
          <p:cNvPr id="6" name="Shape 4"/>
          <p:cNvSpPr/>
          <p:nvPr/>
        </p:nvSpPr>
        <p:spPr>
          <a:xfrm>
            <a:off x="548640" y="1691640"/>
            <a:ext cx="5362956" cy="2651760"/>
          </a:xfrm>
          <a:prstGeom prst="roundRect">
            <a:avLst>
              <a:gd name="adj" fmla="val 3448"/>
            </a:avLst>
          </a:prstGeom>
          <a:solidFill>
            <a:srgbClr val="F4F7F9"/>
          </a:solidFill>
          <a:ln/>
        </p:spPr>
      </p:sp>
      <p:sp>
        <p:nvSpPr>
          <p:cNvPr id="7" name="Shape 5"/>
          <p:cNvSpPr/>
          <p:nvPr/>
        </p:nvSpPr>
        <p:spPr>
          <a:xfrm>
            <a:off x="868680" y="1920240"/>
            <a:ext cx="146304" cy="457200"/>
          </a:xfrm>
          <a:prstGeom prst="rect">
            <a:avLst/>
          </a:prstGeom>
          <a:solidFill>
            <a:srgbClr val="2A78D6"/>
          </a:solidFill>
          <a:ln/>
        </p:spPr>
      </p:sp>
      <p:sp>
        <p:nvSpPr>
          <p:cNvPr id="8" name="Text 6"/>
          <p:cNvSpPr txBox="1"/>
          <p:nvPr/>
        </p:nvSpPr>
        <p:spPr>
          <a:xfrm>
            <a:off x="1143000" y="1874520"/>
            <a:ext cx="4448556" cy="502920"/>
          </a:xfrm>
          <a:prstGeom prst="rect">
            <a:avLst/>
          </a:prstGeom>
          <a:noFill/>
          <a:ln/>
        </p:spPr>
        <p:txBody>
          <a:bodyPr wrap="square" lIns="0" tIns="0" rIns="0" bIns="0" rtlCol="0" anchor="ctr"/>
          <a:lstStyle/>
          <a:p>
            <a:pPr indent="0" marL="0">
              <a:buNone/>
            </a:pPr>
            <a:r>
              <a:rPr lang="en-US" sz="1600" b="1" dirty="0">
                <a:solidFill>
                  <a:srgbClr val="21295C"/>
                </a:solidFill>
                <a:latin typeface="Calibri" pitchFamily="34" charset="0"/>
                <a:ea typeface="Calibri" pitchFamily="34" charset="-122"/>
                <a:cs typeface="Calibri" pitchFamily="34" charset="-120"/>
              </a:rPr>
              <a:t>固形摂取</a:t>
            </a:r>
            <a:endParaRPr lang="en-US" sz="1600" dirty="0"/>
          </a:p>
        </p:txBody>
      </p:sp>
      <p:sp>
        <p:nvSpPr>
          <p:cNvPr id="9" name="Text 7"/>
          <p:cNvSpPr txBox="1"/>
          <p:nvPr/>
        </p:nvSpPr>
        <p:spPr>
          <a:xfrm>
            <a:off x="868680" y="2560320"/>
            <a:ext cx="4722876" cy="502920"/>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53.7 mg/dL</a:t>
            </a:r>
            <a:endParaRPr lang="en-US" sz="2600" dirty="0"/>
          </a:p>
        </p:txBody>
      </p:sp>
      <p:sp>
        <p:nvSpPr>
          <p:cNvPr id="10" name="Text 8"/>
          <p:cNvSpPr txBox="1"/>
          <p:nvPr/>
        </p:nvSpPr>
        <p:spPr>
          <a:xfrm>
            <a:off x="868680" y="3017520"/>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Δピーク血糖値</a:t>
            </a:r>
            <a:endParaRPr lang="en-US" sz="1100" dirty="0"/>
          </a:p>
        </p:txBody>
      </p:sp>
      <p:sp>
        <p:nvSpPr>
          <p:cNvPr id="11" name="Text 9"/>
          <p:cNvSpPr txBox="1"/>
          <p:nvPr/>
        </p:nvSpPr>
        <p:spPr>
          <a:xfrm>
            <a:off x="868680" y="3355848"/>
            <a:ext cx="4722876" cy="502920"/>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11.2%</a:t>
            </a:r>
            <a:endParaRPr lang="en-US" sz="2600" dirty="0"/>
          </a:p>
        </p:txBody>
      </p:sp>
      <p:sp>
        <p:nvSpPr>
          <p:cNvPr id="12" name="Text 10"/>
          <p:cNvSpPr txBox="1"/>
          <p:nvPr/>
        </p:nvSpPr>
        <p:spPr>
          <a:xfrm>
            <a:off x="868680" y="3813048"/>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変動係数 CV</a:t>
            </a:r>
            <a:endParaRPr lang="en-US" sz="1100" dirty="0"/>
          </a:p>
        </p:txBody>
      </p:sp>
      <p:sp>
        <p:nvSpPr>
          <p:cNvPr id="13" name="Shape 11"/>
          <p:cNvSpPr/>
          <p:nvPr/>
        </p:nvSpPr>
        <p:spPr>
          <a:xfrm>
            <a:off x="6277356" y="1691640"/>
            <a:ext cx="5362956" cy="2651760"/>
          </a:xfrm>
          <a:prstGeom prst="roundRect">
            <a:avLst>
              <a:gd name="adj" fmla="val 3448"/>
            </a:avLst>
          </a:prstGeom>
          <a:solidFill>
            <a:srgbClr val="F4F7F9"/>
          </a:solidFill>
          <a:ln/>
        </p:spPr>
      </p:sp>
      <p:sp>
        <p:nvSpPr>
          <p:cNvPr id="14" name="Shape 12"/>
          <p:cNvSpPr/>
          <p:nvPr/>
        </p:nvSpPr>
        <p:spPr>
          <a:xfrm>
            <a:off x="6597396" y="1920240"/>
            <a:ext cx="146304" cy="457200"/>
          </a:xfrm>
          <a:prstGeom prst="rect">
            <a:avLst/>
          </a:prstGeom>
          <a:solidFill>
            <a:srgbClr val="EB6834"/>
          </a:solidFill>
          <a:ln/>
        </p:spPr>
      </p:sp>
      <p:sp>
        <p:nvSpPr>
          <p:cNvPr id="15" name="Text 13"/>
          <p:cNvSpPr txBox="1"/>
          <p:nvPr/>
        </p:nvSpPr>
        <p:spPr>
          <a:xfrm>
            <a:off x="6871716" y="1874520"/>
            <a:ext cx="4448556" cy="502920"/>
          </a:xfrm>
          <a:prstGeom prst="rect">
            <a:avLst/>
          </a:prstGeom>
          <a:noFill/>
          <a:ln/>
        </p:spPr>
        <p:txBody>
          <a:bodyPr wrap="square" lIns="0" tIns="0" rIns="0" bIns="0" rtlCol="0" anchor="ctr"/>
          <a:lstStyle/>
          <a:p>
            <a:pPr indent="0" marL="0">
              <a:buNone/>
            </a:pPr>
            <a:r>
              <a:rPr lang="en-US" sz="1600" b="1" dirty="0">
                <a:solidFill>
                  <a:srgbClr val="21295C"/>
                </a:solidFill>
                <a:latin typeface="Calibri" pitchFamily="34" charset="0"/>
                <a:ea typeface="Calibri" pitchFamily="34" charset="-122"/>
                <a:cs typeface="Calibri" pitchFamily="34" charset="-120"/>
              </a:rPr>
              <a:t>スムージー摂取</a:t>
            </a:r>
            <a:endParaRPr lang="en-US" sz="1600" dirty="0"/>
          </a:p>
        </p:txBody>
      </p:sp>
      <p:sp>
        <p:nvSpPr>
          <p:cNvPr id="16" name="Text 14"/>
          <p:cNvSpPr txBox="1"/>
          <p:nvPr/>
        </p:nvSpPr>
        <p:spPr>
          <a:xfrm>
            <a:off x="6597396" y="2560320"/>
            <a:ext cx="4722876" cy="502920"/>
          </a:xfrm>
          <a:prstGeom prst="rect">
            <a:avLst/>
          </a:prstGeom>
          <a:noFill/>
          <a:ln/>
        </p:spPr>
        <p:txBody>
          <a:bodyPr wrap="square" lIns="0" tIns="0" rIns="0" bIns="0" rtlCol="0" anchor="ctr"/>
          <a:lstStyle/>
          <a:p>
            <a:pPr indent="0" marL="0">
              <a:buNone/>
            </a:pPr>
            <a:r>
              <a:rPr lang="en-US" sz="2600" b="1" dirty="0">
                <a:solidFill>
                  <a:srgbClr val="EB6834"/>
                </a:solidFill>
                <a:latin typeface="Cambria" pitchFamily="34" charset="0"/>
                <a:ea typeface="Cambria" pitchFamily="34" charset="-122"/>
                <a:cs typeface="Cambria" pitchFamily="34" charset="-120"/>
              </a:rPr>
              <a:t>85.0 mg/dL</a:t>
            </a:r>
            <a:endParaRPr lang="en-US" sz="2600" dirty="0"/>
          </a:p>
        </p:txBody>
      </p:sp>
      <p:sp>
        <p:nvSpPr>
          <p:cNvPr id="17" name="Text 15"/>
          <p:cNvSpPr txBox="1"/>
          <p:nvPr/>
        </p:nvSpPr>
        <p:spPr>
          <a:xfrm>
            <a:off x="6597396" y="3017520"/>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Δピーク血糖値（1.6倍）</a:t>
            </a:r>
            <a:endParaRPr lang="en-US" sz="1100" dirty="0"/>
          </a:p>
        </p:txBody>
      </p:sp>
      <p:sp>
        <p:nvSpPr>
          <p:cNvPr id="18" name="Text 16"/>
          <p:cNvSpPr txBox="1"/>
          <p:nvPr/>
        </p:nvSpPr>
        <p:spPr>
          <a:xfrm>
            <a:off x="6597396" y="3355848"/>
            <a:ext cx="4722876" cy="502920"/>
          </a:xfrm>
          <a:prstGeom prst="rect">
            <a:avLst/>
          </a:prstGeom>
          <a:noFill/>
          <a:ln/>
        </p:spPr>
        <p:txBody>
          <a:bodyPr wrap="square" lIns="0" tIns="0" rIns="0" bIns="0" rtlCol="0" anchor="ctr"/>
          <a:lstStyle/>
          <a:p>
            <a:pPr indent="0" marL="0">
              <a:buNone/>
            </a:pPr>
            <a:r>
              <a:rPr lang="en-US" sz="2600" b="1" dirty="0">
                <a:solidFill>
                  <a:srgbClr val="EB6834"/>
                </a:solidFill>
                <a:latin typeface="Cambria" pitchFamily="34" charset="0"/>
                <a:ea typeface="Cambria" pitchFamily="34" charset="-122"/>
                <a:cs typeface="Cambria" pitchFamily="34" charset="-120"/>
              </a:rPr>
              <a:t>14.7%</a:t>
            </a:r>
            <a:endParaRPr lang="en-US" sz="2600" dirty="0"/>
          </a:p>
        </p:txBody>
      </p:sp>
      <p:sp>
        <p:nvSpPr>
          <p:cNvPr id="19" name="Text 17"/>
          <p:cNvSpPr txBox="1"/>
          <p:nvPr/>
        </p:nvSpPr>
        <p:spPr>
          <a:xfrm>
            <a:off x="6597396" y="3813048"/>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変動係数 CV</a:t>
            </a:r>
            <a:endParaRPr lang="en-US" sz="1100" dirty="0"/>
          </a:p>
        </p:txBody>
      </p:sp>
      <p:sp>
        <p:nvSpPr>
          <p:cNvPr id="20" name="Shape 18"/>
          <p:cNvSpPr/>
          <p:nvPr/>
        </p:nvSpPr>
        <p:spPr>
          <a:xfrm>
            <a:off x="548640" y="4572000"/>
            <a:ext cx="11091672" cy="1508760"/>
          </a:xfrm>
          <a:prstGeom prst="roundRect">
            <a:avLst>
              <a:gd name="adj" fmla="val 6061"/>
            </a:avLst>
          </a:prstGeom>
          <a:solidFill>
            <a:srgbClr val="EAF7F0"/>
          </a:solidFill>
          <a:ln/>
        </p:spPr>
      </p:sp>
      <p:sp>
        <p:nvSpPr>
          <p:cNvPr id="21" name="Text 19"/>
          <p:cNvSpPr txBox="1"/>
          <p:nvPr/>
        </p:nvSpPr>
        <p:spPr>
          <a:xfrm>
            <a:off x="822960" y="4709160"/>
            <a:ext cx="2743200" cy="274320"/>
          </a:xfrm>
          <a:prstGeom prst="rect">
            <a:avLst/>
          </a:prstGeom>
          <a:noFill/>
          <a:ln/>
        </p:spPr>
        <p:txBody>
          <a:bodyPr wrap="square" lIns="0" tIns="0" rIns="0" bIns="0" rtlCol="0" anchor="ctr"/>
          <a:lstStyle/>
          <a:p>
            <a:pPr indent="0" marL="0">
              <a:buNone/>
            </a:pPr>
            <a:r>
              <a:rPr lang="en-US" sz="1200" b="1" dirty="0">
                <a:solidFill>
                  <a:srgbClr val="0F5C3D"/>
                </a:solidFill>
                <a:latin typeface="Calibri" pitchFamily="34" charset="0"/>
                <a:ea typeface="Calibri" pitchFamily="34" charset="-122"/>
                <a:cs typeface="Calibri" pitchFamily="34" charset="-120"/>
              </a:rPr>
              <a:t>考察</a:t>
            </a:r>
            <a:endParaRPr lang="en-US" sz="1200" dirty="0"/>
          </a:p>
        </p:txBody>
      </p:sp>
      <p:sp>
        <p:nvSpPr>
          <p:cNvPr id="22" name="Text 20"/>
          <p:cNvSpPr txBox="1"/>
          <p:nvPr/>
        </p:nvSpPr>
        <p:spPr>
          <a:xfrm>
            <a:off x="822960" y="5010912"/>
            <a:ext cx="10543032" cy="96012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副食を液状化するだけで血糖の上昇幅・乱高下は明確に増大。液状化は消化の負担感を下げる一方、血糖の安定には必ずしも寄与しない可能性がある。選手の「出力向上」の体感は、血糖の安定ではなく消化器系の負担軽減（内臓への血流集中の緩和）による可能性が高い。</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COMPARISON 2</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スムージー vs おにぎり＋スムージー</a:t>
            </a:r>
            <a:endParaRPr lang="en-US" sz="2800" dirty="0"/>
          </a:p>
        </p:txBody>
      </p:sp>
      <p:sp>
        <p:nvSpPr>
          <p:cNvPr id="4" name="Shape 2"/>
          <p:cNvSpPr/>
          <p:nvPr/>
        </p:nvSpPr>
        <p:spPr>
          <a:xfrm>
            <a:off x="7799832" y="438912"/>
            <a:ext cx="3840480" cy="365760"/>
          </a:xfrm>
          <a:prstGeom prst="roundRect">
            <a:avLst>
              <a:gd name="adj" fmla="val 20000"/>
            </a:avLst>
          </a:prstGeom>
          <a:solidFill>
            <a:srgbClr val="FDF3E2"/>
          </a:solidFill>
          <a:ln w="9525">
            <a:solidFill>
              <a:srgbClr val="6B4B00"/>
            </a:solidFill>
            <a:prstDash val="solid"/>
          </a:ln>
        </p:spPr>
      </p:sp>
      <p:sp>
        <p:nvSpPr>
          <p:cNvPr id="5" name="Text 3"/>
          <p:cNvSpPr txBox="1"/>
          <p:nvPr/>
        </p:nvSpPr>
        <p:spPr>
          <a:xfrm>
            <a:off x="7891272" y="438912"/>
            <a:ext cx="3657600" cy="365760"/>
          </a:xfrm>
          <a:prstGeom prst="rect">
            <a:avLst/>
          </a:prstGeom>
          <a:noFill/>
          <a:ln/>
        </p:spPr>
        <p:txBody>
          <a:bodyPr wrap="square" lIns="0" tIns="0" rIns="0" bIns="0" rtlCol="0" anchor="ctr"/>
          <a:lstStyle/>
          <a:p>
            <a:pPr algn="ctr" indent="0" marL="0">
              <a:buNone/>
            </a:pPr>
            <a:r>
              <a:rPr lang="en-US" sz="1050" b="1" dirty="0">
                <a:solidFill>
                  <a:srgbClr val="6B4B00"/>
                </a:solidFill>
                <a:latin typeface="Calibri" pitchFamily="34" charset="0"/>
                <a:ea typeface="Calibri" pitchFamily="34" charset="-122"/>
                <a:cs typeface="Calibri" pitchFamily="34" charset="-120"/>
              </a:rPr>
              <a:t>⚠ 血糖シフトの影響を受けている可能性</a:t>
            </a:r>
            <a:endParaRPr lang="en-US" sz="1050" dirty="0"/>
          </a:p>
        </p:txBody>
      </p:sp>
      <p:sp>
        <p:nvSpPr>
          <p:cNvPr id="6" name="Shape 4"/>
          <p:cNvSpPr/>
          <p:nvPr/>
        </p:nvSpPr>
        <p:spPr>
          <a:xfrm>
            <a:off x="548640" y="1691640"/>
            <a:ext cx="5362956" cy="2651760"/>
          </a:xfrm>
          <a:prstGeom prst="roundRect">
            <a:avLst>
              <a:gd name="adj" fmla="val 3448"/>
            </a:avLst>
          </a:prstGeom>
          <a:solidFill>
            <a:srgbClr val="F4F7F9"/>
          </a:solidFill>
          <a:ln/>
        </p:spPr>
      </p:sp>
      <p:sp>
        <p:nvSpPr>
          <p:cNvPr id="7" name="Shape 5"/>
          <p:cNvSpPr/>
          <p:nvPr/>
        </p:nvSpPr>
        <p:spPr>
          <a:xfrm>
            <a:off x="868680" y="1920240"/>
            <a:ext cx="146304" cy="457200"/>
          </a:xfrm>
          <a:prstGeom prst="rect">
            <a:avLst/>
          </a:prstGeom>
          <a:solidFill>
            <a:srgbClr val="EB6834"/>
          </a:solidFill>
          <a:ln/>
        </p:spPr>
      </p:sp>
      <p:sp>
        <p:nvSpPr>
          <p:cNvPr id="8" name="Text 6"/>
          <p:cNvSpPr txBox="1"/>
          <p:nvPr/>
        </p:nvSpPr>
        <p:spPr>
          <a:xfrm>
            <a:off x="1143000" y="1874520"/>
            <a:ext cx="4448556" cy="502920"/>
          </a:xfrm>
          <a:prstGeom prst="rect">
            <a:avLst/>
          </a:prstGeom>
          <a:noFill/>
          <a:ln/>
        </p:spPr>
        <p:txBody>
          <a:bodyPr wrap="square" lIns="0" tIns="0" rIns="0" bIns="0" rtlCol="0" anchor="ctr"/>
          <a:lstStyle/>
          <a:p>
            <a:pPr indent="0" marL="0">
              <a:buNone/>
            </a:pPr>
            <a:r>
              <a:rPr lang="en-US" sz="1600" b="1" dirty="0">
                <a:solidFill>
                  <a:srgbClr val="21295C"/>
                </a:solidFill>
                <a:latin typeface="Calibri" pitchFamily="34" charset="0"/>
                <a:ea typeface="Calibri" pitchFamily="34" charset="-122"/>
                <a:cs typeface="Calibri" pitchFamily="34" charset="-120"/>
              </a:rPr>
              <a:t>スムージー摂取</a:t>
            </a:r>
            <a:endParaRPr lang="en-US" sz="1600" dirty="0"/>
          </a:p>
        </p:txBody>
      </p:sp>
      <p:sp>
        <p:nvSpPr>
          <p:cNvPr id="9" name="Text 7"/>
          <p:cNvSpPr txBox="1"/>
          <p:nvPr/>
        </p:nvSpPr>
        <p:spPr>
          <a:xfrm>
            <a:off x="868680" y="2560320"/>
            <a:ext cx="4722876" cy="502920"/>
          </a:xfrm>
          <a:prstGeom prst="rect">
            <a:avLst/>
          </a:prstGeom>
          <a:noFill/>
          <a:ln/>
        </p:spPr>
        <p:txBody>
          <a:bodyPr wrap="square" lIns="0" tIns="0" rIns="0" bIns="0" rtlCol="0" anchor="ctr"/>
          <a:lstStyle/>
          <a:p>
            <a:pPr indent="0" marL="0">
              <a:buNone/>
            </a:pPr>
            <a:r>
              <a:rPr lang="en-US" sz="2600" b="1" dirty="0">
                <a:solidFill>
                  <a:srgbClr val="EB6834"/>
                </a:solidFill>
                <a:latin typeface="Cambria" pitchFamily="34" charset="0"/>
                <a:ea typeface="Cambria" pitchFamily="34" charset="-122"/>
                <a:cs typeface="Cambria" pitchFamily="34" charset="-120"/>
              </a:rPr>
              <a:t>85.0 mg/dL</a:t>
            </a:r>
            <a:endParaRPr lang="en-US" sz="2600" dirty="0"/>
          </a:p>
        </p:txBody>
      </p:sp>
      <p:sp>
        <p:nvSpPr>
          <p:cNvPr id="10" name="Text 8"/>
          <p:cNvSpPr txBox="1"/>
          <p:nvPr/>
        </p:nvSpPr>
        <p:spPr>
          <a:xfrm>
            <a:off x="868680" y="3017520"/>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Δピーク血糖値</a:t>
            </a:r>
            <a:endParaRPr lang="en-US" sz="1100" dirty="0"/>
          </a:p>
        </p:txBody>
      </p:sp>
      <p:sp>
        <p:nvSpPr>
          <p:cNvPr id="11" name="Text 9"/>
          <p:cNvSpPr txBox="1"/>
          <p:nvPr/>
        </p:nvSpPr>
        <p:spPr>
          <a:xfrm>
            <a:off x="868680" y="3355848"/>
            <a:ext cx="4722876" cy="502920"/>
          </a:xfrm>
          <a:prstGeom prst="rect">
            <a:avLst/>
          </a:prstGeom>
          <a:noFill/>
          <a:ln/>
        </p:spPr>
        <p:txBody>
          <a:bodyPr wrap="square" lIns="0" tIns="0" rIns="0" bIns="0" rtlCol="0" anchor="ctr"/>
          <a:lstStyle/>
          <a:p>
            <a:pPr indent="0" marL="0">
              <a:buNone/>
            </a:pPr>
            <a:r>
              <a:rPr lang="en-US" sz="2600" b="1" dirty="0">
                <a:solidFill>
                  <a:srgbClr val="EB6834"/>
                </a:solidFill>
                <a:latin typeface="Cambria" pitchFamily="34" charset="0"/>
                <a:ea typeface="Cambria" pitchFamily="34" charset="-122"/>
                <a:cs typeface="Cambria" pitchFamily="34" charset="-120"/>
              </a:rPr>
              <a:t>14.7%</a:t>
            </a:r>
            <a:endParaRPr lang="en-US" sz="2600" dirty="0"/>
          </a:p>
        </p:txBody>
      </p:sp>
      <p:sp>
        <p:nvSpPr>
          <p:cNvPr id="12" name="Text 10"/>
          <p:cNvSpPr txBox="1"/>
          <p:nvPr/>
        </p:nvSpPr>
        <p:spPr>
          <a:xfrm>
            <a:off x="868680" y="3813048"/>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変動係数 CV</a:t>
            </a:r>
            <a:endParaRPr lang="en-US" sz="1100" dirty="0"/>
          </a:p>
        </p:txBody>
      </p:sp>
      <p:sp>
        <p:nvSpPr>
          <p:cNvPr id="13" name="Shape 11"/>
          <p:cNvSpPr/>
          <p:nvPr/>
        </p:nvSpPr>
        <p:spPr>
          <a:xfrm>
            <a:off x="6277356" y="1691640"/>
            <a:ext cx="5362956" cy="2651760"/>
          </a:xfrm>
          <a:prstGeom prst="roundRect">
            <a:avLst>
              <a:gd name="adj" fmla="val 3448"/>
            </a:avLst>
          </a:prstGeom>
          <a:solidFill>
            <a:srgbClr val="F4F7F9"/>
          </a:solidFill>
          <a:ln/>
        </p:spPr>
      </p:sp>
      <p:sp>
        <p:nvSpPr>
          <p:cNvPr id="14" name="Shape 12"/>
          <p:cNvSpPr/>
          <p:nvPr/>
        </p:nvSpPr>
        <p:spPr>
          <a:xfrm>
            <a:off x="6597396" y="1920240"/>
            <a:ext cx="146304" cy="457200"/>
          </a:xfrm>
          <a:prstGeom prst="rect">
            <a:avLst/>
          </a:prstGeom>
          <a:solidFill>
            <a:srgbClr val="1BAF7A"/>
          </a:solidFill>
          <a:ln/>
        </p:spPr>
      </p:sp>
      <p:sp>
        <p:nvSpPr>
          <p:cNvPr id="15" name="Text 13"/>
          <p:cNvSpPr txBox="1"/>
          <p:nvPr/>
        </p:nvSpPr>
        <p:spPr>
          <a:xfrm>
            <a:off x="6871716" y="1874520"/>
            <a:ext cx="4448556" cy="502920"/>
          </a:xfrm>
          <a:prstGeom prst="rect">
            <a:avLst/>
          </a:prstGeom>
          <a:noFill/>
          <a:ln/>
        </p:spPr>
        <p:txBody>
          <a:bodyPr wrap="square" lIns="0" tIns="0" rIns="0" bIns="0" rtlCol="0" anchor="ctr"/>
          <a:lstStyle/>
          <a:p>
            <a:pPr indent="0" marL="0">
              <a:buNone/>
            </a:pPr>
            <a:r>
              <a:rPr lang="en-US" sz="1600" b="1" dirty="0">
                <a:solidFill>
                  <a:srgbClr val="21295C"/>
                </a:solidFill>
                <a:latin typeface="Calibri" pitchFamily="34" charset="0"/>
                <a:ea typeface="Calibri" pitchFamily="34" charset="-122"/>
                <a:cs typeface="Calibri" pitchFamily="34" charset="-120"/>
              </a:rPr>
              <a:t>おにぎり＋スムージー</a:t>
            </a:r>
            <a:endParaRPr lang="en-US" sz="1600" dirty="0"/>
          </a:p>
        </p:txBody>
      </p:sp>
      <p:sp>
        <p:nvSpPr>
          <p:cNvPr id="16" name="Text 14"/>
          <p:cNvSpPr txBox="1"/>
          <p:nvPr/>
        </p:nvSpPr>
        <p:spPr>
          <a:xfrm>
            <a:off x="6597396" y="2560320"/>
            <a:ext cx="4722876" cy="502920"/>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78.0 mg/dL</a:t>
            </a:r>
            <a:endParaRPr lang="en-US" sz="2600" dirty="0"/>
          </a:p>
        </p:txBody>
      </p:sp>
      <p:sp>
        <p:nvSpPr>
          <p:cNvPr id="17" name="Text 15"/>
          <p:cNvSpPr txBox="1"/>
          <p:nvPr/>
        </p:nvSpPr>
        <p:spPr>
          <a:xfrm>
            <a:off x="6597396" y="3017520"/>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Δピーク血糖値</a:t>
            </a:r>
            <a:endParaRPr lang="en-US" sz="1100" dirty="0"/>
          </a:p>
        </p:txBody>
      </p:sp>
      <p:sp>
        <p:nvSpPr>
          <p:cNvPr id="18" name="Text 16"/>
          <p:cNvSpPr txBox="1"/>
          <p:nvPr/>
        </p:nvSpPr>
        <p:spPr>
          <a:xfrm>
            <a:off x="6597396" y="3355848"/>
            <a:ext cx="4722876" cy="502920"/>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10.1%</a:t>
            </a:r>
            <a:endParaRPr lang="en-US" sz="2600" dirty="0"/>
          </a:p>
        </p:txBody>
      </p:sp>
      <p:sp>
        <p:nvSpPr>
          <p:cNvPr id="19" name="Text 17"/>
          <p:cNvSpPr txBox="1"/>
          <p:nvPr/>
        </p:nvSpPr>
        <p:spPr>
          <a:xfrm>
            <a:off x="6597396" y="3813048"/>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変動係数 CV（最小）</a:t>
            </a:r>
            <a:endParaRPr lang="en-US" sz="1100" dirty="0"/>
          </a:p>
        </p:txBody>
      </p:sp>
      <p:sp>
        <p:nvSpPr>
          <p:cNvPr id="20" name="Shape 18"/>
          <p:cNvSpPr/>
          <p:nvPr/>
        </p:nvSpPr>
        <p:spPr>
          <a:xfrm>
            <a:off x="548640" y="4572000"/>
            <a:ext cx="11091672" cy="1508760"/>
          </a:xfrm>
          <a:prstGeom prst="roundRect">
            <a:avLst>
              <a:gd name="adj" fmla="val 6061"/>
            </a:avLst>
          </a:prstGeom>
          <a:solidFill>
            <a:srgbClr val="EAF7F0"/>
          </a:solidFill>
          <a:ln/>
        </p:spPr>
      </p:sp>
      <p:sp>
        <p:nvSpPr>
          <p:cNvPr id="21" name="Text 19"/>
          <p:cNvSpPr txBox="1"/>
          <p:nvPr/>
        </p:nvSpPr>
        <p:spPr>
          <a:xfrm>
            <a:off x="822960" y="4709160"/>
            <a:ext cx="2743200" cy="274320"/>
          </a:xfrm>
          <a:prstGeom prst="rect">
            <a:avLst/>
          </a:prstGeom>
          <a:noFill/>
          <a:ln/>
        </p:spPr>
        <p:txBody>
          <a:bodyPr wrap="square" lIns="0" tIns="0" rIns="0" bIns="0" rtlCol="0" anchor="ctr"/>
          <a:lstStyle/>
          <a:p>
            <a:pPr indent="0" marL="0">
              <a:buNone/>
            </a:pPr>
            <a:r>
              <a:rPr lang="en-US" sz="1200" b="1" dirty="0">
                <a:solidFill>
                  <a:srgbClr val="0F5C3D"/>
                </a:solidFill>
                <a:latin typeface="Calibri" pitchFamily="34" charset="0"/>
                <a:ea typeface="Calibri" pitchFamily="34" charset="-122"/>
                <a:cs typeface="Calibri" pitchFamily="34" charset="-120"/>
              </a:rPr>
              <a:t>考察</a:t>
            </a:r>
            <a:endParaRPr lang="en-US" sz="1200" dirty="0"/>
          </a:p>
        </p:txBody>
      </p:sp>
      <p:sp>
        <p:nvSpPr>
          <p:cNvPr id="22" name="Text 20"/>
          <p:cNvSpPr txBox="1"/>
          <p:nvPr/>
        </p:nvSpPr>
        <p:spPr>
          <a:xfrm>
            <a:off x="822960" y="5010912"/>
            <a:ext cx="10543032" cy="96012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おにぎりを同時摂取した方がΔピーク・CVともに小さい。おにぎり（固形デンプン）が副食の急激な糖吸収を緩衝し、波形がなだらかになっている可能性がある。総摂取糖質量は増えるが（iAUC絶対値は上昇）、研究背景の「総固形物量の調整による血糖・消化ストレス緩和」仮説を支持する結果。</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COMPARISON 3</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おにぎり＋スムージー vs おにぎり＋糖質減</a:t>
            </a:r>
            <a:endParaRPr lang="en-US" sz="2800" dirty="0"/>
          </a:p>
        </p:txBody>
      </p:sp>
      <p:sp>
        <p:nvSpPr>
          <p:cNvPr id="4" name="Shape 2"/>
          <p:cNvSpPr/>
          <p:nvPr/>
        </p:nvSpPr>
        <p:spPr>
          <a:xfrm>
            <a:off x="7799832" y="438912"/>
            <a:ext cx="3840480" cy="365760"/>
          </a:xfrm>
          <a:prstGeom prst="roundRect">
            <a:avLst>
              <a:gd name="adj" fmla="val 20000"/>
            </a:avLst>
          </a:prstGeom>
          <a:solidFill>
            <a:srgbClr val="EAF7F0"/>
          </a:solidFill>
          <a:ln w="9525">
            <a:solidFill>
              <a:srgbClr val="0F5C3D"/>
            </a:solidFill>
            <a:prstDash val="solid"/>
          </a:ln>
        </p:spPr>
      </p:sp>
      <p:sp>
        <p:nvSpPr>
          <p:cNvPr id="5" name="Text 3"/>
          <p:cNvSpPr txBox="1"/>
          <p:nvPr/>
        </p:nvSpPr>
        <p:spPr>
          <a:xfrm>
            <a:off x="7891272" y="438912"/>
            <a:ext cx="3657600" cy="365760"/>
          </a:xfrm>
          <a:prstGeom prst="rect">
            <a:avLst/>
          </a:prstGeom>
          <a:noFill/>
          <a:ln/>
        </p:spPr>
        <p:txBody>
          <a:bodyPr wrap="square" lIns="0" tIns="0" rIns="0" bIns="0" rtlCol="0" anchor="ctr"/>
          <a:lstStyle/>
          <a:p>
            <a:pPr algn="ctr" indent="0" marL="0">
              <a:buNone/>
            </a:pPr>
            <a:r>
              <a:rPr lang="en-US" sz="1050" b="1" dirty="0">
                <a:solidFill>
                  <a:srgbClr val="0F5C3D"/>
                </a:solidFill>
                <a:latin typeface="Calibri" pitchFamily="34" charset="0"/>
                <a:ea typeface="Calibri" pitchFamily="34" charset="-122"/>
                <a:cs typeface="Calibri" pitchFamily="34" charset="-120"/>
              </a:rPr>
              <a:t>✓ 両条件ともシフト後で信頼できる</a:t>
            </a:r>
            <a:endParaRPr lang="en-US" sz="1050" dirty="0"/>
          </a:p>
        </p:txBody>
      </p:sp>
      <p:sp>
        <p:nvSpPr>
          <p:cNvPr id="6" name="Shape 4"/>
          <p:cNvSpPr/>
          <p:nvPr/>
        </p:nvSpPr>
        <p:spPr>
          <a:xfrm>
            <a:off x="548640" y="1691640"/>
            <a:ext cx="5362956" cy="2651760"/>
          </a:xfrm>
          <a:prstGeom prst="roundRect">
            <a:avLst>
              <a:gd name="adj" fmla="val 3448"/>
            </a:avLst>
          </a:prstGeom>
          <a:solidFill>
            <a:srgbClr val="F4F7F9"/>
          </a:solidFill>
          <a:ln/>
        </p:spPr>
      </p:sp>
      <p:sp>
        <p:nvSpPr>
          <p:cNvPr id="7" name="Shape 5"/>
          <p:cNvSpPr/>
          <p:nvPr/>
        </p:nvSpPr>
        <p:spPr>
          <a:xfrm>
            <a:off x="868680" y="1920240"/>
            <a:ext cx="146304" cy="457200"/>
          </a:xfrm>
          <a:prstGeom prst="rect">
            <a:avLst/>
          </a:prstGeom>
          <a:solidFill>
            <a:srgbClr val="1BAF7A"/>
          </a:solidFill>
          <a:ln/>
        </p:spPr>
      </p:sp>
      <p:sp>
        <p:nvSpPr>
          <p:cNvPr id="8" name="Text 6"/>
          <p:cNvSpPr txBox="1"/>
          <p:nvPr/>
        </p:nvSpPr>
        <p:spPr>
          <a:xfrm>
            <a:off x="1143000" y="1874520"/>
            <a:ext cx="4448556" cy="502920"/>
          </a:xfrm>
          <a:prstGeom prst="rect">
            <a:avLst/>
          </a:prstGeom>
          <a:noFill/>
          <a:ln/>
        </p:spPr>
        <p:txBody>
          <a:bodyPr wrap="square" lIns="0" tIns="0" rIns="0" bIns="0" rtlCol="0" anchor="ctr"/>
          <a:lstStyle/>
          <a:p>
            <a:pPr indent="0" marL="0">
              <a:buNone/>
            </a:pPr>
            <a:r>
              <a:rPr lang="en-US" sz="1600" b="1" dirty="0">
                <a:solidFill>
                  <a:srgbClr val="21295C"/>
                </a:solidFill>
                <a:latin typeface="Calibri" pitchFamily="34" charset="0"/>
                <a:ea typeface="Calibri" pitchFamily="34" charset="-122"/>
                <a:cs typeface="Calibri" pitchFamily="34" charset="-120"/>
              </a:rPr>
              <a:t>おにぎり＋スムージー</a:t>
            </a:r>
            <a:endParaRPr lang="en-US" sz="1600" dirty="0"/>
          </a:p>
        </p:txBody>
      </p:sp>
      <p:sp>
        <p:nvSpPr>
          <p:cNvPr id="9" name="Text 7"/>
          <p:cNvSpPr txBox="1"/>
          <p:nvPr/>
        </p:nvSpPr>
        <p:spPr>
          <a:xfrm>
            <a:off x="868680" y="2560320"/>
            <a:ext cx="4722876" cy="502920"/>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5,230</a:t>
            </a:r>
            <a:endParaRPr lang="en-US" sz="2600" dirty="0"/>
          </a:p>
        </p:txBody>
      </p:sp>
      <p:sp>
        <p:nvSpPr>
          <p:cNvPr id="10" name="Text 8"/>
          <p:cNvSpPr txBox="1"/>
          <p:nvPr/>
        </p:nvSpPr>
        <p:spPr>
          <a:xfrm>
            <a:off x="868680" y="3017520"/>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iAUC 2h (mg/dL・分)</a:t>
            </a:r>
            <a:endParaRPr lang="en-US" sz="1100" dirty="0"/>
          </a:p>
        </p:txBody>
      </p:sp>
      <p:sp>
        <p:nvSpPr>
          <p:cNvPr id="11" name="Text 9"/>
          <p:cNvSpPr txBox="1"/>
          <p:nvPr/>
        </p:nvSpPr>
        <p:spPr>
          <a:xfrm>
            <a:off x="868680" y="3355848"/>
            <a:ext cx="4722876" cy="502920"/>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242.3 mg/dL</a:t>
            </a:r>
            <a:endParaRPr lang="en-US" sz="2600" dirty="0"/>
          </a:p>
        </p:txBody>
      </p:sp>
      <p:sp>
        <p:nvSpPr>
          <p:cNvPr id="12" name="Text 10"/>
          <p:cNvSpPr txBox="1"/>
          <p:nvPr/>
        </p:nvSpPr>
        <p:spPr>
          <a:xfrm>
            <a:off x="868680" y="3813048"/>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ピーク血糖値</a:t>
            </a:r>
            <a:endParaRPr lang="en-US" sz="1100" dirty="0"/>
          </a:p>
        </p:txBody>
      </p:sp>
      <p:sp>
        <p:nvSpPr>
          <p:cNvPr id="13" name="Shape 11"/>
          <p:cNvSpPr/>
          <p:nvPr/>
        </p:nvSpPr>
        <p:spPr>
          <a:xfrm>
            <a:off x="6277356" y="1691640"/>
            <a:ext cx="5362956" cy="2651760"/>
          </a:xfrm>
          <a:prstGeom prst="roundRect">
            <a:avLst>
              <a:gd name="adj" fmla="val 3448"/>
            </a:avLst>
          </a:prstGeom>
          <a:solidFill>
            <a:srgbClr val="F4F7F9"/>
          </a:solidFill>
          <a:ln/>
        </p:spPr>
      </p:sp>
      <p:sp>
        <p:nvSpPr>
          <p:cNvPr id="14" name="Shape 12"/>
          <p:cNvSpPr/>
          <p:nvPr/>
        </p:nvSpPr>
        <p:spPr>
          <a:xfrm>
            <a:off x="6597396" y="1920240"/>
            <a:ext cx="146304" cy="457200"/>
          </a:xfrm>
          <a:prstGeom prst="rect">
            <a:avLst/>
          </a:prstGeom>
          <a:solidFill>
            <a:srgbClr val="EDA100"/>
          </a:solidFill>
          <a:ln/>
        </p:spPr>
      </p:sp>
      <p:sp>
        <p:nvSpPr>
          <p:cNvPr id="15" name="Text 13"/>
          <p:cNvSpPr txBox="1"/>
          <p:nvPr/>
        </p:nvSpPr>
        <p:spPr>
          <a:xfrm>
            <a:off x="6871716" y="1874520"/>
            <a:ext cx="4448556" cy="502920"/>
          </a:xfrm>
          <a:prstGeom prst="rect">
            <a:avLst/>
          </a:prstGeom>
          <a:noFill/>
          <a:ln/>
        </p:spPr>
        <p:txBody>
          <a:bodyPr wrap="square" lIns="0" tIns="0" rIns="0" bIns="0" rtlCol="0" anchor="ctr"/>
          <a:lstStyle/>
          <a:p>
            <a:pPr indent="0" marL="0">
              <a:buNone/>
            </a:pPr>
            <a:r>
              <a:rPr lang="en-US" sz="1600" b="1" dirty="0">
                <a:solidFill>
                  <a:srgbClr val="21295C"/>
                </a:solidFill>
                <a:latin typeface="Calibri" pitchFamily="34" charset="0"/>
                <a:ea typeface="Calibri" pitchFamily="34" charset="-122"/>
                <a:cs typeface="Calibri" pitchFamily="34" charset="-120"/>
              </a:rPr>
              <a:t>おにぎり＋糖質減</a:t>
            </a:r>
            <a:endParaRPr lang="en-US" sz="1600" dirty="0"/>
          </a:p>
        </p:txBody>
      </p:sp>
      <p:sp>
        <p:nvSpPr>
          <p:cNvPr id="16" name="Text 14"/>
          <p:cNvSpPr txBox="1"/>
          <p:nvPr/>
        </p:nvSpPr>
        <p:spPr>
          <a:xfrm>
            <a:off x="6597396" y="2560320"/>
            <a:ext cx="4722876" cy="502920"/>
          </a:xfrm>
          <a:prstGeom prst="rect">
            <a:avLst/>
          </a:prstGeom>
          <a:noFill/>
          <a:ln/>
        </p:spPr>
        <p:txBody>
          <a:bodyPr wrap="square" lIns="0" tIns="0" rIns="0" bIns="0" rtlCol="0" anchor="ctr"/>
          <a:lstStyle/>
          <a:p>
            <a:pPr indent="0" marL="0">
              <a:buNone/>
            </a:pPr>
            <a:r>
              <a:rPr lang="en-US" sz="2600" b="1" dirty="0">
                <a:solidFill>
                  <a:srgbClr val="EDA100"/>
                </a:solidFill>
                <a:latin typeface="Cambria" pitchFamily="34" charset="0"/>
                <a:ea typeface="Cambria" pitchFamily="34" charset="-122"/>
                <a:cs typeface="Cambria" pitchFamily="34" charset="-120"/>
              </a:rPr>
              <a:t>3,168 (▼39%)</a:t>
            </a:r>
            <a:endParaRPr lang="en-US" sz="2600" dirty="0"/>
          </a:p>
        </p:txBody>
      </p:sp>
      <p:sp>
        <p:nvSpPr>
          <p:cNvPr id="17" name="Text 15"/>
          <p:cNvSpPr txBox="1"/>
          <p:nvPr/>
        </p:nvSpPr>
        <p:spPr>
          <a:xfrm>
            <a:off x="6597396" y="3017520"/>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iAUC 2h (mg/dL・分)</a:t>
            </a:r>
            <a:endParaRPr lang="en-US" sz="1100" dirty="0"/>
          </a:p>
        </p:txBody>
      </p:sp>
      <p:sp>
        <p:nvSpPr>
          <p:cNvPr id="18" name="Text 16"/>
          <p:cNvSpPr txBox="1"/>
          <p:nvPr/>
        </p:nvSpPr>
        <p:spPr>
          <a:xfrm>
            <a:off x="6597396" y="3355848"/>
            <a:ext cx="4722876" cy="502920"/>
          </a:xfrm>
          <a:prstGeom prst="rect">
            <a:avLst/>
          </a:prstGeom>
          <a:noFill/>
          <a:ln/>
        </p:spPr>
        <p:txBody>
          <a:bodyPr wrap="square" lIns="0" tIns="0" rIns="0" bIns="0" rtlCol="0" anchor="ctr"/>
          <a:lstStyle/>
          <a:p>
            <a:pPr indent="0" marL="0">
              <a:buNone/>
            </a:pPr>
            <a:r>
              <a:rPr lang="en-US" sz="2600" b="1" dirty="0">
                <a:solidFill>
                  <a:srgbClr val="EDA100"/>
                </a:solidFill>
                <a:latin typeface="Cambria" pitchFamily="34" charset="0"/>
                <a:ea typeface="Cambria" pitchFamily="34" charset="-122"/>
                <a:cs typeface="Cambria" pitchFamily="34" charset="-120"/>
              </a:rPr>
              <a:t>250.3 mg/dL</a:t>
            </a:r>
            <a:endParaRPr lang="en-US" sz="2600" dirty="0"/>
          </a:p>
        </p:txBody>
      </p:sp>
      <p:sp>
        <p:nvSpPr>
          <p:cNvPr id="19" name="Text 17"/>
          <p:cNvSpPr txBox="1"/>
          <p:nvPr/>
        </p:nvSpPr>
        <p:spPr>
          <a:xfrm>
            <a:off x="6597396" y="3813048"/>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ピーク血糖値（同水準）</a:t>
            </a:r>
            <a:endParaRPr lang="en-US" sz="1100" dirty="0"/>
          </a:p>
        </p:txBody>
      </p:sp>
      <p:sp>
        <p:nvSpPr>
          <p:cNvPr id="20" name="Shape 18"/>
          <p:cNvSpPr/>
          <p:nvPr/>
        </p:nvSpPr>
        <p:spPr>
          <a:xfrm>
            <a:off x="548640" y="4572000"/>
            <a:ext cx="11091672" cy="1508760"/>
          </a:xfrm>
          <a:prstGeom prst="roundRect">
            <a:avLst>
              <a:gd name="adj" fmla="val 6061"/>
            </a:avLst>
          </a:prstGeom>
          <a:solidFill>
            <a:srgbClr val="EAF7F0"/>
          </a:solidFill>
          <a:ln/>
        </p:spPr>
      </p:sp>
      <p:sp>
        <p:nvSpPr>
          <p:cNvPr id="21" name="Text 19"/>
          <p:cNvSpPr txBox="1"/>
          <p:nvPr/>
        </p:nvSpPr>
        <p:spPr>
          <a:xfrm>
            <a:off x="822960" y="4709160"/>
            <a:ext cx="2743200" cy="274320"/>
          </a:xfrm>
          <a:prstGeom prst="rect">
            <a:avLst/>
          </a:prstGeom>
          <a:noFill/>
          <a:ln/>
        </p:spPr>
        <p:txBody>
          <a:bodyPr wrap="square" lIns="0" tIns="0" rIns="0" bIns="0" rtlCol="0" anchor="ctr"/>
          <a:lstStyle/>
          <a:p>
            <a:pPr indent="0" marL="0">
              <a:buNone/>
            </a:pPr>
            <a:r>
              <a:rPr lang="en-US" sz="1200" b="1" dirty="0">
                <a:solidFill>
                  <a:srgbClr val="0F5C3D"/>
                </a:solidFill>
                <a:latin typeface="Calibri" pitchFamily="34" charset="0"/>
                <a:ea typeface="Calibri" pitchFamily="34" charset="-122"/>
                <a:cs typeface="Calibri" pitchFamily="34" charset="-120"/>
              </a:rPr>
              <a:t>考察</a:t>
            </a:r>
            <a:endParaRPr lang="en-US" sz="1200" dirty="0"/>
          </a:p>
        </p:txBody>
      </p:sp>
      <p:sp>
        <p:nvSpPr>
          <p:cNvPr id="22" name="Text 20"/>
          <p:cNvSpPr txBox="1"/>
          <p:nvPr/>
        </p:nvSpPr>
        <p:spPr>
          <a:xfrm>
            <a:off x="822960" y="5010912"/>
            <a:ext cx="10543032" cy="96012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研究目的に最も近い比較。糖質を減らすことで食後2時間の正味の血糖上昇（iAUC）が約39%減少。ピーク自体の高さはほぼ同水準だが、上昇の「持続・面積」＝体への負荷は明確に小さい。おにぎりの満足感を保ちながら総糖質量を最適化する方針はデータ上も支持される。</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COMPARISON 5</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タイミングの効果：同時摂取 vs 分割摂取（同エネルギー条件下）</a:t>
            </a:r>
            <a:endParaRPr lang="en-US" sz="2800" dirty="0"/>
          </a:p>
        </p:txBody>
      </p:sp>
      <p:sp>
        <p:nvSpPr>
          <p:cNvPr id="4" name="Text 2"/>
          <p:cNvSpPr txBox="1"/>
          <p:nvPr/>
        </p:nvSpPr>
        <p:spPr>
          <a:xfrm>
            <a:off x="548640" y="1463040"/>
            <a:ext cx="11091672" cy="457200"/>
          </a:xfrm>
          <a:prstGeom prst="rect">
            <a:avLst/>
          </a:prstGeom>
          <a:noFill/>
          <a:ln/>
        </p:spPr>
        <p:txBody>
          <a:bodyPr wrap="square" lIns="0" tIns="0" rIns="0" bIns="0" rtlCol="0" anchor="ctr"/>
          <a:lstStyle/>
          <a:p>
            <a:pPr indent="0" marL="0">
              <a:buNone/>
            </a:pPr>
            <a:r>
              <a:rPr lang="en-US" sz="1250" dirty="0">
                <a:solidFill>
                  <a:srgbClr val="5C6570"/>
                </a:solidFill>
                <a:latin typeface="Calibri" pitchFamily="34" charset="0"/>
                <a:ea typeface="Calibri" pitchFamily="34" charset="-122"/>
                <a:cs typeface="Calibri" pitchFamily="34" charset="-120"/>
              </a:rPr>
              <a:t>4条件とも14:00までの総エネルギーはほぼ同じ。「おにぎりを8:00に同時に食べるか、10:00〜11:00に分けて食べるか」の純粋な効果を、自由摂取前（8:00〜11:30）に絞って比較。</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1672" cy="1828800"/>
        </p:xfrm>
        <a:graphic>
          <a:graphicData uri="http://schemas.openxmlformats.org/drawingml/2006/table">
            <a:tbl>
              <a:tblPr/>
              <a:tblGrid>
                <a:gridCol w="4023360"/>
                <a:gridCol w="2743200"/>
                <a:gridCol w="2194560"/>
                <a:gridCol w="2130552"/>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条件</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平均血糖(8:00-11:30)</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Δピーク</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r>
              <a:tr h="365760">
                <a:tc>
                  <a:txBody>
                    <a:bodyPr/>
                    <a:lstStyle/>
                    <a:p>
                      <a:pPr indent="0" marL="0">
                        <a:buNone/>
                      </a:pPr>
                      <a:r>
                        <a:rPr lang="en-US" sz="1300" b="1" dirty="0">
                          <a:solidFill>
                            <a:srgbClr val="21295C"/>
                          </a:solidFill>
                          <a:latin typeface="Calibri" pitchFamily="34" charset="0"/>
                          <a:ea typeface="Calibri" pitchFamily="34" charset="-122"/>
                          <a:cs typeface="Calibri" pitchFamily="34" charset="-120"/>
                        </a:rPr>
                        <a:t>固形（分割・全て固形）</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119.9</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12.0%</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53.7</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r>
              <a:tr h="365760">
                <a:tc>
                  <a:txBody>
                    <a:bodyPr/>
                    <a:lstStyle/>
                    <a:p>
                      <a:pPr indent="0" marL="0">
                        <a:buNone/>
                      </a:pPr>
                      <a:r>
                        <a:rPr lang="en-US" sz="1300" b="1" dirty="0">
                          <a:solidFill>
                            <a:srgbClr val="21295C"/>
                          </a:solidFill>
                          <a:latin typeface="Calibri" pitchFamily="34" charset="0"/>
                          <a:ea typeface="Calibri" pitchFamily="34" charset="-122"/>
                          <a:cs typeface="Calibri" pitchFamily="34" charset="-120"/>
                        </a:rPr>
                        <a:t>スムージー（分割）</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187.0</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16.5%</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r>
              <a:tr h="365760">
                <a:tc>
                  <a:txBody>
                    <a:bodyPr/>
                    <a:lstStyle/>
                    <a:p>
                      <a:pPr indent="0" marL="0">
                        <a:buNone/>
                      </a:pPr>
                      <a:r>
                        <a:rPr lang="en-US" sz="1300" b="1" dirty="0">
                          <a:solidFill>
                            <a:srgbClr val="21295C"/>
                          </a:solidFill>
                          <a:latin typeface="Calibri" pitchFamily="34" charset="0"/>
                          <a:ea typeface="Calibri" pitchFamily="34" charset="-122"/>
                          <a:cs typeface="Calibri" pitchFamily="34" charset="-120"/>
                        </a:rPr>
                        <a:t>おにぎり＋スムージー（同時）</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199.8</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10.1%</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70.7</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r>
              <a:tr h="365760">
                <a:tc>
                  <a:txBody>
                    <a:bodyPr/>
                    <a:lstStyle/>
                    <a:p>
                      <a:pPr indent="0" marL="0">
                        <a:buNone/>
                      </a:pPr>
                      <a:r>
                        <a:rPr lang="en-US" sz="1300" b="1" dirty="0">
                          <a:solidFill>
                            <a:srgbClr val="21295C"/>
                          </a:solidFill>
                          <a:latin typeface="Calibri" pitchFamily="34" charset="0"/>
                          <a:ea typeface="Calibri" pitchFamily="34" charset="-122"/>
                          <a:cs typeface="Calibri" pitchFamily="34" charset="-120"/>
                        </a:rPr>
                        <a:t>おにぎり＋糖質減（同時）</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194.9</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8.5%</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52.3</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r>
            </a:tbl>
          </a:graphicData>
        </a:graphic>
      </p:graphicFrame>
      <p:sp>
        <p:nvSpPr>
          <p:cNvPr id="6" name="Shape 3"/>
          <p:cNvSpPr/>
          <p:nvPr/>
        </p:nvSpPr>
        <p:spPr>
          <a:xfrm>
            <a:off x="548640" y="4114800"/>
            <a:ext cx="11091672" cy="2103120"/>
          </a:xfrm>
          <a:prstGeom prst="roundRect">
            <a:avLst>
              <a:gd name="adj" fmla="val 4348"/>
            </a:avLst>
          </a:prstGeom>
          <a:solidFill>
            <a:srgbClr val="EAF7F0"/>
          </a:solidFill>
          <a:ln/>
        </p:spPr>
      </p:sp>
      <p:sp>
        <p:nvSpPr>
          <p:cNvPr id="7" name="Text 4"/>
          <p:cNvSpPr txBox="1"/>
          <p:nvPr/>
        </p:nvSpPr>
        <p:spPr>
          <a:xfrm>
            <a:off x="822960" y="4279392"/>
            <a:ext cx="10543032" cy="320040"/>
          </a:xfrm>
          <a:prstGeom prst="rect">
            <a:avLst/>
          </a:prstGeom>
          <a:noFill/>
          <a:ln/>
        </p:spPr>
        <p:txBody>
          <a:bodyPr wrap="square" lIns="0" tIns="0" rIns="0" bIns="0" rtlCol="0" anchor="ctr"/>
          <a:lstStyle/>
          <a:p>
            <a:pPr indent="0" marL="0">
              <a:buNone/>
            </a:pPr>
            <a:r>
              <a:rPr lang="en-US" sz="1350" b="1" dirty="0">
                <a:solidFill>
                  <a:srgbClr val="0F5C3D"/>
                </a:solidFill>
                <a:latin typeface="Calibri" pitchFamily="34" charset="0"/>
                <a:ea typeface="Calibri" pitchFamily="34" charset="-122"/>
                <a:cs typeface="Calibri" pitchFamily="34" charset="-120"/>
              </a:rPr>
              <a:t>✓ 同時摂取にすると平均血糖は少し上がるが、乱高下は明確に小さくなる</a:t>
            </a:r>
            <a:endParaRPr lang="en-US" sz="1350" dirty="0"/>
          </a:p>
        </p:txBody>
      </p:sp>
      <p:sp>
        <p:nvSpPr>
          <p:cNvPr id="8" name="Text 5"/>
          <p:cNvSpPr txBox="1"/>
          <p:nvPr/>
        </p:nvSpPr>
        <p:spPr>
          <a:xfrm>
            <a:off x="822960" y="4645152"/>
            <a:ext cx="10543032" cy="1463040"/>
          </a:xfrm>
          <a:prstGeom prst="rect">
            <a:avLst/>
          </a:prstGeom>
          <a:noFill/>
          <a:ln/>
        </p:spPr>
        <p:txBody>
          <a:bodyPr wrap="square" lIns="0" tIns="0" rIns="0" bIns="0" rtlCol="0" anchor="ctr"/>
          <a:lstStyle/>
          <a:p>
            <a:pPr indent="0" marL="0">
              <a:buNone/>
            </a:pPr>
            <a:r>
              <a:rPr lang="en-US" sz="1200" dirty="0">
                <a:solidFill>
                  <a:srgbClr val="0F5C3D"/>
                </a:solidFill>
                <a:latin typeface="Calibri" pitchFamily="34" charset="0"/>
                <a:ea typeface="Calibri" pitchFamily="34" charset="-122"/>
                <a:cs typeface="Calibri" pitchFamily="34" charset="-120"/>
              </a:rPr>
              <a:t>副食とおにぎりを2.5〜3時間ずらして食べると、それぞれが独立した急峻な山を作るのに対し、同時に食べるとおにぎり（ゆっくり吸収されるデンプン）が副食の急な糖吸収を緩衝し、1つのなだらかな波にまとまると解釈できる。糖質減はこの「なだらかさ」に加えてΔピークも固形並み（52.3 vs 53.7）まで抑えられている。絶対値が最も低いのは固形で、これは「同時摂取か否か」ではなく「副食が固形かスムージーか」という形態の効果。</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PERSPECTIVE</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アスリート視点：血糖値は「リスク」か「燃料」か</a:t>
            </a:r>
            <a:endParaRPr lang="en-US" sz="2800" dirty="0"/>
          </a:p>
        </p:txBody>
      </p:sp>
      <p:sp>
        <p:nvSpPr>
          <p:cNvPr id="4" name="Text 2"/>
          <p:cNvSpPr txBox="1"/>
          <p:nvPr/>
        </p:nvSpPr>
        <p:spPr>
          <a:xfrm>
            <a:off x="548640" y="1463040"/>
            <a:ext cx="11091672" cy="457200"/>
          </a:xfrm>
          <a:prstGeom prst="rect">
            <a:avLst/>
          </a:prstGeom>
          <a:noFill/>
          <a:ln/>
        </p:spPr>
        <p:txBody>
          <a:bodyPr wrap="square" lIns="0" tIns="0" rIns="0" bIns="0" rtlCol="0" anchor="ctr"/>
          <a:lstStyle/>
          <a:p>
            <a:pPr indent="0" marL="0">
              <a:buNone/>
            </a:pPr>
            <a:r>
              <a:rPr lang="en-US" sz="1200" dirty="0">
                <a:solidFill>
                  <a:srgbClr val="5C6570"/>
                </a:solidFill>
                <a:latin typeface="Calibri" pitchFamily="34" charset="0"/>
                <a:ea typeface="Calibri" pitchFamily="34" charset="-122"/>
                <a:cs typeface="Calibri" pitchFamily="34" charset="-120"/>
              </a:rPr>
              <a:t>問題は「血糖が高いこと」自体ではなく①食後低血圧②血糖スパイク＋反応性低血糖という急激な変化。乱高下なく高い水準を維持できるなら、それは燃料が豊富な望ましい状態とも言える。</a:t>
            </a:r>
            <a:endParaRPr lang="en-US" sz="1200" dirty="0"/>
          </a:p>
        </p:txBody>
      </p:sp>
      <p:sp>
        <p:nvSpPr>
          <p:cNvPr id="5" name="Text 3"/>
          <p:cNvSpPr txBox="1"/>
          <p:nvPr/>
        </p:nvSpPr>
        <p:spPr>
          <a:xfrm>
            <a:off x="548640" y="1965960"/>
            <a:ext cx="5303520" cy="256032"/>
          </a:xfrm>
          <a:prstGeom prst="rect">
            <a:avLst/>
          </a:prstGeom>
          <a:noFill/>
          <a:ln/>
        </p:spPr>
        <p:txBody>
          <a:bodyPr wrap="square" lIns="0" tIns="0" rIns="0" bIns="0" rtlCol="0" anchor="ctr"/>
          <a:lstStyle/>
          <a:p>
            <a:pPr indent="0" marL="0">
              <a:buNone/>
            </a:pPr>
            <a:r>
              <a:rPr lang="en-US" sz="1250" b="1" dirty="0">
                <a:solidFill>
                  <a:srgbClr val="21295C"/>
                </a:solidFill>
                <a:latin typeface="Calibri" pitchFamily="34" charset="0"/>
                <a:ea typeface="Calibri" pitchFamily="34" charset="-122"/>
                <a:cs typeface="Calibri" pitchFamily="34" charset="-120"/>
              </a:rPr>
              <a:t>トレーニング時間帯(11:00-14:00)の平均血糖</a:t>
            </a:r>
            <a:endParaRPr lang="en-US" sz="1250" dirty="0"/>
          </a:p>
        </p:txBody>
      </p:sp>
      <p:sp>
        <p:nvSpPr>
          <p:cNvPr id="6" name="Text 4"/>
          <p:cNvSpPr txBox="1"/>
          <p:nvPr/>
        </p:nvSpPr>
        <p:spPr>
          <a:xfrm>
            <a:off x="548640" y="2221992"/>
            <a:ext cx="5303520" cy="219456"/>
          </a:xfrm>
          <a:prstGeom prst="rect">
            <a:avLst/>
          </a:prstGeom>
          <a:noFill/>
          <a:ln/>
        </p:spPr>
        <p:txBody>
          <a:bodyPr wrap="square" lIns="0" tIns="0" rIns="0" bIns="0" rtlCol="0" anchor="ctr"/>
          <a:lstStyle/>
          <a:p>
            <a:pPr indent="0" marL="0">
              <a:buNone/>
            </a:pPr>
            <a:r>
              <a:rPr lang="en-US" sz="1000" dirty="0">
                <a:solidFill>
                  <a:srgbClr val="5C6570"/>
                </a:solidFill>
                <a:latin typeface="Calibri" pitchFamily="34" charset="0"/>
                <a:ea typeface="Calibri" pitchFamily="34" charset="-122"/>
                <a:cs typeface="Calibri" pitchFamily="34" charset="-120"/>
              </a:rPr>
              <a:t>＝燃料供給 (mg/dL)</a:t>
            </a:r>
            <a:endParaRPr lang="en-US" sz="1000" dirty="0"/>
          </a:p>
        </p:txBody>
      </p:sp>
      <p:graphicFrame>
        <p:nvGraphicFramePr>
          <p:cNvPr id="7" name="Chart 0" descr=""/>
          <p:cNvGraphicFramePr/>
          <p:nvPr/>
        </p:nvGraphicFramePr>
        <p:xfrm>
          <a:off x="548640" y="2487168"/>
          <a:ext cx="5303520" cy="19659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336792" y="1965960"/>
            <a:ext cx="5303520" cy="256032"/>
          </a:xfrm>
          <a:prstGeom prst="rect">
            <a:avLst/>
          </a:prstGeom>
          <a:noFill/>
          <a:ln/>
        </p:spPr>
        <p:txBody>
          <a:bodyPr wrap="square" lIns="0" tIns="0" rIns="0" bIns="0" rtlCol="0" anchor="ctr"/>
          <a:lstStyle/>
          <a:p>
            <a:pPr indent="0" marL="0">
              <a:buNone/>
            </a:pPr>
            <a:r>
              <a:rPr lang="en-US" sz="1250" b="1" dirty="0">
                <a:solidFill>
                  <a:srgbClr val="21295C"/>
                </a:solidFill>
                <a:latin typeface="Calibri" pitchFamily="34" charset="0"/>
                <a:ea typeface="Calibri" pitchFamily="34" charset="-122"/>
                <a:cs typeface="Calibri" pitchFamily="34" charset="-120"/>
              </a:rPr>
              <a:t>ピーク後の最小値−ベースライン</a:t>
            </a:r>
            <a:endParaRPr lang="en-US" sz="1250" dirty="0"/>
          </a:p>
        </p:txBody>
      </p:sp>
      <p:sp>
        <p:nvSpPr>
          <p:cNvPr id="9" name="Text 6"/>
          <p:cNvSpPr txBox="1"/>
          <p:nvPr/>
        </p:nvSpPr>
        <p:spPr>
          <a:xfrm>
            <a:off x="6336792" y="2221992"/>
            <a:ext cx="5303520" cy="219456"/>
          </a:xfrm>
          <a:prstGeom prst="rect">
            <a:avLst/>
          </a:prstGeom>
          <a:noFill/>
          <a:ln/>
        </p:spPr>
        <p:txBody>
          <a:bodyPr wrap="square" lIns="0" tIns="0" rIns="0" bIns="0" rtlCol="0" anchor="ctr"/>
          <a:lstStyle/>
          <a:p>
            <a:pPr indent="0" marL="0">
              <a:buNone/>
            </a:pPr>
            <a:r>
              <a:rPr lang="en-US" sz="1000" dirty="0">
                <a:solidFill>
                  <a:srgbClr val="5C6570"/>
                </a:solidFill>
                <a:latin typeface="Calibri" pitchFamily="34" charset="0"/>
                <a:ea typeface="Calibri" pitchFamily="34" charset="-122"/>
                <a:cs typeface="Calibri" pitchFamily="34" charset="-120"/>
              </a:rPr>
              <a:t>クラッシュ（反応性低血糖）の有無 (mg/dL)</a:t>
            </a:r>
            <a:endParaRPr lang="en-US" sz="1000" dirty="0"/>
          </a:p>
        </p:txBody>
      </p:sp>
      <p:graphicFrame>
        <p:nvGraphicFramePr>
          <p:cNvPr id="10" name="Chart 1" descr=""/>
          <p:cNvGraphicFramePr/>
          <p:nvPr/>
        </p:nvGraphicFramePr>
        <p:xfrm>
          <a:off x="6336792" y="2487168"/>
          <a:ext cx="5303520" cy="196596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48640" y="4709160"/>
            <a:ext cx="11091672" cy="1508760"/>
          </a:xfrm>
          <a:prstGeom prst="roundRect">
            <a:avLst>
              <a:gd name="adj" fmla="val 6061"/>
            </a:avLst>
          </a:prstGeom>
          <a:solidFill>
            <a:srgbClr val="EAF7F0"/>
          </a:solidFill>
          <a:ln/>
        </p:spPr>
      </p:sp>
      <p:sp>
        <p:nvSpPr>
          <p:cNvPr id="12" name="Text 8"/>
          <p:cNvSpPr txBox="1"/>
          <p:nvPr/>
        </p:nvSpPr>
        <p:spPr>
          <a:xfrm>
            <a:off x="822960" y="4864608"/>
            <a:ext cx="10543032" cy="411480"/>
          </a:xfrm>
          <a:prstGeom prst="rect">
            <a:avLst/>
          </a:prstGeom>
          <a:noFill/>
          <a:ln/>
        </p:spPr>
        <p:txBody>
          <a:bodyPr wrap="square" lIns="0" tIns="0" rIns="0" bIns="0" rtlCol="0" anchor="ctr"/>
          <a:lstStyle/>
          <a:p>
            <a:pPr indent="0" marL="0">
              <a:buNone/>
            </a:pPr>
            <a:r>
              <a:rPr lang="en-US" sz="1200" dirty="0">
                <a:solidFill>
                  <a:srgbClr val="0F5C3D"/>
                </a:solidFill>
                <a:latin typeface="Calibri" pitchFamily="34" charset="0"/>
                <a:ea typeface="Calibri" pitchFamily="34" charset="-122"/>
                <a:cs typeface="Calibri" pitchFamily="34" charset="-120"/>
              </a:rPr>
              <a:t>•  クラッシュ（反応性低血糖）は4条件とも起きていない：ピーク後の最小値はベースラインを+18〜48上回る</a:t>
            </a:r>
            <a:endParaRPr lang="en-US" sz="1200" dirty="0"/>
          </a:p>
        </p:txBody>
      </p:sp>
      <p:sp>
        <p:nvSpPr>
          <p:cNvPr id="13" name="Text 9"/>
          <p:cNvSpPr txBox="1"/>
          <p:nvPr/>
        </p:nvSpPr>
        <p:spPr>
          <a:xfrm>
            <a:off x="822960" y="5303520"/>
            <a:ext cx="10543032" cy="411480"/>
          </a:xfrm>
          <a:prstGeom prst="rect">
            <a:avLst/>
          </a:prstGeom>
          <a:noFill/>
          <a:ln/>
        </p:spPr>
        <p:txBody>
          <a:bodyPr wrap="square" lIns="0" tIns="0" rIns="0" bIns="0" rtlCol="0" anchor="ctr"/>
          <a:lstStyle/>
          <a:p>
            <a:pPr indent="0" marL="0">
              <a:buNone/>
            </a:pPr>
            <a:r>
              <a:rPr lang="en-US" sz="1200" dirty="0">
                <a:solidFill>
                  <a:srgbClr val="0F5C3D"/>
                </a:solidFill>
                <a:latin typeface="Calibri" pitchFamily="34" charset="0"/>
                <a:ea typeface="Calibri" pitchFamily="34" charset="-122"/>
                <a:cs typeface="Calibri" pitchFamily="34" charset="-120"/>
              </a:rPr>
              <a:t>•  固形は候補から外れる：練習中の血糖が他条件の約6割（135 vs 220〜229）＝燃料不足の可能性</a:t>
            </a:r>
            <a:endParaRPr lang="en-US" sz="1200" dirty="0"/>
          </a:p>
        </p:txBody>
      </p:sp>
      <p:sp>
        <p:nvSpPr>
          <p:cNvPr id="14" name="Text 10"/>
          <p:cNvSpPr txBox="1"/>
          <p:nvPr/>
        </p:nvSpPr>
        <p:spPr>
          <a:xfrm>
            <a:off x="822960" y="5742432"/>
            <a:ext cx="10543032" cy="411480"/>
          </a:xfrm>
          <a:prstGeom prst="rect">
            <a:avLst/>
          </a:prstGeom>
          <a:noFill/>
          <a:ln/>
        </p:spPr>
        <p:txBody>
          <a:bodyPr wrap="square" lIns="0" tIns="0" rIns="0" bIns="0" rtlCol="0" anchor="ctr"/>
          <a:lstStyle/>
          <a:p>
            <a:pPr indent="0" marL="0">
              <a:buNone/>
            </a:pPr>
            <a:r>
              <a:rPr lang="en-US" sz="1200" dirty="0">
                <a:solidFill>
                  <a:srgbClr val="0F5C3D"/>
                </a:solidFill>
                <a:latin typeface="Calibri" pitchFamily="34" charset="0"/>
                <a:ea typeface="Calibri" pitchFamily="34" charset="-122"/>
                <a:cs typeface="Calibri" pitchFamily="34" charset="-120"/>
              </a:rPr>
              <a:t>•  糖質減は練習中の血糖がむしろ4条件中最高。ただし持久力・爆発力の自己評価は最低という矛盾があり要検証</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CONDITION</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自覚コンディション（4条件比較）</a:t>
            </a:r>
            <a:endParaRPr lang="en-US" sz="2800" dirty="0"/>
          </a:p>
        </p:txBody>
      </p:sp>
      <p:sp>
        <p:nvSpPr>
          <p:cNvPr id="4" name="Text 2"/>
          <p:cNvSpPr txBox="1"/>
          <p:nvPr/>
        </p:nvSpPr>
        <p:spPr>
          <a:xfrm>
            <a:off x="548640" y="1600200"/>
            <a:ext cx="6309360" cy="256032"/>
          </a:xfrm>
          <a:prstGeom prst="rect">
            <a:avLst/>
          </a:prstGeom>
          <a:noFill/>
          <a:ln/>
        </p:spPr>
        <p:txBody>
          <a:bodyPr wrap="square" lIns="0" tIns="0" rIns="0" bIns="0" rtlCol="0" anchor="ctr"/>
          <a:lstStyle/>
          <a:p>
            <a:pPr indent="0" marL="0">
              <a:buNone/>
            </a:pPr>
            <a:r>
              <a:rPr lang="en-US" sz="1250" b="1" dirty="0">
                <a:solidFill>
                  <a:srgbClr val="21295C"/>
                </a:solidFill>
                <a:latin typeface="Calibri" pitchFamily="34" charset="0"/>
                <a:ea typeface="Calibri" pitchFamily="34" charset="-122"/>
                <a:cs typeface="Calibri" pitchFamily="34" charset="-120"/>
              </a:rPr>
              <a:t>満腹感の推移 (0=空腹〜10=満腹)</a:t>
            </a:r>
            <a:endParaRPr lang="en-US" sz="1250" dirty="0"/>
          </a:p>
        </p:txBody>
      </p:sp>
      <p:graphicFrame>
        <p:nvGraphicFramePr>
          <p:cNvPr id="5" name="Chart 0" descr=""/>
          <p:cNvGraphicFramePr/>
          <p:nvPr/>
        </p:nvGraphicFramePr>
        <p:xfrm>
          <a:off x="548640" y="1874520"/>
          <a:ext cx="6309360" cy="16916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48640" y="3703320"/>
            <a:ext cx="6309360" cy="256032"/>
          </a:xfrm>
          <a:prstGeom prst="rect">
            <a:avLst/>
          </a:prstGeom>
          <a:noFill/>
          <a:ln/>
        </p:spPr>
        <p:txBody>
          <a:bodyPr wrap="square" lIns="0" tIns="0" rIns="0" bIns="0" rtlCol="0" anchor="ctr"/>
          <a:lstStyle/>
          <a:p>
            <a:pPr indent="0" marL="0">
              <a:buNone/>
            </a:pPr>
            <a:r>
              <a:rPr lang="en-US" sz="1250" b="1" dirty="0">
                <a:solidFill>
                  <a:srgbClr val="21295C"/>
                </a:solidFill>
                <a:latin typeface="Calibri" pitchFamily="34" charset="0"/>
                <a:ea typeface="Calibri" pitchFamily="34" charset="-122"/>
                <a:cs typeface="Calibri" pitchFamily="34" charset="-120"/>
              </a:rPr>
              <a:t>食欲(摂食可能感)の推移 (0=食べられない〜10=まだ食べられる)</a:t>
            </a:r>
            <a:endParaRPr lang="en-US" sz="1250" dirty="0"/>
          </a:p>
        </p:txBody>
      </p:sp>
      <p:graphicFrame>
        <p:nvGraphicFramePr>
          <p:cNvPr id="7" name="Chart 1" descr=""/>
          <p:cNvGraphicFramePr/>
          <p:nvPr/>
        </p:nvGraphicFramePr>
        <p:xfrm>
          <a:off x="548640" y="3977640"/>
          <a:ext cx="6309360" cy="169164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548640" y="5870448"/>
            <a:ext cx="146304" cy="118872"/>
          </a:xfrm>
          <a:prstGeom prst="rect">
            <a:avLst/>
          </a:prstGeom>
          <a:solidFill>
            <a:srgbClr val="2A78D6"/>
          </a:solidFill>
          <a:ln/>
        </p:spPr>
      </p:sp>
      <p:sp>
        <p:nvSpPr>
          <p:cNvPr id="9" name="Text 5"/>
          <p:cNvSpPr txBox="1"/>
          <p:nvPr/>
        </p:nvSpPr>
        <p:spPr>
          <a:xfrm>
            <a:off x="749808" y="5760720"/>
            <a:ext cx="1554480" cy="274320"/>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固形</a:t>
            </a:r>
            <a:endParaRPr lang="en-US" sz="950" dirty="0"/>
          </a:p>
        </p:txBody>
      </p:sp>
      <p:sp>
        <p:nvSpPr>
          <p:cNvPr id="10" name="Shape 6"/>
          <p:cNvSpPr/>
          <p:nvPr/>
        </p:nvSpPr>
        <p:spPr>
          <a:xfrm>
            <a:off x="2176272" y="5870448"/>
            <a:ext cx="146304" cy="118872"/>
          </a:xfrm>
          <a:prstGeom prst="rect">
            <a:avLst/>
          </a:prstGeom>
          <a:solidFill>
            <a:srgbClr val="EB6834"/>
          </a:solidFill>
          <a:ln/>
        </p:spPr>
      </p:sp>
      <p:sp>
        <p:nvSpPr>
          <p:cNvPr id="11" name="Text 7"/>
          <p:cNvSpPr txBox="1"/>
          <p:nvPr/>
        </p:nvSpPr>
        <p:spPr>
          <a:xfrm>
            <a:off x="2377440" y="5760720"/>
            <a:ext cx="1554480" cy="274320"/>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スムージー</a:t>
            </a:r>
            <a:endParaRPr lang="en-US" sz="950" dirty="0"/>
          </a:p>
        </p:txBody>
      </p:sp>
      <p:sp>
        <p:nvSpPr>
          <p:cNvPr id="12" name="Shape 8"/>
          <p:cNvSpPr/>
          <p:nvPr/>
        </p:nvSpPr>
        <p:spPr>
          <a:xfrm>
            <a:off x="3803904" y="5870448"/>
            <a:ext cx="146304" cy="118872"/>
          </a:xfrm>
          <a:prstGeom prst="rect">
            <a:avLst/>
          </a:prstGeom>
          <a:solidFill>
            <a:srgbClr val="1BAF7A"/>
          </a:solidFill>
          <a:ln/>
        </p:spPr>
      </p:sp>
      <p:sp>
        <p:nvSpPr>
          <p:cNvPr id="13" name="Text 9"/>
          <p:cNvSpPr txBox="1"/>
          <p:nvPr/>
        </p:nvSpPr>
        <p:spPr>
          <a:xfrm>
            <a:off x="4005072" y="5760720"/>
            <a:ext cx="1554480" cy="274320"/>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おにぎり+スムージー</a:t>
            </a:r>
            <a:endParaRPr lang="en-US" sz="950" dirty="0"/>
          </a:p>
        </p:txBody>
      </p:sp>
      <p:sp>
        <p:nvSpPr>
          <p:cNvPr id="14" name="Shape 10"/>
          <p:cNvSpPr/>
          <p:nvPr/>
        </p:nvSpPr>
        <p:spPr>
          <a:xfrm>
            <a:off x="5431536" y="5870448"/>
            <a:ext cx="146304" cy="118872"/>
          </a:xfrm>
          <a:prstGeom prst="rect">
            <a:avLst/>
          </a:prstGeom>
          <a:solidFill>
            <a:srgbClr val="EDA100"/>
          </a:solidFill>
          <a:ln/>
        </p:spPr>
      </p:sp>
      <p:sp>
        <p:nvSpPr>
          <p:cNvPr id="15" name="Text 11"/>
          <p:cNvSpPr txBox="1"/>
          <p:nvPr/>
        </p:nvSpPr>
        <p:spPr>
          <a:xfrm>
            <a:off x="5632704" y="5760720"/>
            <a:ext cx="1554480" cy="274320"/>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おにぎり+糖質減</a:t>
            </a:r>
            <a:endParaRPr lang="en-US" sz="950" dirty="0"/>
          </a:p>
        </p:txBody>
      </p:sp>
      <p:sp>
        <p:nvSpPr>
          <p:cNvPr id="16" name="Shape 12"/>
          <p:cNvSpPr/>
          <p:nvPr/>
        </p:nvSpPr>
        <p:spPr>
          <a:xfrm>
            <a:off x="7635240" y="1600200"/>
            <a:ext cx="4005072" cy="4434840"/>
          </a:xfrm>
          <a:prstGeom prst="roundRect">
            <a:avLst>
              <a:gd name="adj" fmla="val 2283"/>
            </a:avLst>
          </a:prstGeom>
          <a:solidFill>
            <a:srgbClr val="EAF7F0"/>
          </a:solidFill>
          <a:ln/>
        </p:spPr>
      </p:sp>
      <p:sp>
        <p:nvSpPr>
          <p:cNvPr id="17" name="Text 13"/>
          <p:cNvSpPr txBox="1"/>
          <p:nvPr/>
        </p:nvSpPr>
        <p:spPr>
          <a:xfrm>
            <a:off x="7909560" y="1828800"/>
            <a:ext cx="3566160" cy="365760"/>
          </a:xfrm>
          <a:prstGeom prst="rect">
            <a:avLst/>
          </a:prstGeom>
          <a:noFill/>
          <a:ln/>
        </p:spPr>
        <p:txBody>
          <a:bodyPr wrap="square" lIns="0" tIns="0" rIns="0" bIns="0" rtlCol="0" anchor="ctr"/>
          <a:lstStyle/>
          <a:p>
            <a:pPr indent="0" marL="0">
              <a:buNone/>
            </a:pPr>
            <a:r>
              <a:rPr lang="en-US" sz="1350" b="1" dirty="0">
                <a:solidFill>
                  <a:srgbClr val="0F5C3D"/>
                </a:solidFill>
                <a:latin typeface="Calibri" pitchFamily="34" charset="0"/>
                <a:ea typeface="Calibri" pitchFamily="34" charset="-122"/>
                <a:cs typeface="Calibri" pitchFamily="34" charset="-120"/>
              </a:rPr>
              <a:t>✓ 消化器症状は4条件とも良好</a:t>
            </a:r>
            <a:endParaRPr lang="en-US" sz="1350" dirty="0"/>
          </a:p>
        </p:txBody>
      </p:sp>
      <p:sp>
        <p:nvSpPr>
          <p:cNvPr id="18" name="Text 14"/>
          <p:cNvSpPr txBox="1"/>
          <p:nvPr/>
        </p:nvSpPr>
        <p:spPr>
          <a:xfrm>
            <a:off x="7909560" y="2331720"/>
            <a:ext cx="3520440" cy="86868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  頭痛：4条件すべて全測定点で最小値(1)、変化なし</a:t>
            </a:r>
            <a:endParaRPr lang="en-US" sz="1100" dirty="0"/>
          </a:p>
        </p:txBody>
      </p:sp>
      <p:sp>
        <p:nvSpPr>
          <p:cNvPr id="19" name="Text 15"/>
          <p:cNvSpPr txBox="1"/>
          <p:nvPr/>
        </p:nvSpPr>
        <p:spPr>
          <a:xfrm>
            <a:off x="7909560" y="3264408"/>
            <a:ext cx="3520440" cy="86868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  吐き気：4条件すべてほぼ1（おにぎり+スムージーのDAY10 9:30のみ一時的に2）</a:t>
            </a:r>
            <a:endParaRPr lang="en-US" sz="1100" dirty="0"/>
          </a:p>
        </p:txBody>
      </p:sp>
      <p:sp>
        <p:nvSpPr>
          <p:cNvPr id="20" name="Text 16"/>
          <p:cNvSpPr txBox="1"/>
          <p:nvPr/>
        </p:nvSpPr>
        <p:spPr>
          <a:xfrm>
            <a:off x="7909560" y="4197096"/>
            <a:ext cx="3520440" cy="86868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  血糖値が高めに推移するおにぎり同時摂取条件でも、消化器症状は悪化していない</a:t>
            </a:r>
            <a:endParaRPr lang="en-US" sz="1100" dirty="0"/>
          </a:p>
        </p:txBody>
      </p:sp>
      <p:sp>
        <p:nvSpPr>
          <p:cNvPr id="21" name="Text 17"/>
          <p:cNvSpPr txBox="1"/>
          <p:nvPr/>
        </p:nvSpPr>
        <p:spPr>
          <a:xfrm>
            <a:off x="7909560" y="5129784"/>
            <a:ext cx="3520440" cy="86868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  満腹感・食欲の差は「おにぎりを同時に食べたか」による食事量の違いを反映しており、副食の形態（固形/液状）そのものの効果ではない</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PERFORMANCE</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毎晩のコンディション・トレーニング指標（4条件比較）</a:t>
            </a:r>
            <a:endParaRPr lang="en-US" sz="2800" dirty="0"/>
          </a:p>
        </p:txBody>
      </p:sp>
      <p:sp>
        <p:nvSpPr>
          <p:cNvPr id="4" name="Text 2"/>
          <p:cNvSpPr txBox="1"/>
          <p:nvPr/>
        </p:nvSpPr>
        <p:spPr>
          <a:xfrm>
            <a:off x="548640" y="1572768"/>
            <a:ext cx="3429000" cy="256032"/>
          </a:xfrm>
          <a:prstGeom prst="rect">
            <a:avLst/>
          </a:prstGeom>
          <a:noFill/>
          <a:ln/>
        </p:spPr>
        <p:txBody>
          <a:bodyPr wrap="square" lIns="0" tIns="0" rIns="0" bIns="0" rtlCol="0" anchor="ctr"/>
          <a:lstStyle/>
          <a:p>
            <a:pPr indent="0" marL="0">
              <a:buNone/>
            </a:pPr>
            <a:r>
              <a:rPr lang="en-US" sz="1200" b="1" dirty="0">
                <a:solidFill>
                  <a:srgbClr val="21295C"/>
                </a:solidFill>
                <a:latin typeface="Calibri" pitchFamily="34" charset="0"/>
                <a:ea typeface="Calibri" pitchFamily="34" charset="-122"/>
                <a:cs typeface="Calibri" pitchFamily="34" charset="-120"/>
              </a:rPr>
              <a:t>起床時コンディション</a:t>
            </a:r>
            <a:endParaRPr lang="en-US" sz="1200" dirty="0"/>
          </a:p>
        </p:txBody>
      </p:sp>
      <p:sp>
        <p:nvSpPr>
          <p:cNvPr id="5" name="Text 3"/>
          <p:cNvSpPr txBox="1"/>
          <p:nvPr/>
        </p:nvSpPr>
        <p:spPr>
          <a:xfrm>
            <a:off x="548640" y="1819656"/>
            <a:ext cx="3429000" cy="219456"/>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高いほど良好</a:t>
            </a:r>
            <a:endParaRPr lang="en-US" sz="950" dirty="0"/>
          </a:p>
        </p:txBody>
      </p:sp>
      <p:graphicFrame>
        <p:nvGraphicFramePr>
          <p:cNvPr id="6" name="Chart 0" descr=""/>
          <p:cNvGraphicFramePr/>
          <p:nvPr/>
        </p:nvGraphicFramePr>
        <p:xfrm>
          <a:off x="548640" y="2103120"/>
          <a:ext cx="3429000" cy="16916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4343400" y="1572768"/>
            <a:ext cx="3429000" cy="256032"/>
          </a:xfrm>
          <a:prstGeom prst="rect">
            <a:avLst/>
          </a:prstGeom>
          <a:noFill/>
          <a:ln/>
        </p:spPr>
        <p:txBody>
          <a:bodyPr wrap="square" lIns="0" tIns="0" rIns="0" bIns="0" rtlCol="0" anchor="ctr"/>
          <a:lstStyle/>
          <a:p>
            <a:pPr indent="0" marL="0">
              <a:buNone/>
            </a:pPr>
            <a:r>
              <a:rPr lang="en-US" sz="1200" b="1" dirty="0">
                <a:solidFill>
                  <a:srgbClr val="21295C"/>
                </a:solidFill>
                <a:latin typeface="Calibri" pitchFamily="34" charset="0"/>
                <a:ea typeface="Calibri" pitchFamily="34" charset="-122"/>
                <a:cs typeface="Calibri" pitchFamily="34" charset="-120"/>
              </a:rPr>
              <a:t>睡眠の質</a:t>
            </a:r>
            <a:endParaRPr lang="en-US" sz="1200" dirty="0"/>
          </a:p>
        </p:txBody>
      </p:sp>
      <p:sp>
        <p:nvSpPr>
          <p:cNvPr id="8" name="Text 5"/>
          <p:cNvSpPr txBox="1"/>
          <p:nvPr/>
        </p:nvSpPr>
        <p:spPr>
          <a:xfrm>
            <a:off x="4343400" y="1819656"/>
            <a:ext cx="3429000" cy="219456"/>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高いほど良好</a:t>
            </a:r>
            <a:endParaRPr lang="en-US" sz="950" dirty="0"/>
          </a:p>
        </p:txBody>
      </p:sp>
      <p:graphicFrame>
        <p:nvGraphicFramePr>
          <p:cNvPr id="9" name="Chart 1" descr=""/>
          <p:cNvGraphicFramePr/>
          <p:nvPr/>
        </p:nvGraphicFramePr>
        <p:xfrm>
          <a:off x="4343400" y="2103120"/>
          <a:ext cx="3429000" cy="169164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8138160" y="1572768"/>
            <a:ext cx="3429000" cy="256032"/>
          </a:xfrm>
          <a:prstGeom prst="rect">
            <a:avLst/>
          </a:prstGeom>
          <a:noFill/>
          <a:ln/>
        </p:spPr>
        <p:txBody>
          <a:bodyPr wrap="square" lIns="0" tIns="0" rIns="0" bIns="0" rtlCol="0" anchor="ctr"/>
          <a:lstStyle/>
          <a:p>
            <a:pPr indent="0" marL="0">
              <a:buNone/>
            </a:pPr>
            <a:r>
              <a:rPr lang="en-US" sz="1200" b="1" dirty="0">
                <a:solidFill>
                  <a:srgbClr val="21295C"/>
                </a:solidFill>
                <a:latin typeface="Calibri" pitchFamily="34" charset="0"/>
                <a:ea typeface="Calibri" pitchFamily="34" charset="-122"/>
                <a:cs typeface="Calibri" pitchFamily="34" charset="-120"/>
              </a:rPr>
              <a:t>持久力（自己評価）</a:t>
            </a:r>
            <a:endParaRPr lang="en-US" sz="1200" dirty="0"/>
          </a:p>
        </p:txBody>
      </p:sp>
      <p:sp>
        <p:nvSpPr>
          <p:cNvPr id="11" name="Text 7"/>
          <p:cNvSpPr txBox="1"/>
          <p:nvPr/>
        </p:nvSpPr>
        <p:spPr>
          <a:xfrm>
            <a:off x="8138160" y="1819656"/>
            <a:ext cx="3429000" cy="219456"/>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高いほど良好</a:t>
            </a:r>
            <a:endParaRPr lang="en-US" sz="950" dirty="0"/>
          </a:p>
        </p:txBody>
      </p:sp>
      <p:graphicFrame>
        <p:nvGraphicFramePr>
          <p:cNvPr id="12" name="Chart 2" descr=""/>
          <p:cNvGraphicFramePr/>
          <p:nvPr/>
        </p:nvGraphicFramePr>
        <p:xfrm>
          <a:off x="8138160" y="2103120"/>
          <a:ext cx="3429000" cy="1691640"/>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48640" y="3904488"/>
            <a:ext cx="3429000" cy="256032"/>
          </a:xfrm>
          <a:prstGeom prst="rect">
            <a:avLst/>
          </a:prstGeom>
          <a:noFill/>
          <a:ln/>
        </p:spPr>
        <p:txBody>
          <a:bodyPr wrap="square" lIns="0" tIns="0" rIns="0" bIns="0" rtlCol="0" anchor="ctr"/>
          <a:lstStyle/>
          <a:p>
            <a:pPr indent="0" marL="0">
              <a:buNone/>
            </a:pPr>
            <a:r>
              <a:rPr lang="en-US" sz="1200" b="1" dirty="0">
                <a:solidFill>
                  <a:srgbClr val="21295C"/>
                </a:solidFill>
                <a:latin typeface="Calibri" pitchFamily="34" charset="0"/>
                <a:ea typeface="Calibri" pitchFamily="34" charset="-122"/>
                <a:cs typeface="Calibri" pitchFamily="34" charset="-120"/>
              </a:rPr>
              <a:t>爆発力（自己評価）</a:t>
            </a:r>
            <a:endParaRPr lang="en-US" sz="1200" dirty="0"/>
          </a:p>
        </p:txBody>
      </p:sp>
      <p:sp>
        <p:nvSpPr>
          <p:cNvPr id="14" name="Text 9"/>
          <p:cNvSpPr txBox="1"/>
          <p:nvPr/>
        </p:nvSpPr>
        <p:spPr>
          <a:xfrm>
            <a:off x="548640" y="4151376"/>
            <a:ext cx="3429000" cy="219456"/>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高いほど良好</a:t>
            </a:r>
            <a:endParaRPr lang="en-US" sz="950" dirty="0"/>
          </a:p>
        </p:txBody>
      </p:sp>
      <p:graphicFrame>
        <p:nvGraphicFramePr>
          <p:cNvPr id="15" name="Chart 3" descr=""/>
          <p:cNvGraphicFramePr/>
          <p:nvPr/>
        </p:nvGraphicFramePr>
        <p:xfrm>
          <a:off x="548640" y="4434840"/>
          <a:ext cx="3429000" cy="1691640"/>
        </p:xfrm>
        <a:graphic xmlns:a="http://schemas.openxmlformats.org/drawingml/2006/main">
          <a:graphicData uri="http://schemas.openxmlformats.org/drawingml/2006/chart">
            <c:chart xmlns:c="http://schemas.openxmlformats.org/drawingml/2006/chart" r:id="rId4"/>
          </a:graphicData>
        </a:graphic>
      </p:graphicFrame>
      <p:sp>
        <p:nvSpPr>
          <p:cNvPr id="16" name="Text 10"/>
          <p:cNvSpPr txBox="1"/>
          <p:nvPr/>
        </p:nvSpPr>
        <p:spPr>
          <a:xfrm>
            <a:off x="4343400" y="3904488"/>
            <a:ext cx="3429000" cy="256032"/>
          </a:xfrm>
          <a:prstGeom prst="rect">
            <a:avLst/>
          </a:prstGeom>
          <a:noFill/>
          <a:ln/>
        </p:spPr>
        <p:txBody>
          <a:bodyPr wrap="square" lIns="0" tIns="0" rIns="0" bIns="0" rtlCol="0" anchor="ctr"/>
          <a:lstStyle/>
          <a:p>
            <a:pPr indent="0" marL="0">
              <a:buNone/>
            </a:pPr>
            <a:r>
              <a:rPr lang="en-US" sz="1200" b="1" dirty="0">
                <a:solidFill>
                  <a:srgbClr val="21295C"/>
                </a:solidFill>
                <a:latin typeface="Calibri" pitchFamily="34" charset="0"/>
                <a:ea typeface="Calibri" pitchFamily="34" charset="-122"/>
                <a:cs typeface="Calibri" pitchFamily="34" charset="-120"/>
              </a:rPr>
              <a:t>RPE（主観的運動強度）</a:t>
            </a:r>
            <a:endParaRPr lang="en-US" sz="1200" dirty="0"/>
          </a:p>
        </p:txBody>
      </p:sp>
      <p:sp>
        <p:nvSpPr>
          <p:cNvPr id="17" name="Text 11"/>
          <p:cNvSpPr txBox="1"/>
          <p:nvPr/>
        </p:nvSpPr>
        <p:spPr>
          <a:xfrm>
            <a:off x="4343400" y="4151376"/>
            <a:ext cx="3429000" cy="219456"/>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高いほどきつい</a:t>
            </a:r>
            <a:endParaRPr lang="en-US" sz="950" dirty="0"/>
          </a:p>
        </p:txBody>
      </p:sp>
      <p:graphicFrame>
        <p:nvGraphicFramePr>
          <p:cNvPr id="18" name="Chart 4" descr=""/>
          <p:cNvGraphicFramePr/>
          <p:nvPr/>
        </p:nvGraphicFramePr>
        <p:xfrm>
          <a:off x="4343400" y="4434840"/>
          <a:ext cx="3429000" cy="1691640"/>
        </p:xfrm>
        <a:graphic xmlns:a="http://schemas.openxmlformats.org/drawingml/2006/main">
          <a:graphicData uri="http://schemas.openxmlformats.org/drawingml/2006/chart">
            <c:chart xmlns:c="http://schemas.openxmlformats.org/drawingml/2006/chart" r:id="rId5"/>
          </a:graphicData>
        </a:graphic>
      </p:graphicFrame>
      <p:sp>
        <p:nvSpPr>
          <p:cNvPr id="19" name="Text 12"/>
          <p:cNvSpPr txBox="1"/>
          <p:nvPr/>
        </p:nvSpPr>
        <p:spPr>
          <a:xfrm>
            <a:off x="8138160" y="3904488"/>
            <a:ext cx="3429000" cy="256032"/>
          </a:xfrm>
          <a:prstGeom prst="rect">
            <a:avLst/>
          </a:prstGeom>
          <a:noFill/>
          <a:ln/>
        </p:spPr>
        <p:txBody>
          <a:bodyPr wrap="square" lIns="0" tIns="0" rIns="0" bIns="0" rtlCol="0" anchor="ctr"/>
          <a:lstStyle/>
          <a:p>
            <a:pPr indent="0" marL="0">
              <a:buNone/>
            </a:pPr>
            <a:r>
              <a:rPr lang="en-US" sz="1200" b="1" dirty="0">
                <a:solidFill>
                  <a:srgbClr val="21295C"/>
                </a:solidFill>
                <a:latin typeface="Calibri" pitchFamily="34" charset="0"/>
                <a:ea typeface="Calibri" pitchFamily="34" charset="-122"/>
                <a:cs typeface="Calibri" pitchFamily="34" charset="-120"/>
              </a:rPr>
              <a:t>練習時間 (分/日)</a:t>
            </a:r>
            <a:endParaRPr lang="en-US" sz="1200" dirty="0"/>
          </a:p>
        </p:txBody>
      </p:sp>
      <p:sp>
        <p:nvSpPr>
          <p:cNvPr id="20" name="Text 13"/>
          <p:cNvSpPr txBox="1"/>
          <p:nvPr/>
        </p:nvSpPr>
        <p:spPr>
          <a:xfrm>
            <a:off x="8138160" y="4151376"/>
            <a:ext cx="3429000" cy="219456"/>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条件ブロックにより変動</a:t>
            </a:r>
            <a:endParaRPr lang="en-US" sz="950" dirty="0"/>
          </a:p>
        </p:txBody>
      </p:sp>
      <p:graphicFrame>
        <p:nvGraphicFramePr>
          <p:cNvPr id="21" name="Chart 5" descr=""/>
          <p:cNvGraphicFramePr/>
          <p:nvPr/>
        </p:nvGraphicFramePr>
        <p:xfrm>
          <a:off x="8138160" y="4434840"/>
          <a:ext cx="3429000" cy="1691640"/>
        </p:xfrm>
        <a:graphic xmlns:a="http://schemas.openxmlformats.org/drawingml/2006/main">
          <a:graphicData uri="http://schemas.openxmlformats.org/drawingml/2006/chart">
            <c:chart xmlns:c="http://schemas.openxmlformats.org/drawingml/2006/chart" r:id="rId6"/>
          </a:graphicData>
        </a:graphic>
      </p:graphicFrame>
      <p:sp>
        <p:nvSpPr>
          <p:cNvPr id="22" name="Text 14"/>
          <p:cNvSpPr/>
          <p:nvPr/>
        </p:nvSpPr>
        <p:spPr>
          <a:xfrm>
            <a:off x="548640" y="6473952"/>
            <a:ext cx="11091672" cy="274320"/>
          </a:xfrm>
          <a:prstGeom prst="rect">
            <a:avLst/>
          </a:prstGeom>
          <a:noFill/>
          <a:ln/>
        </p:spPr>
        <p:txBody>
          <a:bodyPr wrap="square" rtlCol="0" anchor="ctr"/>
          <a:lstStyle/>
          <a:p>
            <a:pPr algn="l" indent="0" marL="0">
              <a:buNone/>
            </a:pPr>
            <a:r>
              <a:rPr lang="en-US" sz="1000" dirty="0">
                <a:solidFill>
                  <a:srgbClr val="5C6570"/>
                </a:solidFill>
                <a:latin typeface="Calibri" pitchFamily="34" charset="0"/>
                <a:ea typeface="Calibri" pitchFamily="34" charset="-122"/>
                <a:cs typeface="Calibri" pitchFamily="34" charset="-120"/>
              </a:rPr>
              <a:t>各条件3日間平均。起床時コンディション・睡眠の質・持久力・爆発力は高いほど良好、運動後疲労・RPEは高いほど負荷が大きいと仮定（原データに尺度定義なし）。</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SYNTHESIS</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総合考察：食事 × トレーニング × 血糖</a:t>
            </a:r>
            <a:endParaRPr lang="en-US" sz="2800" dirty="0"/>
          </a:p>
        </p:txBody>
      </p:sp>
      <p:sp>
        <p:nvSpPr>
          <p:cNvPr id="4" name="Shape 2"/>
          <p:cNvSpPr/>
          <p:nvPr/>
        </p:nvSpPr>
        <p:spPr>
          <a:xfrm>
            <a:off x="548640" y="1600200"/>
            <a:ext cx="11091672" cy="1417320"/>
          </a:xfrm>
          <a:prstGeom prst="roundRect">
            <a:avLst>
              <a:gd name="adj" fmla="val 7742"/>
            </a:avLst>
          </a:prstGeom>
          <a:solidFill>
            <a:srgbClr val="FDF3E2"/>
          </a:solidFill>
          <a:ln w="12700">
            <a:solidFill>
              <a:srgbClr val="EDA100"/>
            </a:solidFill>
            <a:prstDash val="solid"/>
          </a:ln>
        </p:spPr>
      </p:sp>
      <p:sp>
        <p:nvSpPr>
          <p:cNvPr id="5" name="Text 3"/>
          <p:cNvSpPr txBox="1"/>
          <p:nvPr/>
        </p:nvSpPr>
        <p:spPr>
          <a:xfrm>
            <a:off x="822960" y="1737360"/>
            <a:ext cx="10543032" cy="274320"/>
          </a:xfrm>
          <a:prstGeom prst="rect">
            <a:avLst/>
          </a:prstGeom>
          <a:noFill/>
          <a:ln/>
        </p:spPr>
        <p:txBody>
          <a:bodyPr wrap="square" lIns="0" tIns="0" rIns="0" bIns="0" rtlCol="0" anchor="ctr"/>
          <a:lstStyle/>
          <a:p>
            <a:pPr indent="0" marL="0">
              <a:buNone/>
            </a:pPr>
            <a:r>
              <a:rPr lang="en-US" sz="1300" b="1" dirty="0">
                <a:solidFill>
                  <a:srgbClr val="6B4B00"/>
                </a:solidFill>
                <a:latin typeface="Calibri" pitchFamily="34" charset="0"/>
                <a:ea typeface="Calibri" pitchFamily="34" charset="-122"/>
                <a:cs typeface="Calibri" pitchFamily="34" charset="-120"/>
              </a:rPr>
              <a:t>⚠ 重要な交絡：練習時間が条件ブロックごとに大きく異なる</a:t>
            </a:r>
            <a:endParaRPr lang="en-US" sz="1300" dirty="0"/>
          </a:p>
        </p:txBody>
      </p:sp>
      <p:sp>
        <p:nvSpPr>
          <p:cNvPr id="6" name="Text 4"/>
          <p:cNvSpPr txBox="1"/>
          <p:nvPr/>
        </p:nvSpPr>
        <p:spPr>
          <a:xfrm>
            <a:off x="822960" y="2048256"/>
            <a:ext cx="10543032" cy="914400"/>
          </a:xfrm>
          <a:prstGeom prst="rect">
            <a:avLst/>
          </a:prstGeom>
          <a:noFill/>
          <a:ln/>
        </p:spPr>
        <p:txBody>
          <a:bodyPr wrap="square" lIns="0" tIns="0" rIns="0" bIns="0" rtlCol="0" anchor="ctr"/>
          <a:lstStyle/>
          <a:p>
            <a:pPr indent="0" marL="0">
              <a:buNone/>
            </a:pPr>
            <a:r>
              <a:rPr lang="en-US" sz="1150" dirty="0">
                <a:solidFill>
                  <a:srgbClr val="6B4B00"/>
                </a:solidFill>
                <a:latin typeface="Calibri" pitchFamily="34" charset="0"/>
                <a:ea typeface="Calibri" pitchFamily="34" charset="-122"/>
                <a:cs typeface="Calibri" pitchFamily="34" charset="-120"/>
              </a:rPr>
              <a:t>固形の3日間は平均140分（180/120/120分）と突出して長く、スムージーの3日間は毎日60分で最短。RPE・爆発力・持久力・運動後疲労は運動量そのものにも左右されるため、固形のRPE・爆発力の高さは「食事」よりも「練習量が多かったこと」を反映している可能性がある。トレーニングはどの条件も11:00〜14:00の間に実施。</a:t>
            </a:r>
            <a:endParaRPr lang="en-US" sz="1150" dirty="0"/>
          </a:p>
        </p:txBody>
      </p:sp>
      <p:sp>
        <p:nvSpPr>
          <p:cNvPr id="7" name="Shape 5"/>
          <p:cNvSpPr/>
          <p:nvPr/>
        </p:nvSpPr>
        <p:spPr>
          <a:xfrm>
            <a:off x="548640" y="3200400"/>
            <a:ext cx="5362956" cy="1828800"/>
          </a:xfrm>
          <a:prstGeom prst="roundRect">
            <a:avLst>
              <a:gd name="adj" fmla="val 5000"/>
            </a:avLst>
          </a:prstGeom>
          <a:solidFill>
            <a:srgbClr val="F4F7F9"/>
          </a:solidFill>
          <a:ln/>
        </p:spPr>
      </p:sp>
      <p:sp>
        <p:nvSpPr>
          <p:cNvPr id="8" name="Shape 6"/>
          <p:cNvSpPr/>
          <p:nvPr/>
        </p:nvSpPr>
        <p:spPr>
          <a:xfrm>
            <a:off x="822960" y="3337560"/>
            <a:ext cx="146304" cy="347472"/>
          </a:xfrm>
          <a:prstGeom prst="rect">
            <a:avLst/>
          </a:prstGeom>
          <a:solidFill>
            <a:srgbClr val="1BAF7A"/>
          </a:solidFill>
          <a:ln/>
        </p:spPr>
      </p:sp>
      <p:sp>
        <p:nvSpPr>
          <p:cNvPr id="9" name="Text 7"/>
          <p:cNvSpPr txBox="1"/>
          <p:nvPr/>
        </p:nvSpPr>
        <p:spPr>
          <a:xfrm>
            <a:off x="1078992" y="3300984"/>
            <a:ext cx="4539996" cy="420624"/>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おにぎり＋スムージー（糖質ノーマル）</a:t>
            </a:r>
            <a:endParaRPr lang="en-US" sz="1400" dirty="0"/>
          </a:p>
        </p:txBody>
      </p:sp>
      <p:sp>
        <p:nvSpPr>
          <p:cNvPr id="10" name="Text 8"/>
          <p:cNvSpPr txBox="1"/>
          <p:nvPr/>
        </p:nvSpPr>
        <p:spPr>
          <a:xfrm>
            <a:off x="822960" y="3794760"/>
            <a:ext cx="4814316" cy="347472"/>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  血糖の乱高下（CV）が4条件中最小、練習中の燃料供給も十分（220）</a:t>
            </a:r>
            <a:endParaRPr lang="en-US" sz="1100" dirty="0"/>
          </a:p>
        </p:txBody>
      </p:sp>
      <p:sp>
        <p:nvSpPr>
          <p:cNvPr id="11" name="Text 9"/>
          <p:cNvSpPr txBox="1"/>
          <p:nvPr/>
        </p:nvSpPr>
        <p:spPr>
          <a:xfrm>
            <a:off x="822960" y="4178808"/>
            <a:ext cx="4814316" cy="347472"/>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  持久力の自己評価が4条件中最高（3.83）</a:t>
            </a:r>
            <a:endParaRPr lang="en-US" sz="1100" dirty="0"/>
          </a:p>
        </p:txBody>
      </p:sp>
      <p:sp>
        <p:nvSpPr>
          <p:cNvPr id="12" name="Text 10"/>
          <p:cNvSpPr txBox="1"/>
          <p:nvPr/>
        </p:nvSpPr>
        <p:spPr>
          <a:xfrm>
            <a:off x="822960" y="4562856"/>
            <a:ext cx="4814316" cy="347472"/>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  消化器症状も軽微</a:t>
            </a:r>
            <a:endParaRPr lang="en-US" sz="1100" dirty="0"/>
          </a:p>
        </p:txBody>
      </p:sp>
      <p:sp>
        <p:nvSpPr>
          <p:cNvPr id="13" name="Shape 11"/>
          <p:cNvSpPr/>
          <p:nvPr/>
        </p:nvSpPr>
        <p:spPr>
          <a:xfrm>
            <a:off x="6277356" y="3200400"/>
            <a:ext cx="5362956" cy="1828800"/>
          </a:xfrm>
          <a:prstGeom prst="roundRect">
            <a:avLst>
              <a:gd name="adj" fmla="val 5000"/>
            </a:avLst>
          </a:prstGeom>
          <a:solidFill>
            <a:srgbClr val="F4F7F9"/>
          </a:solidFill>
          <a:ln/>
        </p:spPr>
      </p:sp>
      <p:sp>
        <p:nvSpPr>
          <p:cNvPr id="14" name="Shape 12"/>
          <p:cNvSpPr/>
          <p:nvPr/>
        </p:nvSpPr>
        <p:spPr>
          <a:xfrm>
            <a:off x="6551676" y="3337560"/>
            <a:ext cx="146304" cy="347472"/>
          </a:xfrm>
          <a:prstGeom prst="rect">
            <a:avLst/>
          </a:prstGeom>
          <a:solidFill>
            <a:srgbClr val="EDA100"/>
          </a:solidFill>
          <a:ln/>
        </p:spPr>
      </p:sp>
      <p:sp>
        <p:nvSpPr>
          <p:cNvPr id="15" name="Text 13"/>
          <p:cNvSpPr txBox="1"/>
          <p:nvPr/>
        </p:nvSpPr>
        <p:spPr>
          <a:xfrm>
            <a:off x="6807708" y="3300984"/>
            <a:ext cx="4539996" cy="420624"/>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おにぎり＋糖質減</a:t>
            </a:r>
            <a:endParaRPr lang="en-US" sz="1400" dirty="0"/>
          </a:p>
        </p:txBody>
      </p:sp>
      <p:sp>
        <p:nvSpPr>
          <p:cNvPr id="16" name="Text 14"/>
          <p:cNvSpPr txBox="1"/>
          <p:nvPr/>
        </p:nvSpPr>
        <p:spPr>
          <a:xfrm>
            <a:off x="6551676" y="3794760"/>
            <a:ext cx="4814316" cy="347472"/>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  波形が最もなだらか、練習中の燃料供給はむしろ4条件中最高（229）</a:t>
            </a:r>
            <a:endParaRPr lang="en-US" sz="1100" dirty="0"/>
          </a:p>
        </p:txBody>
      </p:sp>
      <p:sp>
        <p:nvSpPr>
          <p:cNvPr id="17" name="Text 15"/>
          <p:cNvSpPr txBox="1"/>
          <p:nvPr/>
        </p:nvSpPr>
        <p:spPr>
          <a:xfrm>
            <a:off x="6551676" y="4178808"/>
            <a:ext cx="4814316" cy="347472"/>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  起床時コンディション・睡眠の質が4条件中最高</a:t>
            </a:r>
            <a:endParaRPr lang="en-US" sz="1100" dirty="0"/>
          </a:p>
        </p:txBody>
      </p:sp>
      <p:sp>
        <p:nvSpPr>
          <p:cNvPr id="18" name="Text 16"/>
          <p:cNvSpPr txBox="1"/>
          <p:nvPr/>
        </p:nvSpPr>
        <p:spPr>
          <a:xfrm>
            <a:off x="6551676" y="4562856"/>
            <a:ext cx="4814316" cy="347472"/>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  一方で持久力・爆発力の自己評価は4条件中最低（要検証の矛盾）</a:t>
            </a:r>
            <a:endParaRPr lang="en-US" sz="1100" dirty="0"/>
          </a:p>
        </p:txBody>
      </p:sp>
      <p:sp>
        <p:nvSpPr>
          <p:cNvPr id="19" name="Shape 17"/>
          <p:cNvSpPr/>
          <p:nvPr/>
        </p:nvSpPr>
        <p:spPr>
          <a:xfrm>
            <a:off x="548640" y="5212080"/>
            <a:ext cx="11091672" cy="1188720"/>
          </a:xfrm>
          <a:prstGeom prst="roundRect">
            <a:avLst>
              <a:gd name="adj" fmla="val 7692"/>
            </a:avLst>
          </a:prstGeom>
          <a:solidFill>
            <a:srgbClr val="EAF7F0"/>
          </a:solidFill>
          <a:ln/>
        </p:spPr>
      </p:sp>
      <p:sp>
        <p:nvSpPr>
          <p:cNvPr id="20" name="Text 18"/>
          <p:cNvSpPr txBox="1"/>
          <p:nvPr/>
        </p:nvSpPr>
        <p:spPr>
          <a:xfrm>
            <a:off x="822960" y="5394960"/>
            <a:ext cx="10543032" cy="868680"/>
          </a:xfrm>
          <a:prstGeom prst="rect">
            <a:avLst/>
          </a:prstGeom>
          <a:noFill/>
          <a:ln/>
        </p:spPr>
        <p:txBody>
          <a:bodyPr wrap="square" lIns="0" tIns="0" rIns="0" bIns="0" rtlCol="0" anchor="ctr"/>
          <a:lstStyle/>
          <a:p>
            <a:pPr indent="0" marL="0">
              <a:buNone/>
            </a:pPr>
            <a:r>
              <a:rPr lang="en-US" sz="1250" b="1" dirty="0">
                <a:solidFill>
                  <a:srgbClr val="0F5C3D"/>
                </a:solidFill>
                <a:latin typeface="Calibri" pitchFamily="34" charset="0"/>
                <a:ea typeface="Calibri" pitchFamily="34" charset="-122"/>
                <a:cs typeface="Calibri" pitchFamily="34" charset="-120"/>
              </a:rPr>
              <a:t>✓ 総合評価：現時点のデータでは「おにぎり＋スムージー（糖質ノーマル、同時摂取）」が最もバランスの良い候補。「おにぎり＋糖質減」は血糖面（なだらかさ・燃料供給とも）ではむしろ優れており、体感（持久力低下）との矛盾を解消できれば第一候補に上がる可能性もある。</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1295C"/>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8FB7E0"/>
                </a:solidFill>
                <a:latin typeface="Calibri" pitchFamily="34" charset="0"/>
                <a:ea typeface="Calibri" pitchFamily="34" charset="-122"/>
                <a:cs typeface="Calibri" pitchFamily="34" charset="-120"/>
              </a:rPr>
              <a:t>CONCLUSION</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結論と次のステップ</a:t>
            </a:r>
            <a:endParaRPr lang="en-US" sz="2800" dirty="0"/>
          </a:p>
        </p:txBody>
      </p:sp>
      <p:sp>
        <p:nvSpPr>
          <p:cNvPr id="4" name="Shape 2"/>
          <p:cNvSpPr/>
          <p:nvPr/>
        </p:nvSpPr>
        <p:spPr>
          <a:xfrm>
            <a:off x="548640" y="1737360"/>
            <a:ext cx="384048" cy="384048"/>
          </a:xfrm>
          <a:prstGeom prst="oval">
            <a:avLst/>
          </a:prstGeom>
          <a:solidFill>
            <a:srgbClr val="1C7293"/>
          </a:solidFill>
          <a:ln/>
        </p:spPr>
      </p:sp>
      <p:sp>
        <p:nvSpPr>
          <p:cNvPr id="5" name="Text 3"/>
          <p:cNvSpPr txBox="1"/>
          <p:nvPr/>
        </p:nvSpPr>
        <p:spPr>
          <a:xfrm>
            <a:off x="548640"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143000" y="1719072"/>
            <a:ext cx="10332720" cy="548640"/>
          </a:xfrm>
          <a:prstGeom prst="rect">
            <a:avLst/>
          </a:prstGeom>
          <a:noFill/>
          <a:ln/>
        </p:spPr>
        <p:txBody>
          <a:bodyPr wrap="square" lIns="0" tIns="0" rIns="0" bIns="0" rtlCol="0" anchor="ctr"/>
          <a:lstStyle/>
          <a:p>
            <a:pPr indent="0" marL="0">
              <a:buNone/>
            </a:pPr>
            <a:r>
              <a:rPr lang="en-US" sz="1400" dirty="0">
                <a:solidFill>
                  <a:srgbClr val="E8EDF7"/>
                </a:solidFill>
                <a:latin typeface="Calibri" pitchFamily="34" charset="0"/>
                <a:ea typeface="Calibri" pitchFamily="34" charset="-122"/>
                <a:cs typeface="Calibri" pitchFamily="34" charset="-120"/>
              </a:rPr>
              <a:t>おにぎりを崩さず副食と同時に食べる方針は血糖の観点から一貫して支持される：乱高下を抑えつつ、練習中の燃料供給も確保できる</a:t>
            </a:r>
            <a:endParaRPr lang="en-US" sz="1400" dirty="0"/>
          </a:p>
        </p:txBody>
      </p:sp>
      <p:sp>
        <p:nvSpPr>
          <p:cNvPr id="7" name="Shape 5"/>
          <p:cNvSpPr/>
          <p:nvPr/>
        </p:nvSpPr>
        <p:spPr>
          <a:xfrm>
            <a:off x="548640" y="2514600"/>
            <a:ext cx="384048" cy="384048"/>
          </a:xfrm>
          <a:prstGeom prst="oval">
            <a:avLst/>
          </a:prstGeom>
          <a:solidFill>
            <a:srgbClr val="1C7293"/>
          </a:solidFill>
          <a:ln/>
        </p:spPr>
      </p:sp>
      <p:sp>
        <p:nvSpPr>
          <p:cNvPr id="8" name="Text 6"/>
          <p:cNvSpPr txBox="1"/>
          <p:nvPr/>
        </p:nvSpPr>
        <p:spPr>
          <a:xfrm>
            <a:off x="548640" y="25146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143000" y="2496312"/>
            <a:ext cx="10332720" cy="548640"/>
          </a:xfrm>
          <a:prstGeom prst="rect">
            <a:avLst/>
          </a:prstGeom>
          <a:noFill/>
          <a:ln/>
        </p:spPr>
        <p:txBody>
          <a:bodyPr wrap="square" lIns="0" tIns="0" rIns="0" bIns="0" rtlCol="0" anchor="ctr"/>
          <a:lstStyle/>
          <a:p>
            <a:pPr indent="0" marL="0">
              <a:buNone/>
            </a:pPr>
            <a:r>
              <a:rPr lang="en-US" sz="1400" dirty="0">
                <a:solidFill>
                  <a:srgbClr val="E8EDF7"/>
                </a:solidFill>
                <a:latin typeface="Calibri" pitchFamily="34" charset="0"/>
                <a:ea typeface="Calibri" pitchFamily="34" charset="-122"/>
                <a:cs typeface="Calibri" pitchFamily="34" charset="-120"/>
              </a:rPr>
              <a:t>固形は「血糖が安定」ではなく「練習中の燃料不足」（練習中平均135、他条件の約6割）と解釈すべき</a:t>
            </a:r>
            <a:endParaRPr lang="en-US" sz="1400" dirty="0"/>
          </a:p>
        </p:txBody>
      </p:sp>
      <p:sp>
        <p:nvSpPr>
          <p:cNvPr id="10" name="Shape 8"/>
          <p:cNvSpPr/>
          <p:nvPr/>
        </p:nvSpPr>
        <p:spPr>
          <a:xfrm>
            <a:off x="548640" y="3291840"/>
            <a:ext cx="384048" cy="384048"/>
          </a:xfrm>
          <a:prstGeom prst="oval">
            <a:avLst/>
          </a:prstGeom>
          <a:solidFill>
            <a:srgbClr val="1C7293"/>
          </a:solidFill>
          <a:ln/>
        </p:spPr>
      </p:sp>
      <p:sp>
        <p:nvSpPr>
          <p:cNvPr id="11" name="Text 9"/>
          <p:cNvSpPr txBox="1"/>
          <p:nvPr/>
        </p:nvSpPr>
        <p:spPr>
          <a:xfrm>
            <a:off x="548640" y="32918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1143000" y="3273552"/>
            <a:ext cx="10332720" cy="548640"/>
          </a:xfrm>
          <a:prstGeom prst="rect">
            <a:avLst/>
          </a:prstGeom>
          <a:noFill/>
          <a:ln/>
        </p:spPr>
        <p:txBody>
          <a:bodyPr wrap="square" lIns="0" tIns="0" rIns="0" bIns="0" rtlCol="0" anchor="ctr"/>
          <a:lstStyle/>
          <a:p>
            <a:pPr indent="0" marL="0">
              <a:buNone/>
            </a:pPr>
            <a:r>
              <a:rPr lang="en-US" sz="1400" dirty="0">
                <a:solidFill>
                  <a:srgbClr val="E8EDF7"/>
                </a:solidFill>
                <a:latin typeface="Calibri" pitchFamily="34" charset="0"/>
                <a:ea typeface="Calibri" pitchFamily="34" charset="-122"/>
                <a:cs typeface="Calibri" pitchFamily="34" charset="-120"/>
              </a:rPr>
              <a:t>総合評価：現時点では「おにぎり＋スムージー（糖質ノーマル、同時摂取）」が最もバランスの良い候補</a:t>
            </a:r>
            <a:endParaRPr lang="en-US" sz="1400" dirty="0"/>
          </a:p>
        </p:txBody>
      </p:sp>
      <p:sp>
        <p:nvSpPr>
          <p:cNvPr id="13" name="Shape 11"/>
          <p:cNvSpPr/>
          <p:nvPr/>
        </p:nvSpPr>
        <p:spPr>
          <a:xfrm>
            <a:off x="548640" y="4160520"/>
            <a:ext cx="11091672" cy="2011680"/>
          </a:xfrm>
          <a:prstGeom prst="roundRect">
            <a:avLst>
              <a:gd name="adj" fmla="val 4545"/>
            </a:avLst>
          </a:prstGeom>
          <a:solidFill>
            <a:srgbClr val="1A2350"/>
          </a:solidFill>
          <a:ln/>
        </p:spPr>
      </p:sp>
      <p:sp>
        <p:nvSpPr>
          <p:cNvPr id="14" name="Text 12"/>
          <p:cNvSpPr txBox="1"/>
          <p:nvPr/>
        </p:nvSpPr>
        <p:spPr>
          <a:xfrm>
            <a:off x="868680" y="4343400"/>
            <a:ext cx="5486400" cy="320040"/>
          </a:xfrm>
          <a:prstGeom prst="rect">
            <a:avLst/>
          </a:prstGeom>
          <a:noFill/>
          <a:ln/>
        </p:spPr>
        <p:txBody>
          <a:bodyPr wrap="square" lIns="0" tIns="0" rIns="0" bIns="0" rtlCol="0" anchor="ctr"/>
          <a:lstStyle/>
          <a:p>
            <a:pPr indent="0" marL="0">
              <a:buNone/>
            </a:pPr>
            <a:r>
              <a:rPr lang="en-US" sz="1400" b="1" dirty="0">
                <a:solidFill>
                  <a:srgbClr val="8FB7E0"/>
                </a:solidFill>
                <a:latin typeface="Calibri" pitchFamily="34" charset="0"/>
                <a:ea typeface="Calibri" pitchFamily="34" charset="-122"/>
                <a:cs typeface="Calibri" pitchFamily="34" charset="-120"/>
              </a:rPr>
              <a:t>次のステップ</a:t>
            </a:r>
            <a:endParaRPr lang="en-US" sz="1400" dirty="0"/>
          </a:p>
        </p:txBody>
      </p:sp>
      <p:sp>
        <p:nvSpPr>
          <p:cNvPr id="15" name="Text 13"/>
          <p:cNvSpPr txBox="1"/>
          <p:nvPr/>
        </p:nvSpPr>
        <p:spPr>
          <a:xfrm>
            <a:off x="868680" y="4754880"/>
            <a:ext cx="10451592"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  【最優先】DAY5(8/29)14:50頃〜の血糖ベースラインシフトの原因確認。選手・スタッフへの聞き取りが最も費用対効果が高い一手。①②の結論はこれを踏まえ再評価する（③は影響を受けず結論を維持できる）</a:t>
            </a:r>
            <a:endParaRPr lang="en-US" sz="1250" dirty="0"/>
          </a:p>
        </p:txBody>
      </p:sp>
      <p:sp>
        <p:nvSpPr>
          <p:cNvPr id="16" name="Text 14"/>
          <p:cNvSpPr txBox="1"/>
          <p:nvPr/>
        </p:nvSpPr>
        <p:spPr>
          <a:xfrm>
            <a:off x="868680" y="5193792"/>
            <a:ext cx="10451592"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  練習時間が条件ブロックごとに大きく異なる（60〜180分）ため、今後は練習内容・時間を揃えて再検証すると食事の純粋な効果を評価しやすくなる</a:t>
            </a:r>
            <a:endParaRPr lang="en-US" sz="1250" dirty="0"/>
          </a:p>
        </p:txBody>
      </p:sp>
      <p:sp>
        <p:nvSpPr>
          <p:cNvPr id="17" name="Text 15"/>
          <p:cNvSpPr txBox="1"/>
          <p:nvPr/>
        </p:nvSpPr>
        <p:spPr>
          <a:xfrm>
            <a:off x="868680" y="5632704"/>
            <a:ext cx="10451592"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  満腹感・食欲の条件差は「おにぎり同時摂取による食事量の違い」であり、形態そのものの効果ではない点に留意</a:t>
            </a:r>
            <a:endParaRPr lang="en-US" sz="1250" dirty="0"/>
          </a:p>
        </p:txBody>
      </p:sp>
      <p:sp>
        <p:nvSpPr>
          <p:cNvPr id="18" name="Text 16"/>
          <p:cNvSpPr/>
          <p:nvPr/>
        </p:nvSpPr>
        <p:spPr>
          <a:xfrm>
            <a:off x="548640" y="6473952"/>
            <a:ext cx="11091672" cy="274320"/>
          </a:xfrm>
          <a:prstGeom prst="rect">
            <a:avLst/>
          </a:prstGeom>
          <a:noFill/>
          <a:ln/>
        </p:spPr>
        <p:txBody>
          <a:bodyPr wrap="square" rtlCol="0" anchor="ctr"/>
          <a:lstStyle/>
          <a:p>
            <a:pPr algn="l" indent="0" marL="0">
              <a:buNone/>
            </a:pPr>
            <a:r>
              <a:rPr lang="en-US" sz="1000" dirty="0">
                <a:solidFill>
                  <a:srgbClr val="9AA6C4"/>
                </a:solidFill>
                <a:latin typeface="Calibri" pitchFamily="34" charset="0"/>
                <a:ea typeface="Calibri" pitchFamily="34" charset="-122"/>
                <a:cs typeface="Calibri" pitchFamily="34" charset="-120"/>
              </a:rPr>
              <a:t>データ出典：for_AI_.xlsx／0824スケジュール.xlsx／condition_app_2026-08-25_2026-09-07.xlsx／14日間_for_AI.xlsx</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2026-09-19T09:56:49Z</dcterms:created>
  <dcterms:modified xsi:type="dcterms:W3CDTF">2026-09-19T09:56:49Z</dcterms:modified>
</cp:coreProperties>
</file>