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固形摂取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99</c:v>
                </c:pt>
                <c:pt idx="1">
                  <c:v>112</c:v>
                </c:pt>
                <c:pt idx="2">
                  <c:v>133.3</c:v>
                </c:pt>
                <c:pt idx="3">
                  <c:v>129</c:v>
                </c:pt>
                <c:pt idx="4">
                  <c:v>113</c:v>
                </c:pt>
                <c:pt idx="5">
                  <c:v>105.3</c:v>
                </c:pt>
                <c:pt idx="6">
                  <c:v>108.7</c:v>
                </c:pt>
                <c:pt idx="7">
                  <c:v>108.7</c:v>
                </c:pt>
                <c:pt idx="8">
                  <c:v>106</c:v>
                </c:pt>
                <c:pt idx="9">
                  <c:v>120</c:v>
                </c:pt>
                <c:pt idx="10">
                  <c:v>130.3</c:v>
                </c:pt>
                <c:pt idx="11">
                  <c:v>125.3</c:v>
                </c:pt>
                <c:pt idx="12">
                  <c:v>120.3</c:v>
                </c:pt>
                <c:pt idx="13">
                  <c:v>135</c:v>
                </c:pt>
                <c:pt idx="14">
                  <c:v>152.7</c:v>
                </c:pt>
                <c:pt idx="15">
                  <c:v>143</c:v>
                </c:pt>
                <c:pt idx="16">
                  <c:v>139</c:v>
                </c:pt>
                <c:pt idx="17">
                  <c:v>129.7</c:v>
                </c:pt>
                <c:pt idx="18">
                  <c:v>119</c:v>
                </c:pt>
                <c:pt idx="19">
                  <c:v>131</c:v>
                </c:pt>
                <c:pt idx="20">
                  <c:v>143</c:v>
                </c:pt>
                <c:pt idx="21">
                  <c:v>136.7</c:v>
                </c:pt>
                <c:pt idx="22">
                  <c:v>138</c:v>
                </c:pt>
                <c:pt idx="23">
                  <c:v>140.3</c:v>
                </c:pt>
                <c:pt idx="24">
                  <c:v>129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スムージー摂取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159.3</c:v>
                </c:pt>
                <c:pt idx="1">
                  <c:v>163</c:v>
                </c:pt>
                <c:pt idx="2">
                  <c:v>182</c:v>
                </c:pt>
                <c:pt idx="3">
                  <c:v>202.7</c:v>
                </c:pt>
                <c:pt idx="4">
                  <c:v>193.7</c:v>
                </c:pt>
                <c:pt idx="5">
                  <c:v>163.7</c:v>
                </c:pt>
                <c:pt idx="6">
                  <c:v>149</c:v>
                </c:pt>
                <c:pt idx="7">
                  <c:v>148.7</c:v>
                </c:pt>
                <c:pt idx="8">
                  <c:v>154.7</c:v>
                </c:pt>
                <c:pt idx="9">
                  <c:v>179.3</c:v>
                </c:pt>
                <c:pt idx="10">
                  <c:v>194.3</c:v>
                </c:pt>
                <c:pt idx="11">
                  <c:v>226</c:v>
                </c:pt>
                <c:pt idx="12">
                  <c:v>226.3</c:v>
                </c:pt>
                <c:pt idx="13">
                  <c:v>223</c:v>
                </c:pt>
                <c:pt idx="14">
                  <c:v>239.7</c:v>
                </c:pt>
                <c:pt idx="15">
                  <c:v>244.3</c:v>
                </c:pt>
                <c:pt idx="16">
                  <c:v>213.7</c:v>
                </c:pt>
                <c:pt idx="17">
                  <c:v>225</c:v>
                </c:pt>
                <c:pt idx="18">
                  <c:v>218.3</c:v>
                </c:pt>
                <c:pt idx="19">
                  <c:v>218.7</c:v>
                </c:pt>
                <c:pt idx="20">
                  <c:v>224.7</c:v>
                </c:pt>
                <c:pt idx="21">
                  <c:v>207</c:v>
                </c:pt>
                <c:pt idx="22">
                  <c:v>212.3</c:v>
                </c:pt>
                <c:pt idx="23">
                  <c:v>222.7</c:v>
                </c:pt>
                <c:pt idx="24">
                  <c:v>211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おにぎり＋スムージー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164.3</c:v>
                </c:pt>
                <c:pt idx="1">
                  <c:v>169.3</c:v>
                </c:pt>
                <c:pt idx="2">
                  <c:v>208.7</c:v>
                </c:pt>
                <c:pt idx="3">
                  <c:v>235</c:v>
                </c:pt>
                <c:pt idx="4">
                  <c:v>225.7</c:v>
                </c:pt>
                <c:pt idx="5">
                  <c:v>219.3</c:v>
                </c:pt>
                <c:pt idx="6">
                  <c:v>207.3</c:v>
                </c:pt>
                <c:pt idx="7">
                  <c:v>212.3</c:v>
                </c:pt>
                <c:pt idx="8">
                  <c:v>207</c:v>
                </c:pt>
                <c:pt idx="9">
                  <c:v>191.3</c:v>
                </c:pt>
                <c:pt idx="10">
                  <c:v>188</c:v>
                </c:pt>
                <c:pt idx="11">
                  <c:v>185</c:v>
                </c:pt>
                <c:pt idx="12">
                  <c:v>182.7</c:v>
                </c:pt>
                <c:pt idx="13">
                  <c:v>193</c:v>
                </c:pt>
                <c:pt idx="14">
                  <c:v>208</c:v>
                </c:pt>
                <c:pt idx="15">
                  <c:v>226.3</c:v>
                </c:pt>
                <c:pt idx="16">
                  <c:v>229</c:v>
                </c:pt>
                <c:pt idx="17">
                  <c:v>227.3</c:v>
                </c:pt>
                <c:pt idx="18">
                  <c:v>231.3</c:v>
                </c:pt>
                <c:pt idx="19">
                  <c:v>242.3</c:v>
                </c:pt>
                <c:pt idx="20">
                  <c:v>236.7</c:v>
                </c:pt>
                <c:pt idx="21">
                  <c:v>224.7</c:v>
                </c:pt>
                <c:pt idx="22">
                  <c:v>219.3</c:v>
                </c:pt>
                <c:pt idx="23">
                  <c:v>218.7</c:v>
                </c:pt>
                <c:pt idx="24">
                  <c:v>222.3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おにぎり＋糖質減</c:v>
                </c:pt>
              </c:strCache>
            </c:strRef>
          </c:tx>
          <c:spPr>
            <a:solidFill>
              <a:srgbClr val="EDA100"/>
            </a:solidFill>
            <a:ln w="3175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166</c:v>
                </c:pt>
                <c:pt idx="1">
                  <c:v>183.7</c:v>
                </c:pt>
                <c:pt idx="2">
                  <c:v>217</c:v>
                </c:pt>
                <c:pt idx="3">
                  <c:v>197</c:v>
                </c:pt>
                <c:pt idx="4">
                  <c:v>193.7</c:v>
                </c:pt>
                <c:pt idx="5">
                  <c:v>193.7</c:v>
                </c:pt>
                <c:pt idx="6">
                  <c:v>198.7</c:v>
                </c:pt>
                <c:pt idx="7">
                  <c:v>185.3</c:v>
                </c:pt>
                <c:pt idx="8">
                  <c:v>174.3</c:v>
                </c:pt>
                <c:pt idx="9">
                  <c:v>172.3</c:v>
                </c:pt>
                <c:pt idx="10">
                  <c:v>199.7</c:v>
                </c:pt>
                <c:pt idx="11">
                  <c:v>217.7</c:v>
                </c:pt>
                <c:pt idx="12">
                  <c:v>211</c:v>
                </c:pt>
                <c:pt idx="13">
                  <c:v>195</c:v>
                </c:pt>
                <c:pt idx="14">
                  <c:v>218.3</c:v>
                </c:pt>
                <c:pt idx="15">
                  <c:v>235</c:v>
                </c:pt>
                <c:pt idx="16">
                  <c:v>237</c:v>
                </c:pt>
                <c:pt idx="17">
                  <c:v>225.7</c:v>
                </c:pt>
                <c:pt idx="18">
                  <c:v>226.7</c:v>
                </c:pt>
                <c:pt idx="19">
                  <c:v>241</c:v>
                </c:pt>
                <c:pt idx="20">
                  <c:v>245</c:v>
                </c:pt>
                <c:pt idx="21">
                  <c:v>242.3</c:v>
                </c:pt>
                <c:pt idx="22">
                  <c:v>250.3</c:v>
                </c:pt>
                <c:pt idx="23">
                  <c:v>241</c:v>
                </c:pt>
                <c:pt idx="24">
                  <c:v>213.7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5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570"/>
                    </a:solidFill>
                    <a:latin typeface="Arial"/>
                  </a:rPr>
                  <a:t>血糖値 (mg/dL)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Δピーク血糖値 (mg/dL)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</c:v>
                </c:pt>
                <c:pt idx="1">
                  <c:v>85</c:v>
                </c:pt>
                <c:pt idx="2">
                  <c:v>78</c:v>
                </c:pt>
                <c:pt idx="3">
                  <c:v>84.3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iAUC 2時間 (mg/dL・分)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1807.5</c:v>
                </c:pt>
                <c:pt idx="1">
                  <c:v>1625</c:v>
                </c:pt>
                <c:pt idx="2">
                  <c:v>5230</c:v>
                </c:pt>
                <c:pt idx="3">
                  <c:v>3167.5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変動係数 CV (%)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14.7</c:v>
                </c:pt>
                <c:pt idx="2">
                  <c:v>10.1</c:v>
                </c:pt>
                <c:pt idx="3">
                  <c:v>11.8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固形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1.67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スムージー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3.33</c:v>
                </c:pt>
                <c:pt idx="1">
                  <c:v>3.67</c:v>
                </c:pt>
                <c:pt idx="2">
                  <c:v>5</c:v>
                </c:pt>
                <c:pt idx="3">
                  <c:v>2</c:v>
                </c:pt>
                <c:pt idx="4">
                  <c:v>1.33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おにぎり+スムージー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2.33</c:v>
                </c:pt>
                <c:pt idx="1">
                  <c:v>7.67</c:v>
                </c:pt>
                <c:pt idx="2">
                  <c:v>5.33</c:v>
                </c:pt>
                <c:pt idx="3">
                  <c:v>5.5</c:v>
                </c:pt>
                <c:pt idx="4">
                  <c:v>3.33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おにぎり+糖質減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1.67</c:v>
                </c:pt>
                <c:pt idx="1">
                  <c:v>9</c:v>
                </c:pt>
                <c:pt idx="2">
                  <c:v>8</c:v>
                </c:pt>
                <c:pt idx="3">
                  <c:v>5.5</c:v>
                </c:pt>
                <c:pt idx="4">
                  <c:v>4.67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固形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7.67</c:v>
                </c:pt>
                <c:pt idx="1">
                  <c:v>8</c:v>
                </c:pt>
                <c:pt idx="2">
                  <c:v>7</c:v>
                </c:pt>
                <c:pt idx="3">
                  <c:v>7.67</c:v>
                </c:pt>
                <c:pt idx="4">
                  <c:v>7.67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スムージー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8.67</c:v>
                </c:pt>
                <c:pt idx="1">
                  <c:v>6.33</c:v>
                </c:pt>
                <c:pt idx="2">
                  <c:v>5.5</c:v>
                </c:pt>
                <c:pt idx="3">
                  <c:v>7.67</c:v>
                </c:pt>
                <c:pt idx="4">
                  <c:v>8.67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おにぎり+スムージー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</c:v>
                </c:pt>
                <c:pt idx="1">
                  <c:v>3.67</c:v>
                </c:pt>
                <c:pt idx="2">
                  <c:v>5.33</c:v>
                </c:pt>
                <c:pt idx="3">
                  <c:v>5.5</c:v>
                </c:pt>
                <c:pt idx="4">
                  <c:v>5.67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おにぎり+糖質減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3.33</c:v>
                </c:pt>
                <c:pt idx="2">
                  <c:v>3</c:v>
                </c:pt>
                <c:pt idx="3">
                  <c:v>4.5</c:v>
                </c:pt>
                <c:pt idx="4">
                  <c:v>5.33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起床時コンディション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2.33</c:v>
                </c:pt>
                <c:pt idx="2">
                  <c:v>2.33</c:v>
                </c:pt>
                <c:pt idx="3">
                  <c:v>2.67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8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睡眠の質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2.67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8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持久力（自己評価）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3.67</c:v>
                </c:pt>
                <c:pt idx="2">
                  <c:v>3.83</c:v>
                </c:pt>
                <c:pt idx="3">
                  <c:v>2.33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8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爆発力（自己評価）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3.67</c:v>
                </c:pt>
                <c:pt idx="2">
                  <c:v>3.5</c:v>
                </c:pt>
                <c:pt idx="3">
                  <c:v>3.33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8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RPE（主観的運動強度）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6.67</c:v>
                </c:pt>
                <c:pt idx="1">
                  <c:v>5.67</c:v>
                </c:pt>
                <c:pt idx="2">
                  <c:v>5.5</c:v>
                </c:pt>
                <c:pt idx="3">
                  <c:v>6.33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8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練習時間 (分/日)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8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chart" Target="/ppt/charts/chart11.xml"/><Relationship Id="rId6" Type="http://schemas.openxmlformats.org/officeDocument/2006/relationships/chart" Target="/ppt/charts/chart1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4206240" cy="4206240"/>
          </a:xfrm>
          <a:prstGeom prst="oval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SCI車いす選手 食事介入研究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おにぎり × スムージー 部分的液状化研究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血糖値・コンディション比較分析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7"/>
          <p:cNvSpPr txBox="1"/>
          <p:nvPr/>
        </p:nvSpPr>
        <p:spPr>
          <a:xfrm>
            <a:off x="548640" y="4892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比較条件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892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測定日数(DAY)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4892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血糖測定点/日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高位脊髄損傷（SCI）車いす陸上選手 1名を対象とした反復測定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研究の背景と目的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642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SCI選手の病態生理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高位脊髄損傷者は交感神経の遠心路が遮断され、食後低血圧・血糖値スパイク／反応性低血糖を起こしやすい。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02920" cy="50292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34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現場での気づき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54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「おにぎり2個＋バナナ＆ヨーグルト」の副食をスムージー化したところ、練習時の出力が劇的に向上したとの報告。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02920" cy="502920"/>
          </a:xfrm>
          <a:prstGeom prst="oval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050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作業仮説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25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おにぎりの満足感は残しつつ副食を部分的に液状化し、総固形物量を減らすことで胃排泄を促し、血糖・消化ストレスを回避できるのでは。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502920" cy="502920"/>
          </a:xfrm>
          <a:prstGeom prst="oval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755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本分析の目的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9554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4条件（固形／スムージー／おにぎり＋スムージー／糖質減食）で血糖動態と自覚コンディションへの影響を比較検証する。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研究の背景と意義（提供資料より要約）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4条件の摂取スケジュール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2860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4754880"/>
                <a:gridCol w="2816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8:00の食事内容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おにぎりのタイミング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固形摂取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DAY1〜3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果物ヨーグルト（固形）のみ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約2.5〜3時間後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スムージー摂取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DAY4〜6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果物ヨーグルト（スムージー）のみ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約2.5〜3時間後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DAY8〜10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おにぎり＋スムージー（同時）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8:00に同時摂取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おにぎり＋糖質減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DAY11〜13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おにぎり＋スムージー糖質減（同時）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8:00に同時摂取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498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重要な注意点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864608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・スムージー条件は「副食のみを先に食べ、おにぎりは約2.5〜3時間後」、おにぎり＋スムージー・糖質減条件は「おにぎりと副食を同時摂取」という異なるプロトコル。4条件は形態とタイミングが同時に変わるため、純粋な形態比較ができるのは「固形 vs スムージー（副食のみ）」に限られる。トレーニングはどの条件も11:00〜14:00の間に実施（1日60〜180分、条件ブロックにより変動）。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3日／条件（同一選手の反復測定）。12:00以降は自由摂取。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実験デザイン（1日のタイムライン）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697480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97480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52672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72712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27904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47944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03136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23176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8368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8408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53600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73640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08792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548872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9293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固形摂取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20370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DAY1〜3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2322576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2167128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06040" y="1911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果物ヨーグルト（固形）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6656" y="2267712"/>
            <a:ext cx="109728" cy="109728"/>
          </a:xfrm>
          <a:prstGeom prst="oval">
            <a:avLst/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38600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おにぎり摂取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10328" y="2167128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98580" y="2272284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28620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1363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DAY4〜6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97480" y="3255264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099816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EB68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0604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果物ヨーグルト（スムージー）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6656" y="3200400"/>
            <a:ext cx="109728" cy="109728"/>
          </a:xfrm>
          <a:prstGeom prst="oval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38600" y="34381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おにぎり摂取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10328" y="3099816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98580" y="3204972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3794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06908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DAY8〜10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4187952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4032504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BAF7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606040" y="3776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おにぎり＋スムージー（同時）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10328" y="4032504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498580" y="4137660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" y="47274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0017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DAY11〜13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697480" y="5120640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7480" y="4965192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EDA1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606040" y="47091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おにぎり＋スムージー糖質減（同時）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10328" y="4965192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498580" y="5070348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574243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96112" y="5660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トレーニング（60〜180分、11:00〜14:00の間で実施）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5769864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37960" y="5660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 夕食＋夜のコンディション記録（毎日共通）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色付きブロック＝朝の被験食摂取（8:00）。固形・スムージー条件はおにぎりを約2.5時間後に別途摂取。灰色帯＝全条件共通のトレーニング時間帯。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血糖値の推移（8:00〜14:00）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916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15分間隔・条件ごとの平均血糖値（各条件3日間平均）。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主要指標の比較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 (mg/dL)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最高値 − 摂取直前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3429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43400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iAUC 2時間 (mg/dL・分)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828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ベースライン超過分の面積</a:t>
            </a:r>
            <a:endParaRPr lang="en-US" sz="10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43400" y="2148840"/>
          <a:ext cx="3429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38160" y="1572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 (%)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1828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6時間の値の乱高下</a:t>
            </a:r>
            <a:endParaRPr lang="en-US" sz="10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138160" y="2148840"/>
          <a:ext cx="3429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iAUC = incremental AUC（ベースライン超過分のみを積算した正味の食後上昇量）。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スムージー vs 固形（副食のみ・純粋比較）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146304" cy="4572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7452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固形摂取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53.7 mg/dL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130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7356" y="1691640"/>
            <a:ext cx="5362956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7396" y="1920240"/>
            <a:ext cx="146304" cy="4572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71716" y="187452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97396" y="2560320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85.0 mg/dL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597396" y="301752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Δピーク血糖値（1.6倍）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97396" y="3355848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597396" y="38130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EAF7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考察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109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食を液状化するだけで血糖の上昇幅・乱高下は明確に増大。液状化は消化の負担感を下げる一方、血糖の安定には必ずしも寄与しない可能性がある。選手の「出力向上」の体感は、血糖の安定ではなく消化器系の負担軽減（内臓への血流集中の緩和）による可能性が高い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スムージー vs おにぎり＋スムージー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146304" cy="4572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7452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85.0 mg/dL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130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7356" y="1691640"/>
            <a:ext cx="5362956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7396" y="1920240"/>
            <a:ext cx="146304" cy="4572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71716" y="187452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97396" y="2560320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78.0 mg/dL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597396" y="301752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97396" y="3355848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597396" y="38130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CV（最小）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EAF7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考察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109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を同時摂取した方がΔピーク・CVともに小さい。おにぎり（固形デンプン）が副食の急激な糖吸収を緩衝し、波形がなだらかになっている可能性がある。総摂取糖質量は増えるが（iAUC絶対値は上昇）、研究背景の「総固形物量の調整による血糖・消化ストレス緩和」仮説を支持する結果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おにぎり＋スムージー vs おにぎり＋糖質減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146304" cy="4572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7452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iAUC 2h (mg/dL・分)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242.3 mg/dL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130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ピーク血糖値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7356" y="1691640"/>
            <a:ext cx="5362956" cy="265176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7396" y="1920240"/>
            <a:ext cx="146304" cy="457200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71716" y="1874520"/>
            <a:ext cx="4448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97396" y="2560320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3,168 (▼39%)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597396" y="301752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iAUC 2h (mg/dL・分)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97396" y="3355848"/>
            <a:ext cx="4722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250.3 mg/dL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597396" y="38130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ピーク血糖値（同水準）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EAF7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考察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10912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的に最も近い比較。糖質を減らすことで食後2時間の正味の血糖上昇（iAUC）が約39%減少。ピーク自体の高さはほぼ同水準だが、上昇の「持続・面積」＝体への負荷は明確に小さい。おにぎりの満足感を保ちながら総糖質量を最適化する方針はデータ上も支持される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自覚コンディション（4条件比較）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満腹感の推移 (0=空腹〜10=満腹)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63093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033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食欲(摂食可能感)の推移 (0=食べられない〜10=まだ食べられる)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48640" y="3977640"/>
          <a:ext cx="63093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70448"/>
            <a:ext cx="146304" cy="11887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9808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176272" y="5870448"/>
            <a:ext cx="146304" cy="118872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377440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803904" y="5870448"/>
            <a:ext cx="146304" cy="118872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005072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おにぎり+スムージー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31536" y="5870448"/>
            <a:ext cx="146304" cy="118872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632704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おにぎり+糖質減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35240" y="1600200"/>
            <a:ext cx="4005072" cy="4434840"/>
          </a:xfrm>
          <a:prstGeom prst="roundRect">
            <a:avLst>
              <a:gd name="adj" fmla="val 2283"/>
            </a:avLst>
          </a:prstGeom>
          <a:solidFill>
            <a:srgbClr val="EAF7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90956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消化器症状は4条件とも良好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7909560" y="2331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頭痛：4条件すべて全測定点で最小値(1)、変化なし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909560" y="32644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吐き気：4条件すべてほぼ1（おにぎり+スムージーのDAY10 9:30のみ一時的に2）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909560" y="41970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血糖値が高めに推移するおにぎり同時摂取条件でも、消化器症状は悪化していない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909560" y="512978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満腹感・食欲の差は「おにぎりを同時に食べたか」による食事量の違いを反映しており、副食の形態（固形/液状）そのものの効果ではない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毎晩のコンディション・トレーニング指標（4条件比較）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起床時コンディション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965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高いほど良好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03120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43400" y="1572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睡眠の質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81965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高いほど良好</a:t>
            </a:r>
            <a:endParaRPr lang="en-US" sz="9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43400" y="2103120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38160" y="1572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持久力（自己評価）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181965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高いほど良好</a:t>
            </a:r>
            <a:endParaRPr lang="en-US" sz="9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138160" y="2103120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548640" y="3904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爆発力（自己評価）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1513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高いほど良好</a:t>
            </a:r>
            <a:endParaRPr lang="en-US" sz="950" dirty="0"/>
          </a:p>
        </p:txBody>
      </p:sp>
      <p:graphicFrame>
        <p:nvGraphicFramePr>
          <p:cNvPr id="15" name="Chart 3" descr=""/>
          <p:cNvGraphicFramePr/>
          <p:nvPr/>
        </p:nvGraphicFramePr>
        <p:xfrm>
          <a:off x="548640" y="4434840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4343400" y="3904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RPE（主観的運動強度）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343400" y="41513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高いほどきつい</a:t>
            </a:r>
            <a:endParaRPr lang="en-US" sz="950" dirty="0"/>
          </a:p>
        </p:txBody>
      </p:sp>
      <p:graphicFrame>
        <p:nvGraphicFramePr>
          <p:cNvPr id="18" name="Chart 4" descr=""/>
          <p:cNvGraphicFramePr/>
          <p:nvPr/>
        </p:nvGraphicFramePr>
        <p:xfrm>
          <a:off x="4343400" y="4434840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Text 12"/>
          <p:cNvSpPr txBox="1"/>
          <p:nvPr/>
        </p:nvSpPr>
        <p:spPr>
          <a:xfrm>
            <a:off x="8138160" y="3904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練習時間 (分/日)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8138160" y="41513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条件ブロックにより変動</a:t>
            </a:r>
            <a:endParaRPr lang="en-US" sz="950" dirty="0"/>
          </a:p>
        </p:txBody>
      </p:sp>
      <p:graphicFrame>
        <p:nvGraphicFramePr>
          <p:cNvPr id="21" name="Chart 5" descr=""/>
          <p:cNvGraphicFramePr/>
          <p:nvPr/>
        </p:nvGraphicFramePr>
        <p:xfrm>
          <a:off x="8138160" y="4434840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 1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各条件3日間平均。起床時コンディション・睡眠の質・持久力・爆発力は高いほど良好、運動後疲労・RPEは高いほど負荷が大きいと仮定（原データに尺度定義なし）。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総合考察：食事 × トレーニング × 血糖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重要な交絡：練習時間が条件ブロックごとに大きく異なる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の3日間は平均140分（180/120/120分）と突出して長く、スムージーの3日間は毎日60分で最短。RPE・爆発力・持久力・運動後疲労は運動量そのものにも左右されるため、固形のRPE・爆発力の高さは「食事」よりも「練習量が多かったこと」を反映している可能性がある。トレーニングはどの条件も11:00〜14:00の間に実施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337560"/>
            <a:ext cx="146304" cy="347472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3300984"/>
            <a:ext cx="45399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おにぎり＋スムージー（糖質ノーマル）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血糖の乱高下（CV）が4条件中最小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78808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持久力の自己評価が4条件中最高（3.83）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62856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消化器症状も軽微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7356" y="320040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1676" y="3337560"/>
            <a:ext cx="146304" cy="347472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07708" y="3300984"/>
            <a:ext cx="45399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1676" y="3794760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起床時コンディション・睡眠の質が4条件中最高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51676" y="4178808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iAUC 2hが約39%減少（血糖面で最良）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562856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持久力・爆発力の自己評価は4条件中最低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3949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総合評価：現時点のデータでは「おにぎり＋スムージー（糖質ノーマル）」が最もバランスの良い候補。「おにぎり＋糖質減」は血糖・睡眠面で優れるが、持久力・爆発力の低下が見られるため、強度の高い練習日には慎重な適用が望ましい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結論と次のステップ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190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おにぎりを崩さず副食のみ液状化する方針は、血糖の観点からも妥当（②の結果）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963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総糖質量の最適化（糖質減食）は血糖面では明確に効果あり（iAUC 2h ▼39%）が、持久力・爆発力はトレードオフの兆候あり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2735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総合評価：現時点では「おにぎり＋スムージー（糖質ノーマル）」が最もバランスの良い候補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1A23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5488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8:00ベースライン血糖の条件間差（60〜70 mg/dL）の要因確認（前日運動量・睡眠・センサー校正）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93792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練習時間が条件ブロックごとに大きく異なる（60〜180分）ため、今後は練習内容・時間を揃えて再検証すると食事の純粋な効果を評価しやすくなる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32704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満腹感・食欲の条件差は「おにぎり同時摂取による食事量の違い」であり、形態そのものの効果ではない点に留意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データ出典：for_AI_.xlsx／0824スケジュール.xlsx／condition_app_2026-08-25_2026-09-07.xlsx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2026-09-14T23:12:53Z</dcterms:created>
  <dcterms:modified xsi:type="dcterms:W3CDTF">2026-09-14T23:12:53Z</dcterms:modified>
</cp:coreProperties>
</file>