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固形摂取</c:v>
                </c:pt>
              </c:strCache>
            </c:strRef>
          </c:tx>
          <c:spPr>
            <a:solidFill>
              <a:srgbClr val="2A78D6"/>
            </a:solidFill>
            <a:ln w="3175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</c:f>
              <c:multiLvlStrCache>
                <c:ptCount val="25"/>
                <c:lvl>
                  <c:pt idx="0">
                    <c:v>08:00</c:v>
                  </c:pt>
                  <c:pt idx="1">
                    <c:v>08:15</c:v>
                  </c:pt>
                  <c:pt idx="2">
                    <c:v>08:30</c:v>
                  </c:pt>
                  <c:pt idx="3">
                    <c:v>08:45</c:v>
                  </c:pt>
                  <c:pt idx="4">
                    <c:v>09:00</c:v>
                  </c:pt>
                  <c:pt idx="5">
                    <c:v>09:15</c:v>
                  </c:pt>
                  <c:pt idx="6">
                    <c:v>09:30</c:v>
                  </c:pt>
                  <c:pt idx="7">
                    <c:v>09:45</c:v>
                  </c:pt>
                  <c:pt idx="8">
                    <c:v>10:00</c:v>
                  </c:pt>
                  <c:pt idx="9">
                    <c:v>10:15</c:v>
                  </c:pt>
                  <c:pt idx="10">
                    <c:v>10:30</c:v>
                  </c:pt>
                  <c:pt idx="11">
                    <c:v>10:45</c:v>
                  </c:pt>
                  <c:pt idx="12">
                    <c:v>11:00</c:v>
                  </c:pt>
                  <c:pt idx="13">
                    <c:v>11:15</c:v>
                  </c:pt>
                  <c:pt idx="14">
                    <c:v>11:30</c:v>
                  </c:pt>
                  <c:pt idx="15">
                    <c:v>11:45</c:v>
                  </c:pt>
                  <c:pt idx="16">
                    <c:v>12:00</c:v>
                  </c:pt>
                  <c:pt idx="17">
                    <c:v>12:15</c:v>
                  </c:pt>
                  <c:pt idx="18">
                    <c:v>12:30</c:v>
                  </c:pt>
                  <c:pt idx="19">
                    <c:v>12:45</c:v>
                  </c:pt>
                  <c:pt idx="20">
                    <c:v>13:00</c:v>
                  </c:pt>
                  <c:pt idx="21">
                    <c:v>13:15</c:v>
                  </c:pt>
                  <c:pt idx="22">
                    <c:v>13:30</c:v>
                  </c:pt>
                  <c:pt idx="23">
                    <c:v>13:45</c:v>
                  </c:pt>
                  <c:pt idx="24">
                    <c:v>14:00</c:v>
                  </c:pt>
                </c:lvl>
              </c:multiLvlStrCache>
            </c:multiLvl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99</c:v>
                </c:pt>
                <c:pt idx="1">
                  <c:v>112</c:v>
                </c:pt>
                <c:pt idx="2">
                  <c:v>133.3</c:v>
                </c:pt>
                <c:pt idx="3">
                  <c:v>129</c:v>
                </c:pt>
                <c:pt idx="4">
                  <c:v>113</c:v>
                </c:pt>
                <c:pt idx="5">
                  <c:v>105.3</c:v>
                </c:pt>
                <c:pt idx="6">
                  <c:v>108.7</c:v>
                </c:pt>
                <c:pt idx="7">
                  <c:v>108.7</c:v>
                </c:pt>
                <c:pt idx="8">
                  <c:v>106</c:v>
                </c:pt>
                <c:pt idx="9">
                  <c:v>120</c:v>
                </c:pt>
                <c:pt idx="10">
                  <c:v>130.3</c:v>
                </c:pt>
                <c:pt idx="11">
                  <c:v>125.3</c:v>
                </c:pt>
                <c:pt idx="12">
                  <c:v>120.3</c:v>
                </c:pt>
                <c:pt idx="13">
                  <c:v>135</c:v>
                </c:pt>
                <c:pt idx="14">
                  <c:v>152.7</c:v>
                </c:pt>
                <c:pt idx="15">
                  <c:v>143</c:v>
                </c:pt>
                <c:pt idx="16">
                  <c:v>139</c:v>
                </c:pt>
                <c:pt idx="17">
                  <c:v>129.7</c:v>
                </c:pt>
                <c:pt idx="18">
                  <c:v>119</c:v>
                </c:pt>
                <c:pt idx="19">
                  <c:v>131</c:v>
                </c:pt>
                <c:pt idx="20">
                  <c:v>143</c:v>
                </c:pt>
                <c:pt idx="21">
                  <c:v>136.7</c:v>
                </c:pt>
                <c:pt idx="22">
                  <c:v>138</c:v>
                </c:pt>
                <c:pt idx="23">
                  <c:v>140.3</c:v>
                </c:pt>
                <c:pt idx="24">
                  <c:v>129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スムージー摂取</c:v>
                </c:pt>
              </c:strCache>
            </c:strRef>
          </c:tx>
          <c:spPr>
            <a:solidFill>
              <a:srgbClr val="EB6834"/>
            </a:solidFill>
            <a:ln w="31750" cap="flat">
              <a:solidFill>
                <a:srgbClr val="EB683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EB6834"/>
              </a:solidFill>
              <a:ln w="9525" cap="flat">
                <a:solidFill>
                  <a:srgbClr val="EB683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</c:f>
              <c:multiLvlStrCache>
                <c:ptCount val="25"/>
                <c:lvl>
                  <c:pt idx="0">
                    <c:v>08:00</c:v>
                  </c:pt>
                  <c:pt idx="1">
                    <c:v>08:15</c:v>
                  </c:pt>
                  <c:pt idx="2">
                    <c:v>08:30</c:v>
                  </c:pt>
                  <c:pt idx="3">
                    <c:v>08:45</c:v>
                  </c:pt>
                  <c:pt idx="4">
                    <c:v>09:00</c:v>
                  </c:pt>
                  <c:pt idx="5">
                    <c:v>09:15</c:v>
                  </c:pt>
                  <c:pt idx="6">
                    <c:v>09:30</c:v>
                  </c:pt>
                  <c:pt idx="7">
                    <c:v>09:45</c:v>
                  </c:pt>
                  <c:pt idx="8">
                    <c:v>10:00</c:v>
                  </c:pt>
                  <c:pt idx="9">
                    <c:v>10:15</c:v>
                  </c:pt>
                  <c:pt idx="10">
                    <c:v>10:30</c:v>
                  </c:pt>
                  <c:pt idx="11">
                    <c:v>10:45</c:v>
                  </c:pt>
                  <c:pt idx="12">
                    <c:v>11:00</c:v>
                  </c:pt>
                  <c:pt idx="13">
                    <c:v>11:15</c:v>
                  </c:pt>
                  <c:pt idx="14">
                    <c:v>11:30</c:v>
                  </c:pt>
                  <c:pt idx="15">
                    <c:v>11:45</c:v>
                  </c:pt>
                  <c:pt idx="16">
                    <c:v>12:00</c:v>
                  </c:pt>
                  <c:pt idx="17">
                    <c:v>12:15</c:v>
                  </c:pt>
                  <c:pt idx="18">
                    <c:v>12:30</c:v>
                  </c:pt>
                  <c:pt idx="19">
                    <c:v>12:45</c:v>
                  </c:pt>
                  <c:pt idx="20">
                    <c:v>13:00</c:v>
                  </c:pt>
                  <c:pt idx="21">
                    <c:v>13:15</c:v>
                  </c:pt>
                  <c:pt idx="22">
                    <c:v>13:30</c:v>
                  </c:pt>
                  <c:pt idx="23">
                    <c:v>13:45</c:v>
                  </c:pt>
                  <c:pt idx="24">
                    <c:v>14:00</c:v>
                  </c:pt>
                </c:lvl>
              </c:multiLvlStrCache>
            </c:multiLvlStrRef>
          </c:cat>
          <c:val>
            <c:numRef>
              <c:f>Sheet1!$C$2:$C$26</c:f>
              <c:numCache>
                <c:formatCode>General</c:formatCode>
                <c:ptCount val="25"/>
                <c:pt idx="0">
                  <c:v>159.3</c:v>
                </c:pt>
                <c:pt idx="1">
                  <c:v>163</c:v>
                </c:pt>
                <c:pt idx="2">
                  <c:v>182</c:v>
                </c:pt>
                <c:pt idx="3">
                  <c:v>202.7</c:v>
                </c:pt>
                <c:pt idx="4">
                  <c:v>193.7</c:v>
                </c:pt>
                <c:pt idx="5">
                  <c:v>163.7</c:v>
                </c:pt>
                <c:pt idx="6">
                  <c:v>149</c:v>
                </c:pt>
                <c:pt idx="7">
                  <c:v>148.7</c:v>
                </c:pt>
                <c:pt idx="8">
                  <c:v>154.7</c:v>
                </c:pt>
                <c:pt idx="9">
                  <c:v>179.3</c:v>
                </c:pt>
                <c:pt idx="10">
                  <c:v>194.3</c:v>
                </c:pt>
                <c:pt idx="11">
                  <c:v>226</c:v>
                </c:pt>
                <c:pt idx="12">
                  <c:v>226.3</c:v>
                </c:pt>
                <c:pt idx="13">
                  <c:v>223</c:v>
                </c:pt>
                <c:pt idx="14">
                  <c:v>239.7</c:v>
                </c:pt>
                <c:pt idx="15">
                  <c:v>244.3</c:v>
                </c:pt>
                <c:pt idx="16">
                  <c:v>213.7</c:v>
                </c:pt>
                <c:pt idx="17">
                  <c:v>225</c:v>
                </c:pt>
                <c:pt idx="18">
                  <c:v>218.3</c:v>
                </c:pt>
                <c:pt idx="19">
                  <c:v>218.7</c:v>
                </c:pt>
                <c:pt idx="20">
                  <c:v>224.7</c:v>
                </c:pt>
                <c:pt idx="21">
                  <c:v>207</c:v>
                </c:pt>
                <c:pt idx="22">
                  <c:v>212.3</c:v>
                </c:pt>
                <c:pt idx="23">
                  <c:v>222.7</c:v>
                </c:pt>
                <c:pt idx="24">
                  <c:v>211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おにぎり＋スムージー</c:v>
                </c:pt>
              </c:strCache>
            </c:strRef>
          </c:tx>
          <c:spPr>
            <a:solidFill>
              <a:srgbClr val="1BAF7A"/>
            </a:solidFill>
            <a:ln w="31750" cap="flat">
              <a:solidFill>
                <a:srgbClr val="1BAF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BAF7A"/>
              </a:solidFill>
              <a:ln w="9525" cap="flat">
                <a:solidFill>
                  <a:srgbClr val="1BAF7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</c:f>
              <c:multiLvlStrCache>
                <c:ptCount val="25"/>
                <c:lvl>
                  <c:pt idx="0">
                    <c:v>08:00</c:v>
                  </c:pt>
                  <c:pt idx="1">
                    <c:v>08:15</c:v>
                  </c:pt>
                  <c:pt idx="2">
                    <c:v>08:30</c:v>
                  </c:pt>
                  <c:pt idx="3">
                    <c:v>08:45</c:v>
                  </c:pt>
                  <c:pt idx="4">
                    <c:v>09:00</c:v>
                  </c:pt>
                  <c:pt idx="5">
                    <c:v>09:15</c:v>
                  </c:pt>
                  <c:pt idx="6">
                    <c:v>09:30</c:v>
                  </c:pt>
                  <c:pt idx="7">
                    <c:v>09:45</c:v>
                  </c:pt>
                  <c:pt idx="8">
                    <c:v>10:00</c:v>
                  </c:pt>
                  <c:pt idx="9">
                    <c:v>10:15</c:v>
                  </c:pt>
                  <c:pt idx="10">
                    <c:v>10:30</c:v>
                  </c:pt>
                  <c:pt idx="11">
                    <c:v>10:45</c:v>
                  </c:pt>
                  <c:pt idx="12">
                    <c:v>11:00</c:v>
                  </c:pt>
                  <c:pt idx="13">
                    <c:v>11:15</c:v>
                  </c:pt>
                  <c:pt idx="14">
                    <c:v>11:30</c:v>
                  </c:pt>
                  <c:pt idx="15">
                    <c:v>11:45</c:v>
                  </c:pt>
                  <c:pt idx="16">
                    <c:v>12:00</c:v>
                  </c:pt>
                  <c:pt idx="17">
                    <c:v>12:15</c:v>
                  </c:pt>
                  <c:pt idx="18">
                    <c:v>12:30</c:v>
                  </c:pt>
                  <c:pt idx="19">
                    <c:v>12:45</c:v>
                  </c:pt>
                  <c:pt idx="20">
                    <c:v>13:00</c:v>
                  </c:pt>
                  <c:pt idx="21">
                    <c:v>13:15</c:v>
                  </c:pt>
                  <c:pt idx="22">
                    <c:v>13:30</c:v>
                  </c:pt>
                  <c:pt idx="23">
                    <c:v>13:45</c:v>
                  </c:pt>
                  <c:pt idx="24">
                    <c:v>14:00</c:v>
                  </c:pt>
                </c:lvl>
              </c:multiLvlStrCache>
            </c:multiLvlStrRef>
          </c:cat>
          <c:val>
            <c:numRef>
              <c:f>Sheet1!$D$2:$D$26</c:f>
              <c:numCache>
                <c:formatCode>General</c:formatCode>
                <c:ptCount val="25"/>
                <c:pt idx="0">
                  <c:v>164.3</c:v>
                </c:pt>
                <c:pt idx="1">
                  <c:v>169.3</c:v>
                </c:pt>
                <c:pt idx="2">
                  <c:v>208.7</c:v>
                </c:pt>
                <c:pt idx="3">
                  <c:v>235</c:v>
                </c:pt>
                <c:pt idx="4">
                  <c:v>225.7</c:v>
                </c:pt>
                <c:pt idx="5">
                  <c:v>219.3</c:v>
                </c:pt>
                <c:pt idx="6">
                  <c:v>207.3</c:v>
                </c:pt>
                <c:pt idx="7">
                  <c:v>212.3</c:v>
                </c:pt>
                <c:pt idx="8">
                  <c:v>207</c:v>
                </c:pt>
                <c:pt idx="9">
                  <c:v>191.3</c:v>
                </c:pt>
                <c:pt idx="10">
                  <c:v>188</c:v>
                </c:pt>
                <c:pt idx="11">
                  <c:v>185</c:v>
                </c:pt>
                <c:pt idx="12">
                  <c:v>182.7</c:v>
                </c:pt>
                <c:pt idx="13">
                  <c:v>193</c:v>
                </c:pt>
                <c:pt idx="14">
                  <c:v>208</c:v>
                </c:pt>
                <c:pt idx="15">
                  <c:v>226.3</c:v>
                </c:pt>
                <c:pt idx="16">
                  <c:v>229</c:v>
                </c:pt>
                <c:pt idx="17">
                  <c:v>227.3</c:v>
                </c:pt>
                <c:pt idx="18">
                  <c:v>231.3</c:v>
                </c:pt>
                <c:pt idx="19">
                  <c:v>242.3</c:v>
                </c:pt>
                <c:pt idx="20">
                  <c:v>236.7</c:v>
                </c:pt>
                <c:pt idx="21">
                  <c:v>224.7</c:v>
                </c:pt>
                <c:pt idx="22">
                  <c:v>219.3</c:v>
                </c:pt>
                <c:pt idx="23">
                  <c:v>218.7</c:v>
                </c:pt>
                <c:pt idx="24">
                  <c:v>222.3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おにぎり＋糖質減</c:v>
                </c:pt>
              </c:strCache>
            </c:strRef>
          </c:tx>
          <c:spPr>
            <a:solidFill>
              <a:srgbClr val="EDA100"/>
            </a:solidFill>
            <a:ln w="31750" cap="flat">
              <a:solidFill>
                <a:srgbClr val="EDA1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EDA100"/>
              </a:solidFill>
              <a:ln w="9525" cap="flat">
                <a:solidFill>
                  <a:srgbClr val="EDA1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</c:f>
              <c:multiLvlStrCache>
                <c:ptCount val="25"/>
                <c:lvl>
                  <c:pt idx="0">
                    <c:v>08:00</c:v>
                  </c:pt>
                  <c:pt idx="1">
                    <c:v>08:15</c:v>
                  </c:pt>
                  <c:pt idx="2">
                    <c:v>08:30</c:v>
                  </c:pt>
                  <c:pt idx="3">
                    <c:v>08:45</c:v>
                  </c:pt>
                  <c:pt idx="4">
                    <c:v>09:00</c:v>
                  </c:pt>
                  <c:pt idx="5">
                    <c:v>09:15</c:v>
                  </c:pt>
                  <c:pt idx="6">
                    <c:v>09:30</c:v>
                  </c:pt>
                  <c:pt idx="7">
                    <c:v>09:45</c:v>
                  </c:pt>
                  <c:pt idx="8">
                    <c:v>10:00</c:v>
                  </c:pt>
                  <c:pt idx="9">
                    <c:v>10:15</c:v>
                  </c:pt>
                  <c:pt idx="10">
                    <c:v>10:30</c:v>
                  </c:pt>
                  <c:pt idx="11">
                    <c:v>10:45</c:v>
                  </c:pt>
                  <c:pt idx="12">
                    <c:v>11:00</c:v>
                  </c:pt>
                  <c:pt idx="13">
                    <c:v>11:15</c:v>
                  </c:pt>
                  <c:pt idx="14">
                    <c:v>11:30</c:v>
                  </c:pt>
                  <c:pt idx="15">
                    <c:v>11:45</c:v>
                  </c:pt>
                  <c:pt idx="16">
                    <c:v>12:00</c:v>
                  </c:pt>
                  <c:pt idx="17">
                    <c:v>12:15</c:v>
                  </c:pt>
                  <c:pt idx="18">
                    <c:v>12:30</c:v>
                  </c:pt>
                  <c:pt idx="19">
                    <c:v>12:45</c:v>
                  </c:pt>
                  <c:pt idx="20">
                    <c:v>13:00</c:v>
                  </c:pt>
                  <c:pt idx="21">
                    <c:v>13:15</c:v>
                  </c:pt>
                  <c:pt idx="22">
                    <c:v>13:30</c:v>
                  </c:pt>
                  <c:pt idx="23">
                    <c:v>13:45</c:v>
                  </c:pt>
                  <c:pt idx="24">
                    <c:v>14:00</c:v>
                  </c:pt>
                </c:lvl>
              </c:multiLvlStrCache>
            </c:multiLvlStrRef>
          </c:cat>
          <c:val>
            <c:numRef>
              <c:f>Sheet1!$E$2:$E$26</c:f>
              <c:numCache>
                <c:formatCode>General</c:formatCode>
                <c:ptCount val="25"/>
                <c:pt idx="0">
                  <c:v>166</c:v>
                </c:pt>
                <c:pt idx="1">
                  <c:v>183.7</c:v>
                </c:pt>
                <c:pt idx="2">
                  <c:v>217</c:v>
                </c:pt>
                <c:pt idx="3">
                  <c:v>197</c:v>
                </c:pt>
                <c:pt idx="4">
                  <c:v>193.7</c:v>
                </c:pt>
                <c:pt idx="5">
                  <c:v>193.7</c:v>
                </c:pt>
                <c:pt idx="6">
                  <c:v>198.7</c:v>
                </c:pt>
                <c:pt idx="7">
                  <c:v>185.3</c:v>
                </c:pt>
                <c:pt idx="8">
                  <c:v>174.3</c:v>
                </c:pt>
                <c:pt idx="9">
                  <c:v>172.3</c:v>
                </c:pt>
                <c:pt idx="10">
                  <c:v>199.7</c:v>
                </c:pt>
                <c:pt idx="11">
                  <c:v>217.7</c:v>
                </c:pt>
                <c:pt idx="12">
                  <c:v>211</c:v>
                </c:pt>
                <c:pt idx="13">
                  <c:v>195</c:v>
                </c:pt>
                <c:pt idx="14">
                  <c:v>218.3</c:v>
                </c:pt>
                <c:pt idx="15">
                  <c:v>235</c:v>
                </c:pt>
                <c:pt idx="16">
                  <c:v>237</c:v>
                </c:pt>
                <c:pt idx="17">
                  <c:v>225.7</c:v>
                </c:pt>
                <c:pt idx="18">
                  <c:v>226.7</c:v>
                </c:pt>
                <c:pt idx="19">
                  <c:v>241</c:v>
                </c:pt>
                <c:pt idx="20">
                  <c:v>245</c:v>
                </c:pt>
                <c:pt idx="21">
                  <c:v>242.3</c:v>
                </c:pt>
                <c:pt idx="22">
                  <c:v>250.3</c:v>
                </c:pt>
                <c:pt idx="23">
                  <c:v>241</c:v>
                </c:pt>
                <c:pt idx="24">
                  <c:v>213.7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3E1DB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C65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4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3E1D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C6570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5C6570"/>
                    </a:solidFill>
                    <a:latin typeface="Arial"/>
                  </a:rPr>
                  <a:t>血糖値 (mg/dL)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E3E1DB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C65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A1A1A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Δピーク血糖値 (mg/dL)</c:v>
                </c:pt>
              </c:strCache>
            </c:strRef>
          </c:tx>
          <c:spPr>
            <a:solidFill>
              <a:srgbClr val="2A78D6">
                <a:alpha val="100000"/>
              </a:srgbClr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B683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BAF7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DA100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固形</c:v>
                  </c:pt>
                  <c:pt idx="1">
                    <c:v>スムージー</c:v>
                  </c:pt>
                  <c:pt idx="2">
                    <c:v>おにぎり+スムージー</c:v>
                  </c:pt>
                  <c:pt idx="3">
                    <c:v>おにぎり+糖質減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53.7</c:v>
                </c:pt>
                <c:pt idx="1">
                  <c:v>85</c:v>
                </c:pt>
                <c:pt idx="2">
                  <c:v>78</c:v>
                </c:pt>
                <c:pt idx="3">
                  <c:v>84.3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5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3E1DB"/>
            </a:solidFill>
            <a:prstDash val="solid"/>
            <a:round/>
          </a:ln>
        </c:spPr>
        <c:txPr>
          <a:bodyPr rot="1200000"/>
          <a:lstStyle/>
          <a:p>
            <a:pPr>
              <a:defRPr sz="950" b="0" i="0" u="none" strike="noStrike">
                <a:solidFill>
                  <a:srgbClr val="5C65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E3E1DB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iAUC 2時間 (mg/dL・分)</c:v>
                </c:pt>
              </c:strCache>
            </c:strRef>
          </c:tx>
          <c:spPr>
            <a:solidFill>
              <a:srgbClr val="2A78D6">
                <a:alpha val="100000"/>
              </a:srgbClr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B683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BAF7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DA100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固形</c:v>
                  </c:pt>
                  <c:pt idx="1">
                    <c:v>スムージー</c:v>
                  </c:pt>
                  <c:pt idx="2">
                    <c:v>おにぎり+スムージー</c:v>
                  </c:pt>
                  <c:pt idx="3">
                    <c:v>おにぎり+糖質減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1807.5</c:v>
                </c:pt>
                <c:pt idx="1">
                  <c:v>1625</c:v>
                </c:pt>
                <c:pt idx="2">
                  <c:v>5230</c:v>
                </c:pt>
                <c:pt idx="3">
                  <c:v>3167.5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5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3E1DB"/>
            </a:solidFill>
            <a:prstDash val="solid"/>
            <a:round/>
          </a:ln>
        </c:spPr>
        <c:txPr>
          <a:bodyPr rot="1200000"/>
          <a:lstStyle/>
          <a:p>
            <a:pPr>
              <a:defRPr sz="950" b="0" i="0" u="none" strike="noStrike">
                <a:solidFill>
                  <a:srgbClr val="5C65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E3E1DB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変動係数 CV (%)</c:v>
                </c:pt>
              </c:strCache>
            </c:strRef>
          </c:tx>
          <c:spPr>
            <a:solidFill>
              <a:srgbClr val="2A78D6">
                <a:alpha val="100000"/>
              </a:srgbClr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B683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BAF7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DA100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固形</c:v>
                  </c:pt>
                  <c:pt idx="1">
                    <c:v>スムージー</c:v>
                  </c:pt>
                  <c:pt idx="2">
                    <c:v>おにぎり+スムージー</c:v>
                  </c:pt>
                  <c:pt idx="3">
                    <c:v>おにぎり+糖質減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11.2</c:v>
                </c:pt>
                <c:pt idx="1">
                  <c:v>14.7</c:v>
                </c:pt>
                <c:pt idx="2">
                  <c:v>10.1</c:v>
                </c:pt>
                <c:pt idx="3">
                  <c:v>11.8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5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3E1DB"/>
            </a:solidFill>
            <a:prstDash val="solid"/>
            <a:round/>
          </a:ln>
        </c:spPr>
        <c:txPr>
          <a:bodyPr rot="1200000"/>
          <a:lstStyle/>
          <a:p>
            <a:pPr>
              <a:defRPr sz="950" b="0" i="0" u="none" strike="noStrike">
                <a:solidFill>
                  <a:srgbClr val="5C65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E3E1DB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満腹感 (0-10)</c:v>
                </c:pt>
              </c:strCache>
            </c:strRef>
          </c:tx>
          <c:spPr>
            <a:solidFill>
              <a:srgbClr val="2A78D6"/>
            </a:solidFill>
            <a:ln w="3175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8:00</c:v>
                  </c:pt>
                  <c:pt idx="1">
                    <c:v>8:30</c:v>
                  </c:pt>
                  <c:pt idx="2">
                    <c:v>9:00</c:v>
                  </c:pt>
                  <c:pt idx="3">
                    <c:v>9:30</c:v>
                  </c:pt>
                  <c:pt idx="4">
                    <c:v>10:00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2.33</c:v>
                </c:pt>
                <c:pt idx="1">
                  <c:v>7.67</c:v>
                </c:pt>
                <c:pt idx="2">
                  <c:v>5.33</c:v>
                </c:pt>
                <c:pt idx="3">
                  <c:v>5.5</c:v>
                </c:pt>
                <c:pt idx="4">
                  <c:v>3.33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吐き気 (1-5)</c:v>
                </c:pt>
              </c:strCache>
            </c:strRef>
          </c:tx>
          <c:spPr>
            <a:solidFill>
              <a:srgbClr val="E34948"/>
            </a:solidFill>
            <a:ln w="31750" cap="flat">
              <a:solidFill>
                <a:srgbClr val="E3494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34948"/>
              </a:solidFill>
              <a:ln w="9525" cap="flat">
                <a:solidFill>
                  <a:srgbClr val="E3494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8:00</c:v>
                  </c:pt>
                  <c:pt idx="1">
                    <c:v>8:30</c:v>
                  </c:pt>
                  <c:pt idx="2">
                    <c:v>9:00</c:v>
                  </c:pt>
                  <c:pt idx="3">
                    <c:v>9:30</c:v>
                  </c:pt>
                  <c:pt idx="4">
                    <c:v>10:00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2</c:v>
                </c:pt>
                <c:pt idx="4">
                  <c:v>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食欲 (0-10)</c:v>
                </c:pt>
              </c:strCache>
            </c:strRef>
          </c:tx>
          <c:spPr>
            <a:solidFill>
              <a:srgbClr val="1BAF7A"/>
            </a:solidFill>
            <a:ln w="31750" cap="flat">
              <a:solidFill>
                <a:srgbClr val="1BAF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BAF7A"/>
              </a:solidFill>
              <a:ln w="9525" cap="flat">
                <a:solidFill>
                  <a:srgbClr val="1BAF7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8:00</c:v>
                  </c:pt>
                  <c:pt idx="1">
                    <c:v>8:30</c:v>
                  </c:pt>
                  <c:pt idx="2">
                    <c:v>9:00</c:v>
                  </c:pt>
                  <c:pt idx="3">
                    <c:v>9:30</c:v>
                  </c:pt>
                  <c:pt idx="4">
                    <c:v>10:00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7</c:v>
                </c:pt>
                <c:pt idx="1">
                  <c:v>3.67</c:v>
                </c:pt>
                <c:pt idx="2">
                  <c:v>5.33</c:v>
                </c:pt>
                <c:pt idx="3">
                  <c:v>5.5</c:v>
                </c:pt>
                <c:pt idx="4">
                  <c:v>5.67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3E1DB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5C65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l"/>
        <c:majorGridlines>
          <c:spPr>
            <a:ln w="9525" cap="flat">
              <a:solidFill>
                <a:srgbClr val="E3E1D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E3E1DB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5C65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A1A1A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chart" Target="/ppt/charts/chart4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-1463040"/>
            <a:ext cx="5029200" cy="5029200"/>
          </a:xfrm>
          <a:prstGeom prst="oval">
            <a:avLst/>
          </a:prstGeom>
          <a:solidFill>
            <a:srgbClr val="065A82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1828800" y="4206240"/>
            <a:ext cx="4206240" cy="4206240"/>
          </a:xfrm>
          <a:prstGeom prst="oval">
            <a:avLst/>
          </a:prstGeom>
          <a:solidFill>
            <a:srgbClr val="1C7293">
              <a:alpha val="40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87452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150" kern="0" dirty="0">
                <a:solidFill>
                  <a:srgbClr val="8FB7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SCI車いす選手 食事介入研究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3172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おにぎり × スムージー 部分的液状化研究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2461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血糖値・コンディション比較分析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548640" y="4114800"/>
            <a:ext cx="0" cy="0"/>
          </a:xfrm>
          <a:prstGeom prst="line">
            <a:avLst/>
          </a:prstGeom>
          <a:noFill/>
          <a:ln/>
        </p:spPr>
      </p:sp>
      <p:sp>
        <p:nvSpPr>
          <p:cNvPr id="9" name="Text 7"/>
          <p:cNvSpPr txBox="1"/>
          <p:nvPr/>
        </p:nvSpPr>
        <p:spPr>
          <a:xfrm>
            <a:off x="548640" y="489204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532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比較条件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377440" y="489204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2377440" y="5532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測定日数(DAY)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206240" y="489204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4206240" y="5532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血糖測定点/日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6172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高位脊髄損傷（SCI）車いす陸上選手 1名を対象とした反復測定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86384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研究の背景と目的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02920" cy="502920"/>
          </a:xfrm>
          <a:prstGeom prst="oval">
            <a:avLst/>
          </a:prstGeom>
          <a:solidFill>
            <a:srgbClr val="065A8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664208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SCI選手の病態生理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984248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高位脊髄損傷者は交感神経の遠心路が遮断され、食後低血圧・血糖値スパイク／反応性低血糖を起こしやすい。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862072"/>
            <a:ext cx="502920" cy="502920"/>
          </a:xfrm>
          <a:prstGeom prst="oval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8620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83464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現場での気づき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315468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「おにぎり2個＋バナナ＆ヨーグルト」の副食をスムージー化したところ、練習時の出力が劇的に向上したとの報告。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4032504"/>
            <a:ext cx="502920" cy="502920"/>
          </a:xfrm>
          <a:prstGeom prst="oval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403250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4005072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作業仮説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4325112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おにぎりの満足感は残しつつ副食を部分的に液状化し、総固形物量を減らすことで胃排泄を促し、血糖・消化ストレスを回避できるのでは。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5202936"/>
            <a:ext cx="502920" cy="502920"/>
          </a:xfrm>
          <a:prstGeom prst="oval">
            <a:avLst/>
          </a:prstGeom>
          <a:solidFill>
            <a:srgbClr val="21295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520293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5175504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本分析の目的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280160" y="5495544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4条件（固形／スムージー／おにぎり＋スムージー／糖質減食）で血糖動態と自覚コンディションへの影響を比較検証する。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研究の背景と意義（提供資料より要約）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86384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4条件の摂取スケジュール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2286000"/>
        </p:xfrm>
        <a:graphic>
          <a:graphicData uri="http://schemas.openxmlformats.org/drawingml/2006/table">
            <a:tbl>
              <a:tblPr/>
              <a:tblGrid>
                <a:gridCol w="2377440"/>
                <a:gridCol w="1143000"/>
                <a:gridCol w="4754880"/>
                <a:gridCol w="281635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条件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日程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8:00の食事内容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おにぎりのタイミング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固形摂取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DAY1〜3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果物ヨーグルト（固形）のみ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約2.5〜3時間後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スムージー摂取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DAY4〜6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果物ヨーグルト（スムージー）のみ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約2.5〜3時間後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おにぎり＋スムージー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DAY8〜10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おにぎり＋スムージー（同時）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8:00に同時摂取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おにぎり＋糖質減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DAY11〜13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おにぎり＋スムージー糖質減（同時）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8:00に同時摂取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343400"/>
            <a:ext cx="11091672" cy="1691640"/>
          </a:xfrm>
          <a:prstGeom prst="roundRect">
            <a:avLst>
              <a:gd name="adj" fmla="val 6486"/>
            </a:avLst>
          </a:prstGeom>
          <a:solidFill>
            <a:srgbClr val="FDF3E2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449884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4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重要な注意点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4864608"/>
            <a:ext cx="105430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4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固形・スムージー条件は「副食のみを先に食べ、おにぎりは約2.5〜3時間後」、おにぎり＋スムージー・糖質減条件は「おにぎりと副食を同時摂取」という異なるプロトコル。4条件は形態とタイミングが同時に変わるため、純粋な形態比較ができるのは「固形 vs スムージー（副食のみ）」に限られる。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3日／条件（同一選手の反復測定）。12:00以降は自由摂取。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86384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血糖値の推移（8:00〜14:00）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00200"/>
          <a:ext cx="11091672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15分間隔・条件ごとの平均血糖値（各条件3日間平均）。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86384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主要指標の比較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7276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Δピーク血糖値 (mg/dL)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82880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最高値 − 摂取直前</a:t>
            </a:r>
            <a:endParaRPr lang="en-US" sz="10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2148840"/>
          <a:ext cx="3429000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343400" y="157276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iAUC 2時間 (mg/dL・分)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4343400" y="182880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ベースライン超過分の面積</a:t>
            </a:r>
            <a:endParaRPr lang="en-US" sz="105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4343400" y="2148840"/>
          <a:ext cx="3429000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8138160" y="157276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変動係数 CV (%)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138160" y="182880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6時間の値の乱高下</a:t>
            </a:r>
            <a:endParaRPr lang="en-US" sz="1050" dirty="0"/>
          </a:p>
        </p:txBody>
      </p:sp>
      <p:graphicFrame>
        <p:nvGraphicFramePr>
          <p:cNvPr id="12" name="Chart 2" descr=""/>
          <p:cNvGraphicFramePr/>
          <p:nvPr/>
        </p:nvGraphicFramePr>
        <p:xfrm>
          <a:off x="8138160" y="2148840"/>
          <a:ext cx="3429000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Text 8"/>
          <p:cNvSpPr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iAUC = incremental AUC（ベースライン超過分のみを積算した正味の食後上昇量）。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1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86384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スムージー vs 固形（副食のみ・純粋比較）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62956" cy="2651760"/>
          </a:xfrm>
          <a:prstGeom prst="roundRect">
            <a:avLst>
              <a:gd name="adj" fmla="val 3448"/>
            </a:avLst>
          </a:prstGeom>
          <a:solidFill>
            <a:srgbClr val="F4F7F9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920240"/>
            <a:ext cx="146304" cy="4572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143000" y="1874520"/>
            <a:ext cx="44485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固形摂取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560320"/>
            <a:ext cx="47228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53.7 mg/dL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017520"/>
            <a:ext cx="47228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Δピーク血糖値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355848"/>
            <a:ext cx="47228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11.2%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3813048"/>
            <a:ext cx="47228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変動係数 CV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77356" y="1691640"/>
            <a:ext cx="5362956" cy="2651760"/>
          </a:xfrm>
          <a:prstGeom prst="roundRect">
            <a:avLst>
              <a:gd name="adj" fmla="val 3448"/>
            </a:avLst>
          </a:prstGeom>
          <a:solidFill>
            <a:srgbClr val="F4F7F9"/>
          </a:solidFill>
          <a:ln/>
        </p:spPr>
      </p:sp>
      <p:sp>
        <p:nvSpPr>
          <p:cNvPr id="12" name="Shape 10"/>
          <p:cNvSpPr/>
          <p:nvPr/>
        </p:nvSpPr>
        <p:spPr>
          <a:xfrm>
            <a:off x="6597396" y="1920240"/>
            <a:ext cx="146304" cy="457200"/>
          </a:xfrm>
          <a:prstGeom prst="rect">
            <a:avLst/>
          </a:prstGeom>
          <a:solidFill>
            <a:srgbClr val="EB683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71716" y="1874520"/>
            <a:ext cx="44485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スムージー摂取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597396" y="2560320"/>
            <a:ext cx="47228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85.0 mg/dL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6597396" y="3017520"/>
            <a:ext cx="47228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Δピーク血糖値（1.6倍）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597396" y="3355848"/>
            <a:ext cx="47228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14.7%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6597396" y="3813048"/>
            <a:ext cx="47228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変動係数 CV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4572000"/>
            <a:ext cx="11091672" cy="1508760"/>
          </a:xfrm>
          <a:prstGeom prst="roundRect">
            <a:avLst>
              <a:gd name="adj" fmla="val 6061"/>
            </a:avLst>
          </a:prstGeom>
          <a:solidFill>
            <a:srgbClr val="EAF7F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2296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5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考察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5010912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副食を液状化するだけで血糖の上昇幅・乱高下は明確に増大。液状化は消化の負担感を下げる一方、血糖の安定には必ずしも寄与しない可能性がある。選手の「出力向上」の体感は、血糖の安定ではなく消化器系の負担軽減（内臓への血流集中の緩和）による可能性が高い。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2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86384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スムージー vs おにぎり＋スムージー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62956" cy="2651760"/>
          </a:xfrm>
          <a:prstGeom prst="roundRect">
            <a:avLst>
              <a:gd name="adj" fmla="val 3448"/>
            </a:avLst>
          </a:prstGeom>
          <a:solidFill>
            <a:srgbClr val="F4F7F9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920240"/>
            <a:ext cx="146304" cy="457200"/>
          </a:xfrm>
          <a:prstGeom prst="rect">
            <a:avLst/>
          </a:prstGeom>
          <a:solidFill>
            <a:srgbClr val="EB68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143000" y="1874520"/>
            <a:ext cx="44485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スムージー摂取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560320"/>
            <a:ext cx="47228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85.0 mg/dL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017520"/>
            <a:ext cx="47228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Δピーク血糖値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355848"/>
            <a:ext cx="47228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14.7%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3813048"/>
            <a:ext cx="47228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変動係数 CV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77356" y="1691640"/>
            <a:ext cx="5362956" cy="2651760"/>
          </a:xfrm>
          <a:prstGeom prst="roundRect">
            <a:avLst>
              <a:gd name="adj" fmla="val 3448"/>
            </a:avLst>
          </a:prstGeom>
          <a:solidFill>
            <a:srgbClr val="F4F7F9"/>
          </a:solidFill>
          <a:ln/>
        </p:spPr>
      </p:sp>
      <p:sp>
        <p:nvSpPr>
          <p:cNvPr id="12" name="Shape 10"/>
          <p:cNvSpPr/>
          <p:nvPr/>
        </p:nvSpPr>
        <p:spPr>
          <a:xfrm>
            <a:off x="6597396" y="1920240"/>
            <a:ext cx="146304" cy="4572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71716" y="1874520"/>
            <a:ext cx="44485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おにぎり＋スムージー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597396" y="2560320"/>
            <a:ext cx="47228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78.0 mg/dL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6597396" y="3017520"/>
            <a:ext cx="47228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Δピーク血糖値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597396" y="3355848"/>
            <a:ext cx="47228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10.1%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6597396" y="3813048"/>
            <a:ext cx="47228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変動係数 CV（最小）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4572000"/>
            <a:ext cx="11091672" cy="1508760"/>
          </a:xfrm>
          <a:prstGeom prst="roundRect">
            <a:avLst>
              <a:gd name="adj" fmla="val 6061"/>
            </a:avLst>
          </a:prstGeom>
          <a:solidFill>
            <a:srgbClr val="EAF7F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2296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5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考察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5010912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にぎりを同時摂取した方がΔピーク・CVともに小さい。おにぎり（固形デンプン）が副食の急激な糖吸収を緩衝し、波形がなだらかになっている可能性がある。総摂取糖質量は増えるが（iAUC絶対値は上昇）、研究背景の「総固形物量の調整による血糖・消化ストレス緩和」仮説を支持する結果。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86384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おにぎり＋スムージー vs おにぎり＋糖質減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62956" cy="2651760"/>
          </a:xfrm>
          <a:prstGeom prst="roundRect">
            <a:avLst>
              <a:gd name="adj" fmla="val 3448"/>
            </a:avLst>
          </a:prstGeom>
          <a:solidFill>
            <a:srgbClr val="F4F7F9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920240"/>
            <a:ext cx="146304" cy="4572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143000" y="1874520"/>
            <a:ext cx="44485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おにぎり＋スムージー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560320"/>
            <a:ext cx="47228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5,230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017520"/>
            <a:ext cx="47228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iAUC 2h (mg/dL・分)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355848"/>
            <a:ext cx="47228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242.3 mg/dL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3813048"/>
            <a:ext cx="47228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ピーク血糖値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77356" y="1691640"/>
            <a:ext cx="5362956" cy="2651760"/>
          </a:xfrm>
          <a:prstGeom prst="roundRect">
            <a:avLst>
              <a:gd name="adj" fmla="val 3448"/>
            </a:avLst>
          </a:prstGeom>
          <a:solidFill>
            <a:srgbClr val="F4F7F9"/>
          </a:solidFill>
          <a:ln/>
        </p:spPr>
      </p:sp>
      <p:sp>
        <p:nvSpPr>
          <p:cNvPr id="12" name="Shape 10"/>
          <p:cNvSpPr/>
          <p:nvPr/>
        </p:nvSpPr>
        <p:spPr>
          <a:xfrm>
            <a:off x="6597396" y="1920240"/>
            <a:ext cx="146304" cy="4572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71716" y="1874520"/>
            <a:ext cx="44485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おにぎり＋糖質減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597396" y="2560320"/>
            <a:ext cx="47228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DA1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3,168 (▼39%)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6597396" y="3017520"/>
            <a:ext cx="47228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iAUC 2h (mg/dL・分)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597396" y="3355848"/>
            <a:ext cx="47228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DA1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250.3 mg/dL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6597396" y="3813048"/>
            <a:ext cx="47228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ピーク血糖値（同水準）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4572000"/>
            <a:ext cx="11091672" cy="1508760"/>
          </a:xfrm>
          <a:prstGeom prst="roundRect">
            <a:avLst>
              <a:gd name="adj" fmla="val 6061"/>
            </a:avLst>
          </a:prstGeom>
          <a:solidFill>
            <a:srgbClr val="EAF7F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2296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5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考察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5010912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研究目的に最も近い比較。糖質を減らすことで食後2時間の正味の血糖上昇（iAUC）が約39%減少。ピーク自体の高さはほぼ同水準だが、上昇の「持続・面積」＝体への負荷は明確に小さい。おにぎりの満足感を保ちながら総糖質量を最適化する方針はデータ上も支持される。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86384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自覚コンディション（おにぎり＋スムージー条件, DAY8〜10）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91640"/>
          <a:ext cx="667512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909560" y="1691640"/>
            <a:ext cx="3730752" cy="4114800"/>
          </a:xfrm>
          <a:prstGeom prst="roundRect">
            <a:avLst>
              <a:gd name="adj" fmla="val 2451"/>
            </a:avLst>
          </a:prstGeom>
          <a:solidFill>
            <a:srgbClr val="EAF7F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183880" y="19202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5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良好な忍容性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183880" y="2423160"/>
            <a:ext cx="3246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頭痛：全測定点で最小値(1)のまま変化なし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3081528"/>
            <a:ext cx="3246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吐き気：ほぼ1（DAY10の9:30のみ一時的に3）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8183880" y="3739896"/>
            <a:ext cx="3246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満腹感：摂取30分後にピーク(7.7/10)、10:00には3.3まで回復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8183880" y="4398264"/>
            <a:ext cx="3246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食欲：満腹感と同期して回復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8183880" y="5056632"/>
            <a:ext cx="3246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血糖値は高めに推移する一方、自覚的な消化器症状は軽微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他3条件の同形式データは提供ファイルに未収録のため、条件間の直接比較は不可。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8FB7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86384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結論と次のステップ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84048" cy="384048"/>
          </a:xfrm>
          <a:prstGeom prst="oval">
            <a:avLst/>
          </a:prstGeom>
          <a:solidFill>
            <a:srgbClr val="1C729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71907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おにぎりを崩さず副食のみ液状化する方針は、血糖の観点からも妥当（②の結果）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514600"/>
            <a:ext cx="384048" cy="384048"/>
          </a:xfrm>
          <a:prstGeom prst="oval">
            <a:avLst/>
          </a:prstGeom>
          <a:solidFill>
            <a:srgbClr val="1C729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143000" y="249631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総糖質量の最適化（糖質減食）はiAUC 2hを約39%削減する明確な効果あり（③の結果）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291840"/>
            <a:ext cx="384048" cy="384048"/>
          </a:xfrm>
          <a:prstGeom prst="oval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143000" y="327355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おにぎり＋スムージー条件では自覚的な消化器症状（頭痛・吐き気）は軽微で忍容性は良好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160520"/>
            <a:ext cx="11091672" cy="2011680"/>
          </a:xfrm>
          <a:prstGeom prst="roundRect">
            <a:avLst>
              <a:gd name="adj" fmla="val 4545"/>
            </a:avLst>
          </a:prstGeom>
          <a:solidFill>
            <a:srgbClr val="1A235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8680" y="43434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FB7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次のステップ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4754880"/>
            <a:ext cx="10451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8:00ベースライン血糖の条件間差（60〜70 mg/dL）の要因確認（前日運動量・睡眠・センサー校正）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68680" y="5193792"/>
            <a:ext cx="10451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固形・スムージー・糖質減の3条件でも同形式のコンディションアンケートを取得し4条件フル比較を実現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868680" y="5632704"/>
            <a:ext cx="10451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練習時の出力（パワー・タイム等）データとの突合による血糖動態との相関検証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データ出典：for_AI_.xlsx／0824スケジュール.xlsx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2026-09-14T13:55:23Z</dcterms:created>
  <dcterms:modified xsi:type="dcterms:W3CDTF">2026-09-14T13:55:23Z</dcterms:modified>
</cp:coreProperties>
</file>