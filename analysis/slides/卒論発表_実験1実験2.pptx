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固形摂取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08:00</c:v>
                  </c:pt>
                  <c:pt idx="1">
                    <c:v>08:15</c:v>
                  </c:pt>
                  <c:pt idx="2">
                    <c:v>08:30</c:v>
                  </c:pt>
                  <c:pt idx="3">
                    <c:v>08:45</c:v>
                  </c:pt>
                  <c:pt idx="4">
                    <c:v>09:00</c:v>
                  </c:pt>
                  <c:pt idx="5">
                    <c:v>09:15</c:v>
                  </c:pt>
                  <c:pt idx="6">
                    <c:v>09:30</c:v>
                  </c:pt>
                  <c:pt idx="7">
                    <c:v>09:45</c:v>
                  </c:pt>
                  <c:pt idx="8">
                    <c:v>10:00</c:v>
                  </c:pt>
                  <c:pt idx="9">
                    <c:v>10:15</c:v>
                  </c:pt>
                  <c:pt idx="10">
                    <c:v>10:30</c:v>
                  </c:pt>
                  <c:pt idx="11">
                    <c:v>10:45</c:v>
                  </c:pt>
                  <c:pt idx="12">
                    <c:v>11:00</c:v>
                  </c:pt>
                  <c:pt idx="13">
                    <c:v>11:15</c:v>
                  </c:pt>
                  <c:pt idx="14">
                    <c:v>11:30</c:v>
                  </c:pt>
                  <c:pt idx="15">
                    <c:v>11:45</c:v>
                  </c:pt>
                  <c:pt idx="16">
                    <c:v>12:00</c:v>
                  </c:pt>
                  <c:pt idx="17">
                    <c:v>12:15</c:v>
                  </c:pt>
                  <c:pt idx="18">
                    <c:v>12:30</c:v>
                  </c:pt>
                  <c:pt idx="19">
                    <c:v>12:45</c:v>
                  </c:pt>
                  <c:pt idx="20">
                    <c:v>13:00</c:v>
                  </c:pt>
                  <c:pt idx="21">
                    <c:v>13:15</c:v>
                  </c:pt>
                  <c:pt idx="22">
                    <c:v>13:30</c:v>
                  </c:pt>
                  <c:pt idx="23">
                    <c:v>13:45</c:v>
                  </c:pt>
                  <c:pt idx="24">
                    <c:v>14:00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99</c:v>
                </c:pt>
                <c:pt idx="1">
                  <c:v>112</c:v>
                </c:pt>
                <c:pt idx="2">
                  <c:v>133.3</c:v>
                </c:pt>
                <c:pt idx="3">
                  <c:v>129</c:v>
                </c:pt>
                <c:pt idx="4">
                  <c:v>113</c:v>
                </c:pt>
                <c:pt idx="5">
                  <c:v>105.3</c:v>
                </c:pt>
                <c:pt idx="6">
                  <c:v>108.7</c:v>
                </c:pt>
                <c:pt idx="7">
                  <c:v>108.7</c:v>
                </c:pt>
                <c:pt idx="8">
                  <c:v>106</c:v>
                </c:pt>
                <c:pt idx="9">
                  <c:v>120</c:v>
                </c:pt>
                <c:pt idx="10">
                  <c:v>130.3</c:v>
                </c:pt>
                <c:pt idx="11">
                  <c:v>125.3</c:v>
                </c:pt>
                <c:pt idx="12">
                  <c:v>120.3</c:v>
                </c:pt>
                <c:pt idx="13">
                  <c:v>135</c:v>
                </c:pt>
                <c:pt idx="14">
                  <c:v>152.7</c:v>
                </c:pt>
                <c:pt idx="15">
                  <c:v>143</c:v>
                </c:pt>
                <c:pt idx="16">
                  <c:v>139</c:v>
                </c:pt>
                <c:pt idx="17">
                  <c:v>129.7</c:v>
                </c:pt>
                <c:pt idx="18">
                  <c:v>119</c:v>
                </c:pt>
                <c:pt idx="19">
                  <c:v>131</c:v>
                </c:pt>
                <c:pt idx="20">
                  <c:v>143</c:v>
                </c:pt>
                <c:pt idx="21">
                  <c:v>136.7</c:v>
                </c:pt>
                <c:pt idx="22">
                  <c:v>138</c:v>
                </c:pt>
                <c:pt idx="23">
                  <c:v>140.3</c:v>
                </c:pt>
                <c:pt idx="24">
                  <c:v>129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スムージー摂取</c:v>
                </c:pt>
              </c:strCache>
            </c:strRef>
          </c:tx>
          <c:spPr>
            <a:solidFill>
              <a:srgbClr val="EB6834"/>
            </a:solidFill>
            <a:ln w="3175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08:00</c:v>
                  </c:pt>
                  <c:pt idx="1">
                    <c:v>08:15</c:v>
                  </c:pt>
                  <c:pt idx="2">
                    <c:v>08:30</c:v>
                  </c:pt>
                  <c:pt idx="3">
                    <c:v>08:45</c:v>
                  </c:pt>
                  <c:pt idx="4">
                    <c:v>09:00</c:v>
                  </c:pt>
                  <c:pt idx="5">
                    <c:v>09:15</c:v>
                  </c:pt>
                  <c:pt idx="6">
                    <c:v>09:30</c:v>
                  </c:pt>
                  <c:pt idx="7">
                    <c:v>09:45</c:v>
                  </c:pt>
                  <c:pt idx="8">
                    <c:v>10:00</c:v>
                  </c:pt>
                  <c:pt idx="9">
                    <c:v>10:15</c:v>
                  </c:pt>
                  <c:pt idx="10">
                    <c:v>10:30</c:v>
                  </c:pt>
                  <c:pt idx="11">
                    <c:v>10:45</c:v>
                  </c:pt>
                  <c:pt idx="12">
                    <c:v>11:00</c:v>
                  </c:pt>
                  <c:pt idx="13">
                    <c:v>11:15</c:v>
                  </c:pt>
                  <c:pt idx="14">
                    <c:v>11:30</c:v>
                  </c:pt>
                  <c:pt idx="15">
                    <c:v>11:45</c:v>
                  </c:pt>
                  <c:pt idx="16">
                    <c:v>12:00</c:v>
                  </c:pt>
                  <c:pt idx="17">
                    <c:v>12:15</c:v>
                  </c:pt>
                  <c:pt idx="18">
                    <c:v>12:30</c:v>
                  </c:pt>
                  <c:pt idx="19">
                    <c:v>12:45</c:v>
                  </c:pt>
                  <c:pt idx="20">
                    <c:v>13:00</c:v>
                  </c:pt>
                  <c:pt idx="21">
                    <c:v>13:15</c:v>
                  </c:pt>
                  <c:pt idx="22">
                    <c:v>13:30</c:v>
                  </c:pt>
                  <c:pt idx="23">
                    <c:v>13:45</c:v>
                  </c:pt>
                  <c:pt idx="24">
                    <c:v>14:00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159.3</c:v>
                </c:pt>
                <c:pt idx="1">
                  <c:v>163</c:v>
                </c:pt>
                <c:pt idx="2">
                  <c:v>182</c:v>
                </c:pt>
                <c:pt idx="3">
                  <c:v>202.7</c:v>
                </c:pt>
                <c:pt idx="4">
                  <c:v>193.7</c:v>
                </c:pt>
                <c:pt idx="5">
                  <c:v>163.7</c:v>
                </c:pt>
                <c:pt idx="6">
                  <c:v>149</c:v>
                </c:pt>
                <c:pt idx="7">
                  <c:v>148.7</c:v>
                </c:pt>
                <c:pt idx="8">
                  <c:v>154.7</c:v>
                </c:pt>
                <c:pt idx="9">
                  <c:v>179.3</c:v>
                </c:pt>
                <c:pt idx="10">
                  <c:v>194.3</c:v>
                </c:pt>
                <c:pt idx="11">
                  <c:v>226</c:v>
                </c:pt>
                <c:pt idx="12">
                  <c:v>226.3</c:v>
                </c:pt>
                <c:pt idx="13">
                  <c:v>223</c:v>
                </c:pt>
                <c:pt idx="14">
                  <c:v>239.7</c:v>
                </c:pt>
                <c:pt idx="15">
                  <c:v>244.3</c:v>
                </c:pt>
                <c:pt idx="16">
                  <c:v>213.7</c:v>
                </c:pt>
                <c:pt idx="17">
                  <c:v>225</c:v>
                </c:pt>
                <c:pt idx="18">
                  <c:v>218.3</c:v>
                </c:pt>
                <c:pt idx="19">
                  <c:v>218.7</c:v>
                </c:pt>
                <c:pt idx="20">
                  <c:v>224.7</c:v>
                </c:pt>
                <c:pt idx="21">
                  <c:v>207</c:v>
                </c:pt>
                <c:pt idx="22">
                  <c:v>212.3</c:v>
                </c:pt>
                <c:pt idx="23">
                  <c:v>222.7</c:v>
                </c:pt>
                <c:pt idx="24">
                  <c:v>211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1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5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570"/>
                    </a:solidFill>
                    <a:latin typeface="Arial"/>
                  </a:rPr>
                  <a:t>血糖値 (mg/dL)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Δピーク血糖値 (mg/dL)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固形</c:v>
                  </c:pt>
                  <c:pt idx="1">
                    <c:v>スムージー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53.7</c:v>
                </c:pt>
                <c:pt idx="1">
                  <c:v>85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変動係数 CV (%)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固形</c:v>
                  </c:pt>
                  <c:pt idx="1">
                    <c:v>スムージー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11.2</c:v>
                </c:pt>
                <c:pt idx="1">
                  <c:v>14.7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練習中(11-14h)平均血糖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固形</c:v>
                  </c:pt>
                  <c:pt idx="1">
                    <c:v>スムージー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135.1</c:v>
                </c:pt>
                <c:pt idx="1">
                  <c:v>222.1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固形摂取</c:v>
                </c:pt>
              </c:strCache>
            </c:strRef>
          </c:tx>
          <c:spPr>
            <a:solidFill>
              <a:srgbClr val="2A78D6"/>
            </a:solidFill>
            <a:ln w="28575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8:00</c:v>
                  </c:pt>
                  <c:pt idx="1">
                    <c:v>8:30</c:v>
                  </c:pt>
                  <c:pt idx="2">
                    <c:v>9:00</c:v>
                  </c:pt>
                  <c:pt idx="3">
                    <c:v>9:30</c:v>
                  </c:pt>
                  <c:pt idx="4">
                    <c:v>10:00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1.67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スムージー摂取</c:v>
                </c:pt>
              </c:strCache>
            </c:strRef>
          </c:tx>
          <c:spPr>
            <a:solidFill>
              <a:srgbClr val="EB6834"/>
            </a:solidFill>
            <a:ln w="28575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8:00</c:v>
                  </c:pt>
                  <c:pt idx="1">
                    <c:v>8:30</c:v>
                  </c:pt>
                  <c:pt idx="2">
                    <c:v>9:00</c:v>
                  </c:pt>
                  <c:pt idx="3">
                    <c:v>9:30</c:v>
                  </c:pt>
                  <c:pt idx="4">
                    <c:v>10:00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3.33</c:v>
                </c:pt>
                <c:pt idx="1">
                  <c:v>3.67</c:v>
                </c:pt>
                <c:pt idx="2">
                  <c:v>5</c:v>
                </c:pt>
                <c:pt idx="3">
                  <c:v>2</c:v>
                </c:pt>
                <c:pt idx="4">
                  <c:v>1.33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3E1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固形摂取</c:v>
                </c:pt>
              </c:strCache>
            </c:strRef>
          </c:tx>
          <c:spPr>
            <a:solidFill>
              <a:srgbClr val="2A78D6"/>
            </a:solidFill>
            <a:ln w="28575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8:00</c:v>
                  </c:pt>
                  <c:pt idx="1">
                    <c:v>8:30</c:v>
                  </c:pt>
                  <c:pt idx="2">
                    <c:v>9:00</c:v>
                  </c:pt>
                  <c:pt idx="3">
                    <c:v>9:30</c:v>
                  </c:pt>
                  <c:pt idx="4">
                    <c:v>10:00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7.67</c:v>
                </c:pt>
                <c:pt idx="1">
                  <c:v>8</c:v>
                </c:pt>
                <c:pt idx="2">
                  <c:v>7</c:v>
                </c:pt>
                <c:pt idx="3">
                  <c:v>7.67</c:v>
                </c:pt>
                <c:pt idx="4">
                  <c:v>7.67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スムージー摂取</c:v>
                </c:pt>
              </c:strCache>
            </c:strRef>
          </c:tx>
          <c:spPr>
            <a:solidFill>
              <a:srgbClr val="EB6834"/>
            </a:solidFill>
            <a:ln w="28575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8:00</c:v>
                  </c:pt>
                  <c:pt idx="1">
                    <c:v>8:30</c:v>
                  </c:pt>
                  <c:pt idx="2">
                    <c:v>9:00</c:v>
                  </c:pt>
                  <c:pt idx="3">
                    <c:v>9:30</c:v>
                  </c:pt>
                  <c:pt idx="4">
                    <c:v>10:00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8.67</c:v>
                </c:pt>
                <c:pt idx="1">
                  <c:v>6.33</c:v>
                </c:pt>
                <c:pt idx="2">
                  <c:v>5.5</c:v>
                </c:pt>
                <c:pt idx="3">
                  <c:v>7.67</c:v>
                </c:pt>
                <c:pt idx="4">
                  <c:v>8.67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3E1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おにぎり＋スムージー</c:v>
                </c:pt>
              </c:strCache>
            </c:strRef>
          </c:tx>
          <c:spPr>
            <a:solidFill>
              <a:srgbClr val="1BAF7A"/>
            </a:solidFill>
            <a:ln w="3175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08:00</c:v>
                  </c:pt>
                  <c:pt idx="1">
                    <c:v>08:15</c:v>
                  </c:pt>
                  <c:pt idx="2">
                    <c:v>08:30</c:v>
                  </c:pt>
                  <c:pt idx="3">
                    <c:v>08:45</c:v>
                  </c:pt>
                  <c:pt idx="4">
                    <c:v>09:00</c:v>
                  </c:pt>
                  <c:pt idx="5">
                    <c:v>09:15</c:v>
                  </c:pt>
                  <c:pt idx="6">
                    <c:v>09:30</c:v>
                  </c:pt>
                  <c:pt idx="7">
                    <c:v>09:45</c:v>
                  </c:pt>
                  <c:pt idx="8">
                    <c:v>10:00</c:v>
                  </c:pt>
                  <c:pt idx="9">
                    <c:v>10:15</c:v>
                  </c:pt>
                  <c:pt idx="10">
                    <c:v>10:30</c:v>
                  </c:pt>
                  <c:pt idx="11">
                    <c:v>10:45</c:v>
                  </c:pt>
                  <c:pt idx="12">
                    <c:v>11:00</c:v>
                  </c:pt>
                  <c:pt idx="13">
                    <c:v>11:15</c:v>
                  </c:pt>
                  <c:pt idx="14">
                    <c:v>11:30</c:v>
                  </c:pt>
                  <c:pt idx="15">
                    <c:v>11:45</c:v>
                  </c:pt>
                  <c:pt idx="16">
                    <c:v>12:00</c:v>
                  </c:pt>
                  <c:pt idx="17">
                    <c:v>12:15</c:v>
                  </c:pt>
                  <c:pt idx="18">
                    <c:v>12:30</c:v>
                  </c:pt>
                  <c:pt idx="19">
                    <c:v>12:45</c:v>
                  </c:pt>
                  <c:pt idx="20">
                    <c:v>13:00</c:v>
                  </c:pt>
                  <c:pt idx="21">
                    <c:v>13:15</c:v>
                  </c:pt>
                  <c:pt idx="22">
                    <c:v>13:30</c:v>
                  </c:pt>
                  <c:pt idx="23">
                    <c:v>13:45</c:v>
                  </c:pt>
                  <c:pt idx="24">
                    <c:v>14:00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164.3</c:v>
                </c:pt>
                <c:pt idx="1">
                  <c:v>169.3</c:v>
                </c:pt>
                <c:pt idx="2">
                  <c:v>208.7</c:v>
                </c:pt>
                <c:pt idx="3">
                  <c:v>235</c:v>
                </c:pt>
                <c:pt idx="4">
                  <c:v>225.7</c:v>
                </c:pt>
                <c:pt idx="5">
                  <c:v>219.3</c:v>
                </c:pt>
                <c:pt idx="6">
                  <c:v>207.3</c:v>
                </c:pt>
                <c:pt idx="7">
                  <c:v>212.3</c:v>
                </c:pt>
                <c:pt idx="8">
                  <c:v>207</c:v>
                </c:pt>
                <c:pt idx="9">
                  <c:v>191.3</c:v>
                </c:pt>
                <c:pt idx="10">
                  <c:v>188</c:v>
                </c:pt>
                <c:pt idx="11">
                  <c:v>185</c:v>
                </c:pt>
                <c:pt idx="12">
                  <c:v>182.7</c:v>
                </c:pt>
                <c:pt idx="13">
                  <c:v>193</c:v>
                </c:pt>
                <c:pt idx="14">
                  <c:v>208</c:v>
                </c:pt>
                <c:pt idx="15">
                  <c:v>226.3</c:v>
                </c:pt>
                <c:pt idx="16">
                  <c:v>229</c:v>
                </c:pt>
                <c:pt idx="17">
                  <c:v>227.3</c:v>
                </c:pt>
                <c:pt idx="18">
                  <c:v>231.3</c:v>
                </c:pt>
                <c:pt idx="19">
                  <c:v>242.3</c:v>
                </c:pt>
                <c:pt idx="20">
                  <c:v>236.7</c:v>
                </c:pt>
                <c:pt idx="21">
                  <c:v>224.7</c:v>
                </c:pt>
                <c:pt idx="22">
                  <c:v>219.3</c:v>
                </c:pt>
                <c:pt idx="23">
                  <c:v>218.7</c:v>
                </c:pt>
                <c:pt idx="24">
                  <c:v>222.3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おにぎり＋糖質減</c:v>
                </c:pt>
              </c:strCache>
            </c:strRef>
          </c:tx>
          <c:spPr>
            <a:solidFill>
              <a:srgbClr val="EDA100"/>
            </a:solidFill>
            <a:ln w="31750" cap="flat">
              <a:solidFill>
                <a:srgbClr val="ED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08:00</c:v>
                  </c:pt>
                  <c:pt idx="1">
                    <c:v>08:15</c:v>
                  </c:pt>
                  <c:pt idx="2">
                    <c:v>08:30</c:v>
                  </c:pt>
                  <c:pt idx="3">
                    <c:v>08:45</c:v>
                  </c:pt>
                  <c:pt idx="4">
                    <c:v>09:00</c:v>
                  </c:pt>
                  <c:pt idx="5">
                    <c:v>09:15</c:v>
                  </c:pt>
                  <c:pt idx="6">
                    <c:v>09:30</c:v>
                  </c:pt>
                  <c:pt idx="7">
                    <c:v>09:45</c:v>
                  </c:pt>
                  <c:pt idx="8">
                    <c:v>10:00</c:v>
                  </c:pt>
                  <c:pt idx="9">
                    <c:v>10:15</c:v>
                  </c:pt>
                  <c:pt idx="10">
                    <c:v>10:30</c:v>
                  </c:pt>
                  <c:pt idx="11">
                    <c:v>10:45</c:v>
                  </c:pt>
                  <c:pt idx="12">
                    <c:v>11:00</c:v>
                  </c:pt>
                  <c:pt idx="13">
                    <c:v>11:15</c:v>
                  </c:pt>
                  <c:pt idx="14">
                    <c:v>11:30</c:v>
                  </c:pt>
                  <c:pt idx="15">
                    <c:v>11:45</c:v>
                  </c:pt>
                  <c:pt idx="16">
                    <c:v>12:00</c:v>
                  </c:pt>
                  <c:pt idx="17">
                    <c:v>12:15</c:v>
                  </c:pt>
                  <c:pt idx="18">
                    <c:v>12:30</c:v>
                  </c:pt>
                  <c:pt idx="19">
                    <c:v>12:45</c:v>
                  </c:pt>
                  <c:pt idx="20">
                    <c:v>13:00</c:v>
                  </c:pt>
                  <c:pt idx="21">
                    <c:v>13:15</c:v>
                  </c:pt>
                  <c:pt idx="22">
                    <c:v>13:30</c:v>
                  </c:pt>
                  <c:pt idx="23">
                    <c:v>13:45</c:v>
                  </c:pt>
                  <c:pt idx="24">
                    <c:v>14:00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166</c:v>
                </c:pt>
                <c:pt idx="1">
                  <c:v>183.7</c:v>
                </c:pt>
                <c:pt idx="2">
                  <c:v>217</c:v>
                </c:pt>
                <c:pt idx="3">
                  <c:v>197</c:v>
                </c:pt>
                <c:pt idx="4">
                  <c:v>193.7</c:v>
                </c:pt>
                <c:pt idx="5">
                  <c:v>193.7</c:v>
                </c:pt>
                <c:pt idx="6">
                  <c:v>198.7</c:v>
                </c:pt>
                <c:pt idx="7">
                  <c:v>185.3</c:v>
                </c:pt>
                <c:pt idx="8">
                  <c:v>174.3</c:v>
                </c:pt>
                <c:pt idx="9">
                  <c:v>172.3</c:v>
                </c:pt>
                <c:pt idx="10">
                  <c:v>199.7</c:v>
                </c:pt>
                <c:pt idx="11">
                  <c:v>217.7</c:v>
                </c:pt>
                <c:pt idx="12">
                  <c:v>211</c:v>
                </c:pt>
                <c:pt idx="13">
                  <c:v>195</c:v>
                </c:pt>
                <c:pt idx="14">
                  <c:v>218.3</c:v>
                </c:pt>
                <c:pt idx="15">
                  <c:v>235</c:v>
                </c:pt>
                <c:pt idx="16">
                  <c:v>237</c:v>
                </c:pt>
                <c:pt idx="17">
                  <c:v>225.7</c:v>
                </c:pt>
                <c:pt idx="18">
                  <c:v>226.7</c:v>
                </c:pt>
                <c:pt idx="19">
                  <c:v>241</c:v>
                </c:pt>
                <c:pt idx="20">
                  <c:v>245</c:v>
                </c:pt>
                <c:pt idx="21">
                  <c:v>242.3</c:v>
                </c:pt>
                <c:pt idx="22">
                  <c:v>250.3</c:v>
                </c:pt>
                <c:pt idx="23">
                  <c:v>241</c:v>
                </c:pt>
                <c:pt idx="24">
                  <c:v>213.7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1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5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570"/>
                    </a:solidFill>
                    <a:latin typeface="Arial"/>
                  </a:rPr>
                  <a:t>血糖値 (mg/dL)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iAUC 2時間 (mg/dL・分)</c:v>
                </c:pt>
              </c:strCache>
            </c:strRef>
          </c:tx>
          <c:spPr>
            <a:solidFill>
              <a:srgbClr val="1BAF7A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おにぎり+スムージー</c:v>
                  </c:pt>
                  <c:pt idx="1">
                    <c:v>おにぎり+糖質減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5230</c:v>
                </c:pt>
                <c:pt idx="1">
                  <c:v>3167.5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Δピーク血糖値 (mg/dL)</c:v>
                </c:pt>
              </c:strCache>
            </c:strRef>
          </c:tx>
          <c:spPr>
            <a:solidFill>
              <a:srgbClr val="1BAF7A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おにぎり+スムージー</c:v>
                  </c:pt>
                  <c:pt idx="1">
                    <c:v>おにぎり+糖質減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84.3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練習中(11-14h)平均血糖</c:v>
                </c:pt>
              </c:strCache>
            </c:strRef>
          </c:tx>
          <c:spPr>
            <a:solidFill>
              <a:srgbClr val="1BAF7A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おにぎり+スムージー</c:v>
                  </c:pt>
                  <c:pt idx="1">
                    <c:v>おにぎり+糖質減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220.1</c:v>
                </c:pt>
                <c:pt idx="1">
                  <c:v>229.4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10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トレーニング時間帯(11:00-14:00)の平均血糖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固形</c:v>
                  </c:pt>
                  <c:pt idx="1">
                    <c:v>スムージー</c:v>
                  </c:pt>
                  <c:pt idx="2">
                    <c:v>おにぎり+スムージー</c:v>
                  </c:pt>
                  <c:pt idx="3">
                    <c:v>おにぎり+糖質減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135.1</c:v>
                </c:pt>
                <c:pt idx="1">
                  <c:v>222.1</c:v>
                </c:pt>
                <c:pt idx="2">
                  <c:v>220.1</c:v>
                </c:pt>
                <c:pt idx="3">
                  <c:v>229.4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9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ピーク後の最小値−ベースライン</c:v>
                </c:pt>
              </c:strCache>
            </c:strRef>
          </c:tx>
          <c:spPr>
            <a:solidFill>
              <a:srgbClr val="2A78D6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固形</c:v>
                  </c:pt>
                  <c:pt idx="1">
                    <c:v>スムージー</c:v>
                  </c:pt>
                  <c:pt idx="2">
                    <c:v>おにぎり+スムージー</c:v>
                  </c:pt>
                  <c:pt idx="3">
                    <c:v>おにぎり+糖質減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47.7</c:v>
                </c:pt>
                <c:pt idx="2">
                  <c:v>18.3</c:v>
                </c:pt>
                <c:pt idx="3">
                  <c:v>47.7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 rot="1200000"/>
          <a:lstStyle/>
          <a:p>
            <a:pPr>
              <a:defRPr sz="95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終日平均血糖</c:v>
                </c:pt>
              </c:strCache>
            </c:strRef>
          </c:tx>
          <c:spPr>
            <a:solidFill>
              <a:srgbClr val="EB6834"/>
            </a:solidFill>
            <a:ln w="28575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準備</c:v>
                  </c:pt>
                  <c:pt idx="1">
                    <c:v>DAY1</c:v>
                  </c:pt>
                  <c:pt idx="2">
                    <c:v>DAY2</c:v>
                  </c:pt>
                  <c:pt idx="3">
                    <c:v>DAY3</c:v>
                  </c:pt>
                  <c:pt idx="4">
                    <c:v>DAY4</c:v>
                  </c:pt>
                  <c:pt idx="5">
                    <c:v>DAY5</c:v>
                  </c:pt>
                  <c:pt idx="6">
                    <c:v>DAY6</c:v>
                  </c:pt>
                  <c:pt idx="7">
                    <c:v>DAY7</c:v>
                  </c:pt>
                  <c:pt idx="8">
                    <c:v>DAY8</c:v>
                  </c:pt>
                  <c:pt idx="9">
                    <c:v>DAY9</c:v>
                  </c:pt>
                  <c:pt idx="10">
                    <c:v>DAY10</c:v>
                  </c:pt>
                  <c:pt idx="11">
                    <c:v>DAY11</c:v>
                  </c:pt>
                  <c:pt idx="12">
                    <c:v>DAY12</c:v>
                  </c:pt>
                  <c:pt idx="13">
                    <c:v>DAY13</c:v>
                  </c:pt>
                  <c:pt idx="14">
                    <c:v>DAY14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141.2</c:v>
                </c:pt>
                <c:pt idx="1">
                  <c:v>126.7</c:v>
                </c:pt>
                <c:pt idx="2">
                  <c:v>117.6</c:v>
                </c:pt>
                <c:pt idx="3">
                  <c:v>119</c:v>
                </c:pt>
                <c:pt idx="4">
                  <c:v>126</c:v>
                </c:pt>
                <c:pt idx="5">
                  <c:v>160.7</c:v>
                </c:pt>
                <c:pt idx="6">
                  <c:v>208.9</c:v>
                </c:pt>
                <c:pt idx="7">
                  <c:v>210.8</c:v>
                </c:pt>
                <c:pt idx="8">
                  <c:v>196</c:v>
                </c:pt>
                <c:pt idx="9">
                  <c:v>189.1</c:v>
                </c:pt>
                <c:pt idx="10">
                  <c:v>191</c:v>
                </c:pt>
                <c:pt idx="11">
                  <c:v>204.5</c:v>
                </c:pt>
                <c:pt idx="12">
                  <c:v>187.3</c:v>
                </c:pt>
                <c:pt idx="13">
                  <c:v>174.2</c:v>
                </c:pt>
                <c:pt idx="14">
                  <c:v>184.2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1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C657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C6570"/>
                    </a:solidFill>
                    <a:latin typeface="Arial"/>
                  </a:rPr>
                  <a:t>終日平均血糖(mg/dL)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1D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oval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206240"/>
            <a:ext cx="4206240" cy="4206240"/>
          </a:xfrm>
          <a:prstGeom prst="oval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8F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卒業論文発表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0789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おにぎり×スムージー 部分的液状化が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SCI車いす選手の血糖動態・コンディションに与える影響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実験1：副食の形態比較（固形 vs スムージー）　／　実験2：部分的液状化と糖質量の最適化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11091672" cy="0"/>
          </a:xfrm>
          <a:prstGeom prst="line">
            <a:avLst/>
          </a:prstGeom>
          <a:noFill/>
          <a:ln w="12700">
            <a:solidFill>
              <a:srgbClr val="3A4A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○○大学 ○○学部 ○○学科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発表者：○○ ○○　　指導教員：○○ ○○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対象：高位脊髄損傷（SCI）車いす陸上選手 1名を対象とした反復測定研究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目次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92224"/>
            <a:ext cx="91440" cy="9144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研究の背景と目的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05456"/>
            <a:ext cx="91440" cy="9144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505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実験デザイン・測定方法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91440" cy="9144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1638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実験1：副食の形態比較（固形 vs スムージー）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91440" cy="9144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実験2：部分的液状化と糖質量の最適化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645152"/>
            <a:ext cx="91440" cy="9144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5902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総合考察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5358384"/>
            <a:ext cx="91440" cy="9144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303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結論・今後の課題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研究の背景と目的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642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SCI選手の病態生理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842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高位脊髄損傷者は交感神経の遠心路が遮断され、食後低血圧・血糖値スパイク／反応性低血糖を起こしやすい。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502920" cy="50292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34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現場での気づき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546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「おにぎり2個＋バナナ＆ヨーグルト」の副食をスムージー化したところ、練習時の出力が劇的に向上したとの報告。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502920" cy="502920"/>
          </a:xfrm>
          <a:prstGeom prst="oval">
            <a:avLst/>
          </a:prstGeom>
          <a:solidFill>
            <a:srgbClr val="1BAF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050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作業仮説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251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おにぎりの満足感は残しつつ副食を部分的に液状化し、総固形物量を減らすことで胃排泄を促し、血糖・消化ストレスを回避できるのでは。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502920" cy="502920"/>
          </a:xfrm>
          <a:prstGeom prst="oval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02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1755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研究目的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49554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実験1で副食の形態変化（固形/液状）の単独効果を確認したうえで、実験2で「部分的液状化＋糖質量最適化」の効果を血糖動態・自覚コンディション・トレーニング指標から検証する。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研究の背景と意義（提供資料より要約）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全体の実験デザイン（4条件・DAY1〜14）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3931920"/>
                <a:gridCol w="2221992"/>
                <a:gridCol w="19202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条件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8:00の食事内容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おにぎりのタイミング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対応する実験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固形摂取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DAY1〜3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果物ヨーグルト（固形）のみ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約2.5〜3時間後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実験1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スムージー摂取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DAY4〜6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果物ヨーグルト（スムージー）のみ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約2.5〜3時間後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実験1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おにぎり＋スムージー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DAY8〜10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おにぎり＋スムージー（同時）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8:00に同時摂取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実験2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おにぎり＋糖質減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DAY11〜13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おにぎり＋スムージー糖質減（同時）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8:00に同時摂取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実験2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11091672" cy="1965960"/>
          </a:xfrm>
          <a:prstGeom prst="roundRect">
            <a:avLst>
              <a:gd name="adj" fmla="val 5581"/>
            </a:avLst>
          </a:prstGeom>
          <a:solidFill>
            <a:srgbClr val="FDF3E2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133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重要な注意点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498848"/>
            <a:ext cx="105430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形・スムージー条件（実験1）は副食のみを先に食べ、おにぎりは約2.5〜3時間後。おにぎり＋スムージー・糖質減条件（実験2）はおにぎりと副食を同時摂取。つまり4条件とも14:00までの総摂取エネルギーはほぼ同じで、違いの本質は「食べる中身」ではなく「摂取タイミング」にある。トレーニングはどの条件も11:00〜14:00の間に実施（1日60〜180分、条件ブロックにより変動）。各条件 n=3日（同一選手の反復測定）。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DAY7=調整日、DAY14=予備日。12:00以降は自由摂取。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1日の測定タイムライン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2697480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97480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852672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72712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27904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47944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03136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23176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8368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98408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53600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73640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08792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548872" y="1792224"/>
            <a:ext cx="0" cy="4160520"/>
          </a:xfrm>
          <a:prstGeom prst="line">
            <a:avLst/>
          </a:prstGeom>
          <a:noFill/>
          <a:ln w="9525">
            <a:solidFill>
              <a:srgbClr val="EDEB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18928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固形摂取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1488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実験1 / DAY1〜3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97480" y="2322576"/>
            <a:ext cx="8851392" cy="0"/>
          </a:xfrm>
          <a:prstGeom prst="line">
            <a:avLst/>
          </a:prstGeom>
          <a:noFill/>
          <a:ln w="12700">
            <a:solidFill>
              <a:srgbClr val="E3E1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7480" y="2167128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2A78D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606040" y="19110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果物ヨーグルト（固形）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86656" y="2267712"/>
            <a:ext cx="109728" cy="109728"/>
          </a:xfrm>
          <a:prstGeom prst="oval">
            <a:avLst/>
          </a:prstGeom>
          <a:solidFill>
            <a:srgbClr val="2A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38600" y="25054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おにぎり摂取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10328" y="2167128"/>
            <a:ext cx="2212848" cy="310896"/>
          </a:xfrm>
          <a:prstGeom prst="roundRect">
            <a:avLst>
              <a:gd name="adj" fmla="val 14706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498580" y="2272284"/>
            <a:ext cx="100584" cy="100584"/>
          </a:xfrm>
          <a:prstGeom prst="oval">
            <a:avLst/>
          </a:prstGeom>
          <a:solidFill>
            <a:srgbClr val="5C657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28254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スムージー摂取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08152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実験1 / DAY4〜6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97480" y="3255264"/>
            <a:ext cx="8851392" cy="0"/>
          </a:xfrm>
          <a:prstGeom prst="line">
            <a:avLst/>
          </a:prstGeom>
          <a:noFill/>
          <a:ln w="12700">
            <a:solidFill>
              <a:srgbClr val="E3E1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3099816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EB683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606040" y="2843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果物ヨーグルト（スムージー）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86656" y="3200400"/>
            <a:ext cx="109728" cy="109728"/>
          </a:xfrm>
          <a:prstGeom prst="oval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38600" y="34381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おにぎり摂取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10328" y="3099816"/>
            <a:ext cx="2212848" cy="310896"/>
          </a:xfrm>
          <a:prstGeom prst="roundRect">
            <a:avLst>
              <a:gd name="adj" fmla="val 14706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498580" y="3204972"/>
            <a:ext cx="100584" cy="100584"/>
          </a:xfrm>
          <a:prstGeom prst="oval">
            <a:avLst/>
          </a:prstGeom>
          <a:solidFill>
            <a:srgbClr val="5C657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8640" y="37581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01421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実験2 / DAY8〜10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97480" y="4187952"/>
            <a:ext cx="8851392" cy="0"/>
          </a:xfrm>
          <a:prstGeom prst="line">
            <a:avLst/>
          </a:prstGeom>
          <a:noFill/>
          <a:ln w="12700">
            <a:solidFill>
              <a:srgbClr val="E3E1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7480" y="4032504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BAF7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606040" y="37764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おにぎり＋スムージー（同時）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10328" y="4032504"/>
            <a:ext cx="2212848" cy="310896"/>
          </a:xfrm>
          <a:prstGeom prst="roundRect">
            <a:avLst>
              <a:gd name="adj" fmla="val 14706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498580" y="4137660"/>
            <a:ext cx="100584" cy="100584"/>
          </a:xfrm>
          <a:prstGeom prst="oval">
            <a:avLst/>
          </a:prstGeom>
          <a:solidFill>
            <a:srgbClr val="5C657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48640" y="4690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おにぎり＋糖質減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494690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実験2 / DAY11〜13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697480" y="5120640"/>
            <a:ext cx="8851392" cy="0"/>
          </a:xfrm>
          <a:prstGeom prst="line">
            <a:avLst/>
          </a:prstGeom>
          <a:noFill/>
          <a:ln w="12700">
            <a:solidFill>
              <a:srgbClr val="E3E1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97480" y="4965192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EDA10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606040" y="47091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おにぎり＋スムージー糖質減（同時）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910328" y="4965192"/>
            <a:ext cx="2212848" cy="310896"/>
          </a:xfrm>
          <a:prstGeom prst="roundRect">
            <a:avLst>
              <a:gd name="adj" fmla="val 14706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498580" y="5070348"/>
            <a:ext cx="100584" cy="100584"/>
          </a:xfrm>
          <a:prstGeom prst="oval">
            <a:avLst/>
          </a:prstGeom>
          <a:solidFill>
            <a:srgbClr val="5C6570"/>
          </a:solidFill>
          <a:ln/>
        </p:spPr>
      </p:sp>
      <p:sp>
        <p:nvSpPr>
          <p:cNvPr id="50" name="Shape 48"/>
          <p:cNvSpPr/>
          <p:nvPr/>
        </p:nvSpPr>
        <p:spPr>
          <a:xfrm>
            <a:off x="548640" y="5742432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21295C">
              <a:alpha val="75000"/>
            </a:srgbClr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96112" y="56601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トレーニング（60〜180分、11:00〜14:00の間で実施）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09360" y="5769864"/>
            <a:ext cx="100584" cy="100584"/>
          </a:xfrm>
          <a:prstGeom prst="oval">
            <a:avLst/>
          </a:prstGeom>
          <a:solidFill>
            <a:srgbClr val="5C657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537960" y="56601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 夕食＋夜のコンディション記録（毎日共通）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色付きブロック＝朝の被験食摂取（8:00）。実験1条件はおにぎりを約2.5時間後に別途摂取。灰色帯＝全条件共通のトレーニング時間帯。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測定項目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21408"/>
            <a:ext cx="594360" cy="594360"/>
          </a:xfrm>
          <a:prstGeom prst="oval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848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血糖値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4505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15分間隔・8:00〜14:00（各条件3日間平均）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538728"/>
            <a:ext cx="594360" cy="594360"/>
          </a:xfrm>
          <a:prstGeom prst="oval">
            <a:avLst/>
          </a:prstGeom>
          <a:solidFill>
            <a:srgbClr val="1BAF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538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5021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自覚コンディション（食後）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8679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満腹感・頭痛・吐き気・食欲を30分間隔でアンケート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956048"/>
            <a:ext cx="594360" cy="594360"/>
          </a:xfrm>
          <a:prstGeom prst="oval">
            <a:avLst/>
          </a:prstGeom>
          <a:solidFill>
            <a:srgbClr val="EDA1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956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9194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夜間コンディションアプリ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52852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起床時コンディション・睡眠の質／時間・RPE・爆発力・持久力・運動後疲労を毎晩記録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3日／条件（同一選手の反復測定）。統計的検定ではなく記述的傾向として解釈。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oval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A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8F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実験1：副食の形態比較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固形摂取 vs スムージー摂取（DAY1〜6）― 副食を液状化する単独の効果を検証する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目的と条件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食（果物ヨーグルト）を固形のまま摂るか、スムージー化して摂るかで、血糖動態・自覚コンディションにどのような違いが生じるかを検証する。おにぎりはどちらの条件でも約2.5〜3時間後に別途摂取するため、副食の「形態」のみを切り出して比較でき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362956" cy="2377440"/>
          </a:xfrm>
          <a:prstGeom prst="roundRect">
            <a:avLst>
              <a:gd name="adj" fmla="val 3846"/>
            </a:avLst>
          </a:prstGeom>
          <a:solidFill>
            <a:srgbClr val="F4F7F9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200400"/>
            <a:ext cx="146304" cy="4572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145536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固形摂取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511296"/>
            <a:ext cx="4539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DAY1〜3（n=3日）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48143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8:00に果物ヨーグルトを固形のまま摂取。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おにぎり2個は10:00〜11:00頃に別途摂取。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11:00〜14:00の間にトレーニング。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7356" y="3017520"/>
            <a:ext cx="5362956" cy="2377440"/>
          </a:xfrm>
          <a:prstGeom prst="roundRect">
            <a:avLst>
              <a:gd name="adj" fmla="val 3846"/>
            </a:avLst>
          </a:prstGeom>
          <a:solidFill>
            <a:srgbClr val="F4F7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1676" y="3200400"/>
            <a:ext cx="146304" cy="4572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25996" y="3145536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スムージー摂取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825996" y="3511296"/>
            <a:ext cx="4539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DAY4〜6（n=3日）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51676" y="3931920"/>
            <a:ext cx="48143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8:00に果物ヨーグルトをスムージー化して摂取。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おにぎり2個は10:00〜11:00頃に別途摂取（固形と同一プロトコル）。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11:00〜14:00の間にトレーニング。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測定：血糖値（15分間隔）、自覚コンディション（30分間隔アンケート）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–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血糖値の推移（8:00〜14:00）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91672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15分間隔・条件ごとの平均血糖値（各条件3日間平均）。破線省略。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–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主要指標の比較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Δピーク血糖値 (mg/dL)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8745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最高値 − 摂取直前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85216" y="2212848"/>
          <a:ext cx="3429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379976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変動係数 CV (%)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379976" y="18745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6時間の乱高下の大きさ</a:t>
            </a:r>
            <a:endParaRPr lang="en-US" sz="10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379976" y="2212848"/>
          <a:ext cx="3429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8174736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練習中(11-14h)平均血糖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174736" y="18745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mg/dL（燃料供給の目安）</a:t>
            </a:r>
            <a:endParaRPr lang="en-US" sz="105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8174736" y="2212848"/>
          <a:ext cx="3429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副食を液状化するだけで、Δピーク・CVともに増大。一方、練習中の血糖水準はスムージーの方が大幅に高い。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–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自覚コンディション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満腹感の推移 (0=空腹〜10=満腹)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52120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126480" y="16002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食欲(摂食可能感)の推移 (0〜10)</a:t>
            </a:r>
            <a:endParaRPr lang="en-US" sz="12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126480" y="1874520"/>
          <a:ext cx="52120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61772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EAF7F0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477316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頭痛・吐き気はどちらの条件も全時点で最小値（1）＝消化器症状に有意差なし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5102352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満腹感・食欲もほぼ同水準で推移しており、副食のみを液状化しても自覚的な消化器症状・満腹感に目立った違いは生じていない。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– 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実験1 考察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6420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血糖の乱高下は液状化により増大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965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Δピークは固形の1.6倍（85.0 vs 53.7 mg/dL）、CVも高い（14.7% vs 11.2%）。液状化は消化の負担感を下げる一方、血糖の安定には寄与しない。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384048" cy="384048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8346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消化器症状には有意差なし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13639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頭痛・吐き気はどちらも全時点で最小値。満腹感・食欲も同水準。液状化そのものが不調を招いているわけではない。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384048" cy="384048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00507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練習中の血糖水準はスムージーの方が高い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06824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11:00〜14:00の平均血糖は固形135 mg/dLに対しスムージー222 mg/dL。選手の「出力向上」の体感は、血糖の安定ではなく、消化器系の負担軽減、または燃料供給量の違いによる可能性がある。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384048" cy="384048"/>
          </a:xfrm>
          <a:prstGeom prst="oval">
            <a:avLst/>
          </a:prstGeom>
          <a:solidFill>
            <a:srgbClr val="1BAF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17550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示唆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47725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副食の液状化「単独」では血糖の乱高下を悪化させる副作用があり、実験2で検証する「おにぎりとの同時摂取」が鍵になると考えられる。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総合考察で後述する血糖ベースラインシフトの影響を受けている可能性があり、①②の数値は参考値として扱う。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oval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A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8F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実験2：部分的液状化と糖質量の最適化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 vs おにぎり＋糖質減（DAY8〜13）― おにぎりを崩さず同時摂取する方式の効果と、総糖質量最適化の効果を検証する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目的と条件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を崩さず副食のみをスムージー化し、8:00に同時摂取する「部分的液状化」プロトコルが血糖動態・コンディションに与える影響を検証する。さらに副食の糖質量を減らすことで、血糖の乱高下をさらに抑制できるかを検証す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362956" cy="2377440"/>
          </a:xfrm>
          <a:prstGeom prst="roundRect">
            <a:avLst>
              <a:gd name="adj" fmla="val 3846"/>
            </a:avLst>
          </a:prstGeom>
          <a:solidFill>
            <a:srgbClr val="F4F7F9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200400"/>
            <a:ext cx="146304" cy="4572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145536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511296"/>
            <a:ext cx="4539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DAY8〜10（n=3日）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48143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8:00におにぎり2個＋果物ヨーグルト（スムージー）を同時摂取。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11:00〜14:00の間にトレーニング。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7356" y="3017520"/>
            <a:ext cx="5362956" cy="2377440"/>
          </a:xfrm>
          <a:prstGeom prst="roundRect">
            <a:avLst>
              <a:gd name="adj" fmla="val 3846"/>
            </a:avLst>
          </a:prstGeom>
          <a:solidFill>
            <a:srgbClr val="F4F7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1676" y="3200400"/>
            <a:ext cx="146304" cy="457200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25996" y="3145536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おにぎり＋糖質減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25996" y="3511296"/>
            <a:ext cx="4539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DAY11〜13（n=3日）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51676" y="3931920"/>
            <a:ext cx="48143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8:00におにぎり2個＋果物ヨーグルト（糖質を減らしたスムージー）を同時摂取。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11:00〜14:00の間にトレーニング。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測定：血糖値（15分間隔）、自覚コンディション（30分間隔アンケート）、毎晩のコンディションアプリ記録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 –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血糖値の推移（8:00〜14:00）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91672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15分間隔・条件ごとの平均血糖値（各条件3日間平均）。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 –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主要指標の比較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iAUC 2時間 (mg/dL・分)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8745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ベースライン超過分の面積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85216" y="2212848"/>
          <a:ext cx="3429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379976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Δピーク血糖値 (mg/dL)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379976" y="18745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最高値 − 摂取直前</a:t>
            </a:r>
            <a:endParaRPr lang="en-US" sz="10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379976" y="2212848"/>
          <a:ext cx="3429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8174736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練習中(11-14h)平均血糖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174736" y="18745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mg/dL（燃料供給の目安）</a:t>
            </a:r>
            <a:endParaRPr lang="en-US" sz="105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8174736" y="2212848"/>
          <a:ext cx="3429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糖質減はiAUC 2hを約39%削減。練習中の血糖水準は糖質減の方がむしろ高く、燃料供給は犠牲になっていない。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 –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自覚コンディション・夜間コンディション指標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食後アンケート（頭痛・吐き気）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4892040" cy="1005840"/>
        </p:xfrm>
        <a:graphic>
          <a:graphicData uri="http://schemas.openxmlformats.org/drawingml/2006/table">
            <a:tbl>
              <a:tblPr/>
              <a:tblGrid>
                <a:gridCol w="2148840"/>
                <a:gridCol w="1371600"/>
                <a:gridCol w="13716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頭痛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吐き気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おにぎり＋スムージー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1（変化なし）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9:30のみ一時的に2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おにぎり＋糖質減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1（変化なし）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1（変化なし）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32461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満腹感は同時摂取・糖質減の方が高くなる傾向（総摂取量の違い）だが、消化器症状は両条件とも軽微。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737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夜間コンディションアプリ記録（3日間平均）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57400"/>
          <a:ext cx="5943600" cy="1828800"/>
        </p:xfrm>
        <a:graphic>
          <a:graphicData uri="http://schemas.openxmlformats.org/drawingml/2006/table">
            <a:tbl>
              <a:tblPr/>
              <a:tblGrid>
                <a:gridCol w="2468880"/>
                <a:gridCol w="1737360"/>
                <a:gridCol w="17373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おにぎり+スムージー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おにぎり+糖質減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起床時コンディション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睡眠の質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持久力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爆発力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397764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DF3E2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4133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要注意の矛盾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462272"/>
            <a:ext cx="10543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床時コンディション・睡眠の質は糖質減の方が良いが、持久力・爆発力の自己評価は糖質減の方が低い。血糖の燃料供給（練習中平均血糖）は糖質減の方が高いため、この体感の低下が血糖以外の要因（練習内容そのものの負荷、n=3のばらつき等）による可能性がある。糖質減条件は練習時間も平均100分と、おにぎり＋スムージー条件（平均80分）よりやや長く、交絡の可能性も残る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 – 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実験2 考察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6420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部分的液状化（同時摂取）は血糖の乱高下を抑制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965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おにぎりを崩さず同時に摂取することで、副食単独（実験1・スムージー）よりΔピーク・CVが小さくなり、波形がなだらかになった。作業仮説を支持する結果。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384048" cy="384048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8346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糖質量の最適化はiAUCを明確に削減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13639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副食の糖質を減らすことで、食後2時間の正味の血糖上昇（iAUC 2h）が約39%減少。ピークの高さは同水準だが、上昇の「持続」が抑えられている。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384048" cy="384048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00507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燃料供給は犠牲になっていない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06824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練習中（11:00〜14:00）の平均血糖は糖質減の方がむしろ高く、血糖の観点からはパフォーマンスを犠牲にしていない。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384048" cy="384048"/>
          </a:xfrm>
          <a:prstGeom prst="oval">
            <a:avLst/>
          </a:prstGeom>
          <a:solidFill>
            <a:srgbClr val="EDA1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17550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体感との矛盾は要検証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47725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一方で夜間記録では糖質減の日の持久力・爆発力の自己評価が最も低く、血糖データと矛盾する。練習内容・時間の交絡や n=3 のばらつきを含め、追加検証が必要。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実験2は両条件とも血糖ベースラインシフト後で条件が揃っており、この考察（①②③）は信頼できる（総合考察で後述）。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oval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A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8F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DISCUSSION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総合考察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実験1・実験2を横断し、摂取タイミングの効果と、アスリートにとっての血糖値の意味を考察する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CROSS-EXPERIMENT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タイミングの効果：同時摂取 vs 分割摂取（同エネルギー条件下）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4条件とも14:00までの総エネルギーはほぼ同じ。「おにぎりを8:00に同時に食べるか、10:00〜11:00に分けて食べるか」の純粋な効果を、自由摂取前（8:00〜11:30）に絞って比較。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18288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2560320"/>
                <a:gridCol w="1828800"/>
                <a:gridCol w="20391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条件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平均血糖(8:00-11:30)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Δピーク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固形（分割）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実験1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スムージー（分割）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実験1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おにぎり＋スムージー（同時）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実験2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おにぎり＋糖質減（同時）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実験2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11091672" cy="2103120"/>
          </a:xfrm>
          <a:prstGeom prst="roundRect">
            <a:avLst>
              <a:gd name="adj" fmla="val 4348"/>
            </a:avLst>
          </a:prstGeom>
          <a:solidFill>
            <a:srgbClr val="EAF7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4279392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同時摂取にすると平均血糖は少し上がるが、乱高下は明確に小さくなる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645152"/>
            <a:ext cx="10543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食とおにぎりを2.5〜3時間ずらして食べる（実験1）と、それぞれが独立した急峻な山を作るのに対し、同時に食べる（実験2）とおにぎり（ゆっくり吸収されるデンプン）が副食の急な糖吸収を緩衝し、1つのなだらかな波にまとまると解釈できる。糖質減はこの「なだらかさ」に加えてΔピークも固形並み（52.3 vs 53.7）まで抑えられている。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CROSS-EXPERIMENT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アスリート視点：血糖値は「リスク」か「燃料」か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問題は「血糖が高いこと」自体ではなく①食後低血圧②血糖スパイク＋反応性低血糖という急激な変化。乱高下なく高い水準を維持できるなら、それは燃料が豊富な望ましい状態とも言える。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トレーニング時間帯(11:00-14:00)の平均血糖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2199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＝燃料供給 (mg/dL)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487168"/>
          <a:ext cx="53035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36792" y="19659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ピーク後の最小値−ベースライン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336792" y="222199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クラッシュ（反応性低血糖）の有無 (mg/dL)</a:t>
            </a:r>
            <a:endParaRPr lang="en-US" sz="10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336792" y="2487168"/>
          <a:ext cx="53035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70916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EAF7F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22960" y="4864608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クラッシュ（反応性低血糖）は4条件とも起きていない：ピーク後の最小値はベースラインを+18〜48上回る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530352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固形（実験1）は練習中の血糖が他条件の約6割（135 vs 220〜229）＝燃料不足の可能性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574243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糖質減（実験2）は練習中の血糖がむしろ4条件中最高。ただし持久力・爆発力の自己評価は最低という矛盾があり要検証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新知見：血糖ベースラインの持続的シフト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その後入手した14日間の連続CGMデータ（FreeStyleリブレ実測）により、実験1・実験2全体の解釈に関わる事実が判明した。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11091672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91672" cy="1188720"/>
        </p:xfrm>
        <a:graphic>
          <a:graphicData uri="http://schemas.openxmlformats.org/drawingml/2006/table">
            <a:tbl>
              <a:tblPr/>
              <a:tblGrid>
                <a:gridCol w="4389120"/>
                <a:gridCol w="72511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対応する分析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シフトとの関係・信頼度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実験1（固形 vs スムージー）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スムージー(DAY4〜6)はDAY4・5がシフト前、DAY6のみシフト後。結論は参考値として扱う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実験2（おにぎり+スムージー vs 糖質減）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5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両条件(DAY8〜13)とも完全にシフト後で条件が揃っており、結論を維持できる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3212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DF3E2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650992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DAY5(8/29)14:50頃、血糖が150→270台へ急上昇し以後戻らず（夜間平均93〜107→130〜177mg/dL）。原因不明だが低血糖は14日間通じて一度も検出されず。選手・スタッフへの聞き取りが最優先の次の一手。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総合考察まとめ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FDF3E2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重要な交絡：練習時間が条件ブロックごとに大きく異なる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48256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1・固形の3日間は平均140分と突出して長く、実験1・スムージーの3日間は毎日60分で最短。RPE・爆発力・持久力・運動後疲労は運動量そのものにも左右されるため、この差を切り分けられていない点は最大の限界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362956" cy="182880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337560"/>
            <a:ext cx="146304" cy="347472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78992" y="3300984"/>
            <a:ext cx="45399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おにぎり＋スムージー（糖質ノーマル）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48143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血糖の乱高下（CV）が4条件中最小、練習中の燃料供給も十分（220）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78808"/>
            <a:ext cx="48143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持久力の自己評価が4条件中最高（3.83）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62856"/>
            <a:ext cx="48143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消化器症状も軽微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7356" y="3200400"/>
            <a:ext cx="5362956" cy="182880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551676" y="3337560"/>
            <a:ext cx="146304" cy="347472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07708" y="3300984"/>
            <a:ext cx="45399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おにぎり＋糖質減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51676" y="3794760"/>
            <a:ext cx="48143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波形が最もなだらか、練習中の燃料供給はむしろ4条件中最高（229）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51676" y="4178808"/>
            <a:ext cx="48143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起床時コンディション・睡眠の質が4条件中最高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51676" y="4562856"/>
            <a:ext cx="48143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一方で持久力・爆発力の自己評価は4条件中最低（要検証の矛盾）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EAF7F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39496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総合評価：現時点のデータでは「おにぎり＋スムージー（糖質ノーマル、同時摂取）」が最もバランスの良い候補。「おにぎり＋糖質減」は血糖面ではむしろ優れており、体感との矛盾を解消できれば第一候補に上がる可能性もある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結論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190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実験1：副食のみの液状化は血糖の乱高下をむしろ悪化させるが、消化器症状には差がない（⚠血糖ベースラインシフトの影響下にあり参考値）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84048" cy="384048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7706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実験2：おにぎりと副食を同時摂取する「部分的液状化」は血糖の乱高下を抑制し、糖質量の最適化でさらに改善する（✓シフト後で条件が揃い信頼できる）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84048" cy="384048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82219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アスリート視点では、固形は「安定」ではなく「練習中の燃料不足」と解釈すべきで、おにぎり＋スムージー（同時摂取）が乱高下抑制と燃料供給を両立する最もバランスの良い候補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データ出典：for_AI_.xlsx／0824スケジュール.xlsx／condition_app_2026-08-25_2026-09-07.xlsx／14日間_for_AI.xlsx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今後の課題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7335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【最優先】血糖ベースラインシフトの原因究明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0253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14日間CGMで判明したDAY5(8/29)14:50頃からの持続的シフトの原因を、選手・スタッフへの聞き取り（補食・体調・ストレスの有無）で確認する。コスト0で最大の手がかりが得られる。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57200" cy="45720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1635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練習量の統制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4553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練習時間が条件ブロックごとに大きく異なる（60〜180分）。練習内容・時間を条件間で揃えて再検証すると、食事の純粋な効果を評価しやすくなる。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57200" cy="45720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5935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糖質減条件の矛盾の解消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8853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血糖の燃料供給は良好なのに持久力・爆発力の体感が低いという矛盾を解消するため、乳酸値やパワーメーターなど血糖以外の直接的なパフォーマンス指標の取得を検討したい。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457200" cy="45720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0235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サンプルサイズの拡大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43153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各条件n=3日・単一被験者のため、複数選手・複数週にわたる追試により結果の頑健性を高める必要がある。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oval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9260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ご清聴ありがとうございました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ご質問・ご指摘をお願いいたします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2026-09-19T10:02:33Z</dcterms:created>
  <dcterms:modified xsi:type="dcterms:W3CDTF">2026-09-19T10:02:33Z</dcterms:modified>
</cp:coreProperties>
</file>