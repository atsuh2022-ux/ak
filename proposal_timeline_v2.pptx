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540000"/>
            <a:ext cx="2112218" cy="613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68545" y="540000"/>
            <a:ext cx="1056109" cy="6138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3200" cy="503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36000"/>
            <a:ext cx="118332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</a:rPr>
              <a:t>栄養サポート計画　タイムライン　2025年12月〜2027年3月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522000"/>
            <a:ext cx="2112218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メイリオ"/>
              </a:rPr>
              <a:t>【実施済み】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218" y="522000"/>
            <a:ext cx="6336654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メイリオ"/>
              </a:rPr>
              <a:t>《今後の計画》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8545" y="522000"/>
            <a:ext cx="1056109" cy="23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DC2626"/>
                </a:solidFill>
                <a:latin typeface="メイリオ"/>
              </a:rPr>
              <a:t>アジア大会
（愛知）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3420000"/>
            <a:ext cx="11617200" cy="64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6800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12月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2909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4月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9018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6月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5127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7月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1236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8月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97345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9月末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アジア大会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3454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10月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9563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11月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65672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12月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1781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1〜2月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77890" y="2880000"/>
            <a:ext cx="998509" cy="4680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</a:rPr>
              <a:t>3月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54" y="3348000"/>
            <a:ext cx="28800" cy="136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54" y="3240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94A3B8"/>
                </a:solidFill>
                <a:latin typeface="メイリオ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000" y="3348000"/>
            <a:ext cx="984109" cy="85680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【既往①】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食事バランス講義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57763" y="3420000"/>
            <a:ext cx="28800" cy="93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28163" y="3312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94A3B8"/>
                </a:solidFill>
                <a:latin typeface="メイリオ"/>
              </a:rPr>
              <a:t>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80109" y="2520000"/>
            <a:ext cx="984109" cy="993600"/>
          </a:xfrm>
          <a:prstGeom prst="roundRect">
            <a:avLst>
              <a:gd name="adj" fmla="val 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【既往②】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コンディション×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食事記録を始めよう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13872" y="3484800"/>
            <a:ext cx="28800" cy="143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4272" y="3391199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563EB"/>
                </a:solidFill>
                <a:latin typeface="メイリオ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36218" y="3499199"/>
            <a:ext cx="984109" cy="993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★記録FB＋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アジア大会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栄養戦略講義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9981" y="3420000"/>
            <a:ext cx="28800" cy="93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381" y="3312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6A34A"/>
                </a:solidFill>
                <a:latin typeface="メイリオ"/>
              </a:rPr>
              <a:t>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2327" y="2520000"/>
            <a:ext cx="984109" cy="9936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アジア大会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カウントダウン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栄養計画（PDF）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6090" y="3484800"/>
            <a:ext cx="28800" cy="1439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6490" y="3391199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6A34A"/>
                </a:solidFill>
                <a:latin typeface="メイリオ"/>
              </a:rP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8436" y="3499199"/>
            <a:ext cx="984109" cy="9936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試合直前・大会中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プロトコル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食環境整備（PDF）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2200" y="3420000"/>
            <a:ext cx="28800" cy="13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600" y="3312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DC2626"/>
                </a:solidFill>
                <a:latin typeface="メイリオ"/>
              </a:rPr>
              <a:t>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04545" y="2700000"/>
            <a:ext cx="984109" cy="85680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</a:rPr>
              <a:t>アジア大会</a:t>
            </a:r>
            <a:br>
              <a:rPr lang="ja-JP"/>
            </a:br>
            <a:r>
              <a:rPr sz="1000" b="1">
                <a:solidFill>
                  <a:srgbClr val="FFFFFF"/>
                </a:solidFill>
                <a:latin typeface="メイリオ"/>
              </a:rPr>
              <a:t>（愛知・9月末）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8309" y="3484800"/>
            <a:ext cx="28800" cy="1439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8709" y="3391199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6A34A"/>
                </a:solidFill>
                <a:latin typeface="メイリオ"/>
              </a:rPr>
              <a:t>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0654" y="3499199"/>
            <a:ext cx="984109" cy="9936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大会後回復＆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記録振り返り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（PDF）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4418" y="3420000"/>
            <a:ext cx="28800" cy="93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4818" y="3312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6A34A"/>
                </a:solidFill>
                <a:latin typeface="メイリオ"/>
              </a:rPr>
              <a:t>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16763" y="2520000"/>
            <a:ext cx="984109" cy="9936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オフシーズン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体組成管理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（PDF）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50527" y="3484800"/>
            <a:ext cx="28800" cy="143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20927" y="3391199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563EB"/>
                </a:solidFill>
                <a:latin typeface="メイリオ"/>
              </a:rP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2872" y="3499199"/>
            <a:ext cx="984109" cy="993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★コンディション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記録データ活用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年間振り返り講義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06636" y="3420000"/>
            <a:ext cx="28800" cy="9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77036" y="33120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563EB"/>
                </a:solidFill>
                <a:latin typeface="メイリオ"/>
              </a:rPr>
              <a:t>▲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8981" y="2520000"/>
            <a:ext cx="984109" cy="993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★次シーズン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個人栄養計画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立案ワーク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62745" y="3211200"/>
            <a:ext cx="28800" cy="273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33145" y="3103200"/>
            <a:ext cx="288000" cy="14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6A34A"/>
                </a:solidFill>
                <a:latin typeface="メイリオ"/>
              </a:rPr>
              <a:t>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85090" y="3211200"/>
            <a:ext cx="984109" cy="99360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メイリオ"/>
              </a:rPr>
              <a:t>新シーズン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開幕準備</a:t>
            </a:r>
            <a:br>
              <a:rPr lang="ja-JP"/>
            </a:br>
            <a:r>
              <a:rPr sz="950" b="1">
                <a:solidFill>
                  <a:srgbClr val="FFFFFF"/>
                </a:solidFill>
                <a:latin typeface="メイリオ"/>
              </a:rPr>
              <a:t>（PDF）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00" y="6498000"/>
            <a:ext cx="198000" cy="198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000" y="6462000"/>
            <a:ext cx="1368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93B"/>
                </a:solidFill>
                <a:latin typeface="メイリオ"/>
              </a:rPr>
              <a:t>実施済み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3999" y="6498000"/>
            <a:ext cx="198000" cy="19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77999" y="6462000"/>
            <a:ext cx="1368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93B"/>
                </a:solidFill>
                <a:latin typeface="メイリオ"/>
              </a:rPr>
              <a:t>★ 直接指導（強化研修会・合宿）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99998" y="6498000"/>
            <a:ext cx="198000" cy="19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33998" y="6462000"/>
            <a:ext cx="1368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93B"/>
                </a:solidFill>
                <a:latin typeface="メイリオ"/>
              </a:rPr>
              <a:t>PDF資料送付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5997" y="6498000"/>
            <a:ext cx="198000" cy="19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9997" y="6462000"/>
            <a:ext cx="1368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E293B"/>
                </a:solidFill>
                <a:latin typeface="メイリオ"/>
              </a:rPr>
              <a:t>アジア大会（愛知・9月末）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