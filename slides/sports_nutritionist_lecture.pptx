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A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463040"/>
            <a:ext cx="4389120" cy="4389120"/>
          </a:xfrm>
          <a:prstGeom prst="ellipse">
            <a:avLst/>
          </a:prstGeom>
          <a:solidFill>
            <a:srgbClr val="F2A93B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881360" y="4206240"/>
            <a:ext cx="2743200" cy="2743200"/>
          </a:xfrm>
          <a:prstGeom prst="ellipse">
            <a:avLst/>
          </a:prstGeom>
          <a:solidFill>
            <a:srgbClr val="7CB518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097280" y="4846320"/>
            <a:ext cx="3291840" cy="3291840"/>
          </a:xfrm>
          <a:prstGeom prst="ellipse">
            <a:avLst/>
          </a:prstGeom>
          <a:solidFill>
            <a:srgbClr val="F2A93B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777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SPORTS NUTRITION LECTURE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37160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アスリートを食で支える！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2286000"/>
            <a:ext cx="9875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スポーツ管理栄養士の仕事と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「強いカラダ」をつくる食事のコツ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731520" y="5349240"/>
            <a:ext cx="4206240" cy="566928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534924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協力：スミフルジャパン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966960" y="5074920"/>
            <a:ext cx="1417320" cy="141732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50424" y="5358384"/>
            <a:ext cx="850392" cy="850392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73152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高校生のためのスポーツ栄養キャリア講義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08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目次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A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783080"/>
            <a:ext cx="10725912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25400" dir="5400000">
              <a:srgbClr val="1A2233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901952"/>
            <a:ext cx="685800" cy="685800"/>
          </a:xfrm>
          <a:prstGeom prst="ellipse">
            <a:avLst/>
          </a:prstGeom>
          <a:solidFill>
            <a:srgbClr val="132A46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1570" y="2073402"/>
            <a:ext cx="342900" cy="3429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1856232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4E7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2606040" y="1856232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スポーツ管理栄養士ってどんな仕事？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2606040" y="224028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現場での役割と、パフォーマンスを最大化させる仕事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31520" y="2862072"/>
            <a:ext cx="10725912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25400" dir="5400000">
              <a:srgbClr val="1A2233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960120" y="2980944"/>
            <a:ext cx="685800" cy="68580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570" y="3152394"/>
            <a:ext cx="342900" cy="3429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828800" y="2935224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4E7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14" name="Text 10"/>
          <p:cNvSpPr/>
          <p:nvPr/>
        </p:nvSpPr>
        <p:spPr>
          <a:xfrm>
            <a:off x="2606040" y="2935224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トップアスリートの現場で起きていること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2606040" y="3319272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試合前後のコンディショニングと海外遠征での食の工夫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731520" y="3941064"/>
            <a:ext cx="10725912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25400" dir="5400000">
              <a:srgbClr val="1A2233">
                <a:alpha val="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960120" y="4059936"/>
            <a:ext cx="685800" cy="685800"/>
          </a:xfrm>
          <a:prstGeom prst="ellipse">
            <a:avLst/>
          </a:prstGeom>
          <a:solidFill>
            <a:srgbClr val="132A46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1570" y="4231386"/>
            <a:ext cx="342900" cy="34290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828800" y="4014216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4E7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20" name="Text 15"/>
          <p:cNvSpPr/>
          <p:nvPr/>
        </p:nvSpPr>
        <p:spPr>
          <a:xfrm>
            <a:off x="2606040" y="4014216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今日からできる！パフォーマンスを高める基本の食事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2606040" y="4398264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強さを生み出す「5つの皿」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731520" y="5020056"/>
            <a:ext cx="10725912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25400" dir="5400000">
              <a:srgbClr val="1A2233">
                <a:alpha val="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960120" y="5138928"/>
            <a:ext cx="685800" cy="68580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1570" y="5310378"/>
            <a:ext cx="342900" cy="34290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828800" y="5093208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4E7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26" name="Text 20"/>
          <p:cNvSpPr/>
          <p:nvPr/>
        </p:nvSpPr>
        <p:spPr>
          <a:xfrm>
            <a:off x="2606040" y="50932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明日から始める「＋1個の果物習慣」</a:t>
            </a:r>
            <a:endParaRPr lang="en-US" sz="1500" dirty="0"/>
          </a:p>
        </p:txBody>
      </p:sp>
      <p:sp>
        <p:nvSpPr>
          <p:cNvPr id="27" name="Text 21"/>
          <p:cNvSpPr/>
          <p:nvPr/>
        </p:nvSpPr>
        <p:spPr>
          <a:xfrm>
            <a:off x="2606040" y="5477256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トップ選手もやっている、果物が武器になる理由</a:t>
            </a:r>
            <a:endParaRPr lang="en-US" sz="1150" dirty="0"/>
          </a:p>
        </p:txBody>
      </p:sp>
      <p:sp>
        <p:nvSpPr>
          <p:cNvPr id="28" name="Text 2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スポーツ管理栄養士講義 ｜ 協力：スミフルジャパン</a:t>
            </a:r>
            <a:endParaRPr lang="en-US" sz="900" dirty="0"/>
          </a:p>
        </p:txBody>
      </p:sp>
      <p:sp>
        <p:nvSpPr>
          <p:cNvPr id="29" name="Text 23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2A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828800"/>
            <a:ext cx="5486400" cy="5486400"/>
          </a:xfrm>
          <a:prstGeom prst="ellipse">
            <a:avLst/>
          </a:prstGeom>
          <a:solidFill>
            <a:srgbClr val="F2A93B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3840480"/>
            <a:ext cx="3840480" cy="3840480"/>
          </a:xfrm>
          <a:prstGeom prst="ellipse">
            <a:avLst/>
          </a:prstGeom>
          <a:solidFill>
            <a:srgbClr val="7CB518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331720"/>
            <a:ext cx="4114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1000" dirty="0"/>
          </a:p>
        </p:txBody>
      </p:sp>
      <p:sp>
        <p:nvSpPr>
          <p:cNvPr id="5" name="Text 3"/>
          <p:cNvSpPr/>
          <p:nvPr/>
        </p:nvSpPr>
        <p:spPr>
          <a:xfrm>
            <a:off x="4160520" y="2788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60520" y="315468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スポーツ管理栄養士って</a:t>
            </a:r>
            <a:endParaRPr lang="en-US" sz="30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どんな仕事？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4206240" y="4709160"/>
            <a:ext cx="822960" cy="82296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11980" y="4914900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A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スポーツ管理栄養士の仕事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10725912" cy="777240"/>
          </a:xfrm>
          <a:prstGeom prst="roundRect">
            <a:avLst>
              <a:gd name="adj" fmla="val 11765"/>
            </a:avLst>
          </a:prstGeom>
          <a:solidFill>
            <a:srgbClr val="132A46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109728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「テレビで活躍する選手を見て、どんな食事をしているんだろう、と考えたことはありますか？」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31520" y="2148840"/>
            <a:ext cx="5166360" cy="3794760"/>
          </a:xfrm>
          <a:prstGeom prst="roundRect">
            <a:avLst>
              <a:gd name="adj" fmla="val 2892"/>
            </a:avLst>
          </a:prstGeom>
          <a:solidFill>
            <a:srgbClr val="F7F8F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468880"/>
            <a:ext cx="640080" cy="640080"/>
          </a:xfrm>
          <a:prstGeom prst="ellipse">
            <a:avLst/>
          </a:prstGeom>
          <a:solidFill>
            <a:srgbClr val="132A46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1580" y="2628900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251460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A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現場での役割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1051560" y="3346704"/>
            <a:ext cx="109728" cy="109728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10" name="Text 7"/>
          <p:cNvSpPr/>
          <p:nvPr/>
        </p:nvSpPr>
        <p:spPr>
          <a:xfrm>
            <a:off x="1280160" y="3218688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プロチーム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1051560" y="3849624"/>
            <a:ext cx="109728" cy="109728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12" name="Text 9"/>
          <p:cNvSpPr/>
          <p:nvPr/>
        </p:nvSpPr>
        <p:spPr>
          <a:xfrm>
            <a:off x="1280160" y="3721608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日本代表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051560" y="4352544"/>
            <a:ext cx="109728" cy="109728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14" name="Text 11"/>
          <p:cNvSpPr/>
          <p:nvPr/>
        </p:nvSpPr>
        <p:spPr>
          <a:xfrm>
            <a:off x="1280160" y="4224528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実業団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051560" y="4855464"/>
            <a:ext cx="109728" cy="109728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16" name="Text 13"/>
          <p:cNvSpPr/>
          <p:nvPr/>
        </p:nvSpPr>
        <p:spPr>
          <a:xfrm>
            <a:off x="1280160" y="4727448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など、あらゆる競技現場で活動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263640" y="2148840"/>
            <a:ext cx="5193792" cy="3794760"/>
          </a:xfrm>
          <a:prstGeom prst="roundRect">
            <a:avLst>
              <a:gd name="adj" fmla="val 2892"/>
            </a:avLst>
          </a:prstGeom>
          <a:solidFill>
            <a:srgbClr val="132A46"/>
          </a:solidFill>
          <a:ln/>
        </p:spPr>
      </p:sp>
      <p:sp>
        <p:nvSpPr>
          <p:cNvPr id="18" name="Shape 15"/>
          <p:cNvSpPr/>
          <p:nvPr/>
        </p:nvSpPr>
        <p:spPr>
          <a:xfrm>
            <a:off x="6583680" y="2468880"/>
            <a:ext cx="640080" cy="64008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3700" y="2628900"/>
            <a:ext cx="320040" cy="32004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7360920" y="2514600"/>
            <a:ext cx="3822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ただの「献立作成」じゃない</a:t>
            </a:r>
            <a:endParaRPr lang="en-US" sz="1650" dirty="0"/>
          </a:p>
        </p:txBody>
      </p:sp>
      <p:sp>
        <p:nvSpPr>
          <p:cNvPr id="21" name="Text 17"/>
          <p:cNvSpPr/>
          <p:nvPr/>
        </p:nvSpPr>
        <p:spPr>
          <a:xfrm>
            <a:off x="6583680" y="3291840"/>
            <a:ext cx="4553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パフォーマンスを最大化させる役割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6583680" y="3895344"/>
            <a:ext cx="109728" cy="109728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23" name="Text 19"/>
          <p:cNvSpPr/>
          <p:nvPr/>
        </p:nvSpPr>
        <p:spPr>
          <a:xfrm>
            <a:off x="6812280" y="3767328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選手のコンディション管理</a:t>
            </a:r>
            <a:endParaRPr lang="en-US" sz="1350" dirty="0"/>
          </a:p>
        </p:txBody>
      </p:sp>
      <p:sp>
        <p:nvSpPr>
          <p:cNvPr id="24" name="Shape 20"/>
          <p:cNvSpPr/>
          <p:nvPr/>
        </p:nvSpPr>
        <p:spPr>
          <a:xfrm>
            <a:off x="6583680" y="4352544"/>
            <a:ext cx="109728" cy="109728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25" name="Text 21"/>
          <p:cNvSpPr/>
          <p:nvPr/>
        </p:nvSpPr>
        <p:spPr>
          <a:xfrm>
            <a:off x="6812280" y="4224528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体組成（筋肉量・体脂肪）の調整</a:t>
            </a:r>
            <a:endParaRPr lang="en-US" sz="1350" dirty="0"/>
          </a:p>
        </p:txBody>
      </p:sp>
      <p:sp>
        <p:nvSpPr>
          <p:cNvPr id="26" name="Shape 22"/>
          <p:cNvSpPr/>
          <p:nvPr/>
        </p:nvSpPr>
        <p:spPr>
          <a:xfrm>
            <a:off x="6583680" y="4809744"/>
            <a:ext cx="109728" cy="109728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27" name="Text 23"/>
          <p:cNvSpPr/>
          <p:nvPr/>
        </p:nvSpPr>
        <p:spPr>
          <a:xfrm>
            <a:off x="6812280" y="4681728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ケガ予防のための栄養指導</a:t>
            </a:r>
            <a:endParaRPr lang="en-US" sz="1350" dirty="0"/>
          </a:p>
        </p:txBody>
      </p:sp>
      <p:sp>
        <p:nvSpPr>
          <p:cNvPr id="28" name="Text 24"/>
          <p:cNvSpPr/>
          <p:nvPr/>
        </p:nvSpPr>
        <p:spPr>
          <a:xfrm>
            <a:off x="6583680" y="5212080"/>
            <a:ext cx="45537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D8DE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科学的根拠に基づいて、選手を食でバックアップする仕事です。</a:t>
            </a:r>
            <a:endParaRPr lang="en-US" sz="1250" dirty="0"/>
          </a:p>
        </p:txBody>
      </p:sp>
      <p:sp>
        <p:nvSpPr>
          <p:cNvPr id="29" name="Text 2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スポーツ管理栄養士講義 ｜ 協力：スミフルジャパン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2A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828800"/>
            <a:ext cx="5486400" cy="5486400"/>
          </a:xfrm>
          <a:prstGeom prst="ellipse">
            <a:avLst/>
          </a:prstGeom>
          <a:solidFill>
            <a:srgbClr val="F2A93B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3840480"/>
            <a:ext cx="3840480" cy="3840480"/>
          </a:xfrm>
          <a:prstGeom prst="ellipse">
            <a:avLst/>
          </a:prstGeom>
          <a:solidFill>
            <a:srgbClr val="7CB518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331720"/>
            <a:ext cx="4114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1000" dirty="0"/>
          </a:p>
        </p:txBody>
      </p:sp>
      <p:sp>
        <p:nvSpPr>
          <p:cNvPr id="5" name="Text 3"/>
          <p:cNvSpPr/>
          <p:nvPr/>
        </p:nvSpPr>
        <p:spPr>
          <a:xfrm>
            <a:off x="4160520" y="2788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60520" y="315468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【事例紹介】トップアスリートの</a:t>
            </a:r>
            <a:endParaRPr lang="en-US" sz="30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現場で起きていること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4206240" y="4709160"/>
            <a:ext cx="822960" cy="82296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11980" y="4914900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A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事例①　試合直前・直後のエネルギー補給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サッカー・テニス・陸上 など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6217920" cy="2743200"/>
          </a:xfrm>
          <a:prstGeom prst="roundRect">
            <a:avLst>
              <a:gd name="adj" fmla="val 4000"/>
            </a:avLst>
          </a:prstGeom>
          <a:solidFill>
            <a:srgbClr val="F7F8F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1560" y="1737360"/>
            <a:ext cx="594360" cy="594360"/>
          </a:xfrm>
          <a:prstGeom prst="ellipse">
            <a:avLst/>
          </a:prstGeom>
          <a:solidFill>
            <a:srgbClr val="132A46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0150" y="1885950"/>
            <a:ext cx="297180" cy="2971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175564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A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食べる「タイミングと質」が明暗を分ける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1051560" y="2514600"/>
            <a:ext cx="5577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試合中や練習後、選手は極限までエネルギーを消費します。試合の2時間前に何を食べるか、終わった直後の30分以内に何を補給するかで、翌日の疲労度やケガのリスクが劇的に変わります。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223760" y="1463040"/>
            <a:ext cx="4206240" cy="1234440"/>
          </a:xfrm>
          <a:prstGeom prst="roundRect">
            <a:avLst>
              <a:gd name="adj" fmla="val 8889"/>
            </a:avLst>
          </a:prstGeom>
          <a:solidFill>
            <a:srgbClr val="132A46"/>
          </a:solidFill>
          <a:ln/>
        </p:spPr>
      </p:sp>
      <p:sp>
        <p:nvSpPr>
          <p:cNvPr id="10" name="Text 7"/>
          <p:cNvSpPr/>
          <p:nvPr/>
        </p:nvSpPr>
        <p:spPr>
          <a:xfrm>
            <a:off x="7498080" y="157276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2時間前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498080" y="2240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試合前の補給タイミング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223760" y="2880360"/>
            <a:ext cx="4206240" cy="1234440"/>
          </a:xfrm>
          <a:prstGeom prst="roundRect">
            <a:avLst>
              <a:gd name="adj" fmla="val 8889"/>
            </a:avLst>
          </a:prstGeom>
          <a:solidFill>
            <a:srgbClr val="132A46"/>
          </a:solidFill>
          <a:ln/>
        </p:spPr>
      </p:sp>
      <p:sp>
        <p:nvSpPr>
          <p:cNvPr id="13" name="Text 10"/>
          <p:cNvSpPr/>
          <p:nvPr/>
        </p:nvSpPr>
        <p:spPr>
          <a:xfrm>
            <a:off x="7498080" y="299008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30分以内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7498080" y="3657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試合後の“ゴールデンタイム”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31520" y="4434840"/>
            <a:ext cx="10725912" cy="1508760"/>
          </a:xfrm>
          <a:prstGeom prst="roundRect">
            <a:avLst>
              <a:gd name="adj" fmla="val 7273"/>
            </a:avLst>
          </a:prstGeom>
          <a:solidFill>
            <a:srgbClr val="F2A93B"/>
          </a:solidFill>
          <a:ln/>
        </p:spPr>
      </p:sp>
      <p:sp>
        <p:nvSpPr>
          <p:cNvPr id="16" name="Shape 13"/>
          <p:cNvSpPr/>
          <p:nvPr/>
        </p:nvSpPr>
        <p:spPr>
          <a:xfrm>
            <a:off x="1005840" y="4754880"/>
            <a:ext cx="868680" cy="8686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1293" y="4950333"/>
            <a:ext cx="477774" cy="477774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2057400" y="4617720"/>
            <a:ext cx="9052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D1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国際大会の控室には、必ず「バナナ・キウイ・オレンジ」</a:t>
            </a:r>
            <a:endParaRPr lang="en-US" sz="1550" dirty="0"/>
          </a:p>
        </p:txBody>
      </p:sp>
      <p:sp>
        <p:nvSpPr>
          <p:cNvPr id="19" name="Text 15"/>
          <p:cNvSpPr/>
          <p:nvPr/>
        </p:nvSpPr>
        <p:spPr>
          <a:xfrm>
            <a:off x="2057400" y="5056632"/>
            <a:ext cx="9052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D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トップ選手は、試合前後の素早いエネルギー補給や抗酸化作用（疲労回復）のために、当たり前のように果物を食べています。</a:t>
            </a:r>
            <a:endParaRPr lang="en-US" sz="1250" dirty="0"/>
          </a:p>
        </p:txBody>
      </p:sp>
      <p:sp>
        <p:nvSpPr>
          <p:cNvPr id="20" name="Text 1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スポーツ管理栄養士講義 ｜ 協力：スミフルジャパン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2A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事例②　海外遠征・ホテル生活での食環境づくり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234440"/>
            <a:ext cx="914400" cy="91440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46304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874520" y="1234440"/>
            <a:ext cx="9418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D8DE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海外遠征では、現地の食事が合わずに体重やパフォーマンスが落ちてしまう選手が少なくありません。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731520" y="2514600"/>
            <a:ext cx="5166360" cy="3383280"/>
          </a:xfrm>
          <a:prstGeom prst="roundRect">
            <a:avLst>
              <a:gd name="adj" fmla="val 3243"/>
            </a:avLst>
          </a:prstGeom>
          <a:solidFill>
            <a:srgbClr val="0D1F35"/>
          </a:solidFill>
          <a:ln w="12700">
            <a:solidFill>
              <a:srgbClr val="2B456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97280" y="2880360"/>
            <a:ext cx="822960" cy="82296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3020" y="3086100"/>
            <a:ext cx="411480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97280" y="388620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シェフとの交渉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1097280" y="4389120"/>
            <a:ext cx="4434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管理栄養士が現地に同行し、ホテルのシェフと交渉して日本食に近いメニューを作ってもらう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291072" y="2514600"/>
            <a:ext cx="5166360" cy="3383280"/>
          </a:xfrm>
          <a:prstGeom prst="roundRect">
            <a:avLst>
              <a:gd name="adj" fmla="val 3243"/>
            </a:avLst>
          </a:prstGeom>
          <a:solidFill>
            <a:srgbClr val="0D1F35"/>
          </a:solidFill>
          <a:ln w="12700">
            <a:solidFill>
              <a:srgbClr val="2B456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656832" y="2880360"/>
            <a:ext cx="822960" cy="82296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2572" y="3086100"/>
            <a:ext cx="411480" cy="4114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656832" y="388620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ビュッフェでの食育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6656832" y="4389120"/>
            <a:ext cx="4434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ビュッフェで「何を選べば勝てるか」を選手自身に判断させる指導を行う</a:t>
            </a:r>
            <a:endParaRPr lang="en-US" sz="1350" dirty="0"/>
          </a:p>
        </p:txBody>
      </p:sp>
      <p:sp>
        <p:nvSpPr>
          <p:cNvPr id="16" name="Text 1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9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スポーツ管理栄養士講義 ｜ 協力：スミフルジャパン</a:t>
            </a:r>
            <a:endParaRPr lang="en-US" sz="900" dirty="0"/>
          </a:p>
        </p:txBody>
      </p:sp>
      <p:sp>
        <p:nvSpPr>
          <p:cNvPr id="17" name="Text 12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2A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828800"/>
            <a:ext cx="5486400" cy="5486400"/>
          </a:xfrm>
          <a:prstGeom prst="ellipse">
            <a:avLst/>
          </a:prstGeom>
          <a:solidFill>
            <a:srgbClr val="F2A93B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3840480"/>
            <a:ext cx="3840480" cy="3840480"/>
          </a:xfrm>
          <a:prstGeom prst="ellipse">
            <a:avLst/>
          </a:prstGeom>
          <a:solidFill>
            <a:srgbClr val="7CB518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331720"/>
            <a:ext cx="4114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1000" dirty="0"/>
          </a:p>
        </p:txBody>
      </p:sp>
      <p:sp>
        <p:nvSpPr>
          <p:cNvPr id="5" name="Text 3"/>
          <p:cNvSpPr/>
          <p:nvPr/>
        </p:nvSpPr>
        <p:spPr>
          <a:xfrm>
            <a:off x="4160520" y="2788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60520" y="315468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今日からできる！</a:t>
            </a:r>
            <a:endParaRPr lang="en-US" sz="30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パフォーマンスを高める基本の食事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4206240" y="4709160"/>
            <a:ext cx="822960" cy="82296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11980" y="4914900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A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強さを生み出す「5つの皿」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9601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毎食このバランスを意識するだけで、カラダは変わる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8612" y="1691640"/>
            <a:ext cx="1965960" cy="2880360"/>
          </a:xfrm>
          <a:prstGeom prst="roundRect">
            <a:avLst>
              <a:gd name="adj" fmla="val 5581"/>
            </a:avLst>
          </a:prstGeom>
          <a:solidFill>
            <a:srgbClr val="132A46"/>
          </a:solidFill>
          <a:ln/>
        </p:spPr>
      </p:sp>
      <p:sp>
        <p:nvSpPr>
          <p:cNvPr id="5" name="Shape 3"/>
          <p:cNvSpPr/>
          <p:nvPr/>
        </p:nvSpPr>
        <p:spPr>
          <a:xfrm>
            <a:off x="1304392" y="2011680"/>
            <a:ext cx="914400" cy="91440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10132" y="22174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8612" y="315468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主食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778612" y="36576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7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エネルギー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88340" y="176479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945740" y="1691640"/>
            <a:ext cx="1965960" cy="2880360"/>
          </a:xfrm>
          <a:prstGeom prst="roundRect">
            <a:avLst>
              <a:gd name="adj" fmla="val 5581"/>
            </a:avLst>
          </a:prstGeom>
          <a:solidFill>
            <a:srgbClr val="132A46"/>
          </a:solidFill>
          <a:ln/>
        </p:spPr>
      </p:sp>
      <p:sp>
        <p:nvSpPr>
          <p:cNvPr id="11" name="Shape 8"/>
          <p:cNvSpPr/>
          <p:nvPr/>
        </p:nvSpPr>
        <p:spPr>
          <a:xfrm>
            <a:off x="3471520" y="2011680"/>
            <a:ext cx="914400" cy="91440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7260" y="2217420"/>
            <a:ext cx="502920" cy="5029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945740" y="315468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主菜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2945740" y="36576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7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筋肉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3055468" y="176479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5112868" y="1691640"/>
            <a:ext cx="1965960" cy="2880360"/>
          </a:xfrm>
          <a:prstGeom prst="roundRect">
            <a:avLst>
              <a:gd name="adj" fmla="val 5581"/>
            </a:avLst>
          </a:prstGeom>
          <a:solidFill>
            <a:srgbClr val="132A46"/>
          </a:solidFill>
          <a:ln/>
        </p:spPr>
      </p:sp>
      <p:sp>
        <p:nvSpPr>
          <p:cNvPr id="17" name="Shape 13"/>
          <p:cNvSpPr/>
          <p:nvPr/>
        </p:nvSpPr>
        <p:spPr>
          <a:xfrm>
            <a:off x="5638648" y="2011680"/>
            <a:ext cx="914400" cy="91440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4388" y="2217420"/>
            <a:ext cx="502920" cy="5029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5112868" y="315468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副菜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5112868" y="36576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7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整える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5222596" y="176479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Shape 17"/>
          <p:cNvSpPr/>
          <p:nvPr/>
        </p:nvSpPr>
        <p:spPr>
          <a:xfrm>
            <a:off x="7279996" y="1691640"/>
            <a:ext cx="1965960" cy="2880360"/>
          </a:xfrm>
          <a:prstGeom prst="roundRect">
            <a:avLst>
              <a:gd name="adj" fmla="val 5581"/>
            </a:avLst>
          </a:prstGeom>
          <a:solidFill>
            <a:srgbClr val="132A46"/>
          </a:solidFill>
          <a:ln/>
        </p:spPr>
      </p:sp>
      <p:sp>
        <p:nvSpPr>
          <p:cNvPr id="23" name="Shape 18"/>
          <p:cNvSpPr/>
          <p:nvPr/>
        </p:nvSpPr>
        <p:spPr>
          <a:xfrm>
            <a:off x="7805776" y="2011680"/>
            <a:ext cx="914400" cy="91440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1516" y="2217420"/>
            <a:ext cx="502920" cy="50292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279996" y="315468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乳製品</a:t>
            </a:r>
            <a:endParaRPr lang="en-US" sz="1800" dirty="0"/>
          </a:p>
        </p:txBody>
      </p:sp>
      <p:sp>
        <p:nvSpPr>
          <p:cNvPr id="26" name="Text 20"/>
          <p:cNvSpPr/>
          <p:nvPr/>
        </p:nvSpPr>
        <p:spPr>
          <a:xfrm>
            <a:off x="7279996" y="36576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7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骨</a:t>
            </a:r>
            <a:endParaRPr lang="en-US" sz="1250" dirty="0"/>
          </a:p>
        </p:txBody>
      </p:sp>
      <p:sp>
        <p:nvSpPr>
          <p:cNvPr id="27" name="Text 21"/>
          <p:cNvSpPr/>
          <p:nvPr/>
        </p:nvSpPr>
        <p:spPr>
          <a:xfrm>
            <a:off x="7389724" y="176479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Shape 22"/>
          <p:cNvSpPr/>
          <p:nvPr/>
        </p:nvSpPr>
        <p:spPr>
          <a:xfrm>
            <a:off x="9447124" y="1691640"/>
            <a:ext cx="1965960" cy="2880360"/>
          </a:xfrm>
          <a:prstGeom prst="roundRect">
            <a:avLst>
              <a:gd name="adj" fmla="val 5581"/>
            </a:avLst>
          </a:prstGeom>
          <a:solidFill>
            <a:srgbClr val="F2A93B"/>
          </a:solidFill>
          <a:ln/>
        </p:spPr>
      </p:sp>
      <p:sp>
        <p:nvSpPr>
          <p:cNvPr id="29" name="Shape 23"/>
          <p:cNvSpPr/>
          <p:nvPr/>
        </p:nvSpPr>
        <p:spPr>
          <a:xfrm>
            <a:off x="9972904" y="201168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78644" y="2217420"/>
            <a:ext cx="502920" cy="50292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9447124" y="315468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果物</a:t>
            </a:r>
            <a:endParaRPr lang="en-US" sz="1800" dirty="0"/>
          </a:p>
        </p:txBody>
      </p:sp>
      <p:sp>
        <p:nvSpPr>
          <p:cNvPr id="32" name="Text 25"/>
          <p:cNvSpPr/>
          <p:nvPr/>
        </p:nvSpPr>
        <p:spPr>
          <a:xfrm>
            <a:off x="9447124" y="36576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0D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回復・補給</a:t>
            </a:r>
            <a:endParaRPr lang="en-US" sz="1250" dirty="0"/>
          </a:p>
        </p:txBody>
      </p:sp>
      <p:sp>
        <p:nvSpPr>
          <p:cNvPr id="33" name="Text 26"/>
          <p:cNvSpPr/>
          <p:nvPr/>
        </p:nvSpPr>
        <p:spPr>
          <a:xfrm>
            <a:off x="9556852" y="176479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34" name="Shape 27"/>
          <p:cNvSpPr/>
          <p:nvPr/>
        </p:nvSpPr>
        <p:spPr>
          <a:xfrm>
            <a:off x="731520" y="4892040"/>
            <a:ext cx="10725912" cy="1234440"/>
          </a:xfrm>
          <a:prstGeom prst="roundRect">
            <a:avLst>
              <a:gd name="adj" fmla="val 8889"/>
            </a:avLst>
          </a:prstGeom>
          <a:solidFill>
            <a:srgbClr val="F7F8F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1005840" y="502005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08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トップ選手も基本は同じ</a:t>
            </a:r>
            <a:endParaRPr lang="en-US" sz="1450" dirty="0"/>
          </a:p>
        </p:txBody>
      </p:sp>
      <p:sp>
        <p:nvSpPr>
          <p:cNvPr id="36" name="Text 29"/>
          <p:cNvSpPr/>
          <p:nvPr/>
        </p:nvSpPr>
        <p:spPr>
          <a:xfrm>
            <a:off x="1005840" y="539496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アスリートの特別な食事も、ベースはこの5つ。これが崩れると「練習しているのに筋肉がつかない」「大事な時期に体調を崩す」といった問題が起こります。</a:t>
            </a:r>
            <a:endParaRPr lang="en-US" sz="1250" dirty="0"/>
          </a:p>
        </p:txBody>
      </p:sp>
      <p:sp>
        <p:nvSpPr>
          <p:cNvPr id="37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スポーツ管理栄養士講義 ｜ 協力：スミフルジャパン</a:t>
            </a:r>
            <a:endParaRPr lang="en-US" sz="900" dirty="0"/>
          </a:p>
        </p:txBody>
      </p:sp>
      <p:sp>
        <p:nvSpPr>
          <p:cNvPr id="38" name="Text 31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2A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828800"/>
            <a:ext cx="5486400" cy="5486400"/>
          </a:xfrm>
          <a:prstGeom prst="ellipse">
            <a:avLst/>
          </a:prstGeom>
          <a:solidFill>
            <a:srgbClr val="F2A93B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3840480"/>
            <a:ext cx="3840480" cy="3840480"/>
          </a:xfrm>
          <a:prstGeom prst="ellipse">
            <a:avLst/>
          </a:prstGeom>
          <a:solidFill>
            <a:srgbClr val="7CB518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331720"/>
            <a:ext cx="4114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1000" dirty="0"/>
          </a:p>
        </p:txBody>
      </p:sp>
      <p:sp>
        <p:nvSpPr>
          <p:cNvPr id="5" name="Text 3"/>
          <p:cNvSpPr/>
          <p:nvPr/>
        </p:nvSpPr>
        <p:spPr>
          <a:xfrm>
            <a:off x="4160520" y="2788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FOUR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60520" y="315468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明日から始める</a:t>
            </a:r>
            <a:endParaRPr lang="en-US" sz="30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「＋1個の果物習慣」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4206240" y="4709160"/>
            <a:ext cx="822960" cy="82296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11980" y="4914900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A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なぜ「果物」なのか？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9601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トップ選手たちも、小さな習慣から始めています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2892" y="1783080"/>
            <a:ext cx="3429000" cy="3200400"/>
          </a:xfrm>
          <a:prstGeom prst="roundRect">
            <a:avLst>
              <a:gd name="adj" fmla="val 3429"/>
            </a:avLst>
          </a:prstGeom>
          <a:solidFill>
            <a:srgbClr val="132A46"/>
          </a:solidFill>
          <a:ln/>
        </p:spPr>
      </p:sp>
      <p:sp>
        <p:nvSpPr>
          <p:cNvPr id="5" name="Shape 3"/>
          <p:cNvSpPr/>
          <p:nvPr/>
        </p:nvSpPr>
        <p:spPr>
          <a:xfrm>
            <a:off x="1967332" y="2148840"/>
            <a:ext cx="960120" cy="96012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07362" y="2388870"/>
            <a:ext cx="480060" cy="4800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1492" y="333756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即効性と持続性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1007212" y="388620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果物の糖質は素早く吸収され、運動前後のエネルギーになる。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81348" y="1783080"/>
            <a:ext cx="3429000" cy="3200400"/>
          </a:xfrm>
          <a:prstGeom prst="roundRect">
            <a:avLst>
              <a:gd name="adj" fmla="val 3429"/>
            </a:avLst>
          </a:prstGeom>
          <a:solidFill>
            <a:srgbClr val="132A46"/>
          </a:solidFill>
          <a:ln/>
        </p:spPr>
      </p:sp>
      <p:sp>
        <p:nvSpPr>
          <p:cNvPr id="10" name="Shape 7"/>
          <p:cNvSpPr/>
          <p:nvPr/>
        </p:nvSpPr>
        <p:spPr>
          <a:xfrm>
            <a:off x="5615788" y="2148840"/>
            <a:ext cx="960120" cy="96012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5818" y="2388870"/>
            <a:ext cx="480060" cy="4800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09948" y="333756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コンディショニング</a:t>
            </a:r>
            <a:endParaRPr lang="en-US" sz="1650" dirty="0"/>
          </a:p>
        </p:txBody>
      </p:sp>
      <p:sp>
        <p:nvSpPr>
          <p:cNvPr id="13" name="Text 9"/>
          <p:cNvSpPr/>
          <p:nvPr/>
        </p:nvSpPr>
        <p:spPr>
          <a:xfrm>
            <a:off x="4655668" y="388620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ビタミンCやミネラルが豊富で、疲労回復や風邪予防に直結。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029804" y="1783080"/>
            <a:ext cx="3429000" cy="3200400"/>
          </a:xfrm>
          <a:prstGeom prst="roundRect">
            <a:avLst>
              <a:gd name="adj" fmla="val 3429"/>
            </a:avLst>
          </a:prstGeom>
          <a:solidFill>
            <a:srgbClr val="132A46"/>
          </a:solidFill>
          <a:ln/>
        </p:spPr>
      </p:sp>
      <p:sp>
        <p:nvSpPr>
          <p:cNvPr id="15" name="Shape 11"/>
          <p:cNvSpPr/>
          <p:nvPr/>
        </p:nvSpPr>
        <p:spPr>
          <a:xfrm>
            <a:off x="9264244" y="2148840"/>
            <a:ext cx="960120" cy="96012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4274" y="2388870"/>
            <a:ext cx="480060" cy="4800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58404" y="333756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手軽さ</a:t>
            </a:r>
            <a:endParaRPr lang="en-US" sz="1650" dirty="0"/>
          </a:p>
        </p:txBody>
      </p:sp>
      <p:sp>
        <p:nvSpPr>
          <p:cNvPr id="18" name="Text 13"/>
          <p:cNvSpPr/>
          <p:nvPr/>
        </p:nvSpPr>
        <p:spPr>
          <a:xfrm>
            <a:off x="8304124" y="388620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調理不要で、コンビニでも1個単位で買える。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スポーツ管理栄養士講義 ｜ 協力：スミフルジャパン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32A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645920"/>
            <a:ext cx="5029200" cy="5029200"/>
          </a:xfrm>
          <a:prstGeom prst="ellipse">
            <a:avLst/>
          </a:prstGeom>
          <a:solidFill>
            <a:srgbClr val="F2A93B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4389120"/>
            <a:ext cx="3657600" cy="3657600"/>
          </a:xfrm>
          <a:prstGeom prst="ellipse">
            <a:avLst/>
          </a:prstGeom>
          <a:solidFill>
            <a:srgbClr val="7CB518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592928" y="777240"/>
            <a:ext cx="1005840" cy="100584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19242" y="1003554"/>
            <a:ext cx="553212" cy="5532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88720" y="2148840"/>
            <a:ext cx="98115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「バランス良く食べなきゃ」と難しく考えず、まずは今日帰り道に果物を1個買って、明日食べることからスタートしてみましょう。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1188720" y="3611880"/>
            <a:ext cx="9811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その1個の果物が、あなたのカラダを変える第一歩になります！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3901288" y="4892040"/>
            <a:ext cx="4389120" cy="566928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901288" y="4892040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協力：スミフルジャパン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31520" y="6172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ご清聴ありがとうございました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2026-08-08T07:15:15Z</dcterms:created>
  <dcterms:modified xsi:type="dcterms:W3CDTF">2026-08-08T07:15:15Z</dcterms:modified>
</cp:coreProperties>
</file>