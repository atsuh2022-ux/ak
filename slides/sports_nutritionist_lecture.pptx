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A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389120" cy="4389120"/>
          </a:xfrm>
          <a:prstGeom prst="ellipse">
            <a:avLst/>
          </a:prstGeom>
          <a:solidFill>
            <a:srgbClr val="F2A93B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743200" cy="2743200"/>
          </a:xfrm>
          <a:prstGeom prst="ellipse">
            <a:avLst/>
          </a:prstGeom>
          <a:solidFill>
            <a:srgbClr val="7CB518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846320"/>
            <a:ext cx="3291840" cy="3291840"/>
          </a:xfrm>
          <a:prstGeom prst="ellipse">
            <a:avLst/>
          </a:prstGeom>
          <a:solidFill>
            <a:srgbClr val="F2A93B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NUTRITION LECTURE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アスリートを食で支える！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スポーツ管理栄養士の仕事と</a:t>
            </a:r>
            <a:endParaRPr lang="en-US" sz="26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「強いカラダ」をつくる食事のコツ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31520" y="5349240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34924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協力：スミフルジャパン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966960" y="5074920"/>
            <a:ext cx="1417320" cy="14173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4" y="5358384"/>
            <a:ext cx="850392" cy="85039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3152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高校生のためのスポーツ栄養キャリア講義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目次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1072591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233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01952"/>
            <a:ext cx="685800" cy="685800"/>
          </a:xfrm>
          <a:prstGeom prst="ellipse">
            <a:avLst/>
          </a:prstGeom>
          <a:solidFill>
            <a:srgbClr val="132A4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1570" y="2073402"/>
            <a:ext cx="342900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856232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E7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2606040" y="185623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スポーツ管理栄養士ってどんな仕事？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606040" y="22402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現場での役割と、パフォーマンスを最大化させる仕事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31520" y="2862072"/>
            <a:ext cx="1072591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233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60120" y="2980944"/>
            <a:ext cx="685800" cy="6858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" y="3152394"/>
            <a:ext cx="342900" cy="3429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28800" y="2935224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E7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2606040" y="2935224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トップアスリートの現場で起きていること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2606040" y="33192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試合前後のコンディショニングと海外遠征での食の工夫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31520" y="3941064"/>
            <a:ext cx="1072591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233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60120" y="4059936"/>
            <a:ext cx="685800" cy="685800"/>
          </a:xfrm>
          <a:prstGeom prst="ellipse">
            <a:avLst/>
          </a:prstGeom>
          <a:solidFill>
            <a:srgbClr val="132A4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570" y="4231386"/>
            <a:ext cx="342900" cy="3429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28800" y="4014216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E7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5"/>
          <p:cNvSpPr/>
          <p:nvPr/>
        </p:nvSpPr>
        <p:spPr>
          <a:xfrm>
            <a:off x="2606040" y="4014216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今日からできる！パフォーマンスを高める基本の食事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2606040" y="4398264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強さを生み出す「5つの皿」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731520" y="5020056"/>
            <a:ext cx="1072591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233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60120" y="5138928"/>
            <a:ext cx="685800" cy="6858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1570" y="5310378"/>
            <a:ext cx="342900" cy="3429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828800" y="5093208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E7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6" name="Text 20"/>
          <p:cNvSpPr/>
          <p:nvPr/>
        </p:nvSpPr>
        <p:spPr>
          <a:xfrm>
            <a:off x="2606040" y="50932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明日から始める「＋1個の果物習慣」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2606040" y="547725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トップ選手もやっている、果物が武器になる理由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スポーツ管理栄養士講義 ｜ 協力：スミフルジャパン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2A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486400" cy="5486400"/>
          </a:xfrm>
          <a:prstGeom prst="ellipse">
            <a:avLst/>
          </a:prstGeom>
          <a:solidFill>
            <a:srgbClr val="F2A93B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3840480"/>
            <a:ext cx="3840480" cy="3840480"/>
          </a:xfrm>
          <a:prstGeom prst="ellipse">
            <a:avLst/>
          </a:prstGeom>
          <a:solidFill>
            <a:srgbClr val="7CB518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3172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4160520" y="2788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ONE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60520" y="315468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スポーツ管理栄養士って</a:t>
            </a:r>
            <a:endParaRPr lang="en-US" sz="3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どんな仕事？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206240" y="470916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1980" y="491490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スポーツ管理栄養士の仕事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0725912" cy="777240"/>
          </a:xfrm>
          <a:prstGeom prst="roundRect">
            <a:avLst>
              <a:gd name="adj" fmla="val 11765"/>
            </a:avLst>
          </a:prstGeom>
          <a:solidFill>
            <a:srgbClr val="132A46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09728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「テレビで活躍する選手を見て、どんな食事をしているんだろう、と考えたことはありますか？」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5166360" cy="3794760"/>
          </a:xfrm>
          <a:prstGeom prst="roundRect">
            <a:avLst>
              <a:gd name="adj" fmla="val 2892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2468880"/>
            <a:ext cx="640080" cy="640080"/>
          </a:xfrm>
          <a:prstGeom prst="ellipse">
            <a:avLst/>
          </a:prstGeom>
          <a:solidFill>
            <a:srgbClr val="132A4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26289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51460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現場での役割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051560" y="3346704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7"/>
          <p:cNvSpPr/>
          <p:nvPr/>
        </p:nvSpPr>
        <p:spPr>
          <a:xfrm>
            <a:off x="1280160" y="321868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プロチーム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051560" y="3849624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9"/>
          <p:cNvSpPr/>
          <p:nvPr/>
        </p:nvSpPr>
        <p:spPr>
          <a:xfrm>
            <a:off x="1280160" y="372160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日本代表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051560" y="4352544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4" name="Text 11"/>
          <p:cNvSpPr/>
          <p:nvPr/>
        </p:nvSpPr>
        <p:spPr>
          <a:xfrm>
            <a:off x="1280160" y="422452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実業団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051560" y="4855464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3"/>
          <p:cNvSpPr/>
          <p:nvPr/>
        </p:nvSpPr>
        <p:spPr>
          <a:xfrm>
            <a:off x="1280160" y="472744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など、あらゆる競技現場で活動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263640" y="2148840"/>
            <a:ext cx="5193792" cy="3794760"/>
          </a:xfrm>
          <a:prstGeom prst="roundRect">
            <a:avLst>
              <a:gd name="adj" fmla="val 2892"/>
            </a:avLst>
          </a:prstGeom>
          <a:solidFill>
            <a:srgbClr val="132A46"/>
          </a:solidFill>
          <a:ln/>
        </p:spPr>
      </p:sp>
      <p:sp>
        <p:nvSpPr>
          <p:cNvPr id="18" name="Shape 15"/>
          <p:cNvSpPr/>
          <p:nvPr/>
        </p:nvSpPr>
        <p:spPr>
          <a:xfrm>
            <a:off x="6583680" y="2468880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0" y="2628900"/>
            <a:ext cx="320040" cy="3200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360920" y="2514600"/>
            <a:ext cx="3822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ただの「献立作成」じゃない</a:t>
            </a:r>
            <a:endParaRPr lang="en-US" sz="1650" dirty="0"/>
          </a:p>
        </p:txBody>
      </p:sp>
      <p:sp>
        <p:nvSpPr>
          <p:cNvPr id="21" name="Text 17"/>
          <p:cNvSpPr/>
          <p:nvPr/>
        </p:nvSpPr>
        <p:spPr>
          <a:xfrm>
            <a:off x="6583680" y="3291840"/>
            <a:ext cx="4553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パフォーマンスを最大化させる役割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6583680" y="3895344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3" name="Text 19"/>
          <p:cNvSpPr/>
          <p:nvPr/>
        </p:nvSpPr>
        <p:spPr>
          <a:xfrm>
            <a:off x="6812280" y="3767328"/>
            <a:ext cx="4279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選手のコンディション管理</a:t>
            </a:r>
            <a:endParaRPr lang="en-US" sz="1350" dirty="0"/>
          </a:p>
        </p:txBody>
      </p:sp>
      <p:sp>
        <p:nvSpPr>
          <p:cNvPr id="24" name="Shape 20"/>
          <p:cNvSpPr/>
          <p:nvPr/>
        </p:nvSpPr>
        <p:spPr>
          <a:xfrm>
            <a:off x="6583680" y="4352544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5" name="Text 21"/>
          <p:cNvSpPr/>
          <p:nvPr/>
        </p:nvSpPr>
        <p:spPr>
          <a:xfrm>
            <a:off x="6812280" y="4224528"/>
            <a:ext cx="4279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体組成（筋肉量・体脂肪）の調整</a:t>
            </a:r>
            <a:endParaRPr lang="en-US" sz="1350" dirty="0"/>
          </a:p>
        </p:txBody>
      </p:sp>
      <p:sp>
        <p:nvSpPr>
          <p:cNvPr id="26" name="Shape 22"/>
          <p:cNvSpPr/>
          <p:nvPr/>
        </p:nvSpPr>
        <p:spPr>
          <a:xfrm>
            <a:off x="6583680" y="4809744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7" name="Text 23"/>
          <p:cNvSpPr/>
          <p:nvPr/>
        </p:nvSpPr>
        <p:spPr>
          <a:xfrm>
            <a:off x="6812280" y="4681728"/>
            <a:ext cx="4279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ケガ予防のための栄養指導</a:t>
            </a:r>
            <a:endParaRPr lang="en-US" sz="1350" dirty="0"/>
          </a:p>
        </p:txBody>
      </p:sp>
      <p:sp>
        <p:nvSpPr>
          <p:cNvPr id="28" name="Text 24"/>
          <p:cNvSpPr/>
          <p:nvPr/>
        </p:nvSpPr>
        <p:spPr>
          <a:xfrm>
            <a:off x="6583680" y="5212080"/>
            <a:ext cx="4553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科学的根拠に基づいて、選手を食でバックアップする仕事です。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スポーツ管理栄養士講義 ｜ 協力：スミフルジャパン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やりがいが大きい分、大変なことも…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アスリートと本気で向き合うからこそ見えてくる、5つのハードル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5257800"/>
            <a:ext cx="603504" cy="914400"/>
          </a:xfrm>
          <a:prstGeom prst="rect">
            <a:avLst/>
          </a:prstGeom>
          <a:solidFill>
            <a:srgbClr val="132A4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5257800"/>
            <a:ext cx="603504" cy="457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5367528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444752" y="4663440"/>
            <a:ext cx="603504" cy="1508760"/>
          </a:xfrm>
          <a:prstGeom prst="rect">
            <a:avLst/>
          </a:prstGeom>
          <a:solidFill>
            <a:srgbClr val="4B4A43"/>
          </a:solidFill>
          <a:ln/>
        </p:spPr>
      </p:sp>
      <p:sp>
        <p:nvSpPr>
          <p:cNvPr id="8" name="Shape 6"/>
          <p:cNvSpPr/>
          <p:nvPr/>
        </p:nvSpPr>
        <p:spPr>
          <a:xfrm>
            <a:off x="1444752" y="4663440"/>
            <a:ext cx="603504" cy="457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9" name="Text 7"/>
          <p:cNvSpPr/>
          <p:nvPr/>
        </p:nvSpPr>
        <p:spPr>
          <a:xfrm>
            <a:off x="1444752" y="4773168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157984" y="4069080"/>
            <a:ext cx="603504" cy="2103120"/>
          </a:xfrm>
          <a:prstGeom prst="rect">
            <a:avLst/>
          </a:prstGeom>
          <a:solidFill>
            <a:srgbClr val="836A41"/>
          </a:solidFill>
          <a:ln/>
        </p:spPr>
      </p:sp>
      <p:sp>
        <p:nvSpPr>
          <p:cNvPr id="11" name="Shape 9"/>
          <p:cNvSpPr/>
          <p:nvPr/>
        </p:nvSpPr>
        <p:spPr>
          <a:xfrm>
            <a:off x="2157984" y="4069080"/>
            <a:ext cx="603504" cy="457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2" name="Text 10"/>
          <p:cNvSpPr/>
          <p:nvPr/>
        </p:nvSpPr>
        <p:spPr>
          <a:xfrm>
            <a:off x="2157984" y="4178808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871216" y="3474720"/>
            <a:ext cx="603504" cy="2697480"/>
          </a:xfrm>
          <a:prstGeom prst="rect">
            <a:avLst/>
          </a:prstGeom>
          <a:solidFill>
            <a:srgbClr val="BA893E"/>
          </a:solidFill>
          <a:ln/>
        </p:spPr>
      </p:sp>
      <p:sp>
        <p:nvSpPr>
          <p:cNvPr id="14" name="Shape 12"/>
          <p:cNvSpPr/>
          <p:nvPr/>
        </p:nvSpPr>
        <p:spPr>
          <a:xfrm>
            <a:off x="2871216" y="3474720"/>
            <a:ext cx="603504" cy="457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5" name="Text 13"/>
          <p:cNvSpPr/>
          <p:nvPr/>
        </p:nvSpPr>
        <p:spPr>
          <a:xfrm>
            <a:off x="2871216" y="3584448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584448" y="2880360"/>
            <a:ext cx="603504" cy="329184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3584448" y="2880360"/>
            <a:ext cx="603504" cy="457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8" name="Text 16"/>
          <p:cNvSpPr/>
          <p:nvPr/>
        </p:nvSpPr>
        <p:spPr>
          <a:xfrm>
            <a:off x="3584448" y="2990088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" y="4736592"/>
            <a:ext cx="502920" cy="50292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3886200" y="2194560"/>
            <a:ext cx="0" cy="685800"/>
          </a:xfrm>
          <a:prstGeom prst="line">
            <a:avLst/>
          </a:prstGeom>
          <a:noFill/>
          <a:ln w="25400">
            <a:solidFill>
              <a:srgbClr val="132A4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867912" y="1901952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069" y="2015109"/>
            <a:ext cx="276606" cy="27660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883664" y="1627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信頼されるスポーツ栄養士へ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709160" y="1792224"/>
            <a:ext cx="548640" cy="548640"/>
          </a:xfrm>
          <a:prstGeom prst="ellipse">
            <a:avLst/>
          </a:prstGeom>
          <a:solidFill>
            <a:srgbClr val="E08A1E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929384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458968" y="1719072"/>
            <a:ext cx="6016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個別対応 ＋ トライ＆エラーが必須</a:t>
            </a:r>
            <a:endParaRPr lang="en-US" sz="1450" dirty="0"/>
          </a:p>
        </p:txBody>
      </p:sp>
      <p:sp>
        <p:nvSpPr>
          <p:cNvPr id="27" name="Text 22"/>
          <p:cNvSpPr/>
          <p:nvPr/>
        </p:nvSpPr>
        <p:spPr>
          <a:xfrm>
            <a:off x="5458968" y="2139696"/>
            <a:ext cx="6016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選手ごとに状況が異なり、基準値だけでは通用しない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4709160" y="2724912"/>
            <a:ext cx="548640" cy="548640"/>
          </a:xfrm>
          <a:prstGeom prst="ellipse">
            <a:avLst/>
          </a:prstGeom>
          <a:solidFill>
            <a:srgbClr val="E08A1E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862072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458968" y="2651760"/>
            <a:ext cx="6016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同等の熱量 or データ・知識で対抗</a:t>
            </a:r>
            <a:endParaRPr lang="en-US" sz="1450" dirty="0"/>
          </a:p>
        </p:txBody>
      </p:sp>
      <p:sp>
        <p:nvSpPr>
          <p:cNvPr id="31" name="Text 25"/>
          <p:cNvSpPr/>
          <p:nvPr/>
        </p:nvSpPr>
        <p:spPr>
          <a:xfrm>
            <a:off x="5458968" y="3072384"/>
            <a:ext cx="6016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選手は「1分1秒」を削りにきている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4709160" y="3657600"/>
            <a:ext cx="548640" cy="548640"/>
          </a:xfrm>
          <a:prstGeom prst="ellipse">
            <a:avLst/>
          </a:prstGeom>
          <a:solidFill>
            <a:srgbClr val="E08A1E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794760"/>
            <a:ext cx="274320" cy="27432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458968" y="3584448"/>
            <a:ext cx="6016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英語論文・海外データの収集と活用</a:t>
            </a:r>
            <a:endParaRPr lang="en-US" sz="1450" dirty="0"/>
          </a:p>
        </p:txBody>
      </p:sp>
      <p:sp>
        <p:nvSpPr>
          <p:cNvPr id="35" name="Text 28"/>
          <p:cNvSpPr/>
          <p:nvPr/>
        </p:nvSpPr>
        <p:spPr>
          <a:xfrm>
            <a:off x="5458968" y="4005072"/>
            <a:ext cx="6016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国際レベルで戦う選手は情報戦</a:t>
            </a:r>
            <a:endParaRPr lang="en-US" sz="1150" dirty="0"/>
          </a:p>
        </p:txBody>
      </p:sp>
      <p:sp>
        <p:nvSpPr>
          <p:cNvPr id="36" name="Shape 29"/>
          <p:cNvSpPr/>
          <p:nvPr/>
        </p:nvSpPr>
        <p:spPr>
          <a:xfrm>
            <a:off x="4709160" y="4590288"/>
            <a:ext cx="548640" cy="548640"/>
          </a:xfrm>
          <a:prstGeom prst="ellipse">
            <a:avLst/>
          </a:prstGeom>
          <a:solidFill>
            <a:srgbClr val="E08A1E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4727448"/>
            <a:ext cx="274320" cy="27432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5458968" y="4517136"/>
            <a:ext cx="6016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運動生理学などスポーツ科学の理解</a:t>
            </a:r>
            <a:endParaRPr lang="en-US" sz="1450" dirty="0"/>
          </a:p>
        </p:txBody>
      </p:sp>
      <p:sp>
        <p:nvSpPr>
          <p:cNvPr id="39" name="Text 31"/>
          <p:cNvSpPr/>
          <p:nvPr/>
        </p:nvSpPr>
        <p:spPr>
          <a:xfrm>
            <a:off x="5458968" y="4937760"/>
            <a:ext cx="6016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栄養学の知識だけでは不十分</a:t>
            </a:r>
            <a:endParaRPr lang="en-US" sz="1150" dirty="0"/>
          </a:p>
        </p:txBody>
      </p:sp>
      <p:sp>
        <p:nvSpPr>
          <p:cNvPr id="40" name="Shape 32"/>
          <p:cNvSpPr/>
          <p:nvPr/>
        </p:nvSpPr>
        <p:spPr>
          <a:xfrm>
            <a:off x="4709160" y="5522976"/>
            <a:ext cx="548640" cy="548640"/>
          </a:xfrm>
          <a:prstGeom prst="ellipse">
            <a:avLst/>
          </a:prstGeom>
          <a:solidFill>
            <a:srgbClr val="E08A1E"/>
          </a:solidFill>
          <a:ln/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5660136"/>
            <a:ext cx="274320" cy="27432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5458968" y="5449824"/>
            <a:ext cx="6016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蓄積する力・読む力・集める力・応用する力</a:t>
            </a:r>
            <a:endParaRPr lang="en-US" sz="1450" dirty="0"/>
          </a:p>
        </p:txBody>
      </p:sp>
      <p:sp>
        <p:nvSpPr>
          <p:cNvPr id="43" name="Text 34"/>
          <p:cNvSpPr/>
          <p:nvPr/>
        </p:nvSpPr>
        <p:spPr>
          <a:xfrm>
            <a:off x="5458968" y="5870448"/>
            <a:ext cx="6016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データがすべての土台になる</a:t>
            </a:r>
            <a:endParaRPr lang="en-US" sz="1150" dirty="0"/>
          </a:p>
        </p:txBody>
      </p:sp>
      <p:sp>
        <p:nvSpPr>
          <p:cNvPr id="44" name="Text 3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スポーツ管理栄養士講義 ｜ 協力：スミフルジャパン</a:t>
            </a:r>
            <a:endParaRPr lang="en-US" sz="900" dirty="0"/>
          </a:p>
        </p:txBody>
      </p:sp>
      <p:sp>
        <p:nvSpPr>
          <p:cNvPr id="45" name="Text 36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2A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486400" cy="5486400"/>
          </a:xfrm>
          <a:prstGeom prst="ellipse">
            <a:avLst/>
          </a:prstGeom>
          <a:solidFill>
            <a:srgbClr val="F2A93B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3840480"/>
            <a:ext cx="3840480" cy="3840480"/>
          </a:xfrm>
          <a:prstGeom prst="ellipse">
            <a:avLst/>
          </a:prstGeom>
          <a:solidFill>
            <a:srgbClr val="7CB518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3172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4160520" y="2788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TWO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60520" y="315468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【事例紹介】トップアスリートの</a:t>
            </a:r>
            <a:endParaRPr lang="en-US" sz="3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現場で起きていること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206240" y="470916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1980" y="491490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事例①　試合直前・直後のエネルギー補給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サッカー・テニス・陸上 など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6217920" cy="27432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737360"/>
            <a:ext cx="594360" cy="594360"/>
          </a:xfrm>
          <a:prstGeom prst="ellipse">
            <a:avLst/>
          </a:prstGeom>
          <a:solidFill>
            <a:srgbClr val="132A4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0150" y="1885950"/>
            <a:ext cx="297180" cy="2971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75564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食べる「タイミングと質」が明暗を分ける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051560" y="2514600"/>
            <a:ext cx="5577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試合中や練習後、選手は極限までエネルギーを消費します。試合の2時間前に何を食べるか、終わった直後の30分以内に何を補給するかで、翌日の疲労度やケガのリスクが劇的に変わります。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223760" y="1463040"/>
            <a:ext cx="4206240" cy="1234440"/>
          </a:xfrm>
          <a:prstGeom prst="roundRect">
            <a:avLst>
              <a:gd name="adj" fmla="val 8889"/>
            </a:avLst>
          </a:prstGeom>
          <a:solidFill>
            <a:srgbClr val="132A46"/>
          </a:solidFill>
          <a:ln/>
        </p:spPr>
      </p:sp>
      <p:sp>
        <p:nvSpPr>
          <p:cNvPr id="10" name="Text 7"/>
          <p:cNvSpPr/>
          <p:nvPr/>
        </p:nvSpPr>
        <p:spPr>
          <a:xfrm>
            <a:off x="7498080" y="157276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2時間前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498080" y="2240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試合前の補給タイミング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223760" y="2880360"/>
            <a:ext cx="4206240" cy="1234440"/>
          </a:xfrm>
          <a:prstGeom prst="roundRect">
            <a:avLst>
              <a:gd name="adj" fmla="val 8889"/>
            </a:avLst>
          </a:prstGeom>
          <a:solidFill>
            <a:srgbClr val="132A46"/>
          </a:solidFill>
          <a:ln/>
        </p:spPr>
      </p:sp>
      <p:sp>
        <p:nvSpPr>
          <p:cNvPr id="13" name="Text 10"/>
          <p:cNvSpPr/>
          <p:nvPr/>
        </p:nvSpPr>
        <p:spPr>
          <a:xfrm>
            <a:off x="7498080" y="299008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30分以内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749808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試合後の“ゴールデンタイム”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31520" y="4434840"/>
            <a:ext cx="10725912" cy="1508760"/>
          </a:xfrm>
          <a:prstGeom prst="roundRect">
            <a:avLst>
              <a:gd name="adj" fmla="val 7273"/>
            </a:avLst>
          </a:prstGeom>
          <a:solidFill>
            <a:srgbClr val="F2A93B"/>
          </a:solidFill>
          <a:ln/>
        </p:spPr>
      </p:sp>
      <p:sp>
        <p:nvSpPr>
          <p:cNvPr id="16" name="Shape 13"/>
          <p:cNvSpPr/>
          <p:nvPr/>
        </p:nvSpPr>
        <p:spPr>
          <a:xfrm>
            <a:off x="1005840" y="475488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293" y="4950333"/>
            <a:ext cx="477774" cy="47777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057400" y="461772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国際大会の控室には、必ず「バナナ・キウイ・オレンジ」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2057400" y="5056632"/>
            <a:ext cx="9052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トップ選手は、試合前後の素早いエネルギー補給や抗酸化作用（疲労回復）のために、当たり前のように果物を食べています。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スポーツ管理栄養士講義 ｜ 協力：スミフルジャパン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A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事例②　海外遠征・ホテル生活での食環境づくり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914400" cy="9144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4630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74520" y="123444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海外遠征では、現地の食事が合わずに体重やパフォーマンスが落ちてしまう選手が少なくありません。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31520" y="2514600"/>
            <a:ext cx="5166360" cy="3383280"/>
          </a:xfrm>
          <a:prstGeom prst="roundRect">
            <a:avLst>
              <a:gd name="adj" fmla="val 3243"/>
            </a:avLst>
          </a:prstGeom>
          <a:solidFill>
            <a:srgbClr val="0D1F35"/>
          </a:solidFill>
          <a:ln w="12700">
            <a:solidFill>
              <a:srgbClr val="2B456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97280" y="288036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020" y="308610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38862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シェフとの交渉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097280" y="4389120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管理栄養士が現地に同行し、ホテルのシェフと交渉して日本食に近いメニューを作ってもらう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291072" y="2514600"/>
            <a:ext cx="5166360" cy="3383280"/>
          </a:xfrm>
          <a:prstGeom prst="roundRect">
            <a:avLst>
              <a:gd name="adj" fmla="val 3243"/>
            </a:avLst>
          </a:prstGeom>
          <a:solidFill>
            <a:srgbClr val="0D1F35"/>
          </a:solidFill>
          <a:ln w="12700">
            <a:solidFill>
              <a:srgbClr val="2B456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656832" y="288036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572" y="308610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56832" y="38862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ビュッフェでの食育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6656832" y="4389120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ビュッフェで「何を選べば勝てるか」を選手自身に判断させる指導を行う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スポーツ管理栄養士講義 ｜ 協力：スミフルジャパン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A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486400" cy="5486400"/>
          </a:xfrm>
          <a:prstGeom prst="ellipse">
            <a:avLst/>
          </a:prstGeom>
          <a:solidFill>
            <a:srgbClr val="F2A93B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3840480"/>
            <a:ext cx="3840480" cy="3840480"/>
          </a:xfrm>
          <a:prstGeom prst="ellipse">
            <a:avLst/>
          </a:prstGeom>
          <a:solidFill>
            <a:srgbClr val="7CB518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3172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4160520" y="2788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THREE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60520" y="315468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今日からできる！</a:t>
            </a:r>
            <a:endParaRPr lang="en-US" sz="3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パフォーマンスを高める基本の食事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206240" y="470916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1980" y="491490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強さを生み出す「5つの皿」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毎食このバランスを意識するだけで、カラダは変わる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8612" y="1691640"/>
            <a:ext cx="1965960" cy="2880360"/>
          </a:xfrm>
          <a:prstGeom prst="roundRect">
            <a:avLst>
              <a:gd name="adj" fmla="val 5581"/>
            </a:avLst>
          </a:prstGeom>
          <a:solidFill>
            <a:srgbClr val="132A46"/>
          </a:solidFill>
          <a:ln/>
        </p:spPr>
      </p:sp>
      <p:sp>
        <p:nvSpPr>
          <p:cNvPr id="5" name="Shape 3"/>
          <p:cNvSpPr/>
          <p:nvPr/>
        </p:nvSpPr>
        <p:spPr>
          <a:xfrm>
            <a:off x="1304392" y="2011680"/>
            <a:ext cx="914400" cy="9144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0132" y="22174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8612" y="31546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主食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8612" y="36576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エネルギー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88340" y="17647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945740" y="1691640"/>
            <a:ext cx="1965960" cy="2880360"/>
          </a:xfrm>
          <a:prstGeom prst="roundRect">
            <a:avLst>
              <a:gd name="adj" fmla="val 5581"/>
            </a:avLst>
          </a:prstGeom>
          <a:solidFill>
            <a:srgbClr val="132A46"/>
          </a:solidFill>
          <a:ln/>
        </p:spPr>
      </p:sp>
      <p:sp>
        <p:nvSpPr>
          <p:cNvPr id="11" name="Shape 8"/>
          <p:cNvSpPr/>
          <p:nvPr/>
        </p:nvSpPr>
        <p:spPr>
          <a:xfrm>
            <a:off x="3471520" y="2011680"/>
            <a:ext cx="914400" cy="9144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260" y="221742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45740" y="31546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主菜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2945740" y="36576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筋肉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055468" y="17647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112868" y="1691640"/>
            <a:ext cx="1965960" cy="2880360"/>
          </a:xfrm>
          <a:prstGeom prst="roundRect">
            <a:avLst>
              <a:gd name="adj" fmla="val 5581"/>
            </a:avLst>
          </a:prstGeom>
          <a:solidFill>
            <a:srgbClr val="132A46"/>
          </a:solidFill>
          <a:ln/>
        </p:spPr>
      </p:sp>
      <p:sp>
        <p:nvSpPr>
          <p:cNvPr id="17" name="Shape 13"/>
          <p:cNvSpPr/>
          <p:nvPr/>
        </p:nvSpPr>
        <p:spPr>
          <a:xfrm>
            <a:off x="5638648" y="2011680"/>
            <a:ext cx="914400" cy="9144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4388" y="221742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12868" y="31546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副菜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5112868" y="36576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整える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222596" y="17647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7279996" y="1691640"/>
            <a:ext cx="1965960" cy="2880360"/>
          </a:xfrm>
          <a:prstGeom prst="roundRect">
            <a:avLst>
              <a:gd name="adj" fmla="val 5581"/>
            </a:avLst>
          </a:prstGeom>
          <a:solidFill>
            <a:srgbClr val="132A46"/>
          </a:solidFill>
          <a:ln/>
        </p:spPr>
      </p:sp>
      <p:sp>
        <p:nvSpPr>
          <p:cNvPr id="23" name="Shape 18"/>
          <p:cNvSpPr/>
          <p:nvPr/>
        </p:nvSpPr>
        <p:spPr>
          <a:xfrm>
            <a:off x="7805776" y="2011680"/>
            <a:ext cx="914400" cy="9144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1516" y="2217420"/>
            <a:ext cx="502920" cy="5029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279996" y="31546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乳製品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7279996" y="36576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骨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7389724" y="17647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9447124" y="1691640"/>
            <a:ext cx="1965960" cy="2880360"/>
          </a:xfrm>
          <a:prstGeom prst="roundRect">
            <a:avLst>
              <a:gd name="adj" fmla="val 5581"/>
            </a:avLst>
          </a:prstGeom>
          <a:solidFill>
            <a:srgbClr val="F2A93B"/>
          </a:solidFill>
          <a:ln/>
        </p:spPr>
      </p:sp>
      <p:sp>
        <p:nvSpPr>
          <p:cNvPr id="29" name="Shape 23"/>
          <p:cNvSpPr/>
          <p:nvPr/>
        </p:nvSpPr>
        <p:spPr>
          <a:xfrm>
            <a:off x="9972904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8644" y="2217420"/>
            <a:ext cx="502920" cy="5029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447124" y="31546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果物</a:t>
            </a:r>
            <a:endParaRPr lang="en-US" sz="1800" dirty="0"/>
          </a:p>
        </p:txBody>
      </p:sp>
      <p:sp>
        <p:nvSpPr>
          <p:cNvPr id="32" name="Text 25"/>
          <p:cNvSpPr/>
          <p:nvPr/>
        </p:nvSpPr>
        <p:spPr>
          <a:xfrm>
            <a:off x="9447124" y="36576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回復・補給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9556852" y="17647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Shape 27"/>
          <p:cNvSpPr/>
          <p:nvPr/>
        </p:nvSpPr>
        <p:spPr>
          <a:xfrm>
            <a:off x="731520" y="4892040"/>
            <a:ext cx="10725912" cy="1234440"/>
          </a:xfrm>
          <a:prstGeom prst="roundRect">
            <a:avLst>
              <a:gd name="adj" fmla="val 8889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1005840" y="50200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トップ選手も基本は同じ</a:t>
            </a:r>
            <a:endParaRPr lang="en-US" sz="1450" dirty="0"/>
          </a:p>
        </p:txBody>
      </p:sp>
      <p:sp>
        <p:nvSpPr>
          <p:cNvPr id="36" name="Text 29"/>
          <p:cNvSpPr/>
          <p:nvPr/>
        </p:nvSpPr>
        <p:spPr>
          <a:xfrm>
            <a:off x="1005840" y="539496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アスリートの特別な食事も、ベースはこの5つ。これが崩れると「練習しているのに筋肉がつかない」「大事な時期に体調を崩す」といった問題が起こります。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スポーツ管理栄養士講義 ｜ 協力：スミフルジャパン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A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486400" cy="5486400"/>
          </a:xfrm>
          <a:prstGeom prst="ellipse">
            <a:avLst/>
          </a:prstGeom>
          <a:solidFill>
            <a:srgbClr val="F2A93B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3840480"/>
            <a:ext cx="3840480" cy="3840480"/>
          </a:xfrm>
          <a:prstGeom prst="ellipse">
            <a:avLst/>
          </a:prstGeom>
          <a:solidFill>
            <a:srgbClr val="7CB518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3172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4160520" y="2788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FOUR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60520" y="315468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明日から始める</a:t>
            </a:r>
            <a:endParaRPr lang="en-US" sz="3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「＋1個の果物習慣」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206240" y="470916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1980" y="491490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なぜ「果物」なのか？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トップ選手たちも、小さな習慣から始めています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2892" y="178308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132A46"/>
          </a:solidFill>
          <a:ln/>
        </p:spPr>
      </p:sp>
      <p:sp>
        <p:nvSpPr>
          <p:cNvPr id="5" name="Shape 3"/>
          <p:cNvSpPr/>
          <p:nvPr/>
        </p:nvSpPr>
        <p:spPr>
          <a:xfrm>
            <a:off x="1967332" y="2148840"/>
            <a:ext cx="960120" cy="9601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7362" y="2388870"/>
            <a:ext cx="480060" cy="4800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1492" y="33375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即効性と持続性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007212" y="38862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果物の糖質は素早く吸収され、運動前後のエネルギーになる。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1348" y="178308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132A46"/>
          </a:solidFill>
          <a:ln/>
        </p:spPr>
      </p:sp>
      <p:sp>
        <p:nvSpPr>
          <p:cNvPr id="10" name="Shape 7"/>
          <p:cNvSpPr/>
          <p:nvPr/>
        </p:nvSpPr>
        <p:spPr>
          <a:xfrm>
            <a:off x="5615788" y="2148840"/>
            <a:ext cx="960120" cy="9601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5818" y="2388870"/>
            <a:ext cx="480060" cy="4800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09948" y="33375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コンディショニング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655668" y="38862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ビタミンCやミネラルが豊富で、疲労回復や風邪予防に直結。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29804" y="178308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132A46"/>
          </a:solidFill>
          <a:ln/>
        </p:spPr>
      </p:sp>
      <p:sp>
        <p:nvSpPr>
          <p:cNvPr id="15" name="Shape 11"/>
          <p:cNvSpPr/>
          <p:nvPr/>
        </p:nvSpPr>
        <p:spPr>
          <a:xfrm>
            <a:off x="9264244" y="2148840"/>
            <a:ext cx="960120" cy="9601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4274" y="2388870"/>
            <a:ext cx="480060" cy="4800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58404" y="33375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手軽さ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304124" y="38862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調理不要で、コンビニでも1個単位で買える。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スポーツ管理栄養士講義 ｜ 協力：スミフルジャパン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2A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5029200" cy="5029200"/>
          </a:xfrm>
          <a:prstGeom prst="ellipse">
            <a:avLst/>
          </a:prstGeom>
          <a:solidFill>
            <a:srgbClr val="F2A93B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389120"/>
            <a:ext cx="3657600" cy="3657600"/>
          </a:xfrm>
          <a:prstGeom prst="ellipse">
            <a:avLst/>
          </a:prstGeom>
          <a:solidFill>
            <a:srgbClr val="7CB518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92928" y="777240"/>
            <a:ext cx="1005840" cy="10058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9242" y="1003554"/>
            <a:ext cx="553212" cy="5532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2148840"/>
            <a:ext cx="9811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「バランス良く食べなきゃ」と難しく考えず、まずは今日帰り道に果物を1個買って、明日食べることからスタートしてみましょう。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188720" y="3611880"/>
            <a:ext cx="9811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その1個の果物が、あなたのカラダを変える第一歩になります！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901288" y="4892040"/>
            <a:ext cx="4389120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901288" y="489204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協力：スミフルジャパン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6172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ご清聴ありがとうございました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2026-08-08T14:47:31Z</dcterms:created>
  <dcterms:modified xsi:type="dcterms:W3CDTF">2026-08-08T14:47:31Z</dcterms:modified>
</cp:coreProperties>
</file>