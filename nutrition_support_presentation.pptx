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80000"/>
            <a:ext cx="12193200" cy="28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80000"/>
            <a:ext cx="180000" cy="288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2088000"/>
            <a:ext cx="1147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600" b="1" i="0">
                <a:solidFill>
                  <a:srgbClr val="FFFFFF"/>
                </a:solidFill>
                <a:latin typeface="メイリオ"/>
              </a:rPr>
              <a:t>パラ陸上 栄養サポート計画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2951999"/>
            <a:ext cx="1147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0" i="0">
                <a:solidFill>
                  <a:srgbClr val="BFDBFF"/>
                </a:solidFill>
                <a:latin typeface="メイリオ"/>
              </a:rPr>
              <a:t>2026年6月〜2027年3月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3420000"/>
            <a:ext cx="1147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FDBA74"/>
                </a:solidFill>
                <a:latin typeface="メイリオ"/>
              </a:rPr>
              <a:t>🏆 アジア大会（愛知・10月18〜24日）を見据えた計画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4140000"/>
            <a:ext cx="1147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93C5FD"/>
                </a:solidFill>
                <a:latin typeface="メイリオ"/>
              </a:rPr>
              <a:t>管理栄養士　小池 ●●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00"/>
            <a:ext cx="12193200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36000"/>
            <a:ext cx="93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メイリオ"/>
              </a:rPr>
              <a:t>本日の内容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93200" y="108000"/>
            <a:ext cx="2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93C5FD"/>
                </a:solidFill>
                <a:latin typeface="メイリオ"/>
              </a:rPr>
              <a:t>栄養サポート計画 提案書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827999"/>
            <a:ext cx="5580000" cy="14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0000" y="827999"/>
            <a:ext cx="396000" cy="144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259999"/>
            <a:ext cx="39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メイリオ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" y="1007999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E3A5F"/>
                </a:solidFill>
                <a:latin typeface="メイリオ"/>
              </a:rPr>
              <a:t>これまでの取り組み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000" y="1475999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4748B"/>
                </a:solidFill>
                <a:latin typeface="メイリオ"/>
              </a:rPr>
              <a:t>12月・4月の2回の講義実績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0000" y="827999"/>
            <a:ext cx="5580000" cy="14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0000" y="827999"/>
            <a:ext cx="396000" cy="144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0000" y="1259999"/>
            <a:ext cx="39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8000" y="1007999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DC2626"/>
                </a:solidFill>
                <a:latin typeface="メイリオ"/>
              </a:rPr>
              <a:t>現状の課題（5点）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8000" y="1475999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4748B"/>
                </a:solidFill>
                <a:latin typeface="メイリオ"/>
              </a:rPr>
              <a:t>食事調査・アンケートから見えた競技団体の課題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2447999"/>
            <a:ext cx="5580000" cy="14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0000" y="2447999"/>
            <a:ext cx="396000" cy="144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2879999"/>
            <a:ext cx="39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メイリオ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00" y="2627999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2563EB"/>
                </a:solidFill>
                <a:latin typeface="メイリオ"/>
              </a:rPr>
              <a:t>年間サポート計画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000" y="3095999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4748B"/>
                </a:solidFill>
                <a:latin typeface="メイリオ"/>
              </a:rPr>
              <a:t>2026年6月〜2027年3月のスケジュール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0000" y="2447999"/>
            <a:ext cx="5580000" cy="14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0000" y="2447999"/>
            <a:ext cx="396000" cy="144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0000" y="2879999"/>
            <a:ext cx="39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メイリオ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8000" y="2627999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6A34A"/>
                </a:solidFill>
                <a:latin typeface="メイリオ"/>
              </a:rPr>
              <a:t>コンディション記録の活用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8000" y="3095999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4748B"/>
                </a:solidFill>
                <a:latin typeface="メイリオ"/>
              </a:rPr>
              <a:t>食事×コンディションデータの分析・活用法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0000" y="4067999"/>
            <a:ext cx="5580000" cy="14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0000" y="4067999"/>
            <a:ext cx="396000" cy="1440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000" y="4499999"/>
            <a:ext cx="39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メイリオ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000" y="4247999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EA580C"/>
                </a:solidFill>
                <a:latin typeface="メイリオ"/>
              </a:rPr>
              <a:t>アジア大会 食環境整備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000" y="4715999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4748B"/>
                </a:solidFill>
                <a:latin typeface="メイリオ"/>
              </a:rPr>
              <a:t>事前準備〜大会中のサポート体制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0000" y="4067999"/>
            <a:ext cx="5580000" cy="14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0000" y="4067999"/>
            <a:ext cx="396000" cy="14400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0000" y="4499999"/>
            <a:ext cx="39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メイリオ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8000" y="4247999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9333EA"/>
                </a:solidFill>
                <a:latin typeface="メイリオ"/>
              </a:rPr>
              <a:t>課題別 解決策まとめ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8000" y="4715999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4748B"/>
                </a:solidFill>
                <a:latin typeface="メイリオ"/>
              </a:rPr>
              <a:t>5つの課題に対する具体的な対応策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00"/>
            <a:ext cx="12193200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36000"/>
            <a:ext cx="93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メイリオ"/>
              </a:rPr>
              <a:t>1. これまでの取り組み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93200" y="108000"/>
            <a:ext cx="2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93C5FD"/>
                </a:solidFill>
                <a:latin typeface="メイリオ"/>
              </a:rPr>
              <a:t>本計画の位置づけ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3780000" y="3240000"/>
            <a:ext cx="540000" cy="288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80000" y="3168000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0" i="0">
                <a:solidFill>
                  <a:srgbClr val="64748B"/>
                </a:solidFill>
                <a:latin typeface="メイリオ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0000" y="3240000"/>
            <a:ext cx="540000" cy="288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0000" y="3168000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0" i="0">
                <a:solidFill>
                  <a:srgbClr val="64748B"/>
                </a:solidFill>
                <a:latin typeface="メイリオ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900000"/>
            <a:ext cx="3780000" cy="50400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0000" y="900000"/>
            <a:ext cx="3780000" cy="251999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32001" y="720000"/>
            <a:ext cx="936000" cy="251999"/>
          </a:xfrm>
          <a:prstGeom prst="roundRect">
            <a:avLst>
              <a:gd name="adj" fmla="val 4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実施済み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000" y="1188000"/>
            <a:ext cx="356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75569"/>
                </a:solidFill>
                <a:latin typeface="メイリオ"/>
              </a:rPr>
              <a:t>2025年12月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000" y="1620000"/>
            <a:ext cx="356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475569"/>
                </a:solidFill>
                <a:latin typeface="メイリオ"/>
              </a:rPr>
              <a:t>食事バランスに関する講義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000" y="2412000"/>
            <a:ext cx="3564000" cy="14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" y="2520000"/>
            <a:ext cx="3564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メイリオ"/>
              </a:rPr>
              <a:t>・「5つのお皿」をそろえることの重要性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メイリオ"/>
              </a:rPr>
              <a:t>・食品群の摂り方の基礎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メイリオ"/>
              </a:rPr>
              <a:t>・食事調査結果の活用方法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0" y="900000"/>
            <a:ext cx="3780000" cy="50400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0000" y="900000"/>
            <a:ext cx="3780000" cy="251999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92001" y="720000"/>
            <a:ext cx="936000" cy="251999"/>
          </a:xfrm>
          <a:prstGeom prst="roundRect">
            <a:avLst>
              <a:gd name="adj" fmla="val 4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実施済み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8000" y="1188000"/>
            <a:ext cx="356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75569"/>
                </a:solidFill>
                <a:latin typeface="メイリオ"/>
              </a:rPr>
              <a:t>2026年4月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8000" y="1620000"/>
            <a:ext cx="356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475569"/>
                </a:solidFill>
                <a:latin typeface="メイリオ"/>
              </a:rPr>
              <a:t>食事調査 &amp; コンディション×食事記録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28000" y="2412000"/>
            <a:ext cx="3564000" cy="14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28000" y="2520000"/>
            <a:ext cx="3564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メイリオ"/>
              </a:rPr>
              <a:t>・3日間食事調査の実施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メイリオ"/>
              </a:rPr>
              <a:t>・体重・疲労度・練習負荷の記録を開始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メイリオ"/>
              </a:rPr>
              <a:t>・Excelテンプレートを配布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80000" y="900000"/>
            <a:ext cx="3780000" cy="50400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80000" y="900000"/>
            <a:ext cx="3780000" cy="25199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052001" y="720000"/>
            <a:ext cx="936000" cy="251999"/>
          </a:xfrm>
          <a:prstGeom prst="roundRect">
            <a:avLst>
              <a:gd name="adj" fmla="val 40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今後の計画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8000" y="1188000"/>
            <a:ext cx="356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E3A5F"/>
                </a:solidFill>
                <a:latin typeface="メイリオ"/>
              </a:rPr>
              <a:t>2026年6月〜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E3A5F"/>
                </a:solidFill>
                <a:latin typeface="メイリオ"/>
              </a:rPr>
              <a:t>2027年3月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8000" y="1620000"/>
            <a:ext cx="356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E3A5F"/>
                </a:solidFill>
                <a:latin typeface="メイリオ"/>
              </a:rPr>
              <a:t>【本計画】アジア大会に向けた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E3A5F"/>
                </a:solidFill>
                <a:latin typeface="メイリオ"/>
              </a:rPr>
              <a:t>年間栄養サポート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88000" y="2412000"/>
            <a:ext cx="3564000" cy="14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8000" y="2520000"/>
            <a:ext cx="3564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メイリオ"/>
              </a:rPr>
              <a:t>・アジア大会（10月）を主ターゲット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メイリオ"/>
              </a:rPr>
              <a:t>・試合期対策・記録分析・次シーズン準備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00"/>
            <a:ext cx="12193200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36000"/>
            <a:ext cx="93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メイリオ"/>
              </a:rPr>
              <a:t>2. 現状の課題（1〜3）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93200" y="108000"/>
            <a:ext cx="2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93C5FD"/>
                </a:solidFill>
                <a:latin typeface="メイリオ"/>
              </a:rPr>
              <a:t>食事調査・アンケート結果から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" y="827999"/>
            <a:ext cx="3780000" cy="54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" y="827999"/>
            <a:ext cx="3780000" cy="25199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96000" y="630000"/>
            <a:ext cx="900000" cy="23400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課題①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000" y="1152000"/>
            <a:ext cx="36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DC2626"/>
                </a:solidFill>
                <a:latin typeface="メイリオ"/>
              </a:rPr>
              <a:t>エネルギー・栄養素摂取量の最適化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000" y="1692000"/>
            <a:ext cx="36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・炭水化物：男性5.1 g/kg BW・女性4.7 g/kg BW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（健常競技者推奨 3〜10 g/kg BW）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000" y="2134800"/>
            <a:ext cx="36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・たんぱく質：男女ともに1.4 g/kg BW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（競技者推奨 1.2〜2.0 g/kg BW）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000" y="25776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・カルシウム：男性615 mg / 女性596 mg（推奨値に未達）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000" y="28584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・食物繊維：男性16.3 g / 女性15.9 g（目安量に未達）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000" y="31392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・→各種目・クラスの最適量を個別サポートで蓄積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48000" y="827999"/>
            <a:ext cx="3780000" cy="54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8000" y="827999"/>
            <a:ext cx="3780000" cy="25199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56000" y="630000"/>
            <a:ext cx="900000" cy="234000"/>
          </a:xfrm>
          <a:prstGeom prst="roundRect">
            <a:avLst>
              <a:gd name="adj" fmla="val 4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課題②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8000" y="1152000"/>
            <a:ext cx="36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A580C"/>
                </a:solidFill>
                <a:latin typeface="メイリオ"/>
              </a:rPr>
              <a:t>ウエイトコントロールの知識・スキル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8000" y="1692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・増量・減量に課題を抱える選手が多い（アンケートで関心上位）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8000" y="1972800"/>
            <a:ext cx="36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・目標エネルギー量の設定が難しい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→食事調査結果からの増減で個別対応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8000" y="24156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・義足が合わなくなるなどパラアスリート特有の課題あり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8000" y="26964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・→基本的なウエイトコントロールを講義で解説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08000" y="827999"/>
            <a:ext cx="3780000" cy="54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08000" y="827999"/>
            <a:ext cx="3780000" cy="25199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016000" y="630000"/>
            <a:ext cx="900000" cy="2340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課題③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8000" y="1152000"/>
            <a:ext cx="36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2563EB"/>
                </a:solidFill>
                <a:latin typeface="メイリオ"/>
              </a:rPr>
              <a:t>試合期・遠征時の食事管理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8000" y="1692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・アンケートで「試合期の栄養補給」へのニーズが最上位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8000" y="19728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・海外遠征（インド大会）で体重が大幅に減少した選手の実例あり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8000" y="2253600"/>
            <a:ext cx="36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・アジア大会（愛知）では各試合時間に応じた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食事タイミングの把握が必要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8000" y="26964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・→会場周辺の食環境マップを事前に作成・配布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00"/>
            <a:ext cx="12193200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36000"/>
            <a:ext cx="93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メイリオ"/>
              </a:rPr>
              <a:t>2. 現状の課題（4〜5）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93200" y="108000"/>
            <a:ext cx="2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93C5FD"/>
                </a:solidFill>
                <a:latin typeface="メイリオ"/>
              </a:rPr>
              <a:t>食事調査・アンケート結果から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827999"/>
            <a:ext cx="5400000" cy="54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827999"/>
            <a:ext cx="5400000" cy="251999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80000" y="630000"/>
            <a:ext cx="1152000" cy="23400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コンディション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1152000"/>
            <a:ext cx="518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6A34A"/>
                </a:solidFill>
                <a:latin typeface="メイリオ"/>
              </a:rPr>
              <a:t>課題④　コンディション記録の活用方法が不明確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1692000"/>
            <a:ext cx="511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メイリオ"/>
              </a:rPr>
              <a:t>・2026年4月からコンディション×食事の記録を開始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2015999"/>
            <a:ext cx="511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メイリオ"/>
              </a:rPr>
              <a:t>・→ データの見方・活かし方の指導が未実施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2339998"/>
            <a:ext cx="51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メイリオ"/>
              </a:rPr>
              <a:t>・選手自身がデータを解釈→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メイリオ"/>
              </a:rPr>
              <a:t>食事調整できる自立が長期的目標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2825997"/>
            <a:ext cx="511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メイリオ"/>
              </a:rPr>
              <a:t>・→ 6月にExcelテンプレートと分析方法を提供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000" y="827999"/>
            <a:ext cx="5400000" cy="54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827999"/>
            <a:ext cx="5400000" cy="251999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440000" y="630000"/>
            <a:ext cx="1152000" cy="234000"/>
          </a:xfrm>
          <a:prstGeom prst="roundRect">
            <a:avLst>
              <a:gd name="adj" fmla="val 40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サプリメント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8000" y="1152000"/>
            <a:ext cx="518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9333EA"/>
                </a:solidFill>
                <a:latin typeface="メイリオ"/>
              </a:rPr>
              <a:t>課題⑤　サプリメントの適正使用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8000" y="1692000"/>
            <a:ext cx="511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メイリオ"/>
              </a:rPr>
              <a:t>・9割以上の選手がサプリメントを使用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8000" y="2015999"/>
            <a:ext cx="51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メイリオ"/>
              </a:rPr>
              <a:t>・情報源：指導者・チームメイト・SNSに偏る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メイリオ"/>
              </a:rPr>
              <a:t>（管理栄養士から情報提供の機会が少ない）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8000" y="2501998"/>
            <a:ext cx="51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メイリオ"/>
              </a:rPr>
              <a:t>・アンチドーピング対応製品の選び方や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メイリオ"/>
              </a:rPr>
              <a:t>使用タイミング・用量の知識が不足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8000" y="2987997"/>
            <a:ext cx="511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メイリオ"/>
              </a:rPr>
              <a:t>・→ 12月講義でサプリメント適正使用を指導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00"/>
            <a:ext cx="12193200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36000"/>
            <a:ext cx="93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メイリオ"/>
              </a:rPr>
              <a:t>3. 年間サポート計画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93200" y="108000"/>
            <a:ext cx="2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93C5FD"/>
                </a:solidFill>
                <a:latin typeface="メイリオ"/>
              </a:rPr>
              <a:t>2026年6月〜2027年3月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4860000"/>
            <a:ext cx="11833200" cy="7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4000" y="4950000"/>
            <a:ext cx="1075320" cy="324000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メイリオ"/>
              </a:rPr>
              <a:t>6月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757260" y="4536000"/>
            <a:ext cx="28800" cy="324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4000" y="3276000"/>
            <a:ext cx="1075320" cy="1260000"/>
          </a:xfrm>
          <a:prstGeom prst="roundRect">
            <a:avLst>
              <a:gd name="adj" fmla="val 7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メイリオ"/>
              </a:rPr>
              <a:t>PDF送付</a:t>
            </a:r>
            <a:br>
              <a:rPr lang="ja-JP"/>
            </a:br>
            <a:r>
              <a:rPr sz="800" b="1">
                <a:solidFill>
                  <a:srgbClr val="FFFFFF"/>
                </a:solidFill>
                <a:latin typeface="メイリオ"/>
              </a:rPr>
              <a:t>コンディション</a:t>
            </a:r>
            <a:br>
              <a:rPr lang="ja-JP"/>
            </a:br>
            <a:r>
              <a:rPr sz="800" b="1">
                <a:solidFill>
                  <a:srgbClr val="FFFFFF"/>
                </a:solidFill>
                <a:latin typeface="メイリオ"/>
              </a:rPr>
              <a:t>記録活用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4950000"/>
            <a:ext cx="1075320" cy="324000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メイリオ"/>
              </a:rPr>
              <a:t>7月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0580" y="5273999"/>
            <a:ext cx="28800" cy="18001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17320" y="5292000"/>
            <a:ext cx="1075320" cy="1260000"/>
          </a:xfrm>
          <a:prstGeom prst="roundRect">
            <a:avLst>
              <a:gd name="adj" fmla="val 7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メイリオ"/>
              </a:rPr>
              <a:t>PDF送付</a:t>
            </a:r>
            <a:br>
              <a:rPr lang="ja-JP"/>
            </a:br>
            <a:r>
              <a:rPr sz="800" b="1">
                <a:solidFill>
                  <a:srgbClr val="FFFFFF"/>
                </a:solidFill>
                <a:latin typeface="メイリオ"/>
              </a:rPr>
              <a:t>アジア大会</a:t>
            </a:r>
            <a:br>
              <a:rPr lang="ja-JP"/>
            </a:br>
            <a:r>
              <a:rPr sz="800" b="1">
                <a:solidFill>
                  <a:srgbClr val="FFFFFF"/>
                </a:solidFill>
                <a:latin typeface="メイリオ"/>
              </a:rPr>
              <a:t>栄養戦略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0640" y="4950000"/>
            <a:ext cx="1075320" cy="324000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メイリオ"/>
              </a:rPr>
              <a:t>8月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23900" y="4536000"/>
            <a:ext cx="28800" cy="324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00640" y="3456000"/>
            <a:ext cx="1075320" cy="1080000"/>
          </a:xfrm>
          <a:prstGeom prst="roundRect">
            <a:avLst>
              <a:gd name="adj" fmla="val 7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メイリオ"/>
              </a:rPr>
              <a:t>PDF送付</a:t>
            </a:r>
            <a:br>
              <a:rPr lang="ja-JP"/>
            </a:br>
            <a:r>
              <a:rPr sz="800" b="1">
                <a:solidFill>
                  <a:srgbClr val="FFFFFF"/>
                </a:solidFill>
                <a:latin typeface="メイリオ"/>
              </a:rPr>
              <a:t>直前食事</a:t>
            </a:r>
            <a:br>
              <a:rPr lang="ja-JP"/>
            </a:br>
            <a:r>
              <a:rPr sz="800" b="1">
                <a:solidFill>
                  <a:srgbClr val="FFFFFF"/>
                </a:solidFill>
                <a:latin typeface="メイリオ"/>
              </a:rPr>
              <a:t>計画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83960" y="4950000"/>
            <a:ext cx="1075320" cy="324000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メイリオ"/>
              </a:rPr>
              <a:t>9/16-20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07220" y="5273999"/>
            <a:ext cx="28800" cy="18001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83960" y="5292000"/>
            <a:ext cx="1075320" cy="1440000"/>
          </a:xfrm>
          <a:prstGeom prst="roundRect">
            <a:avLst>
              <a:gd name="adj" fmla="val 7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メイリオ"/>
              </a:rPr>
              <a:t>★強化合宿</a:t>
            </a:r>
            <a:br>
              <a:rPr lang="ja-JP"/>
            </a:br>
            <a:r>
              <a:rPr sz="800" b="1">
                <a:solidFill>
                  <a:srgbClr val="FFFFFF"/>
                </a:solidFill>
                <a:latin typeface="メイリオ"/>
              </a:rPr>
              <a:t>直接指導</a:t>
            </a:r>
            <a:br>
              <a:rPr lang="ja-JP"/>
            </a:br>
            <a:r>
              <a:rPr sz="800" b="1">
                <a:solidFill>
                  <a:srgbClr val="FFFFFF"/>
                </a:solidFill>
                <a:latin typeface="メイリオ"/>
              </a:rPr>
              <a:t>試合プロトコル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67280" y="4950000"/>
            <a:ext cx="1075320" cy="32400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メイリオ"/>
              </a:rPr>
              <a:t>10/18-24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90540" y="4536000"/>
            <a:ext cx="28800" cy="324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967280" y="3276000"/>
            <a:ext cx="1075320" cy="1260000"/>
          </a:xfrm>
          <a:prstGeom prst="roundRect">
            <a:avLst>
              <a:gd name="adj" fmla="val 7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メイリオ"/>
              </a:rPr>
              <a:t>🏆アジア</a:t>
            </a:r>
            <a:br>
              <a:rPr lang="ja-JP"/>
            </a:br>
            <a:r>
              <a:rPr sz="800" b="1">
                <a:solidFill>
                  <a:srgbClr val="FFFFFF"/>
                </a:solidFill>
                <a:latin typeface="メイリオ"/>
              </a:rPr>
              <a:t>大会</a:t>
            </a:r>
            <a:br>
              <a:rPr lang="ja-JP"/>
            </a:br>
            <a:r>
              <a:rPr sz="800" b="1">
                <a:solidFill>
                  <a:srgbClr val="FFFFFF"/>
                </a:solidFill>
                <a:latin typeface="メイリオ"/>
              </a:rPr>
              <a:t>（愛知）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0600" y="4950000"/>
            <a:ext cx="1075320" cy="324000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メイリオ"/>
              </a:rPr>
              <a:t>10月後半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3860" y="5273999"/>
            <a:ext cx="28800" cy="18001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50600" y="5292000"/>
            <a:ext cx="1075320" cy="1260000"/>
          </a:xfrm>
          <a:prstGeom prst="roundRect">
            <a:avLst>
              <a:gd name="adj" fmla="val 7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メイリオ"/>
              </a:rPr>
              <a:t>PDF送付</a:t>
            </a:r>
            <a:br>
              <a:rPr lang="ja-JP"/>
            </a:br>
            <a:r>
              <a:rPr sz="800" b="1">
                <a:solidFill>
                  <a:srgbClr val="FFFFFF"/>
                </a:solidFill>
                <a:latin typeface="メイリオ"/>
              </a:rPr>
              <a:t>大会後</a:t>
            </a:r>
            <a:br>
              <a:rPr lang="ja-JP"/>
            </a:br>
            <a:r>
              <a:rPr sz="800" b="1">
                <a:solidFill>
                  <a:srgbClr val="FFFFFF"/>
                </a:solidFill>
                <a:latin typeface="メイリオ"/>
              </a:rPr>
              <a:t>回復栄養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33920" y="4950000"/>
            <a:ext cx="1075320" cy="324000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メイリオ"/>
              </a:rPr>
              <a:t>11月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57180" y="4536000"/>
            <a:ext cx="28800" cy="324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33920" y="3276000"/>
            <a:ext cx="1075320" cy="1260000"/>
          </a:xfrm>
          <a:prstGeom prst="roundRect">
            <a:avLst>
              <a:gd name="adj" fmla="val 7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メイリオ"/>
              </a:rPr>
              <a:t>PDF送付</a:t>
            </a:r>
            <a:br>
              <a:rPr lang="ja-JP"/>
            </a:br>
            <a:r>
              <a:rPr sz="800" b="1">
                <a:solidFill>
                  <a:srgbClr val="FFFFFF"/>
                </a:solidFill>
                <a:latin typeface="メイリオ"/>
              </a:rPr>
              <a:t>オフシーズン</a:t>
            </a:r>
            <a:br>
              <a:rPr lang="ja-JP"/>
            </a:br>
            <a:r>
              <a:rPr sz="800" b="1">
                <a:solidFill>
                  <a:srgbClr val="FFFFFF"/>
                </a:solidFill>
                <a:latin typeface="メイリオ"/>
              </a:rPr>
              <a:t>体組成管理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17240" y="4950000"/>
            <a:ext cx="1075320" cy="324000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メイリオ"/>
              </a:rPr>
              <a:t>12月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40500" y="5273999"/>
            <a:ext cx="28800" cy="18001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17240" y="5292000"/>
            <a:ext cx="1075320" cy="1440000"/>
          </a:xfrm>
          <a:prstGeom prst="roundRect">
            <a:avLst>
              <a:gd name="adj" fmla="val 7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メイリオ"/>
              </a:rPr>
              <a:t>★研修会</a:t>
            </a:r>
            <a:br>
              <a:rPr lang="ja-JP"/>
            </a:br>
            <a:r>
              <a:rPr sz="800" b="1">
                <a:solidFill>
                  <a:srgbClr val="FFFFFF"/>
                </a:solidFill>
                <a:latin typeface="メイリオ"/>
              </a:rPr>
              <a:t>直接指導</a:t>
            </a:r>
            <a:br>
              <a:rPr lang="ja-JP"/>
            </a:br>
            <a:r>
              <a:rPr sz="800" b="1">
                <a:solidFill>
                  <a:srgbClr val="FFFFFF"/>
                </a:solidFill>
                <a:latin typeface="メイリオ"/>
              </a:rPr>
              <a:t>記録FB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00560" y="4950000"/>
            <a:ext cx="1075320" cy="324000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メイリオ"/>
              </a:rPr>
              <a:t>1〜2月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23820" y="4536000"/>
            <a:ext cx="28800" cy="324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700560" y="3276000"/>
            <a:ext cx="1075320" cy="1260000"/>
          </a:xfrm>
          <a:prstGeom prst="roundRect">
            <a:avLst>
              <a:gd name="adj" fmla="val 7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メイリオ"/>
              </a:rPr>
              <a:t>★合宿</a:t>
            </a:r>
            <a:br>
              <a:rPr lang="ja-JP"/>
            </a:br>
            <a:r>
              <a:rPr sz="800" b="1">
                <a:solidFill>
                  <a:srgbClr val="FFFFFF"/>
                </a:solidFill>
                <a:latin typeface="メイリオ"/>
              </a:rPr>
              <a:t>直接指導</a:t>
            </a:r>
            <a:br>
              <a:rPr lang="ja-JP"/>
            </a:br>
            <a:r>
              <a:rPr sz="800" b="1">
                <a:solidFill>
                  <a:srgbClr val="FFFFFF"/>
                </a:solidFill>
                <a:latin typeface="メイリオ"/>
              </a:rPr>
              <a:t>個人計画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883880" y="4950000"/>
            <a:ext cx="1075320" cy="324000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メイリオ"/>
              </a:rPr>
              <a:t>3月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07140" y="5273999"/>
            <a:ext cx="28800" cy="18001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883880" y="5292000"/>
            <a:ext cx="1075320" cy="1080000"/>
          </a:xfrm>
          <a:prstGeom prst="roundRect">
            <a:avLst>
              <a:gd name="adj" fmla="val 7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メイリオ"/>
              </a:rPr>
              <a:t>PDF送付</a:t>
            </a:r>
            <a:br>
              <a:rPr lang="ja-JP"/>
            </a:br>
            <a:r>
              <a:rPr sz="800" b="1">
                <a:solidFill>
                  <a:srgbClr val="FFFFFF"/>
                </a:solidFill>
                <a:latin typeface="メイリオ"/>
              </a:rPr>
              <a:t>新シーズン</a:t>
            </a:r>
            <a:br>
              <a:rPr lang="ja-JP"/>
            </a:br>
            <a:r>
              <a:rPr sz="800" b="1">
                <a:solidFill>
                  <a:srgbClr val="FFFFFF"/>
                </a:solidFill>
                <a:latin typeface="メイリオ"/>
              </a:rPr>
              <a:t>準備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0000" y="6498000"/>
            <a:ext cx="216000" cy="216000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1999" y="6462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★ 直接指導（研修会・合宿）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20000" y="6498000"/>
            <a:ext cx="216000" cy="216000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71999" y="6462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PDF資料送付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80000" y="6498000"/>
            <a:ext cx="216000" cy="21600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1999" y="6462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🏆 アジア大会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00"/>
            <a:ext cx="12193200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36000"/>
            <a:ext cx="93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メイリオ"/>
              </a:rPr>
              <a:t>3. 年間計画 詳細（前半）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93200" y="108000"/>
            <a:ext cx="2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93C5FD"/>
                </a:solidFill>
                <a:latin typeface="メイリオ"/>
              </a:rPr>
              <a:t>2026年6月〜10月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" y="756000"/>
            <a:ext cx="1152000" cy="23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774000"/>
            <a:ext cx="10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メイリオ"/>
              </a:rPr>
              <a:t>時期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0000" y="756000"/>
            <a:ext cx="1007999" cy="23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6000" y="774000"/>
            <a:ext cx="935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メイリオ"/>
              </a:rPr>
              <a:t>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999" y="756000"/>
            <a:ext cx="1080000" cy="23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03999" y="774000"/>
            <a:ext cx="100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メイリオ"/>
              </a:rPr>
              <a:t>テーマ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7999" y="756000"/>
            <a:ext cx="4500000" cy="23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999" y="774000"/>
            <a:ext cx="442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メイリオ"/>
              </a:rPr>
              <a:t>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47999" y="756000"/>
            <a:ext cx="720000" cy="23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3999" y="7740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メイリオ"/>
              </a:rPr>
              <a:t>課題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000" y="1007999"/>
            <a:ext cx="1152000" cy="1087200"/>
          </a:xfrm>
          <a:prstGeom prst="roundRect">
            <a:avLst>
              <a:gd name="adj" fmla="val 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2026年</a:t>
            </a:r>
            <a:br>
              <a:rPr lang="ja-JP"/>
            </a:br>
            <a:r>
              <a:rPr sz="900" b="1">
                <a:solidFill>
                  <a:srgbClr val="FFFFFF"/>
                </a:solidFill>
                <a:latin typeface="メイリオ"/>
              </a:rPr>
              <a:t>6月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0000" y="1007999"/>
            <a:ext cx="1007999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3200" y="1043999"/>
            <a:ext cx="921599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6A34A"/>
                </a:solidFill>
                <a:latin typeface="メイリオ"/>
              </a:rPr>
              <a:t>PDF送付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67999" y="1007999"/>
            <a:ext cx="1080000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11199" y="1043999"/>
            <a:ext cx="99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メイリオ"/>
              </a:rPr>
              <a:t>コンディション記録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メイリオ"/>
              </a:rPr>
              <a:t>活用ガイド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47999" y="1007999"/>
            <a:ext cx="4500000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91199" y="1043999"/>
            <a:ext cx="441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①食事調査結果の活かし方・コンディション記録の分析方法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②個人目標の設定（体重管理・コンディション）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47999" y="1007999"/>
            <a:ext cx="720000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199" y="1043999"/>
            <a:ext cx="63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563EB"/>
                </a:solidFill>
                <a:latin typeface="メイリオ"/>
              </a:rPr>
              <a:t>③④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000" y="2123999"/>
            <a:ext cx="1152000" cy="1087200"/>
          </a:xfrm>
          <a:prstGeom prst="roundRect">
            <a:avLst>
              <a:gd name="adj" fmla="val 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2026年</a:t>
            </a:r>
            <a:br>
              <a:rPr lang="ja-JP"/>
            </a:br>
            <a:r>
              <a:rPr sz="900" b="1">
                <a:solidFill>
                  <a:srgbClr val="FFFFFF"/>
                </a:solidFill>
                <a:latin typeface="メイリオ"/>
              </a:rPr>
              <a:t>7月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60000" y="2123999"/>
            <a:ext cx="1007999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3200" y="2159999"/>
            <a:ext cx="921599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6A34A"/>
                </a:solidFill>
                <a:latin typeface="メイリオ"/>
              </a:rPr>
              <a:t>PDF送付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67999" y="2123999"/>
            <a:ext cx="1080000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11199" y="2159999"/>
            <a:ext cx="99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メイリオ"/>
              </a:rPr>
              <a:t>アジア大会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メイリオ"/>
              </a:rPr>
              <a:t>栄養戦略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47999" y="2123999"/>
            <a:ext cx="4500000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91199" y="2159999"/>
            <a:ext cx="441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①大会に向けた月別栄養計画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②試合前後の食事の基礎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③夏季・高温環境の水分・電解質管理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47999" y="2123999"/>
            <a:ext cx="720000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91199" y="2159999"/>
            <a:ext cx="63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563EB"/>
                </a:solidFill>
                <a:latin typeface="メイリオ"/>
              </a:rPr>
              <a:t>①③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8000" y="3239999"/>
            <a:ext cx="1152000" cy="1087200"/>
          </a:xfrm>
          <a:prstGeom prst="roundRect">
            <a:avLst>
              <a:gd name="adj" fmla="val 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2026年</a:t>
            </a:r>
            <a:br>
              <a:rPr lang="ja-JP"/>
            </a:br>
            <a:r>
              <a:rPr sz="900" b="1">
                <a:solidFill>
                  <a:srgbClr val="FFFFFF"/>
                </a:solidFill>
                <a:latin typeface="メイリオ"/>
              </a:rPr>
              <a:t>8月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60000" y="3239999"/>
            <a:ext cx="1007999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03200" y="3275999"/>
            <a:ext cx="921599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6A34A"/>
                </a:solidFill>
                <a:latin typeface="メイリオ"/>
              </a:rPr>
              <a:t>PDF送付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67999" y="3239999"/>
            <a:ext cx="1080000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11199" y="3275999"/>
            <a:ext cx="99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メイリオ"/>
              </a:rPr>
              <a:t>大会直前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メイリオ"/>
              </a:rPr>
              <a:t>食事計画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47999" y="3239999"/>
            <a:ext cx="4500000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91199" y="3275999"/>
            <a:ext cx="441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①週別カウントダウン食事計画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②コンビニ・外食の上手な使い方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③腸内環境ケア（食物繊維・発酵食品）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47999" y="3239999"/>
            <a:ext cx="720000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91199" y="3275999"/>
            <a:ext cx="63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563EB"/>
                </a:solidFill>
                <a:latin typeface="メイリオ"/>
              </a:rPr>
              <a:t>①③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8000" y="4355999"/>
            <a:ext cx="1152000" cy="1087200"/>
          </a:xfrm>
          <a:prstGeom prst="roundRect">
            <a:avLst>
              <a:gd name="adj" fmla="val 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9/16-20</a:t>
            </a:r>
            <a:br>
              <a:rPr lang="ja-JP"/>
            </a:br>
            <a:r>
              <a:rPr sz="900" b="1">
                <a:solidFill>
                  <a:srgbClr val="FFFFFF"/>
                </a:solidFill>
                <a:latin typeface="メイリオ"/>
              </a:rPr>
              <a:t>強化合宿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60000" y="4355999"/>
            <a:ext cx="1007999" cy="1087200"/>
          </a:xfrm>
          <a:prstGeom prst="roundRect">
            <a:avLst>
              <a:gd name="adj" fmla="val 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03200" y="4391999"/>
            <a:ext cx="921599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A580C"/>
                </a:solidFill>
                <a:latin typeface="メイリオ"/>
              </a:rPr>
              <a:t>★直接指導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267999" y="4355999"/>
            <a:ext cx="1080000" cy="1087200"/>
          </a:xfrm>
          <a:prstGeom prst="roundRect">
            <a:avLst>
              <a:gd name="adj" fmla="val 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11199" y="4391999"/>
            <a:ext cx="99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メイリオ"/>
              </a:rPr>
              <a:t>試合プロトコル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メイリオ"/>
              </a:rPr>
              <a:t>食環境整備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47999" y="4355999"/>
            <a:ext cx="4500000" cy="1087200"/>
          </a:xfrm>
          <a:prstGeom prst="roundRect">
            <a:avLst>
              <a:gd name="adj" fmla="val 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91199" y="4391999"/>
            <a:ext cx="441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①試合当日の食事タイムライン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②補食リスト・会場周辺食環境マップ（愛知）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③水分・電解質管理（体重測定による脱水チェック）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47999" y="4355999"/>
            <a:ext cx="720000" cy="1087200"/>
          </a:xfrm>
          <a:prstGeom prst="roundRect">
            <a:avLst>
              <a:gd name="adj" fmla="val 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91199" y="4391999"/>
            <a:ext cx="63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563EB"/>
                </a:solidFill>
                <a:latin typeface="メイリオ"/>
              </a:rPr>
              <a:t>③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8000" y="5471999"/>
            <a:ext cx="1152000" cy="1087200"/>
          </a:xfrm>
          <a:prstGeom prst="roundRect">
            <a:avLst>
              <a:gd name="adj" fmla="val 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10/18-24</a:t>
            </a:r>
            <a:br>
              <a:rPr lang="ja-JP"/>
            </a:br>
            <a:r>
              <a:rPr sz="900" b="1">
                <a:solidFill>
                  <a:srgbClr val="FFFFFF"/>
                </a:solidFill>
                <a:latin typeface="メイリオ"/>
              </a:rPr>
              <a:t>アジア大会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60000" y="5471999"/>
            <a:ext cx="1007999" cy="1087200"/>
          </a:xfrm>
          <a:prstGeom prst="roundRect">
            <a:avLst>
              <a:gd name="adj" fmla="val 2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03200" y="5507999"/>
            <a:ext cx="921599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DC2626"/>
                </a:solidFill>
                <a:latin typeface="メイリオ"/>
              </a:rPr>
              <a:t>大会期間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267999" y="5471999"/>
            <a:ext cx="1080000" cy="1087200"/>
          </a:xfrm>
          <a:prstGeom prst="roundRect">
            <a:avLst>
              <a:gd name="adj" fmla="val 2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11199" y="5507999"/>
            <a:ext cx="99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メイリオ"/>
              </a:rPr>
              <a:t>食環境整備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メイリオ"/>
              </a:rPr>
              <a:t>個別サポート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347999" y="5471999"/>
            <a:ext cx="4500000" cy="1087200"/>
          </a:xfrm>
          <a:prstGeom prst="roundRect">
            <a:avLst>
              <a:gd name="adj" fmla="val 2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91199" y="5507999"/>
            <a:ext cx="441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①個別サポート選手のコンディション確認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②緊急相談窓口（現地または遠隔）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847999" y="5471999"/>
            <a:ext cx="720000" cy="1087200"/>
          </a:xfrm>
          <a:prstGeom prst="roundRect">
            <a:avLst>
              <a:gd name="adj" fmla="val 2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91199" y="5507999"/>
            <a:ext cx="63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563EB"/>
                </a:solidFill>
                <a:latin typeface="メイリオ"/>
              </a:rPr>
              <a:t>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00"/>
            <a:ext cx="12193200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36000"/>
            <a:ext cx="93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メイリオ"/>
              </a:rPr>
              <a:t>3. 年間計画 詳細（後半）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93200" y="108000"/>
            <a:ext cx="2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93C5FD"/>
                </a:solidFill>
                <a:latin typeface="メイリオ"/>
              </a:rPr>
              <a:t>2026年10月〜2027年3月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" y="756000"/>
            <a:ext cx="1152000" cy="23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774000"/>
            <a:ext cx="10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メイリオ"/>
              </a:rPr>
              <a:t>時期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0000" y="756000"/>
            <a:ext cx="1007999" cy="23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6000" y="774000"/>
            <a:ext cx="935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メイリオ"/>
              </a:rPr>
              <a:t>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999" y="756000"/>
            <a:ext cx="1080000" cy="23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03999" y="774000"/>
            <a:ext cx="100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メイリオ"/>
              </a:rPr>
              <a:t>テーマ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7999" y="756000"/>
            <a:ext cx="4500000" cy="23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999" y="774000"/>
            <a:ext cx="442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メイリオ"/>
              </a:rPr>
              <a:t>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47999" y="756000"/>
            <a:ext cx="720000" cy="23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3999" y="7740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メイリオ"/>
              </a:rPr>
              <a:t>課題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000" y="1007999"/>
            <a:ext cx="1152000" cy="1087200"/>
          </a:xfrm>
          <a:prstGeom prst="roundRect">
            <a:avLst>
              <a:gd name="adj" fmla="val 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2026年</a:t>
            </a:r>
            <a:br>
              <a:rPr lang="ja-JP"/>
            </a:br>
            <a:r>
              <a:rPr sz="900" b="1">
                <a:solidFill>
                  <a:srgbClr val="FFFFFF"/>
                </a:solidFill>
                <a:latin typeface="メイリオ"/>
              </a:rPr>
              <a:t>10月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0000" y="1007999"/>
            <a:ext cx="1007999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3200" y="1043999"/>
            <a:ext cx="921599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6A34A"/>
                </a:solidFill>
                <a:latin typeface="メイリオ"/>
              </a:rPr>
              <a:t>PDF送付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67999" y="1007999"/>
            <a:ext cx="1080000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11199" y="1043999"/>
            <a:ext cx="99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メイリオ"/>
              </a:rPr>
              <a:t>大会後回復栄養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メイリオ"/>
              </a:rPr>
              <a:t>コンディション中間分析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47999" y="1007999"/>
            <a:ext cx="4500000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91199" y="1043999"/>
            <a:ext cx="441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①大会後の疲労・炎症回復食（抗酸化・たんぱく質）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②4〜9月の記録の中間集計・個人フィードバック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③オフシーズン移行期のエネルギー量見直し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47999" y="1007999"/>
            <a:ext cx="720000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199" y="1043999"/>
            <a:ext cx="63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563EB"/>
                </a:solidFill>
                <a:latin typeface="メイリオ"/>
              </a:rPr>
              <a:t>①④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000" y="2123999"/>
            <a:ext cx="1152000" cy="1087200"/>
          </a:xfrm>
          <a:prstGeom prst="roundRect">
            <a:avLst>
              <a:gd name="adj" fmla="val 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2026年</a:t>
            </a:r>
            <a:br>
              <a:rPr lang="ja-JP"/>
            </a:br>
            <a:r>
              <a:rPr sz="900" b="1">
                <a:solidFill>
                  <a:srgbClr val="FFFFFF"/>
                </a:solidFill>
                <a:latin typeface="メイリオ"/>
              </a:rPr>
              <a:t>11月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60000" y="2123999"/>
            <a:ext cx="1007999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3200" y="2159999"/>
            <a:ext cx="921599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6A34A"/>
                </a:solidFill>
                <a:latin typeface="メイリオ"/>
              </a:rPr>
              <a:t>PDF送付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67999" y="2123999"/>
            <a:ext cx="1080000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11199" y="2159999"/>
            <a:ext cx="99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メイリオ"/>
              </a:rPr>
              <a:t>オフシーズン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メイリオ"/>
              </a:rPr>
              <a:t>体組成管理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47999" y="2123999"/>
            <a:ext cx="4500000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91199" y="2159999"/>
            <a:ext cx="441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①増量・体組成管理戦略（筋量↑・体脂肪↓）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②冬季の免疫栄養（ビタミンD・C・亜鉛）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③カルシウム・ビタミンD摂取ガイド（骨強化）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47999" y="2123999"/>
            <a:ext cx="720000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91199" y="2159999"/>
            <a:ext cx="63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563EB"/>
                </a:solidFill>
                <a:latin typeface="メイリオ"/>
              </a:rPr>
              <a:t>①②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8000" y="3239999"/>
            <a:ext cx="1152000" cy="1087200"/>
          </a:xfrm>
          <a:prstGeom prst="roundRect">
            <a:avLst>
              <a:gd name="adj" fmla="val 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2026年</a:t>
            </a:r>
            <a:br>
              <a:rPr lang="ja-JP"/>
            </a:br>
            <a:r>
              <a:rPr sz="900" b="1">
                <a:solidFill>
                  <a:srgbClr val="FFFFFF"/>
                </a:solidFill>
                <a:latin typeface="メイリオ"/>
              </a:rPr>
              <a:t>12月</a:t>
            </a:r>
            <a:br>
              <a:rPr lang="ja-JP"/>
            </a:br>
            <a:r>
              <a:rPr sz="900" b="1">
                <a:solidFill>
                  <a:srgbClr val="FFFFFF"/>
                </a:solidFill>
                <a:latin typeface="メイリオ"/>
              </a:rPr>
              <a:t>研修会・合宿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60000" y="3239999"/>
            <a:ext cx="1007999" cy="1087200"/>
          </a:xfrm>
          <a:prstGeom prst="roundRect">
            <a:avLst>
              <a:gd name="adj" fmla="val 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03200" y="3275999"/>
            <a:ext cx="921599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A580C"/>
                </a:solidFill>
                <a:latin typeface="メイリオ"/>
              </a:rPr>
              <a:t>★直接指導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67999" y="3239999"/>
            <a:ext cx="1080000" cy="1087200"/>
          </a:xfrm>
          <a:prstGeom prst="roundRect">
            <a:avLst>
              <a:gd name="adj" fmla="val 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11199" y="3275999"/>
            <a:ext cx="99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メイリオ"/>
              </a:rPr>
              <a:t>記録データ活用講義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メイリオ"/>
              </a:rPr>
              <a:t>個人栄養評価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47999" y="3239999"/>
            <a:ext cx="4500000" cy="1087200"/>
          </a:xfrm>
          <a:prstGeom prst="roundRect">
            <a:avLst>
              <a:gd name="adj" fmla="val 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91199" y="3275999"/>
            <a:ext cx="441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①4〜12月の記録の分析・全体フィードバック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②データの読み方・パターン発見（疲労×体重×食事）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③個人別課題の特定とアクションプラン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④サプリメント見直し（アンチドーピング確認）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47999" y="3239999"/>
            <a:ext cx="720000" cy="1087200"/>
          </a:xfrm>
          <a:prstGeom prst="roundRect">
            <a:avLst>
              <a:gd name="adj" fmla="val 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91199" y="3275999"/>
            <a:ext cx="63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563EB"/>
                </a:solidFill>
                <a:latin typeface="メイリオ"/>
              </a:rPr>
              <a:t>④⑤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8000" y="4355999"/>
            <a:ext cx="1152000" cy="1087200"/>
          </a:xfrm>
          <a:prstGeom prst="roundRect">
            <a:avLst>
              <a:gd name="adj" fmla="val 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2027年</a:t>
            </a:r>
            <a:br>
              <a:rPr lang="ja-JP"/>
            </a:br>
            <a:r>
              <a:rPr sz="900" b="1">
                <a:solidFill>
                  <a:srgbClr val="FFFFFF"/>
                </a:solidFill>
                <a:latin typeface="メイリオ"/>
              </a:rPr>
              <a:t>1〜2月</a:t>
            </a:r>
            <a:br>
              <a:rPr lang="ja-JP"/>
            </a:br>
            <a:r>
              <a:rPr sz="900" b="1">
                <a:solidFill>
                  <a:srgbClr val="FFFFFF"/>
                </a:solidFill>
                <a:latin typeface="メイリオ"/>
              </a:rPr>
              <a:t>合宿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60000" y="4355999"/>
            <a:ext cx="1007999" cy="1087200"/>
          </a:xfrm>
          <a:prstGeom prst="roundRect">
            <a:avLst>
              <a:gd name="adj" fmla="val 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03200" y="4391999"/>
            <a:ext cx="921599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A580C"/>
                </a:solidFill>
                <a:latin typeface="メイリオ"/>
              </a:rPr>
              <a:t>★直接指導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267999" y="4355999"/>
            <a:ext cx="1080000" cy="1087200"/>
          </a:xfrm>
          <a:prstGeom prst="roundRect">
            <a:avLst>
              <a:gd name="adj" fmla="val 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11199" y="4391999"/>
            <a:ext cx="99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メイリオ"/>
              </a:rPr>
              <a:t>次シーズン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メイリオ"/>
              </a:rPr>
              <a:t>個人栄養計画立案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47999" y="4355999"/>
            <a:ext cx="4500000" cy="1087200"/>
          </a:xfrm>
          <a:prstGeom prst="roundRect">
            <a:avLst>
              <a:gd name="adj" fmla="val 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91199" y="4391999"/>
            <a:ext cx="441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①個人データを使った栄養計画立案ワーク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②試合期・オフ期の食事切り替えロードマップ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③自炊スキルアップ実践ワーク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47999" y="4355999"/>
            <a:ext cx="720000" cy="1087200"/>
          </a:xfrm>
          <a:prstGeom prst="roundRect">
            <a:avLst>
              <a:gd name="adj" fmla="val 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91199" y="4391999"/>
            <a:ext cx="63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563EB"/>
                </a:solidFill>
                <a:latin typeface="メイリオ"/>
              </a:rPr>
              <a:t>①②⑤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8000" y="5471999"/>
            <a:ext cx="1152000" cy="1087200"/>
          </a:xfrm>
          <a:prstGeom prst="roundRect">
            <a:avLst>
              <a:gd name="adj" fmla="val 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2027年</a:t>
            </a:r>
            <a:br>
              <a:rPr lang="ja-JP"/>
            </a:br>
            <a:r>
              <a:rPr sz="900" b="1">
                <a:solidFill>
                  <a:srgbClr val="FFFFFF"/>
                </a:solidFill>
                <a:latin typeface="メイリオ"/>
              </a:rPr>
              <a:t>3月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60000" y="5471999"/>
            <a:ext cx="1007999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03200" y="5507999"/>
            <a:ext cx="921599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6A34A"/>
                </a:solidFill>
                <a:latin typeface="メイリオ"/>
              </a:rPr>
              <a:t>PDF送付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267999" y="5471999"/>
            <a:ext cx="1080000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11199" y="5507999"/>
            <a:ext cx="99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メイリオ"/>
              </a:rPr>
              <a:t>新シーズン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メイリオ"/>
              </a:rPr>
              <a:t>開幕準備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347999" y="5471999"/>
            <a:ext cx="4500000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91199" y="5507999"/>
            <a:ext cx="441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①シーズンイン時の食事チェックリスト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②春季大会に向けた短期コンディション調整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③年間振り返りレポート・次年度提案書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847999" y="5471999"/>
            <a:ext cx="720000" cy="108720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91199" y="5507999"/>
            <a:ext cx="6336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563EB"/>
                </a:solidFill>
                <a:latin typeface="メイリオ"/>
              </a:rPr>
              <a:t>全課題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00"/>
            <a:ext cx="12193200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36000"/>
            <a:ext cx="93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メイリオ"/>
              </a:rPr>
              <a:t>4. コンディション×食事記録の活用方法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93200" y="108000"/>
            <a:ext cx="2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93C5FD"/>
                </a:solidFill>
                <a:latin typeface="メイリオ"/>
              </a:rPr>
              <a:t>選手が自分でデータを分析・食事調整できる自立を目指す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2000" y="3060000"/>
            <a:ext cx="2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0" i="0">
                <a:solidFill>
                  <a:srgbClr val="64748B"/>
                </a:solidFill>
                <a:latin typeface="メイリオ"/>
              </a:rP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6000" y="827999"/>
            <a:ext cx="2808000" cy="5400000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6000" y="827999"/>
            <a:ext cx="2808000" cy="64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6000" y="827999"/>
            <a:ext cx="2808000" cy="648000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</a:rPr>
              <a:t>STEP 1</a:t>
            </a:r>
            <a:br>
              <a:rPr lang="ja-JP"/>
            </a:br>
            <a:r>
              <a:rPr sz="1100" b="1">
                <a:solidFill>
                  <a:srgbClr val="FFFFFF"/>
                </a:solidFill>
                <a:latin typeface="メイリオ"/>
              </a:rPr>
              <a:t>記録する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1584000"/>
            <a:ext cx="2664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メイリオ"/>
              </a:rPr>
              <a:t>体重・疲労度（0〜10）・睡眠時間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メイリオ"/>
              </a:rPr>
              <a:t>睡眠の質（0〜5）・練習時間・RPE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メイリオ"/>
              </a:rPr>
              <a:t>主食量（茶碗換算）・水分量(mL)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メイリオ"/>
              </a:rPr>
              <a:t>補食・サプリメント内容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3999" y="3060000"/>
            <a:ext cx="2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0" i="0">
                <a:solidFill>
                  <a:srgbClr val="64748B"/>
                </a:solidFill>
                <a:latin typeface="メイリオ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67999" y="827999"/>
            <a:ext cx="2808000" cy="540000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67999" y="827999"/>
            <a:ext cx="2808000" cy="64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67999" y="827999"/>
            <a:ext cx="2808000" cy="6480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</a:rPr>
              <a:t>STEP 2</a:t>
            </a:r>
            <a:br>
              <a:rPr lang="ja-JP"/>
            </a:br>
            <a:r>
              <a:rPr sz="1100" b="1">
                <a:solidFill>
                  <a:srgbClr val="FFFFFF"/>
                </a:solidFill>
                <a:latin typeface="メイリオ"/>
              </a:rPr>
              <a:t>週次セルフチェック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9999" y="1584000"/>
            <a:ext cx="2664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メイリオ"/>
              </a:rPr>
              <a:t>体重が2日以上↓ → 主食を追加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メイリオ"/>
              </a:rPr>
              <a:t>高疲労（7以上）＋前日の主食少→炭水化物補給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メイリオ"/>
              </a:rPr>
              <a:t>高負荷翌日に体重-1kg→回復食・水分強化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メイリオ"/>
              </a:rPr>
              <a:t>就寝2h前の食事→睡眠の質と照合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5998" y="3060000"/>
            <a:ext cx="2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0" i="0">
                <a:solidFill>
                  <a:srgbClr val="64748B"/>
                </a:solidFill>
                <a:latin typeface="メイリオ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9998" y="827999"/>
            <a:ext cx="2808000" cy="5400000"/>
          </a:xfrm>
          <a:prstGeom prst="roundRect">
            <a:avLst>
              <a:gd name="adj" fmla="val 4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19998" y="827999"/>
            <a:ext cx="2808000" cy="64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19998" y="827999"/>
            <a:ext cx="2808000" cy="64800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</a:rPr>
              <a:t>STEP 3</a:t>
            </a:r>
            <a:br>
              <a:rPr lang="ja-JP"/>
            </a:br>
            <a:r>
              <a:rPr sz="1100" b="1">
                <a:solidFill>
                  <a:srgbClr val="FFFFFF"/>
                </a:solidFill>
                <a:latin typeface="メイリオ"/>
              </a:rPr>
              <a:t>月次グラフで確認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1998" y="1584000"/>
            <a:ext cx="2664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メイリオ"/>
              </a:rPr>
              <a:t>【グラフ①】体重推移＋疲労度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メイリオ"/>
              </a:rPr>
              <a:t>→エネルギー不足の時期を特定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メイリオ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メイリオ"/>
              </a:rPr>
              <a:t>【グラフ②】週練習負荷＋主食量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メイリオ"/>
              </a:rPr>
              <a:t>→炭水化物が負荷に追いついているか確認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1997" y="827999"/>
            <a:ext cx="2808000" cy="5400000"/>
          </a:xfrm>
          <a:prstGeom prst="roundRect">
            <a:avLst>
              <a:gd name="adj" fmla="val 4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71997" y="827999"/>
            <a:ext cx="2808000" cy="6480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71997" y="827999"/>
            <a:ext cx="2808000" cy="648000"/>
          </a:xfrm>
          <a:prstGeom prst="roundRect">
            <a:avLst>
              <a:gd name="adj" fmla="val 5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</a:rPr>
              <a:t>STEP 4</a:t>
            </a:r>
            <a:br>
              <a:rPr lang="ja-JP"/>
            </a:br>
            <a:r>
              <a:rPr sz="1100" b="1">
                <a:solidFill>
                  <a:srgbClr val="FFFFFF"/>
                </a:solidFill>
                <a:latin typeface="メイリオ"/>
              </a:rPr>
              <a:t>管理栄養士に共有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3997" y="1584000"/>
            <a:ext cx="2664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メイリオ"/>
              </a:rPr>
              <a:t>月1回LINEで体重グラフ・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メイリオ"/>
              </a:rPr>
              <a:t>高疲労週の食事内容を送付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メイリオ"/>
              </a:rPr>
              <a:t>→個別フィードバックを返す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メイリオ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メイリオ"/>
              </a:rPr>
              <a:t>合宿時に記録データを持参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メイリオ"/>
              </a:rPr>
              <a:t>→直接分析ワークを実施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0000" y="6426000"/>
            <a:ext cx="11833200" cy="3600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000" y="6444001"/>
            <a:ext cx="1147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563EB"/>
                </a:solidFill>
                <a:latin typeface="メイリオ"/>
              </a:rPr>
              <a:t>📊 Excelテンプレート（体重×疲労グラフ自動生成）は6月に選手全員へ配布予定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00"/>
            <a:ext cx="12193200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36000"/>
            <a:ext cx="93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メイリオ"/>
              </a:rPr>
              <a:t>5. アジア大会（愛知）食環境整備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93200" y="108000"/>
            <a:ext cx="2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93C5FD"/>
                </a:solidFill>
                <a:latin typeface="メイリオ"/>
              </a:rPr>
              <a:t>10月18〜24日 ｜ 9月16〜20日 強化合宿で直接指導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000" y="792000"/>
            <a:ext cx="5760000" cy="55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00" y="792000"/>
            <a:ext cx="5760000" cy="28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999" y="810000"/>
            <a:ext cx="561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メイリオ"/>
              </a:rPr>
              <a:t>〜8月 事前準備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00" y="1188000"/>
            <a:ext cx="5544000" cy="1007999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242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A580C"/>
                </a:solidFill>
                <a:latin typeface="メイリオ"/>
              </a:rPr>
              <a:t>📍 食環境マップ作成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153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会場（ポートメッセなごや）周辺の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コンビニ・スーパー・飲食店マップをPDF化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00" y="2268000"/>
            <a:ext cx="5544000" cy="1007999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0" y="2322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A580C"/>
                </a:solidFill>
                <a:latin typeface="メイリオ"/>
              </a:rPr>
              <a:t>🍱 補食リスト作成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261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持参推奨食品リスト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おにぎり・バナナ・カステラ・ゼリー飲料・スポーツドリンク等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00" y="3348000"/>
            <a:ext cx="5544000" cy="1007999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3402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A580C"/>
                </a:solidFill>
                <a:latin typeface="メイリオ"/>
              </a:rPr>
              <a:t>⏰ 食事タイムライン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369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試合スケジュール別の食事タイムライン例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（1日1試合・複数試合・勝ち上がり想定）を作成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00" y="4428000"/>
            <a:ext cx="5544000" cy="1007999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000" y="4482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A580C"/>
                </a:solidFill>
                <a:latin typeface="メイリオ"/>
              </a:rPr>
              <a:t>⚠️ 個別対応確認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00" y="477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アレルギー・宗教上の食事制限がある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選手への対応リストを指導者と連携して確認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0000" y="792000"/>
            <a:ext cx="5868000" cy="55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0000" y="792000"/>
            <a:ext cx="5868000" cy="28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2000" y="810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メイリオ"/>
              </a:rPr>
              <a:t>10/18〜24 大会期間中サポート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8000" y="1188000"/>
            <a:ext cx="5652000" cy="113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8000" y="1188000"/>
            <a:ext cx="5652000" cy="19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000" y="1206000"/>
            <a:ext cx="550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メイリオ"/>
              </a:rPr>
              <a:t>★帯同できる場合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000" y="1422000"/>
            <a:ext cx="550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・試合間の補食提供・水分補給の確認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1710000"/>
            <a:ext cx="550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・コンディション記録のサポート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000" y="1998000"/>
            <a:ext cx="550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・翌試合に向けた食事アドバイスを個別提供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28000" y="2394000"/>
            <a:ext cx="5652000" cy="113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28000" y="2394000"/>
            <a:ext cx="5652000" cy="19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0000" y="2412000"/>
            <a:ext cx="550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メイリオ"/>
              </a:rPr>
              <a:t>遠隔サポートの場合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000" y="2628000"/>
            <a:ext cx="550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・LINEグループで随時相談受付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000" y="2916000"/>
            <a:ext cx="550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・体重チェックを毎朝促す（メッセージ送信）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000" y="3204000"/>
            <a:ext cx="550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・翌日の食事アドバイスをLINEで送信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28000" y="3600000"/>
            <a:ext cx="5652000" cy="827999"/>
          </a:xfrm>
          <a:prstGeom prst="roundRect">
            <a:avLst>
              <a:gd name="adj" fmla="val 5000"/>
            </a:avLst>
          </a:prstGeom>
          <a:solidFill>
            <a:srgbClr val="FFEEEE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28000" y="3600000"/>
            <a:ext cx="5652000" cy="19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0000" y="3618000"/>
            <a:ext cx="550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メイリオ"/>
              </a:rPr>
              <a:t>体重管理ルール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0000" y="3834000"/>
            <a:ext cx="550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・毎朝起床後・排尿後に体重測定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0000" y="4122000"/>
            <a:ext cx="550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・前日比 −1 kg超 → 積極的な水分・電解質補給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28000" y="4499999"/>
            <a:ext cx="5652000" cy="827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28000" y="4499999"/>
            <a:ext cx="5652000" cy="19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0000" y="4517999"/>
            <a:ext cx="550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メイリオ"/>
              </a:rPr>
              <a:t>試合後の回復食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0000" y="4733999"/>
            <a:ext cx="550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・たんぱく質 20〜30 g + 炭水化物 60 g以上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0000" y="5021999"/>
            <a:ext cx="550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E293B"/>
                </a:solidFill>
                <a:latin typeface="メイリオ"/>
              </a:rPr>
              <a:t>・試合終了後 30〜60分以内に摂取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00"/>
            <a:ext cx="12193200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36000"/>
            <a:ext cx="93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メイリオ"/>
              </a:rPr>
              <a:t>6. 課題別 解決策まとめ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93200" y="108000"/>
            <a:ext cx="2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93C5FD"/>
                </a:solidFill>
                <a:latin typeface="メイリオ"/>
              </a:rPr>
              <a:t>5つの課題に対する具体的なアクション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6000" y="792000"/>
            <a:ext cx="2258640" cy="5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6000" y="792000"/>
            <a:ext cx="2258640" cy="54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6000" y="792000"/>
            <a:ext cx="2258640" cy="54000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</a:rPr>
              <a:t>課題①</a:t>
            </a:r>
            <a:br>
              <a:rPr lang="ja-JP"/>
            </a:br>
            <a:r>
              <a:rPr sz="1000" b="1">
                <a:solidFill>
                  <a:srgbClr val="FFFFFF"/>
                </a:solidFill>
                <a:latin typeface="メイリオ"/>
              </a:rPr>
              <a:t>栄養素不足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00" y="1440000"/>
            <a:ext cx="21866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・主食量の目安（g/kg BW）を個人別に提示（6月PDF）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1735200"/>
            <a:ext cx="21866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・Ca・VitD：鮭・乳製品・小魚レシピ集（11月PDF）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" y="2030400"/>
            <a:ext cx="21866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・食物繊維：副菜の選び方ガイドを各PDF資料に掲載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46640" y="792000"/>
            <a:ext cx="2258640" cy="5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46640" y="792000"/>
            <a:ext cx="2258640" cy="540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46640" y="792000"/>
            <a:ext cx="2258640" cy="54000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</a:rPr>
              <a:t>課題②</a:t>
            </a:r>
            <a:br>
              <a:rPr lang="ja-JP"/>
            </a:br>
            <a:r>
              <a:rPr sz="1000" b="1">
                <a:solidFill>
                  <a:srgbClr val="FFFFFF"/>
                </a:solidFill>
                <a:latin typeface="メイリオ"/>
              </a:rPr>
              <a:t>体重管理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0640" y="1440000"/>
            <a:ext cx="21866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・増量・減量の月別計画テンプレート（11月PDF）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0640" y="1735200"/>
            <a:ext cx="21866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・急速減量のリスクを講義で解説（筋量↓・疲労骨折等）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0640" y="2030400"/>
            <a:ext cx="21866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・体重×疲労グラフで個人フィードバック（12月講義）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77280" y="792000"/>
            <a:ext cx="2258640" cy="5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7280" y="792000"/>
            <a:ext cx="2258640" cy="54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77280" y="792000"/>
            <a:ext cx="2258640" cy="5400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</a:rPr>
              <a:t>課題③</a:t>
            </a:r>
            <a:br>
              <a:rPr lang="ja-JP"/>
            </a:br>
            <a:r>
              <a:rPr sz="1000" b="1">
                <a:solidFill>
                  <a:srgbClr val="FFFFFF"/>
                </a:solidFill>
                <a:latin typeface="メイリオ"/>
              </a:rPr>
              <a:t>試合期・遠征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1280" y="1440000"/>
            <a:ext cx="21866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・大会カウントダウン食事計画（7〜8月PDF）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1280" y="1735200"/>
            <a:ext cx="21866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・愛知会場周辺の食環境マップ・補食リスト（8月PDF）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1280" y="2030400"/>
            <a:ext cx="21866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・大会中：遠隔サポート（LINE）または帯同で対応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07920" y="792000"/>
            <a:ext cx="2258640" cy="5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07920" y="792000"/>
            <a:ext cx="2258640" cy="54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07920" y="792000"/>
            <a:ext cx="2258640" cy="540000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</a:rPr>
              <a:t>課題④</a:t>
            </a:r>
            <a:br>
              <a:rPr lang="ja-JP"/>
            </a:br>
            <a:r>
              <a:rPr sz="1000" b="1">
                <a:solidFill>
                  <a:srgbClr val="FFFFFF"/>
                </a:solidFill>
                <a:latin typeface="メイリオ"/>
              </a:rPr>
              <a:t>記録の活用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1920" y="1440000"/>
            <a:ext cx="21866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・コンディション記録の分析方法（6月PDF）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1920" y="1735200"/>
            <a:ext cx="21866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・Excelテンプレート（体重×疲労グラフ）を6月配布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1920" y="2030400"/>
            <a:ext cx="21866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・12月講義で全員の記録データをフィードバック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38560" y="792000"/>
            <a:ext cx="2258640" cy="5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8560" y="792000"/>
            <a:ext cx="2258640" cy="5400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538560" y="792000"/>
            <a:ext cx="2258640" cy="540000"/>
          </a:xfrm>
          <a:prstGeom prst="roundRect">
            <a:avLst>
              <a:gd name="adj" fmla="val 5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</a:rPr>
              <a:t>課題⑤</a:t>
            </a:r>
            <a:br>
              <a:rPr lang="ja-JP"/>
            </a:br>
            <a:r>
              <a:rPr sz="1000" b="1">
                <a:solidFill>
                  <a:srgbClr val="FFFFFF"/>
                </a:solidFill>
                <a:latin typeface="メイリオ"/>
              </a:rPr>
              <a:t>サプリメント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92560" y="1440000"/>
            <a:ext cx="21866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・サプリメント適正使用・再教育（12月講義）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2560" y="1735200"/>
            <a:ext cx="21866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・アンチドーピング認証製品リストを12月PDF付録で配布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92560" y="2030400"/>
            <a:ext cx="21866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E293B"/>
                </a:solidFill>
                <a:latin typeface="メイリオ"/>
              </a:rPr>
              <a:t>・管理栄養士への相談窓口の活用を促進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360000"/>
            <a:ext cx="1147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FFFFFF"/>
                </a:solidFill>
                <a:latin typeface="メイリオ"/>
              </a:rP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5400000" cy="1584000"/>
          </a:xfrm>
          <a:prstGeom prst="roundRect">
            <a:avLst>
              <a:gd name="adj" fmla="val 5000"/>
            </a:avLst>
          </a:prstGeom>
          <a:solidFill>
            <a:srgbClr val="2E4A6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180000" cy="1584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6000" y="1188000"/>
            <a:ext cx="1620000" cy="23400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🏆 最大目標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1999" y="1512000"/>
            <a:ext cx="504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メイリオ"/>
              </a:rPr>
              <a:t>アジア大会（愛知・10月18〜24日）での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メイリオ"/>
              </a:rPr>
              <a:t>ベストパフォーマンスを食事からサポート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2808000"/>
            <a:ext cx="5400000" cy="1584000"/>
          </a:xfrm>
          <a:prstGeom prst="roundRect">
            <a:avLst>
              <a:gd name="adj" fmla="val 5000"/>
            </a:avLst>
          </a:prstGeom>
          <a:solidFill>
            <a:srgbClr val="2E4A6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2808000"/>
            <a:ext cx="180000" cy="1584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6000" y="2916000"/>
            <a:ext cx="1620000" cy="234000"/>
          </a:xfrm>
          <a:prstGeom prst="roundRect">
            <a:avLst>
              <a:gd name="adj" fmla="val 4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★ 直接指導3回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999" y="3240000"/>
            <a:ext cx="504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メイリオ"/>
              </a:rPr>
              <a:t>9月強化合宿・12月研修会・1〜2月合宿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メイリオ"/>
              </a:rPr>
              <a:t>→試合プロトコル・記録分析・個人計画立案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4536000"/>
            <a:ext cx="5400000" cy="1584000"/>
          </a:xfrm>
          <a:prstGeom prst="roundRect">
            <a:avLst>
              <a:gd name="adj" fmla="val 5000"/>
            </a:avLst>
          </a:prstGeom>
          <a:solidFill>
            <a:srgbClr val="2E4A6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0000" y="4536000"/>
            <a:ext cx="180000" cy="1584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6000" y="4644000"/>
            <a:ext cx="1620000" cy="23400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📄 PDF送付 毎月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999" y="4968000"/>
            <a:ext cx="504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メイリオ"/>
              </a:rPr>
              <a:t>6〜8月・10〜11月・3月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メイリオ"/>
              </a:rPr>
              <a:t>→実践的な情報を毎月届け、日常で活かせるサポートを継続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000" y="1080000"/>
            <a:ext cx="5400000" cy="1584000"/>
          </a:xfrm>
          <a:prstGeom prst="roundRect">
            <a:avLst>
              <a:gd name="adj" fmla="val 5000"/>
            </a:avLst>
          </a:prstGeom>
          <a:solidFill>
            <a:srgbClr val="2E4A6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0000" y="1080000"/>
            <a:ext cx="180000" cy="158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16000" y="1188000"/>
            <a:ext cx="1620000" cy="2340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📊 記録の継続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999" y="1512000"/>
            <a:ext cx="504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メイリオ"/>
              </a:rPr>
              <a:t>4月開始のコンディション×食事記録を継続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メイリオ"/>
              </a:rPr>
              <a:t>→蓄積データをもとに個人に合った食事戦略を構築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0000" y="2808000"/>
            <a:ext cx="5400000" cy="1584000"/>
          </a:xfrm>
          <a:prstGeom prst="roundRect">
            <a:avLst>
              <a:gd name="adj" fmla="val 5000"/>
            </a:avLst>
          </a:prstGeom>
          <a:solidFill>
            <a:srgbClr val="2E4A6F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0000" y="2808000"/>
            <a:ext cx="180000" cy="15840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16000" y="2916000"/>
            <a:ext cx="1620000" cy="234000"/>
          </a:xfrm>
          <a:prstGeom prst="roundRect">
            <a:avLst>
              <a:gd name="adj" fmla="val 40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</a:rPr>
              <a:t>🔬 研究・論文化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999" y="3240000"/>
            <a:ext cx="504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メイリオ"/>
              </a:rPr>
              <a:t>この競技団体初のデータとして複数論文化を予定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メイリオ"/>
              </a:rPr>
              <a:t>（実態調査・介入研究・コンディション縦断分析等）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00" y="6426000"/>
            <a:ext cx="1147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93C5FD"/>
                </a:solidFill>
                <a:latin typeface="メイリオ"/>
              </a:rPr>
              <a:t>ご質問・ご意見をお聞かせください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