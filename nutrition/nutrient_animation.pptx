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"/>
          <c:y val="0.03"/>
          <c:w val="0.84"/>
          <c:h val="0.7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ご飯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9</c:v>
                </c:pt>
                <c:pt idx="1">
                  <c:v>6.3</c:v>
                </c:pt>
                <c:pt idx="2">
                  <c:v>0.7</c:v>
                </c:pt>
                <c:pt idx="3">
                  <c:v>14.9</c:v>
                </c:pt>
                <c:pt idx="4">
                  <c:v>0.5</c:v>
                </c:pt>
                <c:pt idx="5">
                  <c:v>2</c:v>
                </c:pt>
                <c:pt idx="6">
                  <c:v>0</c:v>
                </c:pt>
                <c:pt idx="7">
                  <c:v>2.1</c:v>
                </c:pt>
                <c:pt idx="8">
                  <c:v>1.2</c:v>
                </c:pt>
                <c:pt idx="9">
                  <c:v>0</c:v>
                </c:pt>
                <c:pt idx="10">
                  <c:v>13.5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豚の生姜焼き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10.5</c:v>
                </c:pt>
                <c:pt idx="1">
                  <c:v>28</c:v>
                </c:pt>
                <c:pt idx="2">
                  <c:v>27</c:v>
                </c:pt>
                <c:pt idx="3">
                  <c:v>2</c:v>
                </c:pt>
                <c:pt idx="4">
                  <c:v>2.6</c:v>
                </c:pt>
                <c:pt idx="5">
                  <c:v>6</c:v>
                </c:pt>
                <c:pt idx="6">
                  <c:v>2.9</c:v>
                </c:pt>
                <c:pt idx="7">
                  <c:v>41.4</c:v>
                </c:pt>
                <c:pt idx="8">
                  <c:v>10</c:v>
                </c:pt>
                <c:pt idx="9">
                  <c:v>23</c:v>
                </c:pt>
                <c:pt idx="10">
                  <c:v>6.5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ほうれん草の胡麻和え</c:v>
                </c:pt>
              </c:strCache>
            </c:strRef>
          </c:tx>
          <c:spPr>
            <a:solidFill>
              <a:srgbClr val="1BAF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2.1</c:v>
                </c:pt>
                <c:pt idx="1">
                  <c:v>4.7</c:v>
                </c:pt>
                <c:pt idx="2">
                  <c:v>4.2</c:v>
                </c:pt>
                <c:pt idx="3">
                  <c:v>1.5</c:v>
                </c:pt>
                <c:pt idx="4">
                  <c:v>10.2</c:v>
                </c:pt>
                <c:pt idx="5">
                  <c:v>11</c:v>
                </c:pt>
                <c:pt idx="6">
                  <c:v>33.8</c:v>
                </c:pt>
                <c:pt idx="7">
                  <c:v>3.6</c:v>
                </c:pt>
                <c:pt idx="8">
                  <c:v>5.6</c:v>
                </c:pt>
                <c:pt idx="9">
                  <c:v>11</c:v>
                </c:pt>
                <c:pt idx="10">
                  <c:v>16.5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じゃがいもの味噌汁</c:v>
                </c:pt>
              </c:strCache>
            </c:strRef>
          </c:tx>
          <c:spPr>
            <a:solidFill>
              <a:srgbClr val="EDA1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2.2</c:v>
                </c:pt>
                <c:pt idx="1">
                  <c:v>4.8</c:v>
                </c:pt>
                <c:pt idx="2">
                  <c:v>1</c:v>
                </c:pt>
                <c:pt idx="3">
                  <c:v>3.1</c:v>
                </c:pt>
                <c:pt idx="4">
                  <c:v>2.2</c:v>
                </c:pt>
                <c:pt idx="5">
                  <c:v>8</c:v>
                </c:pt>
                <c:pt idx="6">
                  <c:v>0</c:v>
                </c:pt>
                <c:pt idx="7">
                  <c:v>3.6</c:v>
                </c:pt>
                <c:pt idx="8">
                  <c:v>2.5</c:v>
                </c:pt>
                <c:pt idx="9">
                  <c:v>12</c:v>
                </c:pt>
                <c:pt idx="10">
                  <c:v>26.5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オレンジ</c:v>
                </c:pt>
              </c:strCache>
            </c:strRef>
          </c:tx>
          <c:spPr>
            <a:solidFill>
              <a:srgbClr val="E87BA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Sheet1!$F$2:$F$12</c:f>
              <c:numCache>
                <c:formatCode>General</c:formatCode>
                <c:ptCount val="11"/>
                <c:pt idx="0">
                  <c:v>1.6</c:v>
                </c:pt>
                <c:pt idx="1">
                  <c:v>1.7</c:v>
                </c:pt>
                <c:pt idx="2">
                  <c:v>0.1</c:v>
                </c:pt>
                <c:pt idx="3">
                  <c:v>2.6</c:v>
                </c:pt>
                <c:pt idx="4">
                  <c:v>2.1</c:v>
                </c:pt>
                <c:pt idx="5">
                  <c:v>3</c:v>
                </c:pt>
                <c:pt idx="6">
                  <c:v>1.3</c:v>
                </c:pt>
                <c:pt idx="7">
                  <c:v>7.1</c:v>
                </c:pt>
                <c:pt idx="8">
                  <c:v>1.9</c:v>
                </c:pt>
                <c:pt idx="9">
                  <c:v>40</c:v>
                </c:pt>
                <c:pt idx="10">
                  <c:v>4.7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牛乳</c:v>
                </c:pt>
              </c:strCache>
            </c:strRef>
          </c:tx>
          <c:spPr>
            <a:solidFill>
              <a:srgbClr val="0083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Sheet1!$G$2:$G$12</c:f>
              <c:numCache>
                <c:formatCode>General</c:formatCode>
                <c:ptCount val="11"/>
                <c:pt idx="0">
                  <c:v>4.7</c:v>
                </c:pt>
                <c:pt idx="1">
                  <c:v>11</c:v>
                </c:pt>
                <c:pt idx="2">
                  <c:v>10.5</c:v>
                </c:pt>
                <c:pt idx="3">
                  <c:v>2.6</c:v>
                </c:pt>
                <c:pt idx="4">
                  <c:v>22</c:v>
                </c:pt>
                <c:pt idx="5">
                  <c:v>0</c:v>
                </c:pt>
                <c:pt idx="6">
                  <c:v>9.5</c:v>
                </c:pt>
                <c:pt idx="7">
                  <c:v>5.7</c:v>
                </c:pt>
                <c:pt idx="8">
                  <c:v>18.7</c:v>
                </c:pt>
                <c:pt idx="9">
                  <c:v>2</c:v>
                </c:pt>
                <c:pt idx="10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lineChart>
        <c:varyColors val="0"/>
        <c:ser>
          <c:idx val="6"/>
          <c:order val="6"/>
          <c:tx>
            <c:strRef>
              <c:f>Sheet1!$H$1</c:f>
              <c:strCache>
                <c:ptCount val="1"/>
                <c:pt idx="0">
                  <c:v>1食分に必要な量</c:v>
                </c:pt>
              </c:strCache>
            </c:strRef>
          </c:tx>
          <c:spPr>
            <a:solidFill>
              <a:srgbClr val="E34948"/>
            </a:solidFill>
            <a:ln w="25400" cap="flat">
              <a:solidFill>
                <a:srgbClr val="E34948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34948"/>
              </a:solidFill>
              <a:ln w="9525" cap="flat">
                <a:solidFill>
                  <a:srgbClr val="E3494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Sheet1!$H$2:$H$12</c:f>
              <c:numCache>
                <c:formatCode>General</c:formatCode>
                <c:ptCount val="11"/>
                <c:pt idx="0">
                  <c:v>33.3</c:v>
                </c:pt>
                <c:pt idx="1">
                  <c:v>33.3</c:v>
                </c:pt>
                <c:pt idx="2">
                  <c:v>33.3</c:v>
                </c:pt>
                <c:pt idx="3">
                  <c:v>33.3</c:v>
                </c:pt>
                <c:pt idx="4">
                  <c:v>33.3</c:v>
                </c:pt>
                <c:pt idx="5">
                  <c:v>33.3</c:v>
                </c:pt>
                <c:pt idx="6">
                  <c:v>33.3</c:v>
                </c:pt>
                <c:pt idx="7">
                  <c:v>33.3</c:v>
                </c:pt>
                <c:pt idx="8">
                  <c:v>33.3</c:v>
                </c:pt>
                <c:pt idx="9">
                  <c:v>33.3</c:v>
                </c:pt>
                <c:pt idx="10">
                  <c:v>33.3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400000"/>
          <a:lstStyle/>
          <a:p>
            <a:pPr>
              <a:defRPr sz="1300" b="0" i="0" u="none" strike="noStrike">
                <a:solidFill>
                  <a:srgbClr val="0B0B0B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4E3D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2514E"/>
                    </a:solidFill>
                    <a:latin typeface="Yu Gothic"/>
                  </a:defRPr>
                </a:pPr>
                <a:r>
                  <a:rPr sz="1200" b="0" i="0" u="none" strike="noStrike">
                    <a:solidFill>
                      <a:srgbClr val="52514E"/>
                    </a:solidFill>
                    <a:latin typeface="Yu Gothic"/>
                  </a:rPr>
                  <a:t>1日に必要な量に対する割合（%）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14E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"/>
          <c:y val="0.03"/>
          <c:w val="0.84"/>
          <c:h val="0.7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ご飯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8.4</c:v>
                </c:pt>
                <c:pt idx="1">
                  <c:v>5.8</c:v>
                </c:pt>
                <c:pt idx="2">
                  <c:v>0.6</c:v>
                </c:pt>
                <c:pt idx="3">
                  <c:v>13.8</c:v>
                </c:pt>
                <c:pt idx="4">
                  <c:v>0.6</c:v>
                </c:pt>
                <c:pt idx="5">
                  <c:v>2</c:v>
                </c:pt>
                <c:pt idx="6">
                  <c:v>0</c:v>
                </c:pt>
                <c:pt idx="7">
                  <c:v>2</c:v>
                </c:pt>
                <c:pt idx="8">
                  <c:v>1.2</c:v>
                </c:pt>
                <c:pt idx="9">
                  <c:v>0</c:v>
                </c:pt>
                <c:pt idx="10">
                  <c:v>12.1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豚の生姜焼き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9.8</c:v>
                </c:pt>
                <c:pt idx="1">
                  <c:v>25.8</c:v>
                </c:pt>
                <c:pt idx="2">
                  <c:v>25.1</c:v>
                </c:pt>
                <c:pt idx="3">
                  <c:v>1.9</c:v>
                </c:pt>
                <c:pt idx="4">
                  <c:v>3.3</c:v>
                </c:pt>
                <c:pt idx="5">
                  <c:v>6</c:v>
                </c:pt>
                <c:pt idx="6">
                  <c:v>2.6</c:v>
                </c:pt>
                <c:pt idx="7">
                  <c:v>38.7</c:v>
                </c:pt>
                <c:pt idx="8">
                  <c:v>9.4</c:v>
                </c:pt>
                <c:pt idx="9">
                  <c:v>23</c:v>
                </c:pt>
                <c:pt idx="10">
                  <c:v>5.8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ほうれん草の胡麻和え</c:v>
                </c:pt>
              </c:strCache>
            </c:strRef>
          </c:tx>
          <c:spPr>
            <a:solidFill>
              <a:srgbClr val="1BAF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1.9</c:v>
                </c:pt>
                <c:pt idx="1">
                  <c:v>4.3</c:v>
                </c:pt>
                <c:pt idx="2">
                  <c:v>3.9</c:v>
                </c:pt>
                <c:pt idx="3">
                  <c:v>1.4</c:v>
                </c:pt>
                <c:pt idx="4">
                  <c:v>12.8</c:v>
                </c:pt>
                <c:pt idx="5">
                  <c:v>11</c:v>
                </c:pt>
                <c:pt idx="6">
                  <c:v>30</c:v>
                </c:pt>
                <c:pt idx="7">
                  <c:v>3.3</c:v>
                </c:pt>
                <c:pt idx="8">
                  <c:v>5.3</c:v>
                </c:pt>
                <c:pt idx="9">
                  <c:v>11</c:v>
                </c:pt>
                <c:pt idx="10">
                  <c:v>14.7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じゃがいもの味噌汁</c:v>
                </c:pt>
              </c:strCache>
            </c:strRef>
          </c:tx>
          <c:spPr>
            <a:solidFill>
              <a:srgbClr val="EDA1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2</c:v>
                </c:pt>
                <c:pt idx="1">
                  <c:v>4.5</c:v>
                </c:pt>
                <c:pt idx="2">
                  <c:v>0.9</c:v>
                </c:pt>
                <c:pt idx="3">
                  <c:v>2.9</c:v>
                </c:pt>
                <c:pt idx="4">
                  <c:v>2.8</c:v>
                </c:pt>
                <c:pt idx="5">
                  <c:v>8</c:v>
                </c:pt>
                <c:pt idx="6">
                  <c:v>0</c:v>
                </c:pt>
                <c:pt idx="7">
                  <c:v>3.3</c:v>
                </c:pt>
                <c:pt idx="8">
                  <c:v>2.4</c:v>
                </c:pt>
                <c:pt idx="9">
                  <c:v>12</c:v>
                </c:pt>
                <c:pt idx="10">
                  <c:v>23.7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オレンジ</c:v>
                </c:pt>
              </c:strCache>
            </c:strRef>
          </c:tx>
          <c:spPr>
            <a:solidFill>
              <a:srgbClr val="E87BA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Sheet1!$F$2:$F$12</c:f>
              <c:numCache>
                <c:formatCode>General</c:formatCode>
                <c:ptCount val="11"/>
                <c:pt idx="0">
                  <c:v>1.5</c:v>
                </c:pt>
                <c:pt idx="1">
                  <c:v>1.5</c:v>
                </c:pt>
                <c:pt idx="2">
                  <c:v>0.1</c:v>
                </c:pt>
                <c:pt idx="3">
                  <c:v>2.4</c:v>
                </c:pt>
                <c:pt idx="4">
                  <c:v>2.6</c:v>
                </c:pt>
                <c:pt idx="5">
                  <c:v>3</c:v>
                </c:pt>
                <c:pt idx="6">
                  <c:v>1.1</c:v>
                </c:pt>
                <c:pt idx="7">
                  <c:v>6.7</c:v>
                </c:pt>
                <c:pt idx="8">
                  <c:v>1.8</c:v>
                </c:pt>
                <c:pt idx="9">
                  <c:v>40</c:v>
                </c:pt>
                <c:pt idx="10">
                  <c:v>4.2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牛乳</c:v>
                </c:pt>
              </c:strCache>
            </c:strRef>
          </c:tx>
          <c:spPr>
            <a:solidFill>
              <a:srgbClr val="0083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Sheet1!$G$2:$G$12</c:f>
              <c:numCache>
                <c:formatCode>General</c:formatCode>
                <c:ptCount val="11"/>
                <c:pt idx="0">
                  <c:v>4.4</c:v>
                </c:pt>
                <c:pt idx="1">
                  <c:v>10.2</c:v>
                </c:pt>
                <c:pt idx="2">
                  <c:v>9.8</c:v>
                </c:pt>
                <c:pt idx="3">
                  <c:v>2.4</c:v>
                </c:pt>
                <c:pt idx="4">
                  <c:v>27.5</c:v>
                </c:pt>
                <c:pt idx="5">
                  <c:v>0</c:v>
                </c:pt>
                <c:pt idx="6">
                  <c:v>8.4</c:v>
                </c:pt>
                <c:pt idx="7">
                  <c:v>5.3</c:v>
                </c:pt>
                <c:pt idx="8">
                  <c:v>17.6</c:v>
                </c:pt>
                <c:pt idx="9">
                  <c:v>2</c:v>
                </c:pt>
                <c:pt idx="10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lineChart>
        <c:varyColors val="0"/>
        <c:ser>
          <c:idx val="6"/>
          <c:order val="6"/>
          <c:tx>
            <c:strRef>
              <c:f>Sheet1!$H$1</c:f>
              <c:strCache>
                <c:ptCount val="1"/>
                <c:pt idx="0">
                  <c:v>1食分に必要な量</c:v>
                </c:pt>
              </c:strCache>
            </c:strRef>
          </c:tx>
          <c:spPr>
            <a:solidFill>
              <a:srgbClr val="E34948"/>
            </a:solidFill>
            <a:ln w="25400" cap="flat">
              <a:solidFill>
                <a:srgbClr val="E34948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34948"/>
              </a:solidFill>
              <a:ln w="9525" cap="flat">
                <a:solidFill>
                  <a:srgbClr val="E3494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Sheet1!$H$2:$H$12</c:f>
              <c:numCache>
                <c:formatCode>General</c:formatCode>
                <c:ptCount val="11"/>
                <c:pt idx="0">
                  <c:v>33.3</c:v>
                </c:pt>
                <c:pt idx="1">
                  <c:v>33.3</c:v>
                </c:pt>
                <c:pt idx="2">
                  <c:v>33.3</c:v>
                </c:pt>
                <c:pt idx="3">
                  <c:v>33.3</c:v>
                </c:pt>
                <c:pt idx="4">
                  <c:v>33.3</c:v>
                </c:pt>
                <c:pt idx="5">
                  <c:v>33.3</c:v>
                </c:pt>
                <c:pt idx="6">
                  <c:v>33.3</c:v>
                </c:pt>
                <c:pt idx="7">
                  <c:v>33.3</c:v>
                </c:pt>
                <c:pt idx="8">
                  <c:v>33.3</c:v>
                </c:pt>
                <c:pt idx="9">
                  <c:v>33.3</c:v>
                </c:pt>
                <c:pt idx="10">
                  <c:v>33.3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400000"/>
          <a:lstStyle/>
          <a:p>
            <a:pPr>
              <a:defRPr sz="1300" b="0" i="0" u="none" strike="noStrike">
                <a:solidFill>
                  <a:srgbClr val="0B0B0B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4E3D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2514E"/>
                    </a:solidFill>
                    <a:latin typeface="Yu Gothic"/>
                  </a:defRPr>
                </a:pPr>
                <a:r>
                  <a:rPr sz="1200" b="0" i="0" u="none" strike="noStrike">
                    <a:solidFill>
                      <a:srgbClr val="52514E"/>
                    </a:solidFill>
                    <a:latin typeface="Yu Gothic"/>
                  </a:rPr>
                  <a:t>1日に必要な量に対する割合（%）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14E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献立の栄養素充足率（思春期男性 12〜14歳）</a:t>
            </a:r>
            <a:endParaRPr lang="en-US" sz="2800" dirty="0"/>
          </a:p>
        </p:txBody>
      </p:sp>
      <p:graphicFrame>
        <p:nvGraphicFramePr>
          <p:cNvPr id="3" name="Chart" descr=""/>
          <p:cNvGraphicFramePr/>
          <p:nvPr/>
        </p:nvGraphicFramePr>
        <p:xfrm>
          <a:off x="274320" y="960120"/>
          <a:ext cx="8869680" cy="5394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630107" y="3654431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1食分に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必要な量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9464040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料理</a:t>
            </a:r>
            <a:endParaRPr lang="en-US" sz="1400" dirty="0"/>
          </a:p>
        </p:txBody>
      </p:sp>
      <p:sp>
        <p:nvSpPr>
          <p:cNvPr id="6" name="Dish0"/>
          <p:cNvSpPr txBox="1"/>
          <p:nvPr/>
        </p:nvSpPr>
        <p:spPr>
          <a:xfrm>
            <a:off x="9464040" y="16459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78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ご飯</a:t>
            </a:r>
            <a:endParaRPr lang="en-US" sz="1600" dirty="0"/>
          </a:p>
        </p:txBody>
      </p:sp>
      <p:sp>
        <p:nvSpPr>
          <p:cNvPr id="7" name="Dish1"/>
          <p:cNvSpPr txBox="1"/>
          <p:nvPr/>
        </p:nvSpPr>
        <p:spPr>
          <a:xfrm>
            <a:off x="9464040" y="2286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B68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豚の生姜焼き</a:t>
            </a:r>
            <a:endParaRPr lang="en-US" sz="1600" dirty="0"/>
          </a:p>
        </p:txBody>
      </p:sp>
      <p:sp>
        <p:nvSpPr>
          <p:cNvPr id="8" name="Dish2"/>
          <p:cNvSpPr txBox="1"/>
          <p:nvPr/>
        </p:nvSpPr>
        <p:spPr>
          <a:xfrm>
            <a:off x="9464040" y="29260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AF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ほうれん草の胡麻和え</a:t>
            </a:r>
            <a:endParaRPr lang="en-US" sz="1600" dirty="0"/>
          </a:p>
        </p:txBody>
      </p:sp>
      <p:sp>
        <p:nvSpPr>
          <p:cNvPr id="9" name="Dish3"/>
          <p:cNvSpPr txBox="1"/>
          <p:nvPr/>
        </p:nvSpPr>
        <p:spPr>
          <a:xfrm>
            <a:off x="9464040" y="3566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A1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じゃがいもの味噌汁</a:t>
            </a:r>
            <a:endParaRPr lang="en-US" sz="1600" dirty="0"/>
          </a:p>
        </p:txBody>
      </p:sp>
      <p:sp>
        <p:nvSpPr>
          <p:cNvPr id="10" name="Dish4"/>
          <p:cNvSpPr txBox="1"/>
          <p:nvPr/>
        </p:nvSpPr>
        <p:spPr>
          <a:xfrm>
            <a:off x="9464040" y="42062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BA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オレンジ</a:t>
            </a:r>
            <a:endParaRPr lang="en-US" sz="1600" dirty="0"/>
          </a:p>
        </p:txBody>
      </p:sp>
      <p:sp>
        <p:nvSpPr>
          <p:cNvPr id="11" name="Dish5"/>
          <p:cNvSpPr txBox="1"/>
          <p:nvPr/>
        </p:nvSpPr>
        <p:spPr>
          <a:xfrm>
            <a:off x="9464040" y="4846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83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牛乳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基準値：日本人の食事摂取基準（2020年版）男性・身体活動レベルⅡ。脂質・炭水化物は目標量（エネルギー比20〜30%・50〜65%）の中央値、食物繊維は目標量。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6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00"/>
                                        <p:tgtEl>
                                          <p:spTgt spid="3">
                                            <p:graphicEl>
                                              <a:chart seriesIdx="6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600"/>
                                        <p:tgtEl>
                                          <p:spTgt spid="3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600"/>
                                        <p:tgtEl>
                                          <p:spTgt spid="3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600"/>
                                        <p:tgtEl>
                                          <p:spTgt spid="3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600"/>
                                        <p:tgtEl>
                                          <p:spTgt spid="3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4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600"/>
                                        <p:tgtEl>
                                          <p:spTgt spid="3">
                                            <p:graphicEl>
                                              <a:chart seriesIdx="4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5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600"/>
                                        <p:tgtEl>
                                          <p:spTgt spid="3">
                                            <p:graphicEl>
                                              <a:chart seriesIdx="5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Chart bld="series" animBg="0"/>
        </p:bldSub>
      </p:bldGraphic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献立の栄養素充足率（思春期男性 15〜17歳）</a:t>
            </a:r>
            <a:endParaRPr lang="en-US" sz="2800" dirty="0"/>
          </a:p>
        </p:txBody>
      </p:sp>
      <p:graphicFrame>
        <p:nvGraphicFramePr>
          <p:cNvPr id="3" name="Chart" descr=""/>
          <p:cNvGraphicFramePr/>
          <p:nvPr/>
        </p:nvGraphicFramePr>
        <p:xfrm>
          <a:off x="274320" y="960120"/>
          <a:ext cx="8869680" cy="5394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630107" y="3654431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1食分に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必要な量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9464040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料理</a:t>
            </a:r>
            <a:endParaRPr lang="en-US" sz="1400" dirty="0"/>
          </a:p>
        </p:txBody>
      </p:sp>
      <p:sp>
        <p:nvSpPr>
          <p:cNvPr id="6" name="Dish0"/>
          <p:cNvSpPr txBox="1"/>
          <p:nvPr/>
        </p:nvSpPr>
        <p:spPr>
          <a:xfrm>
            <a:off x="9464040" y="16459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78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ご飯</a:t>
            </a:r>
            <a:endParaRPr lang="en-US" sz="1600" dirty="0"/>
          </a:p>
        </p:txBody>
      </p:sp>
      <p:sp>
        <p:nvSpPr>
          <p:cNvPr id="7" name="Dish1"/>
          <p:cNvSpPr txBox="1"/>
          <p:nvPr/>
        </p:nvSpPr>
        <p:spPr>
          <a:xfrm>
            <a:off x="9464040" y="2286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B68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豚の生姜焼き</a:t>
            </a:r>
            <a:endParaRPr lang="en-US" sz="1600" dirty="0"/>
          </a:p>
        </p:txBody>
      </p:sp>
      <p:sp>
        <p:nvSpPr>
          <p:cNvPr id="8" name="Dish2"/>
          <p:cNvSpPr txBox="1"/>
          <p:nvPr/>
        </p:nvSpPr>
        <p:spPr>
          <a:xfrm>
            <a:off x="9464040" y="29260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AF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ほうれん草の胡麻和え</a:t>
            </a:r>
            <a:endParaRPr lang="en-US" sz="1600" dirty="0"/>
          </a:p>
        </p:txBody>
      </p:sp>
      <p:sp>
        <p:nvSpPr>
          <p:cNvPr id="9" name="Dish3"/>
          <p:cNvSpPr txBox="1"/>
          <p:nvPr/>
        </p:nvSpPr>
        <p:spPr>
          <a:xfrm>
            <a:off x="9464040" y="3566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A1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じゃがいもの味噌汁</a:t>
            </a:r>
            <a:endParaRPr lang="en-US" sz="1600" dirty="0"/>
          </a:p>
        </p:txBody>
      </p:sp>
      <p:sp>
        <p:nvSpPr>
          <p:cNvPr id="10" name="Dish4"/>
          <p:cNvSpPr txBox="1"/>
          <p:nvPr/>
        </p:nvSpPr>
        <p:spPr>
          <a:xfrm>
            <a:off x="9464040" y="42062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BA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オレンジ</a:t>
            </a:r>
            <a:endParaRPr lang="en-US" sz="1600" dirty="0"/>
          </a:p>
        </p:txBody>
      </p:sp>
      <p:sp>
        <p:nvSpPr>
          <p:cNvPr id="11" name="Dish5"/>
          <p:cNvSpPr txBox="1"/>
          <p:nvPr/>
        </p:nvSpPr>
        <p:spPr>
          <a:xfrm>
            <a:off x="9464040" y="4846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83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牛乳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基準値：日本人の食事摂取基準（2020年版）男性・身体活動レベルⅡ。脂質・炭水化物は目標量（エネルギー比20〜30%・50〜65%）の中央値、食物繊維は目標量。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6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00"/>
                                        <p:tgtEl>
                                          <p:spTgt spid="3">
                                            <p:graphicEl>
                                              <a:chart seriesIdx="6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600"/>
                                        <p:tgtEl>
                                          <p:spTgt spid="3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600"/>
                                        <p:tgtEl>
                                          <p:spTgt spid="3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600"/>
                                        <p:tgtEl>
                                          <p:spTgt spid="3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600"/>
                                        <p:tgtEl>
                                          <p:spTgt spid="3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4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600"/>
                                        <p:tgtEl>
                                          <p:spTgt spid="3">
                                            <p:graphicEl>
                                              <a:chart seriesIdx="4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5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600"/>
                                        <p:tgtEl>
                                          <p:spTgt spid="3">
                                            <p:graphicEl>
                                              <a:chart seriesIdx="5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Chart bld="series" animBg="0"/>
        </p:bldSub>
      </p:bldGraphic>
      <p:bldP spid="6" grpId="0"/>
      <p:bldP spid="7" grpId="0"/>
      <p:bldP spid="8" grpId="0"/>
      <p:bldP spid="9" grpId="0"/>
      <p:bldP spid="10" grpId="0"/>
      <p:bldP spid="1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2026-09-28T00:27:38Z</dcterms:created>
  <dcterms:modified xsi:type="dcterms:W3CDTF">2026-09-28T00:27:38Z</dcterms:modified>
</cp:coreProperties>
</file>