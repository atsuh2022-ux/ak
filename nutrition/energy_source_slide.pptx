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糖質：血液中のブドウ糖</c:v>
                </c:pt>
              </c:strCache>
            </c:strRef>
          </c:tx>
          <c:spPr>
            <a:solidFill>
              <a:srgbClr val="8FB3E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ゆっくり
（ウォーキング程度）</c:v>
                  </c:pt>
                  <c:pt idx="1">
                    <c:v>ややきつい
（ジョギング程度）</c:v>
                  </c:pt>
                  <c:pt idx="2">
                    <c:v>きつい
（速いランニング）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17</c:v>
                </c:pt>
                <c:pt idx="2">
                  <c:v>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脂質：血液中の脂肪</c:v>
                </c:pt>
              </c:strCache>
            </c:strRef>
          </c:tx>
          <c:spPr>
            <a:solidFill>
              <a:srgbClr val="F7C08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ゆっくり
（ウォーキング程度）</c:v>
                  </c:pt>
                  <c:pt idx="1">
                    <c:v>ややきつい
（ジョギング程度）</c:v>
                  </c:pt>
                  <c:pt idx="2">
                    <c:v>きつい
（速いランニング）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68</c:v>
                </c:pt>
                <c:pt idx="1">
                  <c:v>58</c:v>
                </c:pt>
                <c:pt idx="2">
                  <c:v>43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脂質：筋肉の中の脂肪</c:v>
                </c:pt>
              </c:strCache>
            </c:strRef>
          </c:tx>
          <c:spPr>
            <a:solidFill>
              <a:srgbClr val="E8741A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ゆっくり
（ウォーキング程度）</c:v>
                  </c:pt>
                  <c:pt idx="1">
                    <c:v>ややきつい
（ジョギング程度）</c:v>
                  </c:pt>
                  <c:pt idx="2">
                    <c:v>きつい
（速いランニング）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</c:v>
                </c:pt>
                <c:pt idx="1">
                  <c:v>54</c:v>
                </c:pt>
                <c:pt idx="2">
                  <c:v>40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糖質：筋肉のグリコーゲン</c:v>
                </c:pt>
              </c:strCache>
            </c:strRef>
          </c:tx>
          <c:spPr>
            <a:solidFill>
              <a:srgbClr val="1F4FA8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ゆっくり
（ウォーキング程度）</c:v>
                  </c:pt>
                  <c:pt idx="1">
                    <c:v>ややきつい
（ジョギング程度）</c:v>
                  </c:pt>
                  <c:pt idx="2">
                    <c:v>きつい
（速いランニング）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80</c:v>
                </c:pt>
                <c:pt idx="2">
                  <c:v>175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5A5A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A5A5A"/>
                    </a:solidFill>
                    <a:latin typeface="Yu Gothic"/>
                  </a:rPr>
                  <a:t>運動の強さ →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5A5A"/>
                    </a:solidFill>
                    <a:latin typeface="Yu Gothic"/>
                  </a:defRPr>
                </a:pPr>
                <a:r>
                  <a:rPr sz="1200" b="0" i="0" u="none" strike="noStrike">
                    <a:solidFill>
                      <a:srgbClr val="5A5A5A"/>
                    </a:solidFill>
                    <a:latin typeface="Yu Gothic"/>
                  </a:rPr>
                  <a:t>使うエネルギーの量（多い↑）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1A1A"/>
              </a:solidFill>
              <a:latin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運動がきつくなるほど、</a:t>
            </a:r>
            <a:pPr indent="0" marL="0">
              <a:buNone/>
            </a:pPr>
            <a:r>
              <a:rPr lang="en-US" sz="3200" b="1" dirty="0">
                <a:solidFill>
                  <a:srgbClr val="1F4F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糖質</a:t>
            </a:r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をたくさん使う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運動の強さ別に「体がエネルギーを何から作っているか」を比べたグラフ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417320"/>
          <a:ext cx="70408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26680" y="15087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エネルギーのうち「糖質」の割合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726680" y="2011680"/>
            <a:ext cx="4069080" cy="804672"/>
          </a:xfrm>
          <a:prstGeom prst="roundRect">
            <a:avLst>
              <a:gd name="adj" fmla="val 11364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55280" y="201168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ゆっくり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646920" y="201168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</a:t>
            </a:r>
            <a:pPr algn="r" indent="0" marL="0">
              <a:buNone/>
            </a:pPr>
            <a:r>
              <a:rPr lang="en-US" sz="3400" b="1" dirty="0">
                <a:solidFill>
                  <a:srgbClr val="1F4F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1割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726680" y="2944368"/>
            <a:ext cx="4069080" cy="804672"/>
          </a:xfrm>
          <a:prstGeom prst="roundRect">
            <a:avLst>
              <a:gd name="adj" fmla="val 11364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0" y="2944368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ややきつい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9646920" y="2944368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</a:t>
            </a:r>
            <a:pPr algn="r" indent="0" marL="0">
              <a:buNone/>
            </a:pPr>
            <a:r>
              <a:rPr lang="en-US" sz="3400" b="1" dirty="0">
                <a:solidFill>
                  <a:srgbClr val="1F4F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5割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726680" y="3877056"/>
            <a:ext cx="4069080" cy="804672"/>
          </a:xfrm>
          <a:prstGeom prst="roundRect">
            <a:avLst>
              <a:gd name="adj" fmla="val 11364"/>
            </a:avLst>
          </a:prstGeom>
          <a:solidFill>
            <a:srgbClr val="EEF3FC"/>
          </a:solidFill>
          <a:ln w="12700">
            <a:solidFill>
              <a:srgbClr val="EEF3F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55280" y="3877056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きつい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9646920" y="3877056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</a:t>
            </a:r>
            <a:pPr algn="r" indent="0" marL="0">
              <a:buNone/>
            </a:pPr>
            <a:r>
              <a:rPr lang="en-US" sz="3400" b="1" dirty="0">
                <a:solidFill>
                  <a:srgbClr val="1F4F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7割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726680" y="4892040"/>
            <a:ext cx="4069080" cy="1463040"/>
          </a:xfrm>
          <a:prstGeom prst="roundRect">
            <a:avLst>
              <a:gd name="adj" fmla="val 7500"/>
            </a:avLst>
          </a:prstGeom>
          <a:solidFill>
            <a:srgbClr val="1F4FA8"/>
          </a:solidFill>
          <a:ln w="12700">
            <a:solidFill>
              <a:srgbClr val="1F4FA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55280" y="493776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練習や試合がハードな日ほど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ごはん・パン・めん類など</a:t>
            </a: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糖質をしっかりとろう！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Romijn JA ほか（1993）の図をもとに作成（値は図から読み取った概算）。運動の強さは最大酸素摂取量の25%・65%・85%。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2026-09-28T10:52:08Z</dcterms:created>
  <dcterms:modified xsi:type="dcterms:W3CDTF">2026-09-28T10:52:08Z</dcterms:modified>
</cp:coreProperties>
</file>