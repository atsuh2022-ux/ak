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3"/>
          <c:y val="0.04"/>
          <c:w val="0.84"/>
          <c:h val="0.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Plasma Glucose（血液中のブドウ糖）</c:v>
                </c:pt>
              </c:strCache>
            </c:strRef>
          </c:tx>
          <c:spPr>
            <a:solidFill>
              <a:srgbClr val="1B2F66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65</c:v>
                  </c:pt>
                  <c:pt idx="2">
                    <c:v>85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17</c:v>
                </c:pt>
                <c:pt idx="2">
                  <c:v>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Plasma FFA（血液中の脂肪酸）</c:v>
                </c:pt>
              </c:strCache>
            </c:strRef>
          </c:tx>
          <c:spPr>
            <a:solidFill>
              <a:srgbClr val="E8741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65</c:v>
                  </c:pt>
                  <c:pt idx="2">
                    <c:v>85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</c:v>
                </c:pt>
                <c:pt idx="1">
                  <c:v>58</c:v>
                </c:pt>
                <c:pt idx="2">
                  <c:v>43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Muscle Triglycerides（筋肉の中の脂肪）</c:v>
                </c:pt>
              </c:strCache>
            </c:strRef>
          </c:tx>
          <c:spPr>
            <a:solidFill>
              <a:srgbClr val="F8C9A0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65</c:v>
                  </c:pt>
                  <c:pt idx="2">
                    <c:v>85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</c:v>
                </c:pt>
                <c:pt idx="1">
                  <c:v>54</c:v>
                </c:pt>
                <c:pt idx="2">
                  <c:v>40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Muscle Glycogen（筋グリコーゲン）</c:v>
                </c:pt>
              </c:strCache>
            </c:strRef>
          </c:tx>
          <c:spPr>
            <a:solidFill>
              <a:srgbClr val="3A6BC9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65</c:v>
                  </c:pt>
                  <c:pt idx="2">
                    <c:v>85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80</c:v>
                </c:pt>
                <c:pt idx="2">
                  <c:v>175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5A5A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A5A5A"/>
                    </a:solidFill>
                    <a:latin typeface="Yu Gothic"/>
                  </a:rPr>
                  <a:t>% of VO₂max（運動の強さ）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5A5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5A5A"/>
                    </a:solidFill>
                    <a:latin typeface="Arial"/>
                  </a:rPr>
                  <a:t>cal・kg⁻¹・min⁻¹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1051560" cy="10515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57200"/>
            <a:ext cx="777240" cy="7772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377440" y="45720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運動中にエネルギー源となる栄養素</a:t>
            </a:r>
            <a:endParaRPr lang="en-US" sz="3000" dirty="0"/>
          </a:p>
        </p:txBody>
      </p:sp>
      <p:sp>
        <p:nvSpPr>
          <p:cNvPr id="5" name="炭水化物（糖質）"/>
          <p:cNvSpPr/>
          <p:nvPr/>
        </p:nvSpPr>
        <p:spPr>
          <a:xfrm>
            <a:off x="2743200" y="1234440"/>
            <a:ext cx="3840480" cy="731520"/>
          </a:xfrm>
          <a:prstGeom prst="ellipse">
            <a:avLst/>
          </a:prstGeom>
          <a:solidFill>
            <a:srgbClr val="7FA3E0"/>
          </a:solidFill>
          <a:ln w="19050">
            <a:solidFill>
              <a:srgbClr val="4A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炭水化物（糖質）</a:t>
            </a:r>
            <a:endParaRPr lang="en-US" sz="2600" dirty="0"/>
          </a:p>
        </p:txBody>
      </p:sp>
      <p:sp>
        <p:nvSpPr>
          <p:cNvPr id="6" name="脂質"/>
          <p:cNvSpPr/>
          <p:nvPr/>
        </p:nvSpPr>
        <p:spPr>
          <a:xfrm>
            <a:off x="6949440" y="1234440"/>
            <a:ext cx="3474720" cy="731520"/>
          </a:xfrm>
          <a:prstGeom prst="ellipse">
            <a:avLst/>
          </a:prstGeom>
          <a:solidFill>
            <a:srgbClr val="F4A582"/>
          </a:solidFill>
          <a:ln w="19050">
            <a:solidFill>
              <a:srgbClr val="E066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脂質</a:t>
            </a:r>
            <a:endParaRPr lang="en-US" sz="2600" dirty="0"/>
          </a:p>
        </p:txBody>
      </p:sp>
      <p:sp>
        <p:nvSpPr>
          <p:cNvPr id="7" name="CapTop"/>
          <p:cNvSpPr/>
          <p:nvPr/>
        </p:nvSpPr>
        <p:spPr>
          <a:xfrm>
            <a:off x="1737360" y="2011680"/>
            <a:ext cx="4754880" cy="411480"/>
          </a:xfrm>
          <a:prstGeom prst="rect">
            <a:avLst/>
          </a:prstGeom>
          <a:solidFill>
            <a:srgbClr val="EDED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使っているエネルギー源</a:t>
            </a:r>
            <a:endParaRPr lang="en-US" sz="1800" dirty="0"/>
          </a:p>
        </p:txBody>
      </p:sp>
      <p:graphicFrame>
        <p:nvGraphicFramePr>
          <p:cNvPr id="8" name="Chart" descr=""/>
          <p:cNvGraphicFramePr/>
          <p:nvPr/>
        </p:nvGraphicFramePr>
        <p:xfrm>
          <a:off x="1417320" y="233172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CapBottom"/>
          <p:cNvSpPr/>
          <p:nvPr/>
        </p:nvSpPr>
        <p:spPr>
          <a:xfrm>
            <a:off x="1737360" y="5440680"/>
            <a:ext cx="4754880" cy="411480"/>
          </a:xfrm>
          <a:prstGeom prst="rect">
            <a:avLst/>
          </a:prstGeom>
          <a:solidFill>
            <a:srgbClr val="EDED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（右に行くほど、強度が高い）</a:t>
            </a:r>
            <a:endParaRPr lang="en-US" sz="1800" dirty="0"/>
          </a:p>
        </p:txBody>
      </p:sp>
      <p:sp>
        <p:nvSpPr>
          <p:cNvPr id="10" name="LegBox0"/>
          <p:cNvSpPr/>
          <p:nvPr/>
        </p:nvSpPr>
        <p:spPr>
          <a:xfrm>
            <a:off x="2220163" y="2543861"/>
            <a:ext cx="155448" cy="155448"/>
          </a:xfrm>
          <a:prstGeom prst="rect">
            <a:avLst/>
          </a:prstGeom>
          <a:solidFill>
            <a:srgbClr val="3A6BC9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1" name="LegText0"/>
          <p:cNvSpPr/>
          <p:nvPr/>
        </p:nvSpPr>
        <p:spPr>
          <a:xfrm>
            <a:off x="2448763" y="2498141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Muscle Glycogen（筋グリコーゲン）</a:t>
            </a:r>
            <a:endParaRPr lang="en-US" sz="1050" dirty="0"/>
          </a:p>
        </p:txBody>
      </p:sp>
      <p:sp>
        <p:nvSpPr>
          <p:cNvPr id="12" name="LegBox1"/>
          <p:cNvSpPr/>
          <p:nvPr/>
        </p:nvSpPr>
        <p:spPr>
          <a:xfrm>
            <a:off x="2220163" y="2790749"/>
            <a:ext cx="155448" cy="155448"/>
          </a:xfrm>
          <a:prstGeom prst="rect">
            <a:avLst/>
          </a:prstGeom>
          <a:solidFill>
            <a:srgbClr val="F8C9A0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3" name="LegText1"/>
          <p:cNvSpPr/>
          <p:nvPr/>
        </p:nvSpPr>
        <p:spPr>
          <a:xfrm>
            <a:off x="2448763" y="2745029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Muscle Triglycerides（筋肉の中の脂肪）</a:t>
            </a:r>
            <a:endParaRPr lang="en-US" sz="1050" dirty="0"/>
          </a:p>
        </p:txBody>
      </p:sp>
      <p:sp>
        <p:nvSpPr>
          <p:cNvPr id="14" name="LegBox2"/>
          <p:cNvSpPr/>
          <p:nvPr/>
        </p:nvSpPr>
        <p:spPr>
          <a:xfrm>
            <a:off x="2220163" y="3037637"/>
            <a:ext cx="155448" cy="155448"/>
          </a:xfrm>
          <a:prstGeom prst="rect">
            <a:avLst/>
          </a:prstGeom>
          <a:solidFill>
            <a:srgbClr val="E8741A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5" name="LegText2"/>
          <p:cNvSpPr/>
          <p:nvPr/>
        </p:nvSpPr>
        <p:spPr>
          <a:xfrm>
            <a:off x="2448763" y="2991917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Plasma FFA（血液中の脂肪酸）</a:t>
            </a:r>
            <a:endParaRPr lang="en-US" sz="1050" dirty="0"/>
          </a:p>
        </p:txBody>
      </p:sp>
      <p:sp>
        <p:nvSpPr>
          <p:cNvPr id="16" name="LegBox3"/>
          <p:cNvSpPr/>
          <p:nvPr/>
        </p:nvSpPr>
        <p:spPr>
          <a:xfrm>
            <a:off x="2220163" y="3284525"/>
            <a:ext cx="155448" cy="155448"/>
          </a:xfrm>
          <a:prstGeom prst="rect">
            <a:avLst/>
          </a:prstGeom>
          <a:solidFill>
            <a:srgbClr val="1B2F66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7" name="LegText3"/>
          <p:cNvSpPr/>
          <p:nvPr/>
        </p:nvSpPr>
        <p:spPr>
          <a:xfrm>
            <a:off x="2448763" y="3238805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Plasma Glucose（血液中のブドウ糖）</a:t>
            </a:r>
            <a:endParaRPr lang="en-US" sz="1050" dirty="0"/>
          </a:p>
        </p:txBody>
      </p:sp>
      <p:sp>
        <p:nvSpPr>
          <p:cNvPr id="18" name="Arrow0"/>
          <p:cNvSpPr/>
          <p:nvPr/>
        </p:nvSpPr>
        <p:spPr>
          <a:xfrm flipH="1">
            <a:off x="6138875" y="4751771"/>
            <a:ext cx="640080" cy="0"/>
          </a:xfrm>
          <a:prstGeom prst="line">
            <a:avLst/>
          </a:prstGeom>
          <a:noFill/>
          <a:ln w="38100">
            <a:solidFill>
              <a:srgbClr val="1F3F8F"/>
            </a:solidFill>
            <a:prstDash val="solid"/>
            <a:tailEnd type="triangle"/>
          </a:ln>
        </p:spPr>
      </p:sp>
      <p:sp>
        <p:nvSpPr>
          <p:cNvPr id="19" name="Arrow1"/>
          <p:cNvSpPr/>
          <p:nvPr/>
        </p:nvSpPr>
        <p:spPr>
          <a:xfrm flipH="1">
            <a:off x="6138875" y="4507352"/>
            <a:ext cx="640080" cy="0"/>
          </a:xfrm>
          <a:prstGeom prst="line">
            <a:avLst/>
          </a:prstGeom>
          <a:noFill/>
          <a:ln w="38100">
            <a:solidFill>
              <a:srgbClr val="E0661A"/>
            </a:solidFill>
            <a:prstDash val="solid"/>
            <a:tailEnd type="triangle"/>
          </a:ln>
        </p:spPr>
      </p:sp>
      <p:sp>
        <p:nvSpPr>
          <p:cNvPr id="20" name="Arrow2"/>
          <p:cNvSpPr/>
          <p:nvPr/>
        </p:nvSpPr>
        <p:spPr>
          <a:xfrm flipH="1">
            <a:off x="6138875" y="4256898"/>
            <a:ext cx="640080" cy="0"/>
          </a:xfrm>
          <a:prstGeom prst="line">
            <a:avLst/>
          </a:prstGeom>
          <a:noFill/>
          <a:ln w="38100">
            <a:solidFill>
              <a:srgbClr val="E0661A"/>
            </a:solidFill>
            <a:prstDash val="solid"/>
            <a:tailEnd type="triangle"/>
          </a:ln>
        </p:spPr>
      </p:sp>
      <p:sp>
        <p:nvSpPr>
          <p:cNvPr id="21" name="Arrow3"/>
          <p:cNvSpPr/>
          <p:nvPr/>
        </p:nvSpPr>
        <p:spPr>
          <a:xfrm flipH="1">
            <a:off x="6138875" y="3608131"/>
            <a:ext cx="640080" cy="0"/>
          </a:xfrm>
          <a:prstGeom prst="line">
            <a:avLst/>
          </a:prstGeom>
          <a:noFill/>
          <a:ln w="38100">
            <a:solidFill>
              <a:srgbClr val="1F3F8F"/>
            </a:solidFill>
            <a:prstDash val="solid"/>
            <a:tailEnd type="triangle"/>
          </a:ln>
        </p:spPr>
      </p:sp>
      <p:sp>
        <p:nvSpPr>
          <p:cNvPr id="22" name="LabelGlycogen"/>
          <p:cNvSpPr/>
          <p:nvPr/>
        </p:nvSpPr>
        <p:spPr>
          <a:xfrm>
            <a:off x="6824675" y="3397819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F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糖質</a:t>
            </a:r>
            <a:endParaRPr lang="en-US" sz="2400" dirty="0"/>
          </a:p>
        </p:txBody>
      </p:sp>
      <p:sp>
        <p:nvSpPr>
          <p:cNvPr id="23" name="LabelFat"/>
          <p:cNvSpPr/>
          <p:nvPr/>
        </p:nvSpPr>
        <p:spPr>
          <a:xfrm>
            <a:off x="6824675" y="4080373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6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脂質</a:t>
            </a:r>
            <a:endParaRPr lang="en-US" sz="2400" dirty="0"/>
          </a:p>
        </p:txBody>
      </p:sp>
      <p:sp>
        <p:nvSpPr>
          <p:cNvPr id="24" name="LabelGlucose"/>
          <p:cNvSpPr/>
          <p:nvPr/>
        </p:nvSpPr>
        <p:spPr>
          <a:xfrm>
            <a:off x="6824675" y="4651187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F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糖質</a:t>
            </a:r>
            <a:endParaRPr lang="en-US" sz="2400" dirty="0"/>
          </a:p>
        </p:txBody>
      </p:sp>
      <p:sp>
        <p:nvSpPr>
          <p:cNvPr id="25" name="Message"/>
          <p:cNvSpPr/>
          <p:nvPr/>
        </p:nvSpPr>
        <p:spPr>
          <a:xfrm>
            <a:off x="8321040" y="26517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運動強度が上がるに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つれて</a:t>
            </a:r>
            <a:pPr algn="ctr" indent="0" marL="0">
              <a:buNone/>
            </a:pPr>
            <a:r>
              <a:rPr lang="en-US" sz="3000" b="1" dirty="0">
                <a:solidFill>
                  <a:srgbClr val="1F3F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糖質</a:t>
            </a:r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に頼る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割合が上がる</a:t>
            </a:r>
            <a:endParaRPr lang="en-US" sz="3000" dirty="0"/>
          </a:p>
        </p:txBody>
      </p:sp>
      <p:sp>
        <p:nvSpPr>
          <p:cNvPr id="26" name="Summary"/>
          <p:cNvSpPr/>
          <p:nvPr/>
        </p:nvSpPr>
        <p:spPr>
          <a:xfrm>
            <a:off x="274320" y="5989320"/>
            <a:ext cx="11640312" cy="685800"/>
          </a:xfrm>
          <a:prstGeom prst="roundRect">
            <a:avLst>
              <a:gd name="adj" fmla="val 13333"/>
            </a:avLst>
          </a:prstGeom>
          <a:solidFill>
            <a:srgbClr val="FFF59D"/>
          </a:solidFill>
          <a:ln w="25400">
            <a:solidFill>
              <a:srgbClr val="F0A02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運動時（特に高強度運動時）に糖質の必要量が増えるので、</a:t>
            </a:r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主食が超重要！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Graphic spid="8" grpId="0">
        <p:bldAsOne/>
      </p:bldGraphic>
      <p:bldP spid="9" grpId="0" animBg="1"/>
      <p:bldP spid="11" grpId="0" animBg="1"/>
      <p:bldP spid="13" grpId="0" animBg="1"/>
      <p:bldP spid="15" grpId="0" animBg="1"/>
      <p:bldP spid="17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2026-09-28T11:00:03Z</dcterms:created>
  <dcterms:modified xsi:type="dcterms:W3CDTF">2026-09-28T11:00:03Z</dcterms:modified>
</cp:coreProperties>
</file>