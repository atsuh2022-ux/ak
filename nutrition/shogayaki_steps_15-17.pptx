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9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0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4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ご飯</c:v>
                </c:pt>
              </c:strCache>
            </c:strRef>
          </c:tx>
          <c:spPr>
            <a:solidFill>
              <a:srgbClr val="F2CD3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8.4</c:v>
                </c:pt>
                <c:pt idx="1">
                  <c:v>5.8</c:v>
                </c:pt>
                <c:pt idx="2">
                  <c:v>0.6</c:v>
                </c:pt>
                <c:pt idx="3">
                  <c:v>13.8</c:v>
                </c:pt>
                <c:pt idx="4">
                  <c:v>0.6</c:v>
                </c:pt>
                <c:pt idx="5">
                  <c:v>2</c:v>
                </c:pt>
                <c:pt idx="6">
                  <c:v>0</c:v>
                </c:pt>
                <c:pt idx="7">
                  <c:v>2</c:v>
                </c:pt>
                <c:pt idx="8">
                  <c:v>1.2</c:v>
                </c:pt>
                <c:pt idx="9">
                  <c:v>0</c:v>
                </c:pt>
                <c:pt idx="10">
                  <c:v>12.1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豚の生姜焼き</c:v>
                </c:pt>
              </c:strCache>
            </c:strRef>
          </c:tx>
          <c:spPr>
            <a:solidFill>
              <a:srgbClr val="A0582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9.8</c:v>
                </c:pt>
                <c:pt idx="1">
                  <c:v>25.8</c:v>
                </c:pt>
                <c:pt idx="2">
                  <c:v>25.1</c:v>
                </c:pt>
                <c:pt idx="3">
                  <c:v>1.9</c:v>
                </c:pt>
                <c:pt idx="4">
                  <c:v>3.3</c:v>
                </c:pt>
                <c:pt idx="5">
                  <c:v>6</c:v>
                </c:pt>
                <c:pt idx="6">
                  <c:v>2.6</c:v>
                </c:pt>
                <c:pt idx="7">
                  <c:v>38.7</c:v>
                </c:pt>
                <c:pt idx="8">
                  <c:v>9.4</c:v>
                </c:pt>
                <c:pt idx="9">
                  <c:v>23</c:v>
                </c:pt>
                <c:pt idx="10">
                  <c:v>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ほうれん草の胡麻和え</c:v>
                </c:pt>
              </c:strCache>
            </c:strRef>
          </c:tx>
          <c:spPr>
            <a:solidFill>
              <a:srgbClr val="2F9A44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1.9</c:v>
                </c:pt>
                <c:pt idx="1">
                  <c:v>4.3</c:v>
                </c:pt>
                <c:pt idx="2">
                  <c:v>3.9</c:v>
                </c:pt>
                <c:pt idx="3">
                  <c:v>1.4</c:v>
                </c:pt>
                <c:pt idx="4">
                  <c:v>12.8</c:v>
                </c:pt>
                <c:pt idx="5">
                  <c:v>11</c:v>
                </c:pt>
                <c:pt idx="6">
                  <c:v>30</c:v>
                </c:pt>
                <c:pt idx="7">
                  <c:v>3.3</c:v>
                </c:pt>
                <c:pt idx="8">
                  <c:v>5.3</c:v>
                </c:pt>
                <c:pt idx="9">
                  <c:v>11</c:v>
                </c:pt>
                <c:pt idx="10">
                  <c:v>14.7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じゃがいもの味噌汁</c:v>
                </c:pt>
              </c:strCache>
            </c:strRef>
          </c:tx>
          <c:spPr>
            <a:solidFill>
              <a:srgbClr val="C9A57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2</c:v>
                </c:pt>
                <c:pt idx="1">
                  <c:v>4.5</c:v>
                </c:pt>
                <c:pt idx="2">
                  <c:v>0.9</c:v>
                </c:pt>
                <c:pt idx="3">
                  <c:v>2.9</c:v>
                </c:pt>
                <c:pt idx="4">
                  <c:v>2.8</c:v>
                </c:pt>
                <c:pt idx="5">
                  <c:v>8</c:v>
                </c:pt>
                <c:pt idx="6">
                  <c:v>0</c:v>
                </c:pt>
                <c:pt idx="7">
                  <c:v>3.3</c:v>
                </c:pt>
                <c:pt idx="8">
                  <c:v>2.4</c:v>
                </c:pt>
                <c:pt idx="9">
                  <c:v>12</c:v>
                </c:pt>
                <c:pt idx="10">
                  <c:v>23.7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オレンジ</c:v>
                </c:pt>
              </c:strCache>
            </c:strRef>
          </c:tx>
          <c:spPr>
            <a:solidFill>
              <a:srgbClr val="F28A1E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1.5</c:v>
                </c:pt>
                <c:pt idx="1">
                  <c:v>1.5</c:v>
                </c:pt>
                <c:pt idx="2">
                  <c:v>0.1</c:v>
                </c:pt>
                <c:pt idx="3">
                  <c:v>2.4</c:v>
                </c:pt>
                <c:pt idx="4">
                  <c:v>2.6</c:v>
                </c:pt>
                <c:pt idx="5">
                  <c:v>3</c:v>
                </c:pt>
                <c:pt idx="6">
                  <c:v>1.1</c:v>
                </c:pt>
                <c:pt idx="7">
                  <c:v>6.7</c:v>
                </c:pt>
                <c:pt idx="8">
                  <c:v>1.8</c:v>
                </c:pt>
                <c:pt idx="9">
                  <c:v>40</c:v>
                </c:pt>
                <c:pt idx="10">
                  <c:v>4.2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牛乳</c:v>
                </c:pt>
              </c:strCache>
            </c:strRef>
          </c:tx>
          <c:spPr>
            <a:solidFill>
              <a:srgbClr val="8CC4E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4.4</c:v>
                </c:pt>
                <c:pt idx="1">
                  <c:v>10.2</c:v>
                </c:pt>
                <c:pt idx="2">
                  <c:v>9.8</c:v>
                </c:pt>
                <c:pt idx="3">
                  <c:v>2.4</c:v>
                </c:pt>
                <c:pt idx="4">
                  <c:v>27.5</c:v>
                </c:pt>
                <c:pt idx="5">
                  <c:v>0</c:v>
                </c:pt>
                <c:pt idx="6">
                  <c:v>8.4</c:v>
                </c:pt>
                <c:pt idx="7">
                  <c:v>5.3</c:v>
                </c:pt>
                <c:pt idx="8">
                  <c:v>17.6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lineChart>
        <c:varyColors val="0"/>
        <c:ser>
          <c:idx val="6"/>
          <c:order val="6"/>
          <c:tx>
            <c:strRef>
              <c:f>Sheet1!$H$1</c:f>
              <c:strCache>
                <c:ptCount val="1"/>
                <c:pt idx="0">
                  <c:v>1食分に必要な量</c:v>
                </c:pt>
              </c:strCache>
            </c:strRef>
          </c:tx>
          <c:spPr>
            <a:solidFill>
              <a:srgbClr val="E34948"/>
            </a:solidFill>
            <a:ln w="25400" cap="flat">
              <a:solidFill>
                <a:srgbClr val="E3494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4948"/>
              </a:solidFill>
              <a:ln w="9525" cap="flat">
                <a:solidFill>
                  <a:srgbClr val="E349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エネルギー</c:v>
                  </c:pt>
                  <c:pt idx="1">
                    <c:v>たんぱく質</c:v>
                  </c:pt>
                  <c:pt idx="2">
                    <c:v>脂質</c:v>
                  </c:pt>
                  <c:pt idx="3">
                    <c:v>炭水化物</c:v>
                  </c:pt>
                  <c:pt idx="4">
                    <c:v>カルシウム</c:v>
                  </c:pt>
                  <c:pt idx="5">
                    <c:v>鉄</c:v>
                  </c:pt>
                  <c:pt idx="6">
                    <c:v>ビタミンA</c:v>
                  </c:pt>
                  <c:pt idx="7">
                    <c:v>ビタミンB1</c:v>
                  </c:pt>
                  <c:pt idx="8">
                    <c:v>ビタミンB2</c:v>
                  </c:pt>
                  <c:pt idx="9">
                    <c:v>ビタミンC</c:v>
                  </c:pt>
                  <c:pt idx="10">
                    <c:v>食物繊維</c:v>
                  </c:pt>
                </c:lvl>
              </c:multiLvlStrCache>
            </c:multiLvlStrRef>
          </c:cat>
          <c:val>
            <c:numRef>
              <c:f>Sheet1!$H$2:$H$12</c:f>
              <c:numCache>
                <c:formatCode>General</c:formatCode>
                <c:ptCount val="11"/>
                <c:pt idx="0">
                  <c:v>33.3</c:v>
                </c:pt>
                <c:pt idx="1">
                  <c:v>33.3</c:v>
                </c:pt>
                <c:pt idx="2">
                  <c:v>33.3</c:v>
                </c:pt>
                <c:pt idx="3">
                  <c:v>33.3</c:v>
                </c:pt>
                <c:pt idx="4">
                  <c:v>33.3</c:v>
                </c:pt>
                <c:pt idx="5">
                  <c:v>33.3</c:v>
                </c:pt>
                <c:pt idx="6">
                  <c:v>33.3</c:v>
                </c:pt>
                <c:pt idx="7">
                  <c:v>33.3</c:v>
                </c:pt>
                <c:pt idx="8">
                  <c:v>33.3</c:v>
                </c:pt>
                <c:pt idx="9">
                  <c:v>33.3</c:v>
                </c:pt>
                <c:pt idx="10">
                  <c:v>33.3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400000"/>
          <a:lstStyle/>
          <a:p>
            <a:pPr>
              <a:defRPr sz="1300" b="0" i="0" u="none" strike="noStrike">
                <a:solidFill>
                  <a:srgbClr val="0B0B0B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Yu Gothic"/>
                  </a:rPr>
                  <a:t>1日に必要な量に対する割合（%）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献立の栄養素充足率（思春期男性 15〜17歳）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464040" y="365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主菜：豚の生姜焼き</a:t>
            </a:r>
            <a:endParaRPr lang="en-US" sz="1600" dirty="0"/>
          </a:p>
        </p:txBody>
      </p:sp>
      <p:graphicFrame>
        <p:nvGraphicFramePr>
          <p:cNvPr id="4" name="Chart" descr=""/>
          <p:cNvGraphicFramePr/>
          <p:nvPr/>
        </p:nvGraphicFramePr>
        <p:xfrm>
          <a:off x="274320" y="960120"/>
          <a:ext cx="8869680" cy="5394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630107" y="3654431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1食分に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349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必要な量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料理</a:t>
            </a:r>
            <a:endParaRPr lang="en-US" sz="1400" dirty="0"/>
          </a:p>
        </p:txBody>
      </p:sp>
      <p:sp>
        <p:nvSpPr>
          <p:cNvPr id="7" name="Dish0"/>
          <p:cNvSpPr txBox="1"/>
          <p:nvPr/>
        </p:nvSpPr>
        <p:spPr>
          <a:xfrm>
            <a:off x="94640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D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ご飯</a:t>
            </a:r>
            <a:endParaRPr lang="en-US" sz="1600" dirty="0"/>
          </a:p>
        </p:txBody>
      </p:sp>
      <p:sp>
        <p:nvSpPr>
          <p:cNvPr id="8" name="Dish1"/>
          <p:cNvSpPr txBox="1"/>
          <p:nvPr/>
        </p:nvSpPr>
        <p:spPr>
          <a:xfrm>
            <a:off x="94640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8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豚の生姜焼き</a:t>
            </a:r>
            <a:endParaRPr lang="en-US" sz="1600" dirty="0"/>
          </a:p>
        </p:txBody>
      </p:sp>
      <p:sp>
        <p:nvSpPr>
          <p:cNvPr id="9" name="Dish2"/>
          <p:cNvSpPr txBox="1"/>
          <p:nvPr/>
        </p:nvSpPr>
        <p:spPr>
          <a:xfrm>
            <a:off x="9464040" y="2926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A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ほうれん草の胡麻和え</a:t>
            </a:r>
            <a:endParaRPr lang="en-US" sz="1600" dirty="0"/>
          </a:p>
        </p:txBody>
      </p:sp>
      <p:sp>
        <p:nvSpPr>
          <p:cNvPr id="10" name="Dish3"/>
          <p:cNvSpPr txBox="1"/>
          <p:nvPr/>
        </p:nvSpPr>
        <p:spPr>
          <a:xfrm>
            <a:off x="946404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5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じゃがいもの味噌汁</a:t>
            </a:r>
            <a:endParaRPr lang="en-US" sz="1600" dirty="0"/>
          </a:p>
        </p:txBody>
      </p:sp>
      <p:sp>
        <p:nvSpPr>
          <p:cNvPr id="11" name="Dish4"/>
          <p:cNvSpPr txBox="1"/>
          <p:nvPr/>
        </p:nvSpPr>
        <p:spPr>
          <a:xfrm>
            <a:off x="9464040" y="4206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オレンジ</a:t>
            </a:r>
            <a:endParaRPr lang="en-US" sz="1600" dirty="0"/>
          </a:p>
        </p:txBody>
      </p:sp>
      <p:sp>
        <p:nvSpPr>
          <p:cNvPr id="12" name="Dish5"/>
          <p:cNvSpPr txBox="1"/>
          <p:nvPr/>
        </p:nvSpPr>
        <p:spPr>
          <a:xfrm>
            <a:off x="94640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4E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</a:t>
            </a:r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牛乳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基準値：日本人の食事摂取基準（2020年版）男性・身体活動レベルⅡ。脂質・炭水化物は目標量（エネルギー比20〜30%・50〜65%）の中央値、食物繊維は目標量。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2026-09-28T00:32:49Z</dcterms:created>
  <dcterms:modified xsi:type="dcterms:W3CDTF">2026-09-28T00:32:49Z</dcterms:modified>
</cp:coreProperties>
</file>