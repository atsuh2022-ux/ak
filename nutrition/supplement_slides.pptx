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2C7A4B"/>
                </a:solidFill>
                <a:latin typeface="Yu Gothic" pitchFamily="34" charset="0"/>
                <a:ea typeface="Yu Gothic" pitchFamily="34" charset="-122"/>
                <a:cs typeface="Yu Gothic" pitchFamily="34" charset="-120"/>
              </a:rPr>
              <a:t>ジュニアアスリートとサプリメント</a:t>
            </a:r>
            <a:endParaRPr lang="en-US" sz="3200" dirty="0"/>
          </a:p>
        </p:txBody>
      </p:sp>
      <p:sp>
        <p:nvSpPr>
          <p:cNvPr id="3" name="Shape 1"/>
          <p:cNvSpPr/>
          <p:nvPr/>
        </p:nvSpPr>
        <p:spPr>
          <a:xfrm>
            <a:off x="822960" y="1463040"/>
            <a:ext cx="2926080" cy="2926080"/>
          </a:xfrm>
          <a:prstGeom prst="ellipse">
            <a:avLst/>
          </a:prstGeom>
          <a:solidFill>
            <a:srgbClr val="FBEAEA"/>
          </a:solidFill>
          <a:ln w="12700">
            <a:solidFill>
              <a:srgbClr val="FBEAEA"/>
            </a:solidFill>
            <a:prstDash val="solid"/>
          </a:ln>
        </p:spPr>
      </p:sp>
      <p:pic>
        <p:nvPicPr>
          <p:cNvPr id="4" name="Image 0" descr="preencoded.png">    </p:cNvPr>
          <p:cNvPicPr>
            <a:picLocks noChangeAspect="1"/>
          </p:cNvPicPr>
          <p:nvPr/>
        </p:nvPicPr>
        <p:blipFill>
          <a:blip r:embed="rId1"/>
          <a:stretch>
            <a:fillRect/>
          </a:stretch>
        </p:blipFill>
        <p:spPr>
          <a:xfrm>
            <a:off x="1463040" y="2103120"/>
            <a:ext cx="1645920" cy="1645920"/>
          </a:xfrm>
          <a:prstGeom prst="rect">
            <a:avLst/>
          </a:prstGeom>
        </p:spPr>
      </p:pic>
      <p:pic>
        <p:nvPicPr>
          <p:cNvPr id="5" name="Image 1" descr="preencoded.png">    </p:cNvPr>
          <p:cNvPicPr>
            <a:picLocks noChangeAspect="1"/>
          </p:cNvPicPr>
          <p:nvPr/>
        </p:nvPicPr>
        <p:blipFill>
          <a:blip r:embed="rId2"/>
          <a:stretch>
            <a:fillRect/>
          </a:stretch>
        </p:blipFill>
        <p:spPr>
          <a:xfrm>
            <a:off x="1097280" y="1737360"/>
            <a:ext cx="2377440" cy="2377440"/>
          </a:xfrm>
          <a:prstGeom prst="rect">
            <a:avLst/>
          </a:prstGeom>
        </p:spPr>
      </p:pic>
      <p:sp>
        <p:nvSpPr>
          <p:cNvPr id="6" name="Text 2"/>
          <p:cNvSpPr txBox="1"/>
          <p:nvPr/>
        </p:nvSpPr>
        <p:spPr>
          <a:xfrm>
            <a:off x="822960" y="4480560"/>
            <a:ext cx="2926080" cy="822960"/>
          </a:xfrm>
          <a:prstGeom prst="rect">
            <a:avLst/>
          </a:prstGeom>
          <a:noFill/>
          <a:ln/>
        </p:spPr>
        <p:txBody>
          <a:bodyPr wrap="square" lIns="0" tIns="0" rIns="0" bIns="0" rtlCol="0" anchor="ctr"/>
          <a:lstStyle/>
          <a:p>
            <a:pPr algn="ctr" indent="0" marL="0">
              <a:buNone/>
            </a:pPr>
            <a:r>
              <a:rPr lang="en-US" sz="2200" b="1" dirty="0">
                <a:solidFill>
                  <a:srgbClr val="C0392B"/>
                </a:solidFill>
                <a:latin typeface="Yu Gothic" pitchFamily="34" charset="0"/>
                <a:ea typeface="Yu Gothic" pitchFamily="34" charset="-122"/>
                <a:cs typeface="Yu Gothic" pitchFamily="34" charset="-120"/>
              </a:rPr>
              <a:t>むやみに</a:t>
            </a:r>
            <a:endParaRPr lang="en-US" sz="2200" dirty="0"/>
          </a:p>
          <a:p>
            <a:pPr algn="ctr" indent="0" marL="0">
              <a:buNone/>
            </a:pPr>
            <a:r>
              <a:rPr lang="en-US" sz="2200" b="1" dirty="0">
                <a:solidFill>
                  <a:srgbClr val="C0392B"/>
                </a:solidFill>
                <a:latin typeface="Yu Gothic" pitchFamily="34" charset="0"/>
                <a:ea typeface="Yu Gothic" pitchFamily="34" charset="-122"/>
                <a:cs typeface="Yu Gothic" pitchFamily="34" charset="-120"/>
              </a:rPr>
              <a:t>とらない</a:t>
            </a:r>
            <a:endParaRPr lang="en-US" sz="2200" dirty="0"/>
          </a:p>
        </p:txBody>
      </p:sp>
      <p:sp>
        <p:nvSpPr>
          <p:cNvPr id="7" name="Shape 3"/>
          <p:cNvSpPr/>
          <p:nvPr/>
        </p:nvSpPr>
        <p:spPr>
          <a:xfrm>
            <a:off x="4297680" y="1463040"/>
            <a:ext cx="7315200" cy="1600200"/>
          </a:xfrm>
          <a:prstGeom prst="roundRect">
            <a:avLst>
              <a:gd name="adj" fmla="val 6857"/>
            </a:avLst>
          </a:prstGeom>
          <a:solidFill>
            <a:srgbClr val="FBEAEA"/>
          </a:solidFill>
          <a:ln w="12700">
            <a:solidFill>
              <a:srgbClr val="FBEAEA"/>
            </a:solidFill>
            <a:prstDash val="solid"/>
          </a:ln>
        </p:spPr>
      </p:sp>
      <p:sp>
        <p:nvSpPr>
          <p:cNvPr id="8" name="Shape 4"/>
          <p:cNvSpPr/>
          <p:nvPr/>
        </p:nvSpPr>
        <p:spPr>
          <a:xfrm>
            <a:off x="4526280" y="1828800"/>
            <a:ext cx="868680" cy="868680"/>
          </a:xfrm>
          <a:prstGeom prst="ellipse">
            <a:avLst/>
          </a:prstGeom>
          <a:solidFill>
            <a:srgbClr val="FFFFFF"/>
          </a:solidFill>
          <a:ln w="12700">
            <a:solidFill>
              <a:srgbClr val="FFFFFF"/>
            </a:solidFill>
            <a:prstDash val="solid"/>
          </a:ln>
        </p:spPr>
      </p:sp>
      <p:pic>
        <p:nvPicPr>
          <p:cNvPr id="9" name="Image 2" descr="preencoded.png">    </p:cNvPr>
          <p:cNvPicPr>
            <a:picLocks noChangeAspect="1"/>
          </p:cNvPicPr>
          <p:nvPr/>
        </p:nvPicPr>
        <p:blipFill>
          <a:blip r:embed="rId3"/>
          <a:stretch>
            <a:fillRect/>
          </a:stretch>
        </p:blipFill>
        <p:spPr>
          <a:xfrm>
            <a:off x="4708703" y="2011223"/>
            <a:ext cx="503834" cy="503834"/>
          </a:xfrm>
          <a:prstGeom prst="rect">
            <a:avLst/>
          </a:prstGeom>
        </p:spPr>
      </p:pic>
      <p:sp>
        <p:nvSpPr>
          <p:cNvPr id="10" name="Text 5"/>
          <p:cNvSpPr txBox="1"/>
          <p:nvPr/>
        </p:nvSpPr>
        <p:spPr>
          <a:xfrm>
            <a:off x="5623560" y="1600200"/>
            <a:ext cx="5806440" cy="1325880"/>
          </a:xfrm>
          <a:prstGeom prst="rect">
            <a:avLst/>
          </a:prstGeom>
          <a:noFill/>
          <a:ln/>
        </p:spPr>
        <p:txBody>
          <a:bodyPr wrap="square" lIns="0" tIns="0" rIns="0" bIns="0" rtlCol="0" anchor="ctr"/>
          <a:lstStyle/>
          <a:p>
            <a:pPr indent="0" marL="0">
              <a:spcAft>
                <a:spcPts val="400"/>
              </a:spcAft>
              <a:buNone/>
            </a:pPr>
            <a:r>
              <a:rPr lang="en-US" sz="2000" b="1" dirty="0">
                <a:solidFill>
                  <a:srgbClr val="C0392B"/>
                </a:solidFill>
                <a:latin typeface="Yu Gothic" pitchFamily="34" charset="0"/>
                <a:ea typeface="Yu Gothic" pitchFamily="34" charset="-122"/>
                <a:cs typeface="Yu Gothic" pitchFamily="34" charset="-120"/>
              </a:rPr>
              <a:t>サプリメントは、むやみにすすめられていません</a:t>
            </a:r>
            <a:endParaRPr lang="en-US" sz="2000" dirty="0"/>
          </a:p>
          <a:p>
            <a:pPr indent="0" marL="0">
              <a:spcAft>
                <a:spcPts val="400"/>
              </a:spcAft>
              <a:buNone/>
            </a:pPr>
            <a:r>
              <a:rPr lang="en-US" sz="1600" dirty="0">
                <a:solidFill>
                  <a:srgbClr val="1A1A1A"/>
                </a:solidFill>
                <a:latin typeface="Yu Gothic" pitchFamily="34" charset="0"/>
                <a:ea typeface="Yu Gothic" pitchFamily="34" charset="-122"/>
                <a:cs typeface="Yu Gothic" pitchFamily="34" charset="-120"/>
              </a:rPr>
              <a:t>ジュニア期にサプリを使っていた人は、その後の問題行動につながるリスクが高いことが報告されています。</a:t>
            </a:r>
            <a:endParaRPr lang="en-US" sz="2000" dirty="0"/>
          </a:p>
        </p:txBody>
      </p:sp>
      <p:sp>
        <p:nvSpPr>
          <p:cNvPr id="11" name="Shape 6"/>
          <p:cNvSpPr/>
          <p:nvPr/>
        </p:nvSpPr>
        <p:spPr>
          <a:xfrm>
            <a:off x="4297680" y="3246120"/>
            <a:ext cx="7315200" cy="1600200"/>
          </a:xfrm>
          <a:prstGeom prst="roundRect">
            <a:avLst>
              <a:gd name="adj" fmla="val 6857"/>
            </a:avLst>
          </a:prstGeom>
          <a:solidFill>
            <a:srgbClr val="E6F2EA"/>
          </a:solidFill>
          <a:ln w="12700">
            <a:solidFill>
              <a:srgbClr val="E6F2EA"/>
            </a:solidFill>
            <a:prstDash val="solid"/>
          </a:ln>
        </p:spPr>
      </p:sp>
      <p:sp>
        <p:nvSpPr>
          <p:cNvPr id="12" name="Shape 7"/>
          <p:cNvSpPr/>
          <p:nvPr/>
        </p:nvSpPr>
        <p:spPr>
          <a:xfrm>
            <a:off x="4526280" y="3611880"/>
            <a:ext cx="868680" cy="868680"/>
          </a:xfrm>
          <a:prstGeom prst="ellipse">
            <a:avLst/>
          </a:prstGeom>
          <a:solidFill>
            <a:srgbClr val="FFFFFF"/>
          </a:solidFill>
          <a:ln w="12700">
            <a:solidFill>
              <a:srgbClr val="FFFFFF"/>
            </a:solidFill>
            <a:prstDash val="solid"/>
          </a:ln>
        </p:spPr>
      </p:sp>
      <p:pic>
        <p:nvPicPr>
          <p:cNvPr id="13" name="Image 3" descr="preencoded.png">    </p:cNvPr>
          <p:cNvPicPr>
            <a:picLocks noChangeAspect="1"/>
          </p:cNvPicPr>
          <p:nvPr/>
        </p:nvPicPr>
        <p:blipFill>
          <a:blip r:embed="rId4"/>
          <a:stretch>
            <a:fillRect/>
          </a:stretch>
        </p:blipFill>
        <p:spPr>
          <a:xfrm>
            <a:off x="4708703" y="3794303"/>
            <a:ext cx="503834" cy="503834"/>
          </a:xfrm>
          <a:prstGeom prst="rect">
            <a:avLst/>
          </a:prstGeom>
        </p:spPr>
      </p:pic>
      <p:sp>
        <p:nvSpPr>
          <p:cNvPr id="14" name="Text 8"/>
          <p:cNvSpPr txBox="1"/>
          <p:nvPr/>
        </p:nvSpPr>
        <p:spPr>
          <a:xfrm>
            <a:off x="5623560" y="3383280"/>
            <a:ext cx="5806440" cy="1325880"/>
          </a:xfrm>
          <a:prstGeom prst="rect">
            <a:avLst/>
          </a:prstGeom>
          <a:noFill/>
          <a:ln/>
        </p:spPr>
        <p:txBody>
          <a:bodyPr wrap="square" lIns="0" tIns="0" rIns="0" bIns="0" rtlCol="0" anchor="ctr"/>
          <a:lstStyle/>
          <a:p>
            <a:pPr indent="0" marL="0">
              <a:spcAft>
                <a:spcPts val="400"/>
              </a:spcAft>
              <a:buNone/>
            </a:pPr>
            <a:r>
              <a:rPr lang="en-US" sz="2000" b="1" dirty="0">
                <a:solidFill>
                  <a:srgbClr val="2C7A4B"/>
                </a:solidFill>
                <a:latin typeface="Yu Gothic" pitchFamily="34" charset="0"/>
                <a:ea typeface="Yu Gothic" pitchFamily="34" charset="-122"/>
                <a:cs typeface="Yu Gothic" pitchFamily="34" charset="-120"/>
              </a:rPr>
              <a:t>いちばん大切なのは「体づくり」と「食習慣」</a:t>
            </a:r>
            <a:endParaRPr lang="en-US" sz="2000" dirty="0"/>
          </a:p>
          <a:p>
            <a:pPr indent="0" marL="0">
              <a:spcAft>
                <a:spcPts val="400"/>
              </a:spcAft>
              <a:buNone/>
            </a:pPr>
            <a:r>
              <a:rPr lang="en-US" sz="1600" dirty="0">
                <a:solidFill>
                  <a:srgbClr val="1A1A1A"/>
                </a:solidFill>
                <a:latin typeface="Yu Gothic" pitchFamily="34" charset="0"/>
                <a:ea typeface="Yu Gothic" pitchFamily="34" charset="-122"/>
                <a:cs typeface="Yu Gothic" pitchFamily="34" charset="-120"/>
              </a:rPr>
              <a:t>競技に合わせた、健康な体づくりと食習慣を身につけることが最も大切です。</a:t>
            </a:r>
            <a:endParaRPr lang="en-US" sz="2000" dirty="0"/>
          </a:p>
        </p:txBody>
      </p:sp>
      <p:sp>
        <p:nvSpPr>
          <p:cNvPr id="15" name="Shape 9"/>
          <p:cNvSpPr/>
          <p:nvPr/>
        </p:nvSpPr>
        <p:spPr>
          <a:xfrm>
            <a:off x="548640" y="5440680"/>
            <a:ext cx="11064240" cy="1051560"/>
          </a:xfrm>
          <a:prstGeom prst="roundRect">
            <a:avLst>
              <a:gd name="adj" fmla="val 12174"/>
            </a:avLst>
          </a:prstGeom>
          <a:solidFill>
            <a:srgbClr val="2C7A4B"/>
          </a:solidFill>
          <a:ln w="12700">
            <a:solidFill>
              <a:srgbClr val="2C7A4B"/>
            </a:solidFill>
            <a:prstDash val="solid"/>
          </a:ln>
        </p:spPr>
      </p:sp>
      <p:pic>
        <p:nvPicPr>
          <p:cNvPr id="16" name="Image 4" descr="preencoded.png">    </p:cNvPr>
          <p:cNvPicPr>
            <a:picLocks noChangeAspect="1"/>
          </p:cNvPicPr>
          <p:nvPr/>
        </p:nvPicPr>
        <p:blipFill>
          <a:blip r:embed="rId5"/>
          <a:stretch>
            <a:fillRect/>
          </a:stretch>
        </p:blipFill>
        <p:spPr>
          <a:xfrm>
            <a:off x="868680" y="5669280"/>
            <a:ext cx="594360" cy="594360"/>
          </a:xfrm>
          <a:prstGeom prst="rect">
            <a:avLst/>
          </a:prstGeom>
        </p:spPr>
      </p:pic>
      <p:sp>
        <p:nvSpPr>
          <p:cNvPr id="17" name="Text 10"/>
          <p:cNvSpPr txBox="1"/>
          <p:nvPr/>
        </p:nvSpPr>
        <p:spPr>
          <a:xfrm>
            <a:off x="1691640" y="5440680"/>
            <a:ext cx="9784080" cy="1051560"/>
          </a:xfrm>
          <a:prstGeom prst="rect">
            <a:avLst/>
          </a:prstGeom>
          <a:noFill/>
          <a:ln/>
        </p:spPr>
        <p:txBody>
          <a:bodyPr wrap="square" lIns="0" tIns="0" rIns="0" bIns="0" rtlCol="0" anchor="ctr"/>
          <a:lstStyle/>
          <a:p>
            <a:pPr indent="0" marL="0">
              <a:buNone/>
            </a:pPr>
            <a:r>
              <a:rPr lang="en-US" sz="2000" b="1" dirty="0">
                <a:solidFill>
                  <a:srgbClr val="FFFFFF"/>
                </a:solidFill>
                <a:latin typeface="Yu Gothic" pitchFamily="34" charset="0"/>
                <a:ea typeface="Yu Gothic" pitchFamily="34" charset="-122"/>
                <a:cs typeface="Yu Gothic" pitchFamily="34" charset="-120"/>
              </a:rPr>
              <a:t>必要なエネルギーを</a:t>
            </a:r>
            <a:pPr indent="0" marL="0">
              <a:buNone/>
            </a:pPr>
            <a:r>
              <a:rPr lang="en-US" sz="2000" b="1" dirty="0">
                <a:solidFill>
                  <a:srgbClr val="FFE08A"/>
                </a:solidFill>
                <a:latin typeface="Yu Gothic" pitchFamily="34" charset="0"/>
                <a:ea typeface="Yu Gothic" pitchFamily="34" charset="-122"/>
                <a:cs typeface="Yu Gothic" pitchFamily="34" charset="-120"/>
              </a:rPr>
              <a:t>いろいろな食品</a:t>
            </a:r>
            <a:pPr indent="0" marL="0">
              <a:buNone/>
            </a:pPr>
            <a:r>
              <a:rPr lang="en-US" sz="2000" b="1" dirty="0">
                <a:solidFill>
                  <a:srgbClr val="FFFFFF"/>
                </a:solidFill>
                <a:latin typeface="Yu Gothic" pitchFamily="34" charset="0"/>
                <a:ea typeface="Yu Gothic" pitchFamily="34" charset="-122"/>
                <a:cs typeface="Yu Gothic" pitchFamily="34" charset="-120"/>
              </a:rPr>
              <a:t>からとれば、必要な栄養素は十分にとれる！</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2C7A4B"/>
                </a:solidFill>
                <a:latin typeface="Yu Gothic" pitchFamily="34" charset="0"/>
                <a:ea typeface="Yu Gothic" pitchFamily="34" charset="-122"/>
                <a:cs typeface="Yu Gothic" pitchFamily="34" charset="-120"/>
              </a:rPr>
              <a:t>サプリより大切な、3つの食習慣</a:t>
            </a:r>
            <a:endParaRPr lang="en-US" sz="3200" dirty="0"/>
          </a:p>
        </p:txBody>
      </p:sp>
      <p:sp>
        <p:nvSpPr>
          <p:cNvPr id="3" name="Shape 1"/>
          <p:cNvSpPr/>
          <p:nvPr/>
        </p:nvSpPr>
        <p:spPr>
          <a:xfrm>
            <a:off x="563728" y="1371600"/>
            <a:ext cx="3474720" cy="3931920"/>
          </a:xfrm>
          <a:prstGeom prst="roundRect">
            <a:avLst>
              <a:gd name="adj" fmla="val 3947"/>
            </a:avLst>
          </a:prstGeom>
          <a:solidFill>
            <a:srgbClr val="E6F2EA"/>
          </a:solidFill>
          <a:ln w="12700">
            <a:solidFill>
              <a:srgbClr val="E6F2EA"/>
            </a:solidFill>
            <a:prstDash val="solid"/>
          </a:ln>
        </p:spPr>
      </p:sp>
      <p:sp>
        <p:nvSpPr>
          <p:cNvPr id="4" name="Text 2"/>
          <p:cNvSpPr/>
          <p:nvPr/>
        </p:nvSpPr>
        <p:spPr>
          <a:xfrm>
            <a:off x="792328" y="1600200"/>
            <a:ext cx="502920" cy="502920"/>
          </a:xfrm>
          <a:prstGeom prst="ellipse">
            <a:avLst/>
          </a:prstGeom>
          <a:solidFill>
            <a:srgbClr val="2C7A4B"/>
          </a:solidFill>
          <a:ln/>
        </p:spPr>
        <p:txBody>
          <a:bodyPr wrap="square" lIns="0" tIns="0" rIns="0" bIns="0"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1</a:t>
            </a:r>
            <a:endParaRPr lang="en-US" sz="2000" dirty="0"/>
          </a:p>
        </p:txBody>
      </p:sp>
      <p:sp>
        <p:nvSpPr>
          <p:cNvPr id="5" name="Shape 3"/>
          <p:cNvSpPr/>
          <p:nvPr/>
        </p:nvSpPr>
        <p:spPr>
          <a:xfrm>
            <a:off x="1661008" y="2103120"/>
            <a:ext cx="1280160" cy="128016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1929841" y="2371954"/>
            <a:ext cx="742493" cy="742493"/>
          </a:xfrm>
          <a:prstGeom prst="rect">
            <a:avLst/>
          </a:prstGeom>
        </p:spPr>
      </p:pic>
      <p:sp>
        <p:nvSpPr>
          <p:cNvPr id="7" name="Text 4"/>
          <p:cNvSpPr txBox="1"/>
          <p:nvPr/>
        </p:nvSpPr>
        <p:spPr>
          <a:xfrm>
            <a:off x="746608" y="3474720"/>
            <a:ext cx="3108960" cy="868680"/>
          </a:xfrm>
          <a:prstGeom prst="rect">
            <a:avLst/>
          </a:prstGeom>
          <a:noFill/>
          <a:ln/>
        </p:spPr>
        <p:txBody>
          <a:bodyPr wrap="square" lIns="0" tIns="0" rIns="0" bIns="0" rtlCol="0" anchor="ctr"/>
          <a:lstStyle/>
          <a:p>
            <a:pPr algn="ctr" indent="0" marL="0">
              <a:buNone/>
            </a:pPr>
            <a:r>
              <a:rPr lang="en-US" sz="2100" b="1" dirty="0">
                <a:solidFill>
                  <a:srgbClr val="2C7A4B"/>
                </a:solidFill>
                <a:latin typeface="Yu Gothic" pitchFamily="34" charset="0"/>
                <a:ea typeface="Yu Gothic" pitchFamily="34" charset="-122"/>
                <a:cs typeface="Yu Gothic" pitchFamily="34" charset="-120"/>
              </a:rPr>
              <a:t>いろいろな</a:t>
            </a:r>
            <a:endParaRPr lang="en-US" sz="2100" dirty="0"/>
          </a:p>
          <a:p>
            <a:pPr algn="ctr" indent="0" marL="0">
              <a:buNone/>
            </a:pPr>
            <a:r>
              <a:rPr lang="en-US" sz="2100" b="1" dirty="0">
                <a:solidFill>
                  <a:srgbClr val="2C7A4B"/>
                </a:solidFill>
                <a:latin typeface="Yu Gothic" pitchFamily="34" charset="0"/>
                <a:ea typeface="Yu Gothic" pitchFamily="34" charset="-122"/>
                <a:cs typeface="Yu Gothic" pitchFamily="34" charset="-120"/>
              </a:rPr>
              <a:t>食べものにふれる</a:t>
            </a:r>
            <a:endParaRPr lang="en-US" sz="2100" dirty="0"/>
          </a:p>
        </p:txBody>
      </p:sp>
      <p:sp>
        <p:nvSpPr>
          <p:cNvPr id="8" name="Text 5"/>
          <p:cNvSpPr txBox="1"/>
          <p:nvPr/>
        </p:nvSpPr>
        <p:spPr>
          <a:xfrm>
            <a:off x="838048" y="4389120"/>
            <a:ext cx="2926080" cy="822960"/>
          </a:xfrm>
          <a:prstGeom prst="rect">
            <a:avLst/>
          </a:prstGeom>
          <a:noFill/>
          <a:ln/>
        </p:spPr>
        <p:txBody>
          <a:bodyPr wrap="square" lIns="0" tIns="0" rIns="0" bIns="0" rtlCol="0" anchor="t"/>
          <a:lstStyle/>
          <a:p>
            <a:pPr algn="l" indent="0" marL="0">
              <a:buNone/>
            </a:pPr>
            <a:r>
              <a:rPr lang="en-US" sz="1600" dirty="0">
                <a:solidFill>
                  <a:srgbClr val="1A1A1A"/>
                </a:solidFill>
                <a:latin typeface="Yu Gothic" pitchFamily="34" charset="0"/>
                <a:ea typeface="Yu Gothic" pitchFamily="34" charset="-122"/>
                <a:cs typeface="Yu Gothic" pitchFamily="34" charset="-120"/>
              </a:rPr>
              <a:t>いろいろな食品や料理、食文化を経験しよう。</a:t>
            </a:r>
            <a:endParaRPr lang="en-US" sz="1600" dirty="0"/>
          </a:p>
        </p:txBody>
      </p:sp>
      <p:sp>
        <p:nvSpPr>
          <p:cNvPr id="9" name="Shape 6"/>
          <p:cNvSpPr/>
          <p:nvPr/>
        </p:nvSpPr>
        <p:spPr>
          <a:xfrm>
            <a:off x="4358488" y="1371600"/>
            <a:ext cx="3474720" cy="3931920"/>
          </a:xfrm>
          <a:prstGeom prst="roundRect">
            <a:avLst>
              <a:gd name="adj" fmla="val 3947"/>
            </a:avLst>
          </a:prstGeom>
          <a:solidFill>
            <a:srgbClr val="E6F2EA"/>
          </a:solidFill>
          <a:ln w="12700">
            <a:solidFill>
              <a:srgbClr val="E6F2EA"/>
            </a:solidFill>
            <a:prstDash val="solid"/>
          </a:ln>
        </p:spPr>
      </p:sp>
      <p:sp>
        <p:nvSpPr>
          <p:cNvPr id="10" name="Text 7"/>
          <p:cNvSpPr/>
          <p:nvPr/>
        </p:nvSpPr>
        <p:spPr>
          <a:xfrm>
            <a:off x="4587088" y="1600200"/>
            <a:ext cx="502920" cy="502920"/>
          </a:xfrm>
          <a:prstGeom prst="ellipse">
            <a:avLst/>
          </a:prstGeom>
          <a:solidFill>
            <a:srgbClr val="2C7A4B"/>
          </a:solidFill>
          <a:ln/>
        </p:spPr>
        <p:txBody>
          <a:bodyPr wrap="square" lIns="0" tIns="0" rIns="0" bIns="0"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2</a:t>
            </a:r>
            <a:endParaRPr lang="en-US" sz="2000" dirty="0"/>
          </a:p>
        </p:txBody>
      </p:sp>
      <p:sp>
        <p:nvSpPr>
          <p:cNvPr id="11" name="Shape 8"/>
          <p:cNvSpPr/>
          <p:nvPr/>
        </p:nvSpPr>
        <p:spPr>
          <a:xfrm>
            <a:off x="5455768" y="2103120"/>
            <a:ext cx="1280160" cy="1280160"/>
          </a:xfrm>
          <a:prstGeom prst="ellipse">
            <a:avLst/>
          </a:prstGeom>
          <a:solidFill>
            <a:srgbClr val="FFFFFF"/>
          </a:solidFill>
          <a:ln w="12700">
            <a:solidFill>
              <a:srgbClr val="FFFFFF"/>
            </a:solidFill>
            <a:prstDash val="solid"/>
          </a:ln>
        </p:spPr>
      </p:sp>
      <p:pic>
        <p:nvPicPr>
          <p:cNvPr id="12" name="Image 1" descr="preencoded.png">    </p:cNvPr>
          <p:cNvPicPr>
            <a:picLocks noChangeAspect="1"/>
          </p:cNvPicPr>
          <p:nvPr/>
        </p:nvPicPr>
        <p:blipFill>
          <a:blip r:embed="rId2"/>
          <a:stretch>
            <a:fillRect/>
          </a:stretch>
        </p:blipFill>
        <p:spPr>
          <a:xfrm>
            <a:off x="5724601" y="2371954"/>
            <a:ext cx="742493" cy="742493"/>
          </a:xfrm>
          <a:prstGeom prst="rect">
            <a:avLst/>
          </a:prstGeom>
        </p:spPr>
      </p:pic>
      <p:sp>
        <p:nvSpPr>
          <p:cNvPr id="13" name="Text 9"/>
          <p:cNvSpPr txBox="1"/>
          <p:nvPr/>
        </p:nvSpPr>
        <p:spPr>
          <a:xfrm>
            <a:off x="4541368" y="3474720"/>
            <a:ext cx="3108960" cy="868680"/>
          </a:xfrm>
          <a:prstGeom prst="rect">
            <a:avLst/>
          </a:prstGeom>
          <a:noFill/>
          <a:ln/>
        </p:spPr>
        <p:txBody>
          <a:bodyPr wrap="square" lIns="0" tIns="0" rIns="0" bIns="0" rtlCol="0" anchor="ctr"/>
          <a:lstStyle/>
          <a:p>
            <a:pPr algn="ctr" indent="0" marL="0">
              <a:buNone/>
            </a:pPr>
            <a:r>
              <a:rPr lang="en-US" sz="2100" b="1" dirty="0">
                <a:solidFill>
                  <a:srgbClr val="2C7A4B"/>
                </a:solidFill>
                <a:latin typeface="Yu Gothic" pitchFamily="34" charset="0"/>
                <a:ea typeface="Yu Gothic" pitchFamily="34" charset="-122"/>
                <a:cs typeface="Yu Gothic" pitchFamily="34" charset="-120"/>
              </a:rPr>
              <a:t>練習に合わせて</a:t>
            </a:r>
            <a:endParaRPr lang="en-US" sz="2100" dirty="0"/>
          </a:p>
          <a:p>
            <a:pPr algn="ctr" indent="0" marL="0">
              <a:buNone/>
            </a:pPr>
            <a:r>
              <a:rPr lang="en-US" sz="2100" b="1" dirty="0">
                <a:solidFill>
                  <a:srgbClr val="2C7A4B"/>
                </a:solidFill>
                <a:latin typeface="Yu Gothic" pitchFamily="34" charset="0"/>
                <a:ea typeface="Yu Gothic" pitchFamily="34" charset="-122"/>
                <a:cs typeface="Yu Gothic" pitchFamily="34" charset="-120"/>
              </a:rPr>
              <a:t>食べる</a:t>
            </a:r>
            <a:endParaRPr lang="en-US" sz="2100" dirty="0"/>
          </a:p>
        </p:txBody>
      </p:sp>
      <p:sp>
        <p:nvSpPr>
          <p:cNvPr id="14" name="Text 10"/>
          <p:cNvSpPr txBox="1"/>
          <p:nvPr/>
        </p:nvSpPr>
        <p:spPr>
          <a:xfrm>
            <a:off x="4632808" y="4389120"/>
            <a:ext cx="2926080" cy="822960"/>
          </a:xfrm>
          <a:prstGeom prst="rect">
            <a:avLst/>
          </a:prstGeom>
          <a:noFill/>
          <a:ln/>
        </p:spPr>
        <p:txBody>
          <a:bodyPr wrap="square" lIns="0" tIns="0" rIns="0" bIns="0" rtlCol="0" anchor="t"/>
          <a:lstStyle/>
          <a:p>
            <a:pPr algn="l" indent="0" marL="0">
              <a:buNone/>
            </a:pPr>
            <a:r>
              <a:rPr lang="en-US" sz="1600" dirty="0">
                <a:solidFill>
                  <a:srgbClr val="1A1A1A"/>
                </a:solidFill>
                <a:latin typeface="Yu Gothic" pitchFamily="34" charset="0"/>
                <a:ea typeface="Yu Gothic" pitchFamily="34" charset="-122"/>
                <a:cs typeface="Yu Gothic" pitchFamily="34" charset="-120"/>
              </a:rPr>
              <a:t>練習やトレーニングの内容・タイミングに合わせて食べる習慣をつけよう。</a:t>
            </a:r>
            <a:endParaRPr lang="en-US" sz="1600" dirty="0"/>
          </a:p>
        </p:txBody>
      </p:sp>
      <p:sp>
        <p:nvSpPr>
          <p:cNvPr id="15" name="Shape 11"/>
          <p:cNvSpPr/>
          <p:nvPr/>
        </p:nvSpPr>
        <p:spPr>
          <a:xfrm>
            <a:off x="8153248" y="1371600"/>
            <a:ext cx="3474720" cy="3931920"/>
          </a:xfrm>
          <a:prstGeom prst="roundRect">
            <a:avLst>
              <a:gd name="adj" fmla="val 3947"/>
            </a:avLst>
          </a:prstGeom>
          <a:solidFill>
            <a:srgbClr val="E6F2EA"/>
          </a:solidFill>
          <a:ln w="12700">
            <a:solidFill>
              <a:srgbClr val="E6F2EA"/>
            </a:solidFill>
            <a:prstDash val="solid"/>
          </a:ln>
        </p:spPr>
      </p:sp>
      <p:sp>
        <p:nvSpPr>
          <p:cNvPr id="16" name="Text 12"/>
          <p:cNvSpPr/>
          <p:nvPr/>
        </p:nvSpPr>
        <p:spPr>
          <a:xfrm>
            <a:off x="8381848" y="1600200"/>
            <a:ext cx="502920" cy="502920"/>
          </a:xfrm>
          <a:prstGeom prst="ellipse">
            <a:avLst/>
          </a:prstGeom>
          <a:solidFill>
            <a:srgbClr val="2C7A4B"/>
          </a:solidFill>
          <a:ln/>
        </p:spPr>
        <p:txBody>
          <a:bodyPr wrap="square" lIns="0" tIns="0" rIns="0" bIns="0"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3</a:t>
            </a:r>
            <a:endParaRPr lang="en-US" sz="2000" dirty="0"/>
          </a:p>
        </p:txBody>
      </p:sp>
      <p:sp>
        <p:nvSpPr>
          <p:cNvPr id="17" name="Text 13"/>
          <p:cNvSpPr/>
          <p:nvPr/>
        </p:nvSpPr>
        <p:spPr>
          <a:xfrm>
            <a:off x="10210648" y="1627632"/>
            <a:ext cx="1188720" cy="411480"/>
          </a:xfrm>
          <a:prstGeom prst="roundRect">
            <a:avLst>
              <a:gd name="adj" fmla="val 44444"/>
            </a:avLst>
          </a:prstGeom>
          <a:solidFill>
            <a:srgbClr val="E8741A"/>
          </a:solidFill>
          <a:ln/>
        </p:spPr>
        <p:txBody>
          <a:bodyPr wrap="square" lIns="0" tIns="0" rIns="0" bIns="0"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最優先！</a:t>
            </a:r>
            <a:endParaRPr lang="en-US" sz="1500" dirty="0"/>
          </a:p>
        </p:txBody>
      </p:sp>
      <p:sp>
        <p:nvSpPr>
          <p:cNvPr id="18" name="Shape 14"/>
          <p:cNvSpPr/>
          <p:nvPr/>
        </p:nvSpPr>
        <p:spPr>
          <a:xfrm>
            <a:off x="9250528" y="2103120"/>
            <a:ext cx="1280160" cy="1280160"/>
          </a:xfrm>
          <a:prstGeom prst="ellipse">
            <a:avLst/>
          </a:prstGeom>
          <a:solidFill>
            <a:srgbClr val="FFFFFF"/>
          </a:solidFill>
          <a:ln w="12700">
            <a:solidFill>
              <a:srgbClr val="FFFFFF"/>
            </a:solidFill>
            <a:prstDash val="solid"/>
          </a:ln>
        </p:spPr>
      </p:sp>
      <p:pic>
        <p:nvPicPr>
          <p:cNvPr id="19" name="Image 2" descr="preencoded.png">    </p:cNvPr>
          <p:cNvPicPr>
            <a:picLocks noChangeAspect="1"/>
          </p:cNvPicPr>
          <p:nvPr/>
        </p:nvPicPr>
        <p:blipFill>
          <a:blip r:embed="rId3"/>
          <a:stretch>
            <a:fillRect/>
          </a:stretch>
        </p:blipFill>
        <p:spPr>
          <a:xfrm>
            <a:off x="9519361" y="2371954"/>
            <a:ext cx="742493" cy="742493"/>
          </a:xfrm>
          <a:prstGeom prst="rect">
            <a:avLst/>
          </a:prstGeom>
        </p:spPr>
      </p:pic>
      <p:sp>
        <p:nvSpPr>
          <p:cNvPr id="20" name="Text 15"/>
          <p:cNvSpPr txBox="1"/>
          <p:nvPr/>
        </p:nvSpPr>
        <p:spPr>
          <a:xfrm>
            <a:off x="8336128" y="3474720"/>
            <a:ext cx="3108960" cy="868680"/>
          </a:xfrm>
          <a:prstGeom prst="rect">
            <a:avLst/>
          </a:prstGeom>
          <a:noFill/>
          <a:ln/>
        </p:spPr>
        <p:txBody>
          <a:bodyPr wrap="square" lIns="0" tIns="0" rIns="0" bIns="0" rtlCol="0" anchor="ctr"/>
          <a:lstStyle/>
          <a:p>
            <a:pPr algn="ctr" indent="0" marL="0">
              <a:buNone/>
            </a:pPr>
            <a:r>
              <a:rPr lang="en-US" sz="2100" b="1" dirty="0">
                <a:solidFill>
                  <a:srgbClr val="2C7A4B"/>
                </a:solidFill>
                <a:latin typeface="Yu Gothic" pitchFamily="34" charset="0"/>
                <a:ea typeface="Yu Gothic" pitchFamily="34" charset="-122"/>
                <a:cs typeface="Yu Gothic" pitchFamily="34" charset="-120"/>
              </a:rPr>
              <a:t>自分で食事を</a:t>
            </a:r>
            <a:endParaRPr lang="en-US" sz="2100" dirty="0"/>
          </a:p>
          <a:p>
            <a:pPr algn="ctr" indent="0" marL="0">
              <a:buNone/>
            </a:pPr>
            <a:r>
              <a:rPr lang="en-US" sz="2100" b="1" dirty="0">
                <a:solidFill>
                  <a:srgbClr val="2C7A4B"/>
                </a:solidFill>
                <a:latin typeface="Yu Gothic" pitchFamily="34" charset="0"/>
                <a:ea typeface="Yu Gothic" pitchFamily="34" charset="-122"/>
                <a:cs typeface="Yu Gothic" pitchFamily="34" charset="-120"/>
              </a:rPr>
              <a:t>管理できる力をつける</a:t>
            </a:r>
            <a:endParaRPr lang="en-US" sz="2100" dirty="0"/>
          </a:p>
        </p:txBody>
      </p:sp>
      <p:sp>
        <p:nvSpPr>
          <p:cNvPr id="21" name="Text 16"/>
          <p:cNvSpPr txBox="1"/>
          <p:nvPr/>
        </p:nvSpPr>
        <p:spPr>
          <a:xfrm>
            <a:off x="8427568" y="4389120"/>
            <a:ext cx="2926080" cy="822960"/>
          </a:xfrm>
          <a:prstGeom prst="rect">
            <a:avLst/>
          </a:prstGeom>
          <a:noFill/>
          <a:ln/>
        </p:spPr>
        <p:txBody>
          <a:bodyPr wrap="square" lIns="0" tIns="0" rIns="0" bIns="0" rtlCol="0" anchor="t"/>
          <a:lstStyle/>
          <a:p>
            <a:pPr algn="l" indent="0" marL="0">
              <a:buNone/>
            </a:pPr>
            <a:r>
              <a:rPr lang="en-US" sz="1600" dirty="0">
                <a:solidFill>
                  <a:srgbClr val="1A1A1A"/>
                </a:solidFill>
                <a:latin typeface="Yu Gothic" pitchFamily="34" charset="0"/>
                <a:ea typeface="Yu Gothic" pitchFamily="34" charset="-122"/>
                <a:cs typeface="Yu Gothic" pitchFamily="34" charset="-120"/>
              </a:rPr>
              <a:t>家族や指導者といっしょに料理して、料理や食品の特徴を知ろう。</a:t>
            </a:r>
            <a:endParaRPr lang="en-US" sz="1600" dirty="0"/>
          </a:p>
        </p:txBody>
      </p:sp>
      <p:sp>
        <p:nvSpPr>
          <p:cNvPr id="22" name="Shape 17"/>
          <p:cNvSpPr/>
          <p:nvPr/>
        </p:nvSpPr>
        <p:spPr>
          <a:xfrm>
            <a:off x="548640" y="5532120"/>
            <a:ext cx="11064240" cy="960120"/>
          </a:xfrm>
          <a:prstGeom prst="roundRect">
            <a:avLst>
              <a:gd name="adj" fmla="val 13333"/>
            </a:avLst>
          </a:prstGeom>
          <a:solidFill>
            <a:srgbClr val="FFF4E8"/>
          </a:solidFill>
          <a:ln w="19050">
            <a:solidFill>
              <a:srgbClr val="E8741A"/>
            </a:solidFill>
            <a:prstDash val="solid"/>
          </a:ln>
        </p:spPr>
      </p:sp>
      <p:pic>
        <p:nvPicPr>
          <p:cNvPr id="23" name="Image 3" descr="preencoded.png">    </p:cNvPr>
          <p:cNvPicPr>
            <a:picLocks noChangeAspect="1"/>
          </p:cNvPicPr>
          <p:nvPr/>
        </p:nvPicPr>
        <p:blipFill>
          <a:blip r:embed="rId4"/>
          <a:stretch>
            <a:fillRect/>
          </a:stretch>
        </p:blipFill>
        <p:spPr>
          <a:xfrm>
            <a:off x="822960" y="5742432"/>
            <a:ext cx="548640" cy="548640"/>
          </a:xfrm>
          <a:prstGeom prst="rect">
            <a:avLst/>
          </a:prstGeom>
        </p:spPr>
      </p:pic>
      <p:sp>
        <p:nvSpPr>
          <p:cNvPr id="24" name="Text 18"/>
          <p:cNvSpPr txBox="1"/>
          <p:nvPr/>
        </p:nvSpPr>
        <p:spPr>
          <a:xfrm>
            <a:off x="1600200" y="5532120"/>
            <a:ext cx="9875520" cy="960120"/>
          </a:xfrm>
          <a:prstGeom prst="rect">
            <a:avLst/>
          </a:prstGeom>
          <a:noFill/>
          <a:ln/>
        </p:spPr>
        <p:txBody>
          <a:bodyPr wrap="square" lIns="0" tIns="0" rIns="0" bIns="0" rtlCol="0" anchor="ctr"/>
          <a:lstStyle/>
          <a:p>
            <a:pPr indent="0" marL="0">
              <a:buNone/>
            </a:pPr>
            <a:r>
              <a:rPr lang="en-US" sz="1900" b="1" dirty="0">
                <a:solidFill>
                  <a:srgbClr val="1A1A1A"/>
                </a:solidFill>
                <a:latin typeface="Yu Gothic" pitchFamily="34" charset="0"/>
                <a:ea typeface="Yu Gothic" pitchFamily="34" charset="-122"/>
                <a:cs typeface="Yu Gothic" pitchFamily="34" charset="-120"/>
              </a:rPr>
              <a:t>海外遠征や寮生活など、</a:t>
            </a:r>
            <a:pPr indent="0" marL="0">
              <a:buNone/>
            </a:pPr>
            <a:r>
              <a:rPr lang="en-US" sz="1900" b="1" dirty="0">
                <a:solidFill>
                  <a:srgbClr val="E8741A"/>
                </a:solidFill>
                <a:latin typeface="Yu Gothic" pitchFamily="34" charset="0"/>
                <a:ea typeface="Yu Gothic" pitchFamily="34" charset="-122"/>
                <a:cs typeface="Yu Gothic" pitchFamily="34" charset="-120"/>
              </a:rPr>
              <a:t>親元を離れたとき</a:t>
            </a:r>
            <a:pPr indent="0" marL="0">
              <a:buNone/>
            </a:pPr>
            <a:r>
              <a:rPr lang="en-US" sz="1900" b="1" dirty="0">
                <a:solidFill>
                  <a:srgbClr val="1A1A1A"/>
                </a:solidFill>
                <a:latin typeface="Yu Gothic" pitchFamily="34" charset="0"/>
                <a:ea typeface="Yu Gothic" pitchFamily="34" charset="-122"/>
                <a:cs typeface="Yu Gothic" pitchFamily="34" charset="-120"/>
              </a:rPr>
              <a:t>でも、自分で食事を選べるようにしておこう！</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2026-09-28T11:24:48Z</dcterms:created>
  <dcterms:modified xsi:type="dcterms:W3CDTF">2026-09-28T11:24:48Z</dcterms:modified>
</cp:coreProperties>
</file>